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301" r:id="rId4"/>
    <p:sldId id="263" r:id="rId5"/>
    <p:sldId id="260" r:id="rId6"/>
    <p:sldId id="261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767" autoAdjust="0"/>
  </p:normalViewPr>
  <p:slideViewPr>
    <p:cSldViewPr>
      <p:cViewPr varScale="1">
        <p:scale>
          <a:sx n="111" d="100"/>
          <a:sy n="111" d="100"/>
        </p:scale>
        <p:origin x="16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91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ED177-20B7-445F-B35B-4A9E751ADC1E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3FF38-8D38-4F47-973A-173A494029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67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73FF38-8D38-4F47-973A-173A4940293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44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08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46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95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29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932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25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01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21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23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956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38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BE895-EE63-4EA6-98A2-417CC55060B7}" type="datetimeFigureOut">
              <a:rPr lang="pt-BR" smtClean="0"/>
              <a:t>17/08/2021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BA309-9CF7-4BCA-B135-A0804CFC1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7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Algoritmo Dual Simplex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765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dual simplex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método dual simplex lida com soluções básicas que são viáveis duais, mas não viável primal. O algoritmo se desloca no sentido de uma solução ótima tentando alcançar a viabilidade primal também.</a:t>
            </a:r>
          </a:p>
        </p:txBody>
      </p:sp>
    </p:spTree>
    <p:extLst>
      <p:ext uri="{BB962C8B-B14F-4D97-AF65-F5344CB8AC3E}">
        <p14:creationId xmlns:p14="http://schemas.microsoft.com/office/powerpoint/2010/main" val="3743547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dual simplex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algoritmo consiste em resolver simultaneamente o PPL dual no tableau primal e eliminando, por exemplo a necessidade de usar o método Big M sempre que não houver uma base inicial  do PPL primal viável mas houver uma base inicial dual viável. Esta é uma situação comum em problemas de pós-otimização, casos em que o algoritmo dual simplex é utilizado.</a:t>
            </a:r>
          </a:p>
        </p:txBody>
      </p:sp>
    </p:spTree>
    <p:extLst>
      <p:ext uri="{BB962C8B-B14F-4D97-AF65-F5344CB8AC3E}">
        <p14:creationId xmlns:p14="http://schemas.microsoft.com/office/powerpoint/2010/main" val="122265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dual simplex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/>
              <a:t>Inicialização: </a:t>
            </a:r>
            <a:r>
              <a:rPr lang="pt-BR" dirty="0"/>
              <a:t>converta todas as restrições funcionais do tipo </a:t>
            </a:r>
            <a:r>
              <a:rPr lang="pt-BR" dirty="0">
                <a:sym typeface="Symbol"/>
              </a:rPr>
              <a:t> na forma , introduza variáveis de folga conforme necessário para obter um sistema de equações. Encontre uma SB tal que os coeficientes na linha 0 do tableau simplex sejam não-negativas (PPL de maximização) ou negativas para as VNB (PPL de minimização). Vá para o teste de viabilidade.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342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Teste de viabilidade: </a:t>
            </a:r>
            <a:r>
              <a:rPr lang="pt-BR" dirty="0"/>
              <a:t>Se todas as VB são não-negativas, então essa solução é viável e, portanto, ótima; logo, pare. Caso contrário, vá para uma iteração.</a:t>
            </a:r>
          </a:p>
          <a:p>
            <a:endParaRPr lang="pt-BR" dirty="0"/>
          </a:p>
          <a:p>
            <a:r>
              <a:rPr lang="pt-BR" dirty="0"/>
              <a:t> Iteração:</a:t>
            </a:r>
          </a:p>
          <a:p>
            <a:pPr marL="0" indent="0">
              <a:buNone/>
            </a:pPr>
            <a:r>
              <a:rPr lang="pt-BR" b="1" dirty="0"/>
              <a:t>Passo 1 </a:t>
            </a:r>
            <a:r>
              <a:rPr lang="pt-BR" dirty="0"/>
              <a:t>– Condição de Saída: A variável básica com valor mais negativo deverá sair da base.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227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dual simplex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pt-BR" b="1" dirty="0"/>
                  <a:t>Passo 2 </a:t>
                </a:r>
                <a:r>
                  <a:rPr lang="pt-BR" dirty="0"/>
                  <a:t>– Condição de Entrada na base: Se a variável que sai da base está na linha r, sejam </a:t>
                </a:r>
                <a:r>
                  <a:rPr lang="pt-BR" dirty="0" err="1"/>
                  <a:t>c’</a:t>
                </a:r>
                <a:r>
                  <a:rPr lang="pt-BR" baseline="-25000" dirty="0" err="1"/>
                  <a:t>j</a:t>
                </a:r>
                <a:r>
                  <a:rPr lang="pt-BR" dirty="0"/>
                  <a:t> o</a:t>
                </a:r>
                <a:r>
                  <a:rPr lang="pt-BR" dirty="0">
                    <a:sym typeface="Symbol"/>
                  </a:rPr>
                  <a:t> coe</a:t>
                </a:r>
                <a:r>
                  <a:rPr lang="pt-BR" dirty="0"/>
                  <a:t>ficiente da VNB </a:t>
                </a:r>
                <a:r>
                  <a:rPr lang="pt-BR" dirty="0" err="1"/>
                  <a:t>x</a:t>
                </a:r>
                <a:r>
                  <a:rPr lang="pt-BR" baseline="-25000" dirty="0" err="1"/>
                  <a:t>j</a:t>
                </a:r>
                <a:r>
                  <a:rPr lang="pt-BR" dirty="0"/>
                  <a:t> na linha 0 e </a:t>
                </a:r>
                <a:r>
                  <a:rPr lang="pt-BR" dirty="0">
                    <a:sym typeface="Symbol"/>
                  </a:rPr>
                  <a:t></a:t>
                </a:r>
                <a:r>
                  <a:rPr lang="pt-BR" baseline="-25000" dirty="0" err="1">
                    <a:sym typeface="Symbol"/>
                  </a:rPr>
                  <a:t>rj</a:t>
                </a:r>
                <a:r>
                  <a:rPr lang="pt-BR" dirty="0">
                    <a:sym typeface="Symbol"/>
                  </a:rPr>
                  <a:t> o coeficiente da restrição da linha r e a coluna j da tabela simplex. A variável que entra na base é a VNB com </a:t>
                </a:r>
                <a:r>
                  <a:rPr lang="pt-BR" baseline="-25000" dirty="0" err="1">
                    <a:sym typeface="Symbol"/>
                  </a:rPr>
                  <a:t>rj</a:t>
                </a:r>
                <a:r>
                  <a:rPr lang="pt-BR" baseline="-25000" dirty="0">
                    <a:sym typeface="Symbol"/>
                  </a:rPr>
                  <a:t> </a:t>
                </a:r>
                <a:r>
                  <a:rPr lang="pt-BR" dirty="0">
                    <a:sym typeface="Symbol"/>
                  </a:rPr>
                  <a:t>&lt; 0 que corresponde a </a:t>
                </a:r>
              </a:p>
              <a:p>
                <a:pPr algn="just"/>
                <a:endParaRPr lang="pt-BR" dirty="0">
                  <a:sym typeface="Symbol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sym typeface="Symbol"/>
                            </a:rPr>
                            <m:t>𝑚𝑖𝑛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sym typeface="Symbol"/>
                            </a:rPr>
                            <m:t>𝑉𝑁𝐵</m:t>
                          </m:r>
                          <m:r>
                            <a:rPr lang="pt-BR" b="0" i="1" smtClean="0">
                              <a:latin typeface="Cambria Math"/>
                              <a:sym typeface="Symbol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  <a:sym typeface="Symbo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pt-BR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/>
                                          <a:sym typeface="Symbol"/>
                                        </a:rPr>
                                        <m:t>𝑐</m:t>
                                      </m:r>
                                      <m:r>
                                        <a:rPr lang="pt-BR" b="0" i="1" smtClean="0">
                                          <a:latin typeface="Cambria Math"/>
                                          <a:sym typeface="Symbol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  <a:sym typeface="Symbol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smtClean="0">
                                          <a:latin typeface="Cambria Math"/>
                                          <a:ea typeface="Cambria Math"/>
                                          <a:sym typeface="Symbol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  <a:sym typeface="Symbol"/>
                                        </a:rPr>
                                        <m:t>𝑟𝑗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pt-BR" b="0" i="1" smtClean="0">
                              <a:latin typeface="Cambria Math"/>
                              <a:sym typeface="Symbol"/>
                            </a:rPr>
                            <m:t>, 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  <a:sym typeface="Symbol"/>
                                </a:rPr>
                                <m:t>𝑟𝑗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/>
                              <a:sym typeface="Symbol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lang="pt-BR" dirty="0">
                  <a:sym typeface="Symbol"/>
                </a:endParaRPr>
              </a:p>
              <a:p>
                <a:pPr marL="0" indent="0" algn="just">
                  <a:buNone/>
                </a:pPr>
                <a:endParaRPr lang="pt-BR" dirty="0">
                  <a:sym typeface="Symbol"/>
                </a:endParaRPr>
              </a:p>
              <a:p>
                <a:pPr marL="0" indent="0" algn="just">
                  <a:buNone/>
                </a:pPr>
                <a:r>
                  <a:rPr lang="pt-BR" dirty="0"/>
                  <a:t>Os empates são resolvidos arbitrariamente. Se </a:t>
                </a:r>
                <a:r>
                  <a:rPr lang="pt-BR" dirty="0">
                    <a:sym typeface="Symbol"/>
                  </a:rPr>
                  <a:t></a:t>
                </a:r>
                <a:r>
                  <a:rPr lang="pt-BR" baseline="-25000" dirty="0">
                    <a:sym typeface="Symbol"/>
                  </a:rPr>
                  <a:t> </a:t>
                </a:r>
                <a:r>
                  <a:rPr lang="pt-BR" baseline="-25000" dirty="0" err="1">
                    <a:sym typeface="Symbol"/>
                  </a:rPr>
                  <a:t>rj</a:t>
                </a:r>
                <a:r>
                  <a:rPr lang="pt-BR" dirty="0">
                    <a:sym typeface="Symbol"/>
                  </a:rPr>
                  <a:t>  0 para todas as VNB </a:t>
                </a:r>
                <a:r>
                  <a:rPr lang="pt-BR" dirty="0" err="1">
                    <a:sym typeface="Symbol"/>
                  </a:rPr>
                  <a:t>x</a:t>
                </a:r>
                <a:r>
                  <a:rPr lang="pt-BR" baseline="-25000" dirty="0" err="1"/>
                  <a:t>j</a:t>
                </a:r>
                <a:r>
                  <a:rPr lang="pt-BR" dirty="0">
                    <a:sym typeface="Symbol"/>
                  </a:rPr>
                  <a:t>, o pr</a:t>
                </a:r>
                <a:r>
                  <a:rPr lang="pt-BR" dirty="0"/>
                  <a:t>oblema não tem solução viável.</a:t>
                </a:r>
              </a:p>
              <a:p>
                <a:pPr algn="just"/>
                <a:r>
                  <a:rPr lang="pt-BR" b="1" dirty="0"/>
                  <a:t>Passo 3 </a:t>
                </a:r>
                <a:r>
                  <a:rPr lang="pt-BR" dirty="0"/>
                  <a:t>– Use a eliminação gaussiana e retorne para o teste de viabilidade.</a:t>
                </a:r>
              </a:p>
              <a:p>
                <a:pPr algn="just"/>
                <a:r>
                  <a:rPr lang="pt-BR" b="1" dirty="0"/>
                  <a:t>Passo 4 </a:t>
                </a:r>
                <a:r>
                  <a:rPr lang="pt-BR" dirty="0"/>
                  <a:t>– Repetir os passos 1 a 3 até que não existam valores </a:t>
                </a:r>
              </a:p>
              <a:p>
                <a:pPr marL="0" indent="0" algn="just">
                  <a:buNone/>
                </a:pPr>
                <a:r>
                  <a:rPr lang="pt-BR" dirty="0"/>
                  <a:t>negativos atribuídos às variáveis básicas.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0" t="-1961" r="-772" b="-16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4923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6906</TotalTime>
  <Words>362</Words>
  <Application>Microsoft Macintosh PowerPoint</Application>
  <PresentationFormat>Apresentação na tela (4:3)</PresentationFormat>
  <Paragraphs>21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Tema do Office</vt:lpstr>
      <vt:lpstr>Algoritmo Dual Simplex</vt:lpstr>
      <vt:lpstr>Algoritmo dual simplex</vt:lpstr>
      <vt:lpstr>Algoritmo dual simplex</vt:lpstr>
      <vt:lpstr>Algoritmo dual simplex</vt:lpstr>
      <vt:lpstr>Apresentação do PowerPoint</vt:lpstr>
      <vt:lpstr>Algoritmo dual simplex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Dualidade – parte 2</dc:title>
  <dc:creator>Andrea</dc:creator>
  <cp:lastModifiedBy>Andréa Bonifácio</cp:lastModifiedBy>
  <cp:revision>119</cp:revision>
  <dcterms:created xsi:type="dcterms:W3CDTF">2011-10-29T20:35:16Z</dcterms:created>
  <dcterms:modified xsi:type="dcterms:W3CDTF">2021-08-17T12:15:39Z</dcterms:modified>
</cp:coreProperties>
</file>