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96939-961A-4CF7-841F-A7914D55EA3D}" v="23" dt="2025-11-02T19:02:14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-54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Carolina Nel" userId="e2dd38cb2819479d" providerId="LiveId" clId="{55AF0FD5-A84B-4077-AF3F-BF4C4552CF6F}"/>
    <pc:docChg chg="undo custSel addSld modSld">
      <pc:chgData name="Ana Carolina Nel" userId="e2dd38cb2819479d" providerId="LiveId" clId="{55AF0FD5-A84B-4077-AF3F-BF4C4552CF6F}" dt="2025-11-02T19:02:53.648" v="162" actId="14100"/>
      <pc:docMkLst>
        <pc:docMk/>
      </pc:docMkLst>
      <pc:sldChg chg="addSp delSp modSp add mod">
        <pc:chgData name="Ana Carolina Nel" userId="e2dd38cb2819479d" providerId="LiveId" clId="{55AF0FD5-A84B-4077-AF3F-BF4C4552CF6F}" dt="2025-11-02T18:53:50.901" v="32" actId="2711"/>
        <pc:sldMkLst>
          <pc:docMk/>
          <pc:sldMk cId="2279453741" sldId="273"/>
        </pc:sldMkLst>
        <pc:spChg chg="mod">
          <ac:chgData name="Ana Carolina Nel" userId="e2dd38cb2819479d" providerId="LiveId" clId="{55AF0FD5-A84B-4077-AF3F-BF4C4552CF6F}" dt="2025-11-02T18:51:42.767" v="23" actId="20577"/>
          <ac:spMkLst>
            <pc:docMk/>
            <pc:sldMk cId="2279453741" sldId="273"/>
            <ac:spMk id="2" creationId="{DE472F27-EF86-F5E8-22A2-6D28DB314A81}"/>
          </ac:spMkLst>
        </pc:spChg>
        <pc:spChg chg="mod">
          <ac:chgData name="Ana Carolina Nel" userId="e2dd38cb2819479d" providerId="LiveId" clId="{55AF0FD5-A84B-4077-AF3F-BF4C4552CF6F}" dt="2025-11-02T18:53:50.901" v="32" actId="2711"/>
          <ac:spMkLst>
            <pc:docMk/>
            <pc:sldMk cId="2279453741" sldId="273"/>
            <ac:spMk id="3" creationId="{DA2DA24F-52E7-6F8E-C050-8419514A6E0D}"/>
          </ac:spMkLst>
        </pc:spChg>
        <pc:spChg chg="add del">
          <ac:chgData name="Ana Carolina Nel" userId="e2dd38cb2819479d" providerId="LiveId" clId="{55AF0FD5-A84B-4077-AF3F-BF4C4552CF6F}" dt="2025-11-02T18:52:16.537" v="26" actId="478"/>
          <ac:spMkLst>
            <pc:docMk/>
            <pc:sldMk cId="2279453741" sldId="273"/>
            <ac:spMk id="5" creationId="{59DD19FA-4EB2-439B-8846-F4C42C8AFCD4}"/>
          </ac:spMkLst>
        </pc:spChg>
      </pc:sldChg>
      <pc:sldChg chg="addSp delSp modSp add mod">
        <pc:chgData name="Ana Carolina Nel" userId="e2dd38cb2819479d" providerId="LiveId" clId="{55AF0FD5-A84B-4077-AF3F-BF4C4552CF6F}" dt="2025-11-02T18:56:04.398" v="36" actId="22"/>
        <pc:sldMkLst>
          <pc:docMk/>
          <pc:sldMk cId="2228868982" sldId="274"/>
        </pc:sldMkLst>
        <pc:spChg chg="mod">
          <ac:chgData name="Ana Carolina Nel" userId="e2dd38cb2819479d" providerId="LiveId" clId="{55AF0FD5-A84B-4077-AF3F-BF4C4552CF6F}" dt="2025-11-02T18:54:00.258" v="34" actId="27636"/>
          <ac:spMkLst>
            <pc:docMk/>
            <pc:sldMk cId="2228868982" sldId="274"/>
            <ac:spMk id="3" creationId="{759C311F-F787-7CDE-DB56-FFA1D4FDE19F}"/>
          </ac:spMkLst>
        </pc:spChg>
        <pc:spChg chg="add del">
          <ac:chgData name="Ana Carolina Nel" userId="e2dd38cb2819479d" providerId="LiveId" clId="{55AF0FD5-A84B-4077-AF3F-BF4C4552CF6F}" dt="2025-11-02T18:56:04.398" v="36" actId="22"/>
          <ac:spMkLst>
            <pc:docMk/>
            <pc:sldMk cId="2228868982" sldId="274"/>
            <ac:spMk id="5" creationId="{F70B843D-043F-3129-ECF8-4752CABD24F2}"/>
          </ac:spMkLst>
        </pc:spChg>
      </pc:sldChg>
      <pc:sldChg chg="modSp add mod">
        <pc:chgData name="Ana Carolina Nel" userId="e2dd38cb2819479d" providerId="LiveId" clId="{55AF0FD5-A84B-4077-AF3F-BF4C4552CF6F}" dt="2025-11-02T18:56:30.977" v="40" actId="120"/>
        <pc:sldMkLst>
          <pc:docMk/>
          <pc:sldMk cId="436656899" sldId="275"/>
        </pc:sldMkLst>
        <pc:spChg chg="mod">
          <ac:chgData name="Ana Carolina Nel" userId="e2dd38cb2819479d" providerId="LiveId" clId="{55AF0FD5-A84B-4077-AF3F-BF4C4552CF6F}" dt="2025-11-02T18:56:30.977" v="40" actId="120"/>
          <ac:spMkLst>
            <pc:docMk/>
            <pc:sldMk cId="436656899" sldId="275"/>
            <ac:spMk id="3" creationId="{4A80D3F6-485B-0C1F-90A5-71A7EB713A82}"/>
          </ac:spMkLst>
        </pc:spChg>
      </pc:sldChg>
      <pc:sldChg chg="modSp add mod">
        <pc:chgData name="Ana Carolina Nel" userId="e2dd38cb2819479d" providerId="LiveId" clId="{55AF0FD5-A84B-4077-AF3F-BF4C4552CF6F}" dt="2025-11-02T18:57:36.687" v="98" actId="2711"/>
        <pc:sldMkLst>
          <pc:docMk/>
          <pc:sldMk cId="3386586860" sldId="276"/>
        </pc:sldMkLst>
        <pc:spChg chg="mod">
          <ac:chgData name="Ana Carolina Nel" userId="e2dd38cb2819479d" providerId="LiveId" clId="{55AF0FD5-A84B-4077-AF3F-BF4C4552CF6F}" dt="2025-11-02T18:57:18.270" v="94" actId="27636"/>
          <ac:spMkLst>
            <pc:docMk/>
            <pc:sldMk cId="3386586860" sldId="276"/>
            <ac:spMk id="2" creationId="{072CD01B-CF76-039D-3075-45DA2F117B1E}"/>
          </ac:spMkLst>
        </pc:spChg>
        <pc:spChg chg="mod">
          <ac:chgData name="Ana Carolina Nel" userId="e2dd38cb2819479d" providerId="LiveId" clId="{55AF0FD5-A84B-4077-AF3F-BF4C4552CF6F}" dt="2025-11-02T18:57:36.687" v="98" actId="2711"/>
          <ac:spMkLst>
            <pc:docMk/>
            <pc:sldMk cId="3386586860" sldId="276"/>
            <ac:spMk id="3" creationId="{BC82873C-0D59-F812-2745-63392A48BD89}"/>
          </ac:spMkLst>
        </pc:spChg>
      </pc:sldChg>
      <pc:sldChg chg="modSp add mod">
        <pc:chgData name="Ana Carolina Nel" userId="e2dd38cb2819479d" providerId="LiveId" clId="{55AF0FD5-A84B-4077-AF3F-BF4C4552CF6F}" dt="2025-11-02T18:58:04.297" v="104" actId="2711"/>
        <pc:sldMkLst>
          <pc:docMk/>
          <pc:sldMk cId="431456986" sldId="277"/>
        </pc:sldMkLst>
        <pc:spChg chg="mod">
          <ac:chgData name="Ana Carolina Nel" userId="e2dd38cb2819479d" providerId="LiveId" clId="{55AF0FD5-A84B-4077-AF3F-BF4C4552CF6F}" dt="2025-11-02T18:58:04.297" v="104" actId="2711"/>
          <ac:spMkLst>
            <pc:docMk/>
            <pc:sldMk cId="431456986" sldId="277"/>
            <ac:spMk id="3" creationId="{4C9DBAEC-42F2-86E5-61AC-C52FE8E76CCE}"/>
          </ac:spMkLst>
        </pc:spChg>
      </pc:sldChg>
      <pc:sldChg chg="modSp add mod">
        <pc:chgData name="Ana Carolina Nel" userId="e2dd38cb2819479d" providerId="LiveId" clId="{55AF0FD5-A84B-4077-AF3F-BF4C4552CF6F}" dt="2025-11-02T18:59:42.557" v="117" actId="20577"/>
        <pc:sldMkLst>
          <pc:docMk/>
          <pc:sldMk cId="1708168022" sldId="278"/>
        </pc:sldMkLst>
        <pc:spChg chg="mod">
          <ac:chgData name="Ana Carolina Nel" userId="e2dd38cb2819479d" providerId="LiveId" clId="{55AF0FD5-A84B-4077-AF3F-BF4C4552CF6F}" dt="2025-11-02T18:59:42.557" v="117" actId="20577"/>
          <ac:spMkLst>
            <pc:docMk/>
            <pc:sldMk cId="1708168022" sldId="278"/>
            <ac:spMk id="3" creationId="{0AE4F525-8D0F-F6F3-FD26-41F0F82FC3B2}"/>
          </ac:spMkLst>
        </pc:spChg>
      </pc:sldChg>
      <pc:sldChg chg="addSp delSp modSp add mod">
        <pc:chgData name="Ana Carolina Nel" userId="e2dd38cb2819479d" providerId="LiveId" clId="{55AF0FD5-A84B-4077-AF3F-BF4C4552CF6F}" dt="2025-11-02T19:02:44.287" v="161" actId="14100"/>
        <pc:sldMkLst>
          <pc:docMk/>
          <pc:sldMk cId="1255922377" sldId="279"/>
        </pc:sldMkLst>
        <pc:spChg chg="mod">
          <ac:chgData name="Ana Carolina Nel" userId="e2dd38cb2819479d" providerId="LiveId" clId="{55AF0FD5-A84B-4077-AF3F-BF4C4552CF6F}" dt="2025-11-02T19:02:44.287" v="161" actId="14100"/>
          <ac:spMkLst>
            <pc:docMk/>
            <pc:sldMk cId="1255922377" sldId="279"/>
            <ac:spMk id="3" creationId="{F206F043-BB70-7E3C-5F3C-0704102BD4EE}"/>
          </ac:spMkLst>
        </pc:spChg>
        <pc:spChg chg="add del">
          <ac:chgData name="Ana Carolina Nel" userId="e2dd38cb2819479d" providerId="LiveId" clId="{55AF0FD5-A84B-4077-AF3F-BF4C4552CF6F}" dt="2025-11-02T19:01:17.347" v="134" actId="22"/>
          <ac:spMkLst>
            <pc:docMk/>
            <pc:sldMk cId="1255922377" sldId="279"/>
            <ac:spMk id="5" creationId="{6FDB270D-E291-8E50-78A7-E5EF2285D62D}"/>
          </ac:spMkLst>
        </pc:spChg>
      </pc:sldChg>
      <pc:sldChg chg="modSp add mod">
        <pc:chgData name="Ana Carolina Nel" userId="e2dd38cb2819479d" providerId="LiveId" clId="{55AF0FD5-A84B-4077-AF3F-BF4C4552CF6F}" dt="2025-11-02T19:02:53.648" v="162" actId="14100"/>
        <pc:sldMkLst>
          <pc:docMk/>
          <pc:sldMk cId="2658013167" sldId="280"/>
        </pc:sldMkLst>
        <pc:spChg chg="mod">
          <ac:chgData name="Ana Carolina Nel" userId="e2dd38cb2819479d" providerId="LiveId" clId="{55AF0FD5-A84B-4077-AF3F-BF4C4552CF6F}" dt="2025-11-02T19:02:53.648" v="162" actId="14100"/>
          <ac:spMkLst>
            <pc:docMk/>
            <pc:sldMk cId="2658013167" sldId="280"/>
            <ac:spMk id="3" creationId="{B4194932-67E0-6378-DD36-AAD3B1341B6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2CD4BF-84C4-DCCC-73D6-4B04343DC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5A3AF4-1EBF-E051-D37B-066F74F1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744F2F-3EF9-721A-D4E4-8862EAED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5D7B2B-5378-2F15-3F0A-7F6E32FC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A192B3-03AF-069D-8A16-B9575866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20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1EB316-0DA9-9826-2D25-F521EE67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2E9019-F9C6-F4B3-6C40-B629D1935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FB71C2-BB9B-2C0A-2332-5251F493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E0FCBD-B0D0-816A-6D9F-0F3DF9C9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009ED3-9FE0-45C4-E7C5-BD443E17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97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4F402E-37AB-C259-1B58-CFDDE894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54AC73-611F-311E-6EDE-621D2F268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756B27-C31D-6650-D517-D026B98A6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711097-D66B-7C3C-84BE-5603BF42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D7D653-8A37-23A2-1C27-ABEFE7F7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40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FD186A-676F-9721-8231-D8C34E79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76B7A1-A74E-0BD4-A81D-A7336FEF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30795D1-F035-1BE3-C5E0-DC2AC329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411E93B-772E-12C1-2F44-3BCFF478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A6EB651-284D-63A4-59D8-3BB2059A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64BBB6-942F-5C5A-402F-B82F351F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299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CFB781-DB63-2177-B4C0-3AC88FC3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2B0C74-35CB-73EC-C44D-F5624FB15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992B20-4662-6AC7-B212-2BE4AF9DF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F255DDF-15E6-B6DA-E167-8ED82CE6A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318D4E2-2593-CA6F-DD95-70D729F6D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A4430C7-B84F-B69B-A187-00D4D285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D38AF1E-9EDE-6E70-58A8-C2E4AE3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554DFAC-52DD-9A52-825C-57AF5F81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61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A93ECE-A39F-BE77-DE83-BE0466A8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497C43A-C362-6D37-A50E-269AEDB1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7F8CB33-3584-CF12-5BAF-E6EA2BEA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9442828-46E1-DB5E-707D-A9EDF2EE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7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41B5B4E-2B83-DF0B-21D7-4F7E07B9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15815F7-2513-67AA-1FC9-E58B70E2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1CEACA5-2D12-6D63-B965-B0460961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55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E6D30-DF31-37D0-2A4E-EA19EC9E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7A5858-30CE-773A-2503-0B6715AA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E5539AD-C225-7ACC-B007-F8BB9B2B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63B326-A2C2-05D0-2902-77E57700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6B8C08-ADC8-6AFB-5AF7-4A6BC7CA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CE10C03-7D24-2419-F378-F33B5995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18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E1E937-48F1-AFE4-1C47-14200709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5F8260F-23E8-BB2D-5EE9-D68222A7F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81C601-8F85-10D5-974A-18457F9A3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8B1696D-5604-3C25-BA5C-6D0B03A7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F4D4C0-ED51-BE1C-293E-5D68761C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A404053-DF0F-3C0B-0D93-555C0A21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27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56889A-3E6B-597D-AC34-EBC53385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1C6D6B-9E10-C275-4B4E-51D7B9EEB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EF236B-6688-1641-BF27-D62D85F0D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2B32AB-09AB-D98B-C1D3-FBF64CFA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1FA9AA3-EF74-F988-92B4-9DB4B722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08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BDFB374-4D21-633C-639D-6D93391E7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2EA6EDB-7423-534D-5B51-4DA683E9C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7732B1-7488-4C2C-07D1-F0A94C43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86EC84-9063-1A0A-96EA-7F3C5CD7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51A009-D63F-7CBC-8918-517BD6F9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39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4F4A0D8-4531-06EA-7C2C-61CC2DF60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DBAF4E2-12C2-8663-DA8B-A613629D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D819D2-58B3-84EF-C8CB-E2E587825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C8514-7054-425F-AFA7-042C787185B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BD7D78-487D-4BAA-7C67-CB0C563DF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086EB7-A104-4122-7E97-742A80278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2FB20-1809-400F-B4C3-9ADF0E53EE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24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0134A1-ABB8-8B90-52AC-B65932D5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BD36869-7C53-B4EC-0C49-E12A38CDC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501333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Modelagem Matemática de </a:t>
            </a:r>
            <a:r>
              <a:rPr lang="pt-BR" sz="6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DC04F7-2A1B-C9D0-40E7-D7F0EB2A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Hagrid Text"/>
                <a:ea typeface="Hagrid Text"/>
                <a:cs typeface="Hagrid Text"/>
                <a:sym typeface="Hagrid Text"/>
              </a:rPr>
              <a:t>Profª </a:t>
            </a:r>
            <a:r>
              <a:rPr lang="en-US" dirty="0" smtClean="0">
                <a:latin typeface="Hagrid Text"/>
                <a:ea typeface="Hagrid Text"/>
                <a:cs typeface="Hagrid Text"/>
                <a:sym typeface="Hagrid Text"/>
              </a:rPr>
              <a:t>Dra. Andréa </a:t>
            </a:r>
            <a:r>
              <a:rPr lang="en-US" dirty="0">
                <a:latin typeface="Hagrid Text"/>
                <a:ea typeface="Hagrid Text"/>
                <a:cs typeface="Hagrid Text"/>
                <a:sym typeface="Hagrid Text"/>
              </a:rPr>
              <a:t>Bonifácio</a:t>
            </a:r>
          </a:p>
          <a:p>
            <a:pPr algn="l"/>
            <a:r>
              <a:rPr lang="en-US" dirty="0"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7C191F7-C2F2-185D-FD24-D2DBBBFA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44" y="1417747"/>
            <a:ext cx="4087368" cy="378603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A43AA01-1C09-2157-D549-C8E1484F5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730E9B-DD70-0811-9AF2-452FF47A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036120-57C4-563E-BBA5-CA40EBA0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 Dieta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5C82DD7-C983-C45C-A0FA-FCF85369C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b="1" dirty="0" smtClean="0">
                <a:latin typeface="Hagrid Text"/>
              </a:rPr>
              <a:t>Exemplo: </a:t>
            </a:r>
            <a:r>
              <a:rPr lang="pt-BR" dirty="0">
                <a:latin typeface="Hagrid Text"/>
              </a:rPr>
              <a:t>Uma dieta alimentar </a:t>
            </a:r>
            <a:r>
              <a:rPr lang="pt-BR" dirty="0">
                <a:latin typeface="Hagrid Text"/>
              </a:rPr>
              <a:t>é</a:t>
            </a:r>
            <a:r>
              <a:rPr lang="pt-BR" dirty="0" smtClean="0">
                <a:latin typeface="Hagrid Text"/>
              </a:rPr>
              <a:t> </a:t>
            </a:r>
            <a:r>
              <a:rPr lang="pt-BR" dirty="0">
                <a:latin typeface="Hagrid Text"/>
              </a:rPr>
              <a:t>restrita a leite desnatado,</a:t>
            </a:r>
          </a:p>
          <a:p>
            <a:pPr algn="l"/>
            <a:r>
              <a:rPr lang="pt-BR" dirty="0">
                <a:latin typeface="Hagrid Text"/>
              </a:rPr>
              <a:t>carne magra, peixe e salada verde. Os requisitos nutricionais </a:t>
            </a:r>
            <a:r>
              <a:rPr lang="pt-BR" dirty="0" smtClean="0">
                <a:latin typeface="Hagrid Text"/>
              </a:rPr>
              <a:t>são</a:t>
            </a:r>
            <a:endParaRPr lang="pt-BR" dirty="0">
              <a:latin typeface="Hagrid Text"/>
            </a:endParaRPr>
          </a:p>
          <a:p>
            <a:pPr algn="l"/>
            <a:r>
              <a:rPr lang="pt-BR" dirty="0">
                <a:latin typeface="Hagrid Text"/>
              </a:rPr>
              <a:t>expressos em quantidades mínimas das vitaminas A, C e D. A</a:t>
            </a:r>
          </a:p>
          <a:p>
            <a:pPr algn="l"/>
            <a:r>
              <a:rPr lang="pt-BR" dirty="0">
                <a:latin typeface="Hagrid Text"/>
              </a:rPr>
              <a:t>tabela a seguir resume a quantidade disponível de cada vitamina</a:t>
            </a:r>
          </a:p>
          <a:p>
            <a:pPr algn="l"/>
            <a:r>
              <a:rPr lang="pt-BR" dirty="0">
                <a:latin typeface="Hagrid Text"/>
              </a:rPr>
              <a:t>em cada alimento, a necessidade diária de cada vitamina e o</a:t>
            </a:r>
          </a:p>
          <a:p>
            <a:pPr algn="l"/>
            <a:r>
              <a:rPr lang="pt-BR" dirty="0">
                <a:latin typeface="Hagrid Text"/>
              </a:rPr>
              <a:t>custo de cada alimento. Determine uma dieta de custo mínimo</a:t>
            </a:r>
          </a:p>
          <a:p>
            <a:pPr algn="l"/>
            <a:r>
              <a:rPr lang="pt-BR" dirty="0">
                <a:latin typeface="Hagrid Text"/>
              </a:rPr>
              <a:t>que satisfaça as necessidades alimentares.</a:t>
            </a:r>
          </a:p>
          <a:p>
            <a:pPr algn="l"/>
            <a:r>
              <a:rPr lang="pt-BR" dirty="0">
                <a:latin typeface="Hagrid Text"/>
              </a:rPr>
              <a:t> </a:t>
            </a: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5E21DF8-E032-64DE-70A1-883623A4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5FDAB1B-EEB7-2115-990B-AFAF9C521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A3E33E-898D-F1D6-08FF-7D9B4E37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A60FAD2-E1CC-DF79-3674-C298B8F20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 Dieta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EFB32437-6EDD-0AD1-2EC1-0B3CAC578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97AFC0F4-D829-A055-5C9D-02EE1A0553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5BDE0A72-1FCC-33FC-8383-B67557A3F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EE90CE3-AEC0-D6C4-00B6-A73B8B133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43058"/>
            <a:ext cx="9716676" cy="30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9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6949F3-1C9F-C3E6-F9C8-D0A1F8E9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7C81831-7BF3-E56E-5E2D-E3814FB37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 Dieta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AFA7759E-8A21-4033-5CEE-C7A21D1F3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dirty="0"/>
              <a:t>Definimos x</a:t>
            </a:r>
            <a:r>
              <a:rPr lang="pt-BR" baseline="-25000" dirty="0"/>
              <a:t>i</a:t>
            </a:r>
            <a:r>
              <a:rPr lang="pt-BR" dirty="0"/>
              <a:t>  ́e a quantidade do alimento i consumido</a:t>
            </a:r>
          </a:p>
          <a:p>
            <a:pPr algn="l"/>
            <a:r>
              <a:rPr lang="pt-BR" dirty="0"/>
              <a:t>diariamente, i = 1 (leite), 2 (carne), 3(peixe), 4(salada)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min z = 5x</a:t>
            </a:r>
            <a:r>
              <a:rPr lang="pt-BR" baseline="-25000" dirty="0"/>
              <a:t>1</a:t>
            </a:r>
            <a:r>
              <a:rPr lang="pt-BR" dirty="0"/>
              <a:t> + 24x</a:t>
            </a:r>
            <a:r>
              <a:rPr lang="pt-BR" baseline="-25000" dirty="0"/>
              <a:t>2</a:t>
            </a:r>
            <a:r>
              <a:rPr lang="pt-BR" dirty="0"/>
              <a:t> + 15x</a:t>
            </a:r>
            <a:r>
              <a:rPr lang="pt-BR" baseline="-25000" dirty="0"/>
              <a:t>3</a:t>
            </a:r>
            <a:r>
              <a:rPr lang="pt-BR" dirty="0"/>
              <a:t> + x</a:t>
            </a:r>
            <a:r>
              <a:rPr lang="pt-BR" baseline="-25000" dirty="0"/>
              <a:t>4</a:t>
            </a:r>
          </a:p>
          <a:p>
            <a:pPr algn="l"/>
            <a:r>
              <a:rPr lang="pt-BR" dirty="0"/>
              <a:t>sujeito a</a:t>
            </a:r>
          </a:p>
          <a:p>
            <a:pPr algn="l"/>
            <a:r>
              <a:rPr lang="pt-BR" dirty="0"/>
              <a:t>2x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</a:t>
            </a:r>
            <a:r>
              <a:rPr lang="pt-BR" dirty="0"/>
              <a:t> + 10x</a:t>
            </a:r>
            <a:r>
              <a:rPr lang="pt-BR" baseline="-25000" dirty="0"/>
              <a:t>3</a:t>
            </a:r>
            <a:r>
              <a:rPr lang="pt-BR" dirty="0"/>
              <a:t> + 20x</a:t>
            </a:r>
            <a:r>
              <a:rPr lang="pt-BR" baseline="-25000" dirty="0"/>
              <a:t>4</a:t>
            </a:r>
            <a:r>
              <a:rPr lang="pt-BR" dirty="0"/>
              <a:t> ≥ 3000</a:t>
            </a:r>
          </a:p>
          <a:p>
            <a:pPr algn="l"/>
            <a:r>
              <a:rPr lang="pt-BR" dirty="0"/>
              <a:t>50x</a:t>
            </a:r>
            <a:r>
              <a:rPr lang="pt-BR" baseline="-25000" dirty="0"/>
              <a:t>1</a:t>
            </a:r>
            <a:r>
              <a:rPr lang="pt-BR" dirty="0"/>
              <a:t> + 20x</a:t>
            </a:r>
            <a:r>
              <a:rPr lang="pt-BR" baseline="-25000" dirty="0"/>
              <a:t>2</a:t>
            </a:r>
            <a:r>
              <a:rPr lang="pt-BR" dirty="0"/>
              <a:t> + 10x</a:t>
            </a:r>
            <a:r>
              <a:rPr lang="pt-BR" baseline="-25000" dirty="0"/>
              <a:t>3</a:t>
            </a:r>
            <a:r>
              <a:rPr lang="pt-BR" dirty="0"/>
              <a:t> + 30x</a:t>
            </a:r>
            <a:r>
              <a:rPr lang="pt-BR" baseline="-25000" dirty="0"/>
              <a:t>4</a:t>
            </a:r>
            <a:r>
              <a:rPr lang="pt-BR" dirty="0"/>
              <a:t> ≥ 90</a:t>
            </a:r>
          </a:p>
          <a:p>
            <a:pPr algn="l"/>
            <a:r>
              <a:rPr lang="pt-BR" dirty="0"/>
              <a:t>80x</a:t>
            </a:r>
            <a:r>
              <a:rPr lang="pt-BR" baseline="-25000" dirty="0"/>
              <a:t>1</a:t>
            </a:r>
            <a:r>
              <a:rPr lang="pt-BR" dirty="0"/>
              <a:t> + 70x</a:t>
            </a:r>
            <a:r>
              <a:rPr lang="pt-BR" baseline="-25000" dirty="0"/>
              <a:t>2</a:t>
            </a:r>
            <a:r>
              <a:rPr lang="pt-BR" dirty="0"/>
              <a:t> + 10x</a:t>
            </a:r>
            <a:r>
              <a:rPr lang="pt-BR" baseline="-25000" dirty="0"/>
              <a:t>3</a:t>
            </a:r>
            <a:r>
              <a:rPr lang="pt-BR" dirty="0"/>
              <a:t> + 80x</a:t>
            </a:r>
            <a:r>
              <a:rPr lang="pt-BR" baseline="-25000" dirty="0"/>
              <a:t>4</a:t>
            </a:r>
            <a:r>
              <a:rPr lang="pt-BR" dirty="0"/>
              <a:t> ≥ 250</a:t>
            </a:r>
          </a:p>
          <a:p>
            <a:pPr algn="l"/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, x</a:t>
            </a:r>
            <a:r>
              <a:rPr lang="pt-BR" baseline="-25000" dirty="0"/>
              <a:t>3</a:t>
            </a:r>
            <a:r>
              <a:rPr lang="pt-BR" dirty="0"/>
              <a:t>, x</a:t>
            </a:r>
            <a:r>
              <a:rPr lang="pt-BR" baseline="-25000" dirty="0"/>
              <a:t>4</a:t>
            </a:r>
            <a:r>
              <a:rPr lang="pt-BR" dirty="0"/>
              <a:t> ≥ 0</a:t>
            </a:r>
          </a:p>
          <a:p>
            <a:pPr algn="l"/>
            <a:r>
              <a:rPr lang="pt-BR" dirty="0">
                <a:latin typeface="Hagrid Text"/>
              </a:rPr>
              <a:t> </a:t>
            </a: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67E9D3C-255C-5F17-4CDD-323487F8E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C4BCCB72-56B5-D97E-8CEE-BB3DC1E549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5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1816B8-C88B-D9B9-48B2-E59C153E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47FC664-AE15-32A7-1E1D-119A7A6C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Mistura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96E58CB-8464-708D-752C-449B822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r>
              <a:rPr lang="pt-BR" dirty="0"/>
              <a:t> </a:t>
            </a:r>
          </a:p>
          <a:p>
            <a:pPr algn="l"/>
            <a:r>
              <a:rPr lang="pt-BR" dirty="0">
                <a:latin typeface="Hagrid Text"/>
              </a:rPr>
              <a:t>Problemas deste tipo consistem em combinar materiais</a:t>
            </a:r>
          </a:p>
          <a:p>
            <a:pPr algn="l"/>
            <a:r>
              <a:rPr lang="pt-BR" dirty="0">
                <a:latin typeface="Hagrid Text"/>
              </a:rPr>
              <a:t>obtidos na natureza para gerar novos materiais ou</a:t>
            </a:r>
          </a:p>
          <a:p>
            <a:pPr algn="l"/>
            <a:r>
              <a:rPr lang="pt-BR" dirty="0">
                <a:latin typeface="Hagrid Text"/>
              </a:rPr>
              <a:t>produtos com características convenientes.</a:t>
            </a: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3F9D3B6-9FE1-9665-AB3C-E78A2E84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2A7E9BB-4C8B-492E-4620-FA8BD4D364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0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65B8B4-2E51-7E33-44D0-D9F7CF41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D2D619C-9777-7959-F5D3-4A6E0645E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Mistura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44B081-7609-0BC6-A8B2-41C4B267C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b="1" dirty="0">
                <a:latin typeface="Hagrid Text"/>
              </a:rPr>
              <a:t>Exemplo: </a:t>
            </a:r>
            <a:r>
              <a:rPr lang="pt-BR" dirty="0">
                <a:latin typeface="Hagrid Text"/>
              </a:rPr>
              <a:t>Uma agroindústria deve produzir um tipo de ração para determinado animal. Essa ração é produzida pela mistura de farinhas de três ingredientes básicos: osso, soja e resto de peixe. Cada um desses três ingredientes contém diferentes quantidades de dois nutrientes necessários a uma dieta nutricional balanceada: proteína e cálcio. O nutricionista especifica as necessidades mínimas desses nutrientes em 1kg de ração. Cada ingrediente é adquirido no mercado com um certo custo unitário ($/kg). Na tabela abaixo os dados do problema são apresentados. Por exemplo, a farinha de osso é constituída de 20% de proteína e 60% de cálcio; a ração deve ser composta de pelo menos 30% de proteína e 50% de cálcio; 1kg da farinha de osso custa R$ 0,56.</a:t>
            </a:r>
          </a:p>
          <a:p>
            <a:pPr algn="l"/>
            <a:endParaRPr lang="pt-BR" dirty="0">
              <a:latin typeface="Hagrid Tex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0803ACC4-148C-83AD-151B-393C1FBEA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D9D6C0E7-26B5-B08B-102B-EC0128E20B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0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749F0B2-675D-D1CF-9CEC-B388282E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9F45621-F88E-67FA-86EE-C4947171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</a:t>
            </a:r>
            <a:r>
              <a:rPr lang="pt-BR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Mistura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8910E004-FDCD-39EC-403A-BF548541F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071938"/>
            <a:ext cx="9057572" cy="2128709"/>
          </a:xfrm>
        </p:spPr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Hagrid Text"/>
              </a:rPr>
              <a:t>.Deve-se determinar em que quantidades os ingredientes devem ser misturados de modo a produzir uma ração que satisfaça as restrições nutricionais com o mínimo custo.</a:t>
            </a:r>
          </a:p>
          <a:p>
            <a:pPr algn="l"/>
            <a:r>
              <a:rPr lang="pt-BR" dirty="0">
                <a:latin typeface="Hagrid Text"/>
              </a:rPr>
              <a:t>.Um problema real de formulação de ração geralmente envolve acima de 50 ingredientes e a lista completa de nutrientes pode chegar a 15. Sua solução manual é simplesmente impossível</a:t>
            </a: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19B8A18C-7A3F-1720-4A39-4C9706D43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94D4623C-255B-A168-C258-ADCC9FB72B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67881F-BD3B-559B-686C-F9A387E35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19063"/>
            <a:ext cx="9479389" cy="225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2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41D1FA-5132-0087-E9F5-9971AE7C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57F3D67-841F-E7DF-35EE-739239682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7985305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</a:t>
            </a:r>
            <a:r>
              <a:rPr lang="pt-BR" sz="6600" dirty="0"/>
              <a:t> </a:t>
            </a:r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Mistura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F8A16AF-9D4C-DC09-ECAD-E56E3765F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 </a:t>
            </a:r>
          </a:p>
          <a:p>
            <a:pPr algn="l"/>
            <a:r>
              <a:rPr lang="pt-BR" dirty="0">
                <a:latin typeface="Hagrid Text"/>
              </a:rPr>
              <a:t>Definimos x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é a quantidade da farinha i a ser misturada para compor a ração, i = o (osso), s (soja), p (peixe).</a:t>
            </a:r>
          </a:p>
          <a:p>
            <a:pPr algn="l"/>
            <a:r>
              <a:rPr lang="pt-BR" dirty="0">
                <a:latin typeface="Hagrid Text"/>
              </a:rPr>
              <a:t>min z = 0, 56x</a:t>
            </a:r>
            <a:r>
              <a:rPr lang="pt-BR" baseline="-25000" dirty="0">
                <a:latin typeface="Hagrid Text"/>
              </a:rPr>
              <a:t>o</a:t>
            </a:r>
            <a:r>
              <a:rPr lang="pt-BR" dirty="0">
                <a:latin typeface="Hagrid Text"/>
              </a:rPr>
              <a:t> + 0, 81x</a:t>
            </a:r>
            <a:r>
              <a:rPr lang="pt-BR" baseline="-25000" dirty="0">
                <a:latin typeface="Hagrid Text"/>
              </a:rPr>
              <a:t>s</a:t>
            </a:r>
            <a:r>
              <a:rPr lang="pt-BR" dirty="0">
                <a:latin typeface="Hagrid Text"/>
              </a:rPr>
              <a:t> + 0, 46x</a:t>
            </a:r>
            <a:r>
              <a:rPr lang="pt-BR" baseline="-25000" dirty="0">
                <a:latin typeface="Hagrid Text"/>
              </a:rPr>
              <a:t>p</a:t>
            </a:r>
            <a:endParaRPr lang="pt-BR" dirty="0">
              <a:latin typeface="Hagrid Text"/>
            </a:endParaRPr>
          </a:p>
          <a:p>
            <a:pPr algn="l"/>
            <a:endParaRPr lang="pt-BR" dirty="0">
              <a:latin typeface="Hagrid Text"/>
            </a:endParaRPr>
          </a:p>
          <a:p>
            <a:pPr algn="l"/>
            <a:r>
              <a:rPr lang="pt-BR" dirty="0">
                <a:latin typeface="Hagrid Text"/>
              </a:rPr>
              <a:t>sujeito a</a:t>
            </a:r>
          </a:p>
          <a:p>
            <a:pPr algn="l"/>
            <a:endParaRPr lang="pt-BR" dirty="0">
              <a:latin typeface="Hagrid Text"/>
            </a:endParaRPr>
          </a:p>
          <a:p>
            <a:pPr algn="l"/>
            <a:r>
              <a:rPr lang="pt-BR" dirty="0">
                <a:latin typeface="Hagrid Text"/>
              </a:rPr>
              <a:t>0, 2x</a:t>
            </a:r>
            <a:r>
              <a:rPr lang="pt-BR" baseline="-25000" dirty="0">
                <a:latin typeface="Hagrid Text"/>
              </a:rPr>
              <a:t>o</a:t>
            </a:r>
            <a:r>
              <a:rPr lang="pt-BR" dirty="0">
                <a:latin typeface="Hagrid Text"/>
              </a:rPr>
              <a:t> + 0, 5x</a:t>
            </a:r>
            <a:r>
              <a:rPr lang="pt-BR" baseline="-25000" dirty="0">
                <a:latin typeface="Hagrid Text"/>
              </a:rPr>
              <a:t>s</a:t>
            </a:r>
            <a:r>
              <a:rPr lang="pt-BR" dirty="0">
                <a:latin typeface="Hagrid Text"/>
              </a:rPr>
              <a:t> + 0, 4x</a:t>
            </a:r>
            <a:r>
              <a:rPr lang="pt-BR" baseline="-25000" dirty="0">
                <a:latin typeface="Hagrid Text"/>
              </a:rPr>
              <a:t>p</a:t>
            </a:r>
            <a:r>
              <a:rPr lang="pt-BR" dirty="0">
                <a:latin typeface="Hagrid Text"/>
              </a:rPr>
              <a:t> ≥ 0, 3</a:t>
            </a:r>
          </a:p>
          <a:p>
            <a:pPr algn="l"/>
            <a:r>
              <a:rPr lang="pt-BR" dirty="0">
                <a:latin typeface="Hagrid Text"/>
              </a:rPr>
              <a:t>0, 6x</a:t>
            </a:r>
            <a:r>
              <a:rPr lang="pt-BR" baseline="-25000" dirty="0">
                <a:latin typeface="Hagrid Text"/>
              </a:rPr>
              <a:t>o</a:t>
            </a:r>
            <a:r>
              <a:rPr lang="pt-BR" dirty="0">
                <a:latin typeface="Hagrid Text"/>
              </a:rPr>
              <a:t> + 0, 4x</a:t>
            </a:r>
            <a:r>
              <a:rPr lang="pt-BR" baseline="-25000" dirty="0">
                <a:latin typeface="Hagrid Text"/>
              </a:rPr>
              <a:t>s</a:t>
            </a:r>
            <a:r>
              <a:rPr lang="pt-BR" dirty="0">
                <a:latin typeface="Hagrid Text"/>
              </a:rPr>
              <a:t> + 0, 4x</a:t>
            </a:r>
            <a:r>
              <a:rPr lang="pt-BR" baseline="-25000" dirty="0">
                <a:latin typeface="Hagrid Text"/>
              </a:rPr>
              <a:t>p</a:t>
            </a:r>
            <a:r>
              <a:rPr lang="pt-BR" dirty="0">
                <a:latin typeface="Hagrid Text"/>
              </a:rPr>
              <a:t> ≥ 0, 5</a:t>
            </a:r>
          </a:p>
          <a:p>
            <a:pPr algn="l"/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o</a:t>
            </a:r>
            <a:r>
              <a:rPr lang="pt-BR" dirty="0">
                <a:latin typeface="Hagrid Text"/>
              </a:rPr>
              <a:t> + </a:t>
            </a:r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s</a:t>
            </a:r>
            <a:r>
              <a:rPr lang="pt-BR" dirty="0">
                <a:latin typeface="Hagrid Text"/>
              </a:rPr>
              <a:t> + </a:t>
            </a:r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p</a:t>
            </a:r>
            <a:r>
              <a:rPr lang="pt-BR" dirty="0">
                <a:latin typeface="Hagrid Text"/>
              </a:rPr>
              <a:t> = 1</a:t>
            </a:r>
          </a:p>
          <a:p>
            <a:pPr algn="l"/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o</a:t>
            </a:r>
            <a:r>
              <a:rPr lang="pt-BR" dirty="0">
                <a:latin typeface="Hagrid Text"/>
              </a:rPr>
              <a:t>, </a:t>
            </a:r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s</a:t>
            </a:r>
            <a:r>
              <a:rPr lang="pt-BR" dirty="0">
                <a:latin typeface="Hagrid Text"/>
              </a:rPr>
              <a:t>, </a:t>
            </a:r>
            <a:r>
              <a:rPr lang="pt-BR" dirty="0" err="1">
                <a:latin typeface="Hagrid Text"/>
              </a:rPr>
              <a:t>x</a:t>
            </a:r>
            <a:r>
              <a:rPr lang="pt-BR" baseline="-25000" dirty="0" err="1">
                <a:latin typeface="Hagrid Text"/>
              </a:rPr>
              <a:t>p</a:t>
            </a:r>
            <a:r>
              <a:rPr lang="pt-BR" dirty="0">
                <a:latin typeface="Hagrid Text"/>
              </a:rPr>
              <a:t> ≥ 0</a:t>
            </a: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BC013B36-CDFA-8B1F-1893-DC2E1431F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20637035-2FBA-AC1F-E1C9-EE0C600B71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7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E4C22F-93EC-D119-02EB-0DC8F0E2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9EF901B-CE12-9F94-9CA2-B214B70F8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4800" dirty="0"/>
              <a:t> </a:t>
            </a:r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 perda por corte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E4B6A2C-0167-947C-6C37-30EC7F507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latin typeface="Hagrid Text"/>
              </a:rPr>
              <a:t>Várias indústrias, tais como as de papel, vidro, plástico, metalúrgica, moveleira etc., usam a seguinte estratégia na manufatura de seus produtos: objetos (peças grandes) de tamanhos padronizados são cortados em itens (peças menores) de tamanhos variados, que dependem de solicitações de clientes e que, em geral não são padronizados. Esse processo de corte gera perdas de material indesejáveis. Surge então um problema de otimização que consiste em cortar os objetos para a produção dos itens nas quantidades solicitadas, de modo que a perda de material dos objetos seja mínima.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05589425-311C-A27C-2D8B-2F839526E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A30953F-D52F-08DA-1EB0-0B54057EAA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28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5F2AEB-925D-8ABB-B64A-0D6F638F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102A09-D82F-6D8D-AAB8-5DB086A44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4800" dirty="0"/>
              <a:t> </a:t>
            </a:r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 perda por corte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1F360C4-C1FE-D498-08A4-09258C139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b="1" dirty="0">
                <a:latin typeface="Hagrid Text"/>
              </a:rPr>
              <a:t>Exemplo: </a:t>
            </a:r>
            <a:r>
              <a:rPr lang="pt-BR" dirty="0">
                <a:latin typeface="Hagrid Text"/>
              </a:rPr>
              <a:t>Uma empresa produz rolos de papel com uma largura de 20 cm cada. Neste mês a empresa recebeu pedidos de rolos com larguras diferentes. Os pedidos estão resumidos na tabela abaixo.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CCB6D84-4DEA-E4F3-EDAE-C2A8FCF9F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8B78FF4B-618F-0500-046B-F2BF21F531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C09DD27-1C8F-B89C-6D9A-DA58AB37C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14675"/>
            <a:ext cx="8868634" cy="23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0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318725-4B25-E1F3-EA8D-94698A6F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3C79A68-7525-3A2D-FBC7-064532A39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4800" dirty="0"/>
              <a:t> </a:t>
            </a:r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 perda por corte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1D0D519B-BE85-A7B0-57E1-FA5521C18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1747319"/>
            <a:ext cx="10604183" cy="4453328"/>
          </a:xfrm>
        </p:spPr>
        <p:txBody>
          <a:bodyPr>
            <a:normAutofit/>
          </a:bodyPr>
          <a:lstStyle/>
          <a:p>
            <a:pPr algn="l"/>
            <a:r>
              <a:rPr lang="pt-BR" b="1" dirty="0" smtClean="0">
                <a:latin typeface="Hagrid Text"/>
              </a:rPr>
              <a:t>Exemplo: </a:t>
            </a:r>
            <a:r>
              <a:rPr lang="pt-BR" dirty="0" smtClean="0">
                <a:latin typeface="Hagrid Text"/>
              </a:rPr>
              <a:t>Pedidos </a:t>
            </a:r>
            <a:r>
              <a:rPr lang="pt-BR" dirty="0">
                <a:latin typeface="Hagrid Text"/>
              </a:rPr>
              <a:t>especiais de clientes com larguras diferentes são produzidos pelo corte padronizado de rolos. Na prática um pedido é atendido pelo ajuste das facas às larguras desejadas. De modo geral, há várias maneiras de cortar um rolo padronizado para atender a determinado pedido. A tabela a seguir mostra os ajustes viáveis de facas para o rolo de 20 cm.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637CBF62-4988-ED54-E05D-3EDADD20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8BBC94E8-3649-159E-0A75-F837DE5FE5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8A77E2-0172-7B00-361A-8F443B7AF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25" y="3429001"/>
            <a:ext cx="8226120" cy="312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33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72344F-3015-13B7-D461-C641C5C3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F3BD543-D760-B146-3DA2-AE18B19EB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</a:t>
            </a:r>
            <a:r>
              <a:rPr lang="pt-BR" sz="4800" dirty="0"/>
              <a:t> </a:t>
            </a:r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 perda por corte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8F3F3DB-EF1B-A7F0-AB39-4C2D0A2DD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585913"/>
            <a:ext cx="9057572" cy="461473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dirty="0">
                <a:latin typeface="Hagrid Text"/>
              </a:rPr>
              <a:t>Determine as combinações de ajuste de facas que atenderão aos pedidos requisitados com mínima perda por corte. Formule como um problema de programação linear.</a:t>
            </a:r>
          </a:p>
          <a:p>
            <a:pPr algn="l"/>
            <a:r>
              <a:rPr lang="pt-BR" dirty="0">
                <a:latin typeface="Hagrid Text"/>
              </a:rPr>
              <a:t>Definimos: xi é o número de rolos padronizados a cortar conforme o ajuste de facas i, i = 1, 2, . . . , 6.</a:t>
            </a:r>
          </a:p>
          <a:p>
            <a:pPr algn="l"/>
            <a:endParaRPr lang="pt-BR">
              <a:latin typeface="Hagrid Text"/>
            </a:endParaRPr>
          </a:p>
          <a:p>
            <a:pPr algn="l"/>
            <a:r>
              <a:rPr lang="pt-BR">
                <a:latin typeface="Hagrid Text"/>
              </a:rPr>
              <a:t>min </a:t>
            </a:r>
            <a:r>
              <a:rPr lang="pt-BR" dirty="0">
                <a:latin typeface="Hagrid Text"/>
              </a:rPr>
              <a:t>z = 4x1 + 3x2 + x3 + x5 + 2x6</a:t>
            </a:r>
          </a:p>
          <a:p>
            <a:pPr algn="l"/>
            <a:r>
              <a:rPr lang="pt-BR" dirty="0">
                <a:latin typeface="Hagrid Text"/>
              </a:rPr>
              <a:t>sujeito a</a:t>
            </a:r>
          </a:p>
          <a:p>
            <a:pPr algn="l"/>
            <a:r>
              <a:rPr lang="pt-BR" dirty="0">
                <a:latin typeface="Hagrid Text"/>
              </a:rPr>
              <a:t>2x2 + 2x3 + 4x4 + x5 ≥ 150</a:t>
            </a:r>
          </a:p>
          <a:p>
            <a:pPr algn="l"/>
            <a:r>
              <a:rPr lang="pt-BR" dirty="0">
                <a:latin typeface="Hagrid Text"/>
              </a:rPr>
              <a:t>x1 + x2 + 2x5 ≥ 200</a:t>
            </a:r>
          </a:p>
          <a:p>
            <a:pPr algn="l"/>
            <a:r>
              <a:rPr lang="pt-BR" dirty="0">
                <a:latin typeface="Hagrid Text"/>
              </a:rPr>
              <a:t>x1 + x3 + 2x6 ≥ 300</a:t>
            </a:r>
          </a:p>
          <a:p>
            <a:pPr algn="l"/>
            <a:r>
              <a:rPr lang="pt-BR" dirty="0">
                <a:latin typeface="Hagrid Text"/>
              </a:rPr>
              <a:t>xi ≥ 0, i = 1, 2, . . . , 6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05A81ABC-6CB5-4ED8-10BD-75962E871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DA2ADF6-038F-2FF3-3475-E26558B556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1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5A6881-EBA7-FDD7-2871-41832028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E472F27-EF86-F5E8-22A2-6D28DB314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Mix de Produção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A2DA24F-52E7-6F8E-C050-8419514A6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latin typeface="Hagrid Text"/>
              </a:rPr>
              <a:t>O problema do mix de produção tem como objetivo encontrar a quantidade ideal a ser fabricada de determinada linha de produtos que maximize o resultado da empresa ou minimize os custos de produção, respeitando suas limitações de recursos produtivos e mercadológicos.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AAD804C7-6009-E29B-29F1-1697A4F8B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1CBA9F25-CE6A-2055-5193-C8A995062D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5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508DB4-3526-3B06-60BD-4BD31154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0402773-F212-F2D8-A3E6-400EC6CE1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Mix de Produção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59C311F-F787-7CDE-DB56-FFA1D4FDE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fontScale="92500"/>
          </a:bodyPr>
          <a:lstStyle/>
          <a:p>
            <a:pPr algn="l"/>
            <a:r>
              <a:rPr lang="pt-BR" b="1" dirty="0">
                <a:latin typeface="Hagrid Text"/>
              </a:rPr>
              <a:t>Exemplo: </a:t>
            </a:r>
            <a:r>
              <a:rPr lang="pt-BR" dirty="0">
                <a:latin typeface="Hagrid Text"/>
              </a:rPr>
              <a:t>A empresa </a:t>
            </a:r>
            <a:r>
              <a:rPr lang="pt-BR" dirty="0" err="1">
                <a:latin typeface="Hagrid Text"/>
              </a:rPr>
              <a:t>Venix</a:t>
            </a:r>
            <a:r>
              <a:rPr lang="pt-BR" dirty="0">
                <a:latin typeface="Hagrid Text"/>
              </a:rPr>
              <a:t> brinquedos está revendo seu planejamento de produção de carrinhos e triciclos. O lucro líquido por unidade de carrinho e triciclo produzido é de R$ 12,00 e R$ 60,00, respectivamente. As matérias-primas e os insumos necessários para a fabricação de cada um dos produtos são terceirizados, cabendo à empresa os processos de usinagem, pintura e montagem. O processo de usinagem requer 15 minutos de mão-de-obra especializada por unidade de carrinho e 30 minutos por unidade de triciclo produzida. O processo de pintura requer 6 minutos de mão-de-obra especializada por unidade de carrinho e 45 minutos por unidade de triciclo produzida. Já o processo de montagem requer 6 minutos de mão-de-obra especializada por unidade de carrinho e 24 minutos por unidade de triciclo produzida. O tempo disponível por semana é de 36, 22 e 15 horas para os processos.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E1F3B310-504C-CFAE-52C4-4935AAEC9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C69CC6A-0FAD-5B6A-6326-3B0D7A298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6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F7C15F-E82C-F645-185E-1FBDDA91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E579A66-DCB4-F61B-D0A2-4E0D4BCB0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097707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Mix de Produção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A80D3F6-485B-0C1F-90A5-71A7EB713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Hagrid Text"/>
              </a:rPr>
              <a:t>processos de usinagem, pintura e montagem, respectivamente.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A empresa quer determinar quanto produzir de cada produto por semana, respeitando as limitações de recursos, de forma a maximizar o lucro líquido semanal. Formule o PPL.</a:t>
            </a:r>
          </a:p>
          <a:p>
            <a:pPr algn="l"/>
            <a:r>
              <a:rPr lang="pt-BR" dirty="0">
                <a:latin typeface="Hagrid Text"/>
              </a:rPr>
              <a:t>Definimos: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xi é a quantidade a ser fabricada do produto i por semana,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i = 1 (carrinhos) e 2 (triciclos).</a:t>
            </a:r>
          </a:p>
          <a:p>
            <a:pPr algn="l"/>
            <a:r>
              <a:rPr lang="pt-BR" dirty="0" err="1">
                <a:latin typeface="Hagrid Text"/>
              </a:rPr>
              <a:t>max</a:t>
            </a:r>
            <a:r>
              <a:rPr lang="pt-BR" dirty="0">
                <a:latin typeface="Hagrid Text"/>
              </a:rPr>
              <a:t> z = 12x₁ + 60x₂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sujeito a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15x₁ + 30x₂ ≤ 2160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6x₁ + 45x₂ ≤ 1320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6x₁ + 24x₂ ≤ 900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xi ≥ 0, i = 1, 2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F4223F8C-D89D-E8AF-FA39-CDA0EFF9D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BA4ACED5-697C-ABA2-A6BD-D4577A15A8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56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BD8F14-2A51-4745-6FD6-B9E708D3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2CD01B-CF76-039D-3075-45DA2F117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42727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Planejamento da Produção e Controle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C82873C-0D59-F812-2745-63392A48B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b="1" dirty="0">
                <a:latin typeface="Hagrid Text"/>
              </a:rPr>
              <a:t>Exemplo: </a:t>
            </a:r>
            <a:r>
              <a:rPr lang="pt-BR" dirty="0">
                <a:latin typeface="Hagrid Text"/>
              </a:rPr>
              <a:t>Uma empresa fabricará um produto para os próximos quatro meses: março (1), abril (2), maio (3) e junho (4). A demanda em cada mês é de 520, 720, 520 e 620 unidades, respectivamente. A empresa dispõe de mão-de-obra constante de dez empregados, mas pode atender a necessidades variáveis de produção contratando e demitindo empregados temporários, se necessário. Os custos adicionais de contratação e demissão em qualquer mês são de R$ 200 e R$ 400 por empregado, respectivamente. Um operário permanente pode produzir 12 unidades por mês, e um temporário, por não ter experiência comparável, produz apenas dez unidades por mês. A empresa pode produzir mais do que o necessário em qualquer mês e transferir o excedente de produção para um mês posterior a um custo de carregamento de R$ 50 por unidade por mês. Desenvolva uma política ótima de contratação/demissão para a empresa na projeção de um planejamento de quatro meses.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D4B29FA-DF85-4838-17BD-AE94413E0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8B37DBA0-CD87-00F5-94F0-DDB8D9E098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86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E71B5C-E935-5421-36A3-3436FAF1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2C7C26D-550B-3259-661F-8FC4CE68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42727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Planejamento da Produção e Controle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C9DBAEC-42F2-86E5-61AC-C52FE8E76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latin typeface="Hagrid Text"/>
              </a:rPr>
              <a:t>Observação 1: O objetivo é minimizar o custo de contratação e demissão mais o custo de manutenção de estoque de um mês para o seguinte.</a:t>
            </a:r>
          </a:p>
          <a:p>
            <a:pPr algn="l"/>
            <a:r>
              <a:rPr lang="pt-BR" dirty="0">
                <a:latin typeface="Hagrid Text"/>
              </a:rPr>
              <a:t>Precisamos contabilizar a diferença entre mão-de-obra permanente e a temporária;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Precisamos contabilizar o custo de contratação e demissão para cada mês.</a:t>
            </a:r>
          </a:p>
          <a:p>
            <a:pPr algn="l"/>
            <a:r>
              <a:rPr lang="pt-BR" dirty="0">
                <a:latin typeface="Hagrid Text"/>
              </a:rPr>
              <a:t>Definimos para i = 1, ..., 4: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Ei é o número de unidades em estoque no final do mês i.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xi é o número de temporários disponíveis por mês após qualquer contratação ou demissão.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A971400-7FB6-97C6-CFBD-6925DC8A1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AA7E086-74FC-A37F-9C96-7B275DDC2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6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50D166-8AF2-DBB2-6F49-13E83DFF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ADE6119-CE78-6AA9-637D-793250D22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42727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Planejamento da Produção e Controle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0AE4F525-8D0F-F6F3-FD26-41F0F82FC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747319"/>
            <a:ext cx="9057572" cy="4453328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latin typeface="Hagrid Text"/>
              </a:rPr>
              <a:t>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é o número de temporários contratados menos o número de temporários demitidos no início do mês i.</a:t>
            </a:r>
          </a:p>
          <a:p>
            <a:pPr algn="l"/>
            <a:r>
              <a:rPr lang="pt-BR" dirty="0">
                <a:latin typeface="Hagrid Text"/>
              </a:rPr>
              <a:t>Observação 2: Observe que 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&gt; 0 se novos trabalhadores são contratados, 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&lt; 0 se novos trabalhadores são demitidos e 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= 0 se não houver contratações nem demissões. Portanto, 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é livre.</a:t>
            </a:r>
          </a:p>
          <a:p>
            <a:pPr algn="l"/>
            <a:r>
              <a:rPr lang="pt-BR" dirty="0">
                <a:latin typeface="Hagrid Text"/>
              </a:rPr>
              <a:t>T</a:t>
            </a:r>
            <a:r>
              <a:rPr lang="pt-BR" baseline="-25000" dirty="0">
                <a:latin typeface="Hagrid Text"/>
              </a:rPr>
              <a:t>i</a:t>
            </a:r>
            <a:r>
              <a:rPr lang="pt-BR" dirty="0">
                <a:latin typeface="Hagrid Text"/>
              </a:rPr>
              <a:t> livre ⇔ </a:t>
            </a:r>
            <a:r>
              <a:rPr lang="pt-BR" dirty="0" err="1">
                <a:latin typeface="Hagrid Text"/>
              </a:rPr>
              <a:t>Tᐩ</a:t>
            </a:r>
            <a:r>
              <a:rPr lang="pt-BR" dirty="0">
                <a:latin typeface="Hagrid Text"/>
              </a:rPr>
              <a:t>ᵢ - T⁻ᵢ, </a:t>
            </a:r>
            <a:r>
              <a:rPr lang="pt-BR" dirty="0" err="1">
                <a:latin typeface="Hagrid Text"/>
              </a:rPr>
              <a:t>Tᐩ</a:t>
            </a:r>
            <a:r>
              <a:rPr lang="pt-BR" dirty="0">
                <a:latin typeface="Hagrid Text"/>
              </a:rPr>
              <a:t>ᵢ ≥ 0, T⁻ᵢ ≥ 0.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Onde </a:t>
            </a:r>
            <a:r>
              <a:rPr lang="pt-BR" dirty="0" err="1">
                <a:latin typeface="Hagrid Text"/>
              </a:rPr>
              <a:t>Tᐩ</a:t>
            </a:r>
            <a:r>
              <a:rPr lang="pt-BR" dirty="0">
                <a:latin typeface="Hagrid Text"/>
              </a:rPr>
              <a:t>ᵢ é o número de temporários contratados e T⁻ᵢ é o número de temporários demitidos.</a:t>
            </a:r>
          </a:p>
          <a:p>
            <a:pPr algn="l"/>
            <a:r>
              <a:rPr lang="pt-BR" dirty="0">
                <a:latin typeface="Hagrid Text"/>
              </a:rPr>
              <a:t>Calculamos a demanda líquida como Demanda do mês menos 10 × 12, ∀ i = 1, 2, 3, 4. 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B95AEEA8-8EBF-E0D3-1A0B-7106CEC61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97A2B09A-E06E-7CF9-793B-4767755812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68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086A27-D43D-61A3-571F-AB9F8E4C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CE4DE2-AC2F-2EBD-0558-D32D827EC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42727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Planejamento da Produção e Controle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206F043-BB70-7E3C-5F3C-0704102BD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104571"/>
            <a:ext cx="11488337" cy="409607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Demanda líquida de março = 520 − 12 × 10 = 400 unidades.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Demanda líquida de abril = 720 − 12 × 10 = 600 unidades.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Demanda líquida de maio = 520 − 12 × 10 = 400 unidades.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Demanda líquida de junho = 620 − 12 × 10 = 500 unidades.</a:t>
            </a:r>
          </a:p>
          <a:p>
            <a:pPr algn="l"/>
            <a:endParaRPr lang="pt-BR" dirty="0">
              <a:latin typeface="Hagrid Tex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ACF2AA6E-2598-D32E-DEE2-87342C2C3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0F0193B-5A01-C94E-E7E4-15B99E75D3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22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00FB93F-86C6-E603-8D05-4462A71C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E1D1C7-8973-0F7C-4E8C-186967450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9432608" cy="142727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Planejamento da Produção e Controle de Estoque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4194932-67E0-6378-DD36-AAD3B1341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002971"/>
            <a:ext cx="11488337" cy="419767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dirty="0">
                <a:latin typeface="Hagrid Text"/>
              </a:rPr>
              <a:t>min z = 50(E₁ + E₂ + E₃ + E₄) + 200(T</a:t>
            </a:r>
            <a:r>
              <a:rPr lang="iu-Cans-CA" dirty="0">
                <a:latin typeface="Hagrid Text"/>
              </a:rPr>
              <a:t>ᐩ₁ + </a:t>
            </a:r>
            <a:r>
              <a:rPr lang="pt-BR" dirty="0">
                <a:latin typeface="Hagrid Text"/>
              </a:rPr>
              <a:t>T</a:t>
            </a:r>
            <a:r>
              <a:rPr lang="iu-Cans-CA" dirty="0">
                <a:latin typeface="Hagrid Text"/>
              </a:rPr>
              <a:t>ᐩ₂ + </a:t>
            </a:r>
            <a:r>
              <a:rPr lang="pt-BR" dirty="0">
                <a:latin typeface="Hagrid Text"/>
              </a:rPr>
              <a:t>T</a:t>
            </a:r>
            <a:r>
              <a:rPr lang="iu-Cans-CA" dirty="0">
                <a:latin typeface="Hagrid Text"/>
              </a:rPr>
              <a:t>ᐩ₃ + </a:t>
            </a:r>
            <a:r>
              <a:rPr lang="pt-BR" dirty="0">
                <a:latin typeface="Hagrid Text"/>
              </a:rPr>
              <a:t>T</a:t>
            </a:r>
            <a:r>
              <a:rPr lang="iu-Cans-CA" dirty="0">
                <a:latin typeface="Hagrid Text"/>
              </a:rPr>
              <a:t>ᐩ₄) + 400(</a:t>
            </a:r>
            <a:r>
              <a:rPr lang="pt-BR" dirty="0">
                <a:latin typeface="Hagrid Text"/>
              </a:rPr>
              <a:t>T⁻₁ + T⁻₂ + T⁻₃ + T⁻₄)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sujeito a</a:t>
            </a:r>
          </a:p>
          <a:p>
            <a:pPr algn="l"/>
            <a:r>
              <a:rPr lang="pt-BR" dirty="0">
                <a:latin typeface="Hagrid Text"/>
              </a:rPr>
              <a:t>10x₁ = 400 + E₁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E₁ + 10x₂ = 600 + E₂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E₂ + 10x₃ = 400 + E₃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E₃ + 10x₄ = 500 + E₄</a:t>
            </a:r>
          </a:p>
          <a:p>
            <a:pPr algn="l"/>
            <a:r>
              <a:rPr lang="pt-BR" dirty="0">
                <a:latin typeface="Hagrid Text"/>
              </a:rPr>
              <a:t/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x₁ = T</a:t>
            </a:r>
            <a:r>
              <a:rPr lang="iu-Cans-CA" dirty="0">
                <a:latin typeface="Hagrid Text"/>
              </a:rPr>
              <a:t>ᐩ₁ − </a:t>
            </a:r>
            <a:r>
              <a:rPr lang="pt-BR" dirty="0">
                <a:latin typeface="Hagrid Text"/>
              </a:rPr>
              <a:t>T⁻₁</a:t>
            </a:r>
          </a:p>
          <a:p>
            <a:pPr algn="l"/>
            <a:r>
              <a:rPr lang="pt-BR" dirty="0">
                <a:latin typeface="Hagrid Text"/>
              </a:rPr>
              <a:t>x₂ = x₁ + T</a:t>
            </a:r>
            <a:r>
              <a:rPr lang="iu-Cans-CA" dirty="0">
                <a:latin typeface="Hagrid Text"/>
              </a:rPr>
              <a:t>ᐩ₂ − </a:t>
            </a:r>
            <a:r>
              <a:rPr lang="pt-BR" dirty="0">
                <a:latin typeface="Hagrid Text"/>
              </a:rPr>
              <a:t>T⁻₂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x₃ = x₂ + T</a:t>
            </a:r>
            <a:r>
              <a:rPr lang="iu-Cans-CA" dirty="0">
                <a:latin typeface="Hagrid Text"/>
              </a:rPr>
              <a:t>ᐩ₃ − </a:t>
            </a:r>
            <a:r>
              <a:rPr lang="pt-BR" dirty="0">
                <a:latin typeface="Hagrid Text"/>
              </a:rPr>
              <a:t>T⁻₃</a:t>
            </a:r>
            <a:br>
              <a:rPr lang="pt-BR" dirty="0">
                <a:latin typeface="Hagrid Text"/>
              </a:rPr>
            </a:br>
            <a:r>
              <a:rPr lang="pt-BR" dirty="0">
                <a:latin typeface="Hagrid Text"/>
              </a:rPr>
              <a:t>x₄ = x₃ + T</a:t>
            </a:r>
            <a:r>
              <a:rPr lang="iu-Cans-CA" dirty="0">
                <a:latin typeface="Hagrid Text"/>
              </a:rPr>
              <a:t>ᐩ₄ − </a:t>
            </a:r>
            <a:r>
              <a:rPr lang="pt-BR" dirty="0">
                <a:latin typeface="Hagrid Text"/>
              </a:rPr>
              <a:t>T⁻₄</a:t>
            </a:r>
          </a:p>
          <a:p>
            <a:pPr algn="l"/>
            <a:r>
              <a:rPr lang="pt-BR" dirty="0">
                <a:latin typeface="Hagrid Text"/>
              </a:rPr>
              <a:t>xᵢ ≥ 0, Eᵢ ≥ 0, T</a:t>
            </a:r>
            <a:r>
              <a:rPr lang="iu-Cans-CA" dirty="0">
                <a:latin typeface="Hagrid Text"/>
              </a:rPr>
              <a:t>ᐩ</a:t>
            </a:r>
            <a:r>
              <a:rPr lang="pt-BR" dirty="0">
                <a:latin typeface="Hagrid Text"/>
              </a:rPr>
              <a:t>ᵢ ≥ 0, T⁻ᵢ ≥ 0</a:t>
            </a:r>
          </a:p>
          <a:p>
            <a:pPr algn="l"/>
            <a:endParaRPr lang="pt-BR" dirty="0">
              <a:latin typeface="Hagrid Text"/>
            </a:endParaRPr>
          </a:p>
          <a:p>
            <a:pPr algn="l"/>
            <a:endParaRPr lang="pt-BR" dirty="0">
              <a:latin typeface="Hagrid Tex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DA7B9B90-604D-45DD-AF61-BD0121ADE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2FFB457-3E3F-151E-A0BD-E61D08D270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1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1372</Words>
  <Application>Microsoft Office PowerPoint</Application>
  <PresentationFormat>Personalizar</PresentationFormat>
  <Paragraphs>91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Office Theme</vt:lpstr>
      <vt:lpstr>Modelagem Matemática de PPLs </vt:lpstr>
      <vt:lpstr>Problema da Dieta</vt:lpstr>
      <vt:lpstr>Problema da Dieta</vt:lpstr>
      <vt:lpstr>Problema da Dieta</vt:lpstr>
      <vt:lpstr>Problema da Mistura</vt:lpstr>
      <vt:lpstr>Problema da Mistura</vt:lpstr>
      <vt:lpstr>Problema da Mistura</vt:lpstr>
      <vt:lpstr>Problema da Mistura</vt:lpstr>
      <vt:lpstr>Problema da perda por corte</vt:lpstr>
      <vt:lpstr>Problema da perda por corte</vt:lpstr>
      <vt:lpstr>Problema da perda por corte</vt:lpstr>
      <vt:lpstr>Problema da perda por corte</vt:lpstr>
      <vt:lpstr>Problema do Mix de Produção</vt:lpstr>
      <vt:lpstr>Problema do Mix de Produção</vt:lpstr>
      <vt:lpstr>Problema do Mix de Produção</vt:lpstr>
      <vt:lpstr>Planejamento da Produção e Controle de Estoque</vt:lpstr>
      <vt:lpstr>Planejamento da Produção e Controle de Estoque</vt:lpstr>
      <vt:lpstr>Planejamento da Produção e Controle de Estoque</vt:lpstr>
      <vt:lpstr>Planejamento da Produção e Controle de Estoque</vt:lpstr>
      <vt:lpstr>Planejamento da Produção e Controle de Estoque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Matemática de PPLs </dc:title>
  <dc:creator>Ana Carolina Nel</dc:creator>
  <cp:lastModifiedBy>andrea</cp:lastModifiedBy>
  <cp:revision>3</cp:revision>
  <dcterms:created xsi:type="dcterms:W3CDTF">2025-11-01T13:41:11Z</dcterms:created>
  <dcterms:modified xsi:type="dcterms:W3CDTF">2025-11-19T13:35:49Z</dcterms:modified>
</cp:coreProperties>
</file>