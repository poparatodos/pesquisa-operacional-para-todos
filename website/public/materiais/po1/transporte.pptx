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60" r:id="rId15"/>
    <p:sldId id="271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5"/>
  </p:normalViewPr>
  <p:slideViewPr>
    <p:cSldViewPr snapToGrid="0" snapToObjects="1">
      <p:cViewPr varScale="1">
        <p:scale>
          <a:sx n="109" d="100"/>
          <a:sy n="109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70E04-C330-A845-B24B-FDDDFAB0B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E0CABD-E162-BA40-9BB0-19065C17B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3DF28E-5F53-9B4B-ACA3-CE7123D8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8CE-59CB-C948-BFC9-DEFA13D295F4}" type="datetimeFigureOut">
              <a:rPr lang="pt-BR" smtClean="0"/>
              <a:t>24/09/2021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72DB68-1389-1743-8A50-64FA2946C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7B7B7E-2AE4-6844-BAA1-B576D572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15AE6-B63B-6F48-8AD5-DF932A9B19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5909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91CD1-0979-2A44-B78C-252239BE3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E861E2-1C20-EB4A-A9A3-EEC3016BA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F2843B-68F4-BD43-BA0D-E49879CD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8CE-59CB-C948-BFC9-DEFA13D295F4}" type="datetimeFigureOut">
              <a:rPr lang="pt-BR" smtClean="0"/>
              <a:t>24/09/2021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108B38-F0F9-2D4F-94CE-4CA34CC67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8BEE3C-0F65-DE4C-A939-1AFBC88B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15AE6-B63B-6F48-8AD5-DF932A9B19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018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F4B81-760C-C04A-89D6-430DA3AFC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22A674-F3AC-684C-BF9B-1F06E09B4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2CF36B-B534-3542-867C-02EB41E24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8CE-59CB-C948-BFC9-DEFA13D295F4}" type="datetimeFigureOut">
              <a:rPr lang="pt-BR" smtClean="0"/>
              <a:t>24/09/2021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1F19E-6832-C348-89AF-237205036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97CBA2-7032-0243-B731-512797FA5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15AE6-B63B-6F48-8AD5-DF932A9B19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692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BAF6FF-732D-B94E-B43A-E5E38E1F6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687FFE-1590-E74A-8F86-B403DC163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20F9D3-3C88-D34D-887D-16D645F64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CC9E1C-3B4D-CB42-A3A4-1D798DF86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8CE-59CB-C948-BFC9-DEFA13D295F4}" type="datetimeFigureOut">
              <a:rPr lang="pt-BR" smtClean="0"/>
              <a:t>24/09/2021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4809BF-4414-DB43-BA45-ED5AE93C2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BE14D6-12BD-9E4C-A7FE-3D6E2C00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15AE6-B63B-6F48-8AD5-DF932A9B19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411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8D66A6-9702-664D-99F1-CD57EF620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9E5253-A6B3-FC48-94D6-0121D1B19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5624F3-11B5-2645-A1E6-EA9DDBD8A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1D7220-5257-7B4B-BE5C-655436562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47155B0-5404-CD44-B5BF-37BBCD8D1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EF8AA97-E56C-AA45-990B-671F1BB81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8CE-59CB-C948-BFC9-DEFA13D295F4}" type="datetimeFigureOut">
              <a:rPr lang="pt-BR" smtClean="0"/>
              <a:t>24/09/2021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5C62E03-D610-C749-A369-4DD72B01C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42DFD83-4C3A-5B4D-9C42-441E705A6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15AE6-B63B-6F48-8AD5-DF932A9B19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9227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849DE-138C-A440-819C-6191A1EDA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F15289B-F1E5-DC43-A688-60203BC1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8CE-59CB-C948-BFC9-DEFA13D295F4}" type="datetimeFigureOut">
              <a:rPr lang="pt-BR" smtClean="0"/>
              <a:t>24/09/2021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B4D3D12-E51D-F24D-A20C-93D2A9B0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433DF9-D925-CC46-B255-90563BC5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15AE6-B63B-6F48-8AD5-DF932A9B19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930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5B2DD63-C200-4442-9171-54AFBAC0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8CE-59CB-C948-BFC9-DEFA13D295F4}" type="datetimeFigureOut">
              <a:rPr lang="pt-BR" smtClean="0"/>
              <a:t>24/09/2021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19FAA0-7396-A640-AD07-B90C1B18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903951-79F6-DB4E-A401-E0BBD9FEB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15AE6-B63B-6F48-8AD5-DF932A9B19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8612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21345-3C6B-3043-B7B8-0CD74E35B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A00740-F4D0-DE4C-B4A0-4122F690A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877726-03E6-7747-8440-70989325F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876DA8-D6DE-A545-8FB6-394029FA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8CE-59CB-C948-BFC9-DEFA13D295F4}" type="datetimeFigureOut">
              <a:rPr lang="pt-BR" smtClean="0"/>
              <a:t>24/09/2021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18A547-B519-844B-B09C-033A80FC1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C8E40A-AADE-8A48-89A7-88AF90EFC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15AE6-B63B-6F48-8AD5-DF932A9B19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214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FB06D-A97E-EC44-A9ED-F07C80D66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3411CE-C28C-B64E-AB2B-933B807B82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5F685AF-961B-A44F-A8D3-FF88DF438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ED6727-1F13-7840-8AC8-DFE02A2B0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8CE-59CB-C948-BFC9-DEFA13D295F4}" type="datetimeFigureOut">
              <a:rPr lang="pt-BR" smtClean="0"/>
              <a:t>24/09/2021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DABE02-253A-9040-A41F-ECACD92BF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D4774D-6B5B-854F-BCDF-2A6A49D4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15AE6-B63B-6F48-8AD5-DF932A9B19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181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67E-0CC5-674A-9D8F-E9AD64CFD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07AEA8-F00D-B14D-8F89-5CED9BB4F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83F5E3-EBEF-0348-A9BF-F321F185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8CE-59CB-C948-BFC9-DEFA13D295F4}" type="datetimeFigureOut">
              <a:rPr lang="pt-BR" smtClean="0"/>
              <a:t>24/09/2021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171C2E-9B46-5E4B-88DA-D04AEA068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6F8937-0E1E-8F48-83CB-4ABEBE6E4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15AE6-B63B-6F48-8AD5-DF932A9B19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738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5A5C82-C242-9C4D-95F8-C692F984AA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5839B9-34F5-5F43-99EC-5D91EC21C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CCCD21-3E70-C644-9FB2-3E811942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8CE-59CB-C948-BFC9-DEFA13D295F4}" type="datetimeFigureOut">
              <a:rPr lang="pt-BR" smtClean="0"/>
              <a:t>24/09/2021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F93F37-A9EC-3C4A-836B-F93B9FE1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A9AC60-E887-0B4F-8526-12397690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15AE6-B63B-6F48-8AD5-DF932A9B19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9907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5936DCA-59E3-3148-8F5F-AE5B9486E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64901C-E559-DE49-A385-E719DBF91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8B43EC-2BB6-1645-97DC-D0F29E45D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938CE-59CB-C948-BFC9-DEFA13D295F4}" type="datetimeFigureOut">
              <a:rPr lang="pt-BR" smtClean="0"/>
              <a:t>24/09/2021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E15CC8-50CA-0C46-A8D9-220142B5A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76033-1FC2-A24A-9DC4-38BE40489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15AE6-B63B-6F48-8AD5-DF932A9B19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107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DA10B-B13F-E94C-A937-63861F4275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 Problema do Transporte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E9C9BF-BD64-2B40-8F4F-67E8B405A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8459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88F96-E3E5-1B4E-9E60-C0E504739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A85031-2C22-0C4D-B8FA-44521ABF3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Refere-se ao envio de mercadorias de origens para destinos. O objetivo é determinar a programação de envio que minimize o custo total de envio e, ao mesmo tempo, satisfaça os limites de oferta e demanda, e de modo que a oferta seja igual a demanda.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4725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F2C08-6AEC-924A-AC1A-B51DFE475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D4EE9D-2C92-9745-A247-DF5FBA946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problema geral é representado por uma rede (</a:t>
            </a:r>
            <a:r>
              <a:rPr lang="pt-BR" dirty="0" err="1"/>
              <a:t>digrafo</a:t>
            </a:r>
            <a:r>
              <a:rPr lang="pt-BR" dirty="0"/>
              <a:t>). Há m origens e </a:t>
            </a:r>
            <a:r>
              <a:rPr lang="pt-BR" dirty="0" err="1"/>
              <a:t>n</a:t>
            </a:r>
            <a:r>
              <a:rPr lang="pt-BR" dirty="0"/>
              <a:t> destinos, cada uma sendo representada por um vértice. Os arcos representam as rotas que ligam as origens aos destinos. O arco (</a:t>
            </a:r>
            <a:r>
              <a:rPr lang="pt-BR" dirty="0" err="1"/>
              <a:t>i</a:t>
            </a:r>
            <a:r>
              <a:rPr lang="pt-BR" dirty="0"/>
              <a:t>, </a:t>
            </a:r>
            <a:r>
              <a:rPr lang="pt-BR" dirty="0" err="1"/>
              <a:t>j</a:t>
            </a:r>
            <a:r>
              <a:rPr lang="pt-BR" dirty="0"/>
              <a:t>) nos dá o custo de transporte por unidade, </a:t>
            </a:r>
            <a:r>
              <a:rPr lang="pt-BR" dirty="0" err="1"/>
              <a:t>c</a:t>
            </a:r>
            <a:r>
              <a:rPr lang="pt-BR" baseline="-25000" dirty="0" err="1"/>
              <a:t>ij</a:t>
            </a:r>
            <a:r>
              <a:rPr lang="pt-BR" dirty="0"/>
              <a:t>. A quantidade de suprimento na origem </a:t>
            </a:r>
            <a:r>
              <a:rPr lang="pt-BR" dirty="0" err="1"/>
              <a:t>i</a:t>
            </a:r>
            <a:r>
              <a:rPr lang="pt-BR" dirty="0"/>
              <a:t> é s</a:t>
            </a:r>
            <a:r>
              <a:rPr lang="pt-BR" baseline="-25000" dirty="0"/>
              <a:t>i</a:t>
            </a:r>
            <a:r>
              <a:rPr lang="pt-BR" dirty="0"/>
              <a:t> e a demanda no destino </a:t>
            </a:r>
            <a:r>
              <a:rPr lang="pt-BR" dirty="0" err="1"/>
              <a:t>j</a:t>
            </a:r>
            <a:r>
              <a:rPr lang="pt-BR" dirty="0"/>
              <a:t> é </a:t>
            </a:r>
            <a:r>
              <a:rPr lang="pt-BR" dirty="0" err="1"/>
              <a:t>d</a:t>
            </a:r>
            <a:r>
              <a:rPr lang="pt-BR" baseline="-25000" dirty="0" err="1"/>
              <a:t>j</a:t>
            </a:r>
            <a:r>
              <a:rPr lang="pt-BR" dirty="0"/>
              <a:t>. O objetivo é determinar o nº de unidades a serem distribuídas da origem </a:t>
            </a:r>
            <a:r>
              <a:rPr lang="pt-BR" dirty="0" err="1"/>
              <a:t>i</a:t>
            </a:r>
            <a:r>
              <a:rPr lang="pt-BR" dirty="0"/>
              <a:t> para o destino </a:t>
            </a:r>
            <a:r>
              <a:rPr lang="pt-BR" dirty="0" err="1"/>
              <a:t>j</a:t>
            </a:r>
            <a:r>
              <a:rPr lang="pt-BR" dirty="0"/>
              <a:t>, que minimizarão o custo total de transporte e, ao mesmo tempo, satisfaça a todas as restrições de oferta e demanda.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1658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E9D2C-6752-0844-91A3-AEA32E3E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Formulação Matemática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FDC5836-C6BD-4348-9662-1FACFA598D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1056"/>
                <a:ext cx="10515600" cy="4351338"/>
              </a:xfrm>
            </p:spPr>
            <p:txBody>
              <a:bodyPr>
                <a:normAutofit fontScale="40000" lnSpcReduction="20000"/>
              </a:bodyPr>
              <a:lstStyle/>
              <a:p>
                <a:pPr marL="0" lvl="0" indent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endParaRPr lang="pt-BR" sz="4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42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pt-BR" sz="42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pt-BR" sz="42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pt-BR" sz="42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pt-BR" sz="42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pt-BR" sz="42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42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pt-BR" sz="42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42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42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42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pt-BR" sz="4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4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sujeito a </a:t>
                </a:r>
                <a:endParaRPr lang="pt-BR" sz="4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     </m:t>
                          </m:r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𝑝𝑎𝑟𝑎</m:t>
                          </m:r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=1,…, </m:t>
                          </m:r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pt-BR" sz="4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4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     </m:t>
                          </m:r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𝑝𝑎𝑟𝑎</m:t>
                          </m:r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=1,…,</m:t>
                          </m:r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nary>
                    </m:oMath>
                  </m:oMathPara>
                </a14:m>
                <a:endParaRPr lang="pt-BR" sz="4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42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≥0,   ∀ </m:t>
                      </m:r>
                      <m:r>
                        <a:rPr lang="pt-BR" sz="42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pt-BR" sz="42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pt-BR" sz="42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pt-BR" sz="42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pt-BR" sz="4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FDC5836-C6BD-4348-9662-1FACFA598D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1056"/>
                <a:ext cx="10515600" cy="4351338"/>
              </a:xfrm>
              <a:blipFill>
                <a:blip r:embed="rId2"/>
                <a:stretch>
                  <a:fillRect l="-362" t="-7267" b="-139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239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2641D-CDB9-C84B-9D42-ED7EF394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85CFE4-DF1C-704A-B310-DA18198B5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empresa transportadora despacha caminhões de grãos provenientes de três silos para quatro moinhos. As quantidades fornecidas (em cargas de caminhão) e a demanda (também em cargas de caminhão), aliadas aos custos unitários, em centenas de reais, de transporte por caminhão nas diferentes rotas, estão resumidas na tabela abaixo. O modelo procura a programação de envio de custo mínimo entre o silo </a:t>
            </a:r>
            <a:r>
              <a:rPr lang="pt-BR" dirty="0" err="1"/>
              <a:t>i</a:t>
            </a:r>
            <a:r>
              <a:rPr lang="pt-BR" dirty="0"/>
              <a:t> e o moinho </a:t>
            </a:r>
            <a:r>
              <a:rPr lang="pt-BR" dirty="0" err="1"/>
              <a:t>j</a:t>
            </a:r>
            <a:r>
              <a:rPr lang="pt-BR" dirty="0"/>
              <a:t> (</a:t>
            </a:r>
            <a:r>
              <a:rPr lang="pt-BR" dirty="0" err="1"/>
              <a:t>i</a:t>
            </a:r>
            <a:r>
              <a:rPr lang="pt-BR" dirty="0"/>
              <a:t> = 1, 2, 3; </a:t>
            </a:r>
            <a:r>
              <a:rPr lang="pt-BR" dirty="0" err="1"/>
              <a:t>j</a:t>
            </a:r>
            <a:r>
              <a:rPr lang="pt-BR" dirty="0"/>
              <a:t> = 1, 2, 3, 4).</a:t>
            </a:r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F37D05E-0A16-0440-8F5E-FD4E3EE63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984785"/>
              </p:ext>
            </p:extLst>
          </p:nvPr>
        </p:nvGraphicFramePr>
        <p:xfrm>
          <a:off x="3287211" y="4710896"/>
          <a:ext cx="4433057" cy="1767574"/>
        </p:xfrm>
        <a:graphic>
          <a:graphicData uri="http://schemas.openxmlformats.org/drawingml/2006/table">
            <a:tbl>
              <a:tblPr firstRow="1" firstCol="1" bandRow="1"/>
              <a:tblGrid>
                <a:gridCol w="953890">
                  <a:extLst>
                    <a:ext uri="{9D8B030D-6E8A-4147-A177-3AD203B41FA5}">
                      <a16:colId xmlns:a16="http://schemas.microsoft.com/office/drawing/2014/main" val="1117045946"/>
                    </a:ext>
                  </a:extLst>
                </a:gridCol>
                <a:gridCol w="544532">
                  <a:extLst>
                    <a:ext uri="{9D8B030D-6E8A-4147-A177-3AD203B41FA5}">
                      <a16:colId xmlns:a16="http://schemas.microsoft.com/office/drawing/2014/main" val="1262499836"/>
                    </a:ext>
                  </a:extLst>
                </a:gridCol>
                <a:gridCol w="544532">
                  <a:extLst>
                    <a:ext uri="{9D8B030D-6E8A-4147-A177-3AD203B41FA5}">
                      <a16:colId xmlns:a16="http://schemas.microsoft.com/office/drawing/2014/main" val="1711806498"/>
                    </a:ext>
                  </a:extLst>
                </a:gridCol>
                <a:gridCol w="544532">
                  <a:extLst>
                    <a:ext uri="{9D8B030D-6E8A-4147-A177-3AD203B41FA5}">
                      <a16:colId xmlns:a16="http://schemas.microsoft.com/office/drawing/2014/main" val="3015653984"/>
                    </a:ext>
                  </a:extLst>
                </a:gridCol>
                <a:gridCol w="543764">
                  <a:extLst>
                    <a:ext uri="{9D8B030D-6E8A-4147-A177-3AD203B41FA5}">
                      <a16:colId xmlns:a16="http://schemas.microsoft.com/office/drawing/2014/main" val="1146274947"/>
                    </a:ext>
                  </a:extLst>
                </a:gridCol>
                <a:gridCol w="1301807">
                  <a:extLst>
                    <a:ext uri="{9D8B030D-6E8A-4147-A177-3AD203B41FA5}">
                      <a16:colId xmlns:a16="http://schemas.microsoft.com/office/drawing/2014/main" val="2934762692"/>
                    </a:ext>
                  </a:extLst>
                </a:gridCol>
              </a:tblGrid>
              <a:tr h="22094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Moinho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576655"/>
                  </a:ext>
                </a:extLst>
              </a:tr>
              <a:tr h="4418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Silos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Fornecimento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863010"/>
                  </a:ext>
                </a:extLst>
              </a:tr>
              <a:tr h="2209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841433"/>
                  </a:ext>
                </a:extLst>
              </a:tr>
              <a:tr h="2209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497059"/>
                  </a:ext>
                </a:extLst>
              </a:tr>
              <a:tr h="2209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36579"/>
                  </a:ext>
                </a:extLst>
              </a:tr>
              <a:tr h="4418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Demanda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551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970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65214-C573-4D4B-8A32-0BFF0CB4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361"/>
            <a:ext cx="10515600" cy="1325563"/>
          </a:xfrm>
        </p:spPr>
        <p:txBody>
          <a:bodyPr/>
          <a:lstStyle/>
          <a:p>
            <a:r>
              <a:rPr lang="pt-BR" b="1" dirty="0"/>
              <a:t>Rede do exemplo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08C8B67-CCB1-E440-A0E2-D526BA1D744B}"/>
              </a:ext>
            </a:extLst>
          </p:cNvPr>
          <p:cNvSpPr/>
          <p:nvPr/>
        </p:nvSpPr>
        <p:spPr>
          <a:xfrm>
            <a:off x="3114261" y="2027583"/>
            <a:ext cx="609600" cy="6096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019FE7-9CA5-E24F-82E8-F5CEBA1B1098}"/>
              </a:ext>
            </a:extLst>
          </p:cNvPr>
          <p:cNvSpPr/>
          <p:nvPr/>
        </p:nvSpPr>
        <p:spPr>
          <a:xfrm>
            <a:off x="3107635" y="4764156"/>
            <a:ext cx="609600" cy="6096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5D0617B-30F0-AC4D-BD82-765FC0248F09}"/>
              </a:ext>
            </a:extLst>
          </p:cNvPr>
          <p:cNvSpPr/>
          <p:nvPr/>
        </p:nvSpPr>
        <p:spPr>
          <a:xfrm>
            <a:off x="6566453" y="5635485"/>
            <a:ext cx="609600" cy="6096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3A75D0-E0E2-FA4B-BF8E-6FF766CF80E3}"/>
              </a:ext>
            </a:extLst>
          </p:cNvPr>
          <p:cNvSpPr/>
          <p:nvPr/>
        </p:nvSpPr>
        <p:spPr>
          <a:xfrm>
            <a:off x="6586332" y="4393096"/>
            <a:ext cx="609600" cy="6096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4A5137-E731-5748-992B-625630BCE8B0}"/>
              </a:ext>
            </a:extLst>
          </p:cNvPr>
          <p:cNvSpPr/>
          <p:nvPr/>
        </p:nvSpPr>
        <p:spPr>
          <a:xfrm>
            <a:off x="6606209" y="3124200"/>
            <a:ext cx="609600" cy="6096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965348-9A08-F54A-A840-38BD5179C513}"/>
              </a:ext>
            </a:extLst>
          </p:cNvPr>
          <p:cNvSpPr/>
          <p:nvPr/>
        </p:nvSpPr>
        <p:spPr>
          <a:xfrm>
            <a:off x="6606209" y="1961323"/>
            <a:ext cx="609600" cy="6096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609596-D786-2C4D-A807-EB251902BECE}"/>
              </a:ext>
            </a:extLst>
          </p:cNvPr>
          <p:cNvSpPr/>
          <p:nvPr/>
        </p:nvSpPr>
        <p:spPr>
          <a:xfrm>
            <a:off x="3114261" y="3358390"/>
            <a:ext cx="609600" cy="6096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FC8706F-C958-E84E-A735-2FDFED09B804}"/>
              </a:ext>
            </a:extLst>
          </p:cNvPr>
          <p:cNvSpPr txBox="1"/>
          <p:nvPr/>
        </p:nvSpPr>
        <p:spPr>
          <a:xfrm>
            <a:off x="3246783" y="2120347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2F528D9-00B9-2E4F-8915-685066B2BBFF}"/>
              </a:ext>
            </a:extLst>
          </p:cNvPr>
          <p:cNvSpPr txBox="1"/>
          <p:nvPr/>
        </p:nvSpPr>
        <p:spPr>
          <a:xfrm>
            <a:off x="3233529" y="3455504"/>
            <a:ext cx="602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BAC3C7-6184-3E46-89EB-726CB5E99BAE}"/>
              </a:ext>
            </a:extLst>
          </p:cNvPr>
          <p:cNvSpPr txBox="1"/>
          <p:nvPr/>
        </p:nvSpPr>
        <p:spPr>
          <a:xfrm>
            <a:off x="3226903" y="4834075"/>
            <a:ext cx="48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71B7C30-5585-FE4B-B7B5-1DA7493101DC}"/>
              </a:ext>
            </a:extLst>
          </p:cNvPr>
          <p:cNvSpPr txBox="1"/>
          <p:nvPr/>
        </p:nvSpPr>
        <p:spPr>
          <a:xfrm>
            <a:off x="6659217" y="2120347"/>
            <a:ext cx="56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M1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7CD9DDD-1D72-5244-ABAC-B58F418F8012}"/>
              </a:ext>
            </a:extLst>
          </p:cNvPr>
          <p:cNvSpPr txBox="1"/>
          <p:nvPr/>
        </p:nvSpPr>
        <p:spPr>
          <a:xfrm>
            <a:off x="6659217" y="3278878"/>
            <a:ext cx="56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M2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9B4AE8D-BDF9-794A-A93D-D1AF192464A4}"/>
              </a:ext>
            </a:extLst>
          </p:cNvPr>
          <p:cNvSpPr txBox="1"/>
          <p:nvPr/>
        </p:nvSpPr>
        <p:spPr>
          <a:xfrm>
            <a:off x="6659217" y="4532243"/>
            <a:ext cx="51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4BC0018-90D0-6945-866A-0B15B889250D}"/>
              </a:ext>
            </a:extLst>
          </p:cNvPr>
          <p:cNvSpPr txBox="1"/>
          <p:nvPr/>
        </p:nvSpPr>
        <p:spPr>
          <a:xfrm>
            <a:off x="6659217" y="5701745"/>
            <a:ext cx="51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M4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941FC9A2-5F2C-F14B-9984-9182ADD1A94F}"/>
              </a:ext>
            </a:extLst>
          </p:cNvPr>
          <p:cNvCxnSpPr>
            <a:stCxn id="4" idx="6"/>
          </p:cNvCxnSpPr>
          <p:nvPr/>
        </p:nvCxnSpPr>
        <p:spPr>
          <a:xfrm flipV="1">
            <a:off x="3723861" y="2027583"/>
            <a:ext cx="2842592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4D6F1EFB-35D5-1141-90DE-A171C72D1F1F}"/>
              </a:ext>
            </a:extLst>
          </p:cNvPr>
          <p:cNvCxnSpPr>
            <a:stCxn id="4" idx="5"/>
            <a:endCxn id="8" idx="2"/>
          </p:cNvCxnSpPr>
          <p:nvPr/>
        </p:nvCxnSpPr>
        <p:spPr>
          <a:xfrm>
            <a:off x="3634587" y="2547909"/>
            <a:ext cx="2971622" cy="881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E5677C13-8D22-0346-834F-7B583F526143}"/>
              </a:ext>
            </a:extLst>
          </p:cNvPr>
          <p:cNvCxnSpPr>
            <a:cxnSpLocks/>
          </p:cNvCxnSpPr>
          <p:nvPr/>
        </p:nvCxnSpPr>
        <p:spPr>
          <a:xfrm>
            <a:off x="3631455" y="2610383"/>
            <a:ext cx="2921746" cy="1953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71B91AEB-E80C-D94F-A3BC-E3F40E2C494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203535" y="2547909"/>
            <a:ext cx="3290032" cy="3283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CF7F9AC8-DA7B-C64B-B10D-3A5F8EF434ED}"/>
              </a:ext>
            </a:extLst>
          </p:cNvPr>
          <p:cNvCxnSpPr>
            <a:stCxn id="10" idx="7"/>
            <a:endCxn id="9" idx="2"/>
          </p:cNvCxnSpPr>
          <p:nvPr/>
        </p:nvCxnSpPr>
        <p:spPr>
          <a:xfrm flipV="1">
            <a:off x="3634587" y="2266123"/>
            <a:ext cx="2971622" cy="1181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BEBF4CEF-3840-6C44-997B-C3707626E78C}"/>
              </a:ext>
            </a:extLst>
          </p:cNvPr>
          <p:cNvCxnSpPr/>
          <p:nvPr/>
        </p:nvCxnSpPr>
        <p:spPr>
          <a:xfrm flipV="1">
            <a:off x="3723861" y="3485931"/>
            <a:ext cx="2725069" cy="177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43E9C79A-2581-8E4A-93F8-381963483783}"/>
              </a:ext>
            </a:extLst>
          </p:cNvPr>
          <p:cNvCxnSpPr>
            <a:stCxn id="10" idx="5"/>
            <a:endCxn id="7" idx="2"/>
          </p:cNvCxnSpPr>
          <p:nvPr/>
        </p:nvCxnSpPr>
        <p:spPr>
          <a:xfrm>
            <a:off x="3634587" y="3878716"/>
            <a:ext cx="2951745" cy="819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EDB8B3A0-6F6C-2A4D-9C10-41117B5E04AB}"/>
              </a:ext>
            </a:extLst>
          </p:cNvPr>
          <p:cNvCxnSpPr>
            <a:endCxn id="6" idx="2"/>
          </p:cNvCxnSpPr>
          <p:nvPr/>
        </p:nvCxnSpPr>
        <p:spPr>
          <a:xfrm>
            <a:off x="3535016" y="4006257"/>
            <a:ext cx="3031437" cy="1934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5AA5FC11-9226-EF4D-9E1D-949774E21FB2}"/>
              </a:ext>
            </a:extLst>
          </p:cNvPr>
          <p:cNvCxnSpPr/>
          <p:nvPr/>
        </p:nvCxnSpPr>
        <p:spPr>
          <a:xfrm flipV="1">
            <a:off x="3535016" y="2489679"/>
            <a:ext cx="3051316" cy="2274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A02B6B5B-82EE-184C-9AA1-135F386715B9}"/>
              </a:ext>
            </a:extLst>
          </p:cNvPr>
          <p:cNvCxnSpPr/>
          <p:nvPr/>
        </p:nvCxnSpPr>
        <p:spPr>
          <a:xfrm flipV="1">
            <a:off x="3631455" y="3648210"/>
            <a:ext cx="2921746" cy="1253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B143A839-C61C-084D-B5E4-156D3C96AEC6}"/>
              </a:ext>
            </a:extLst>
          </p:cNvPr>
          <p:cNvCxnSpPr/>
          <p:nvPr/>
        </p:nvCxnSpPr>
        <p:spPr>
          <a:xfrm flipV="1">
            <a:off x="3723861" y="4901575"/>
            <a:ext cx="2829340" cy="301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5A6D79FF-2711-C247-AEEB-E40A2FFA85FE}"/>
              </a:ext>
            </a:extLst>
          </p:cNvPr>
          <p:cNvCxnSpPr>
            <a:stCxn id="5" idx="5"/>
          </p:cNvCxnSpPr>
          <p:nvPr/>
        </p:nvCxnSpPr>
        <p:spPr>
          <a:xfrm>
            <a:off x="3627961" y="5284482"/>
            <a:ext cx="2925240" cy="786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E577BEE2-C695-6347-BD1B-5C8F810BBD6E}"/>
              </a:ext>
            </a:extLst>
          </p:cNvPr>
          <p:cNvSpPr txBox="1"/>
          <p:nvPr/>
        </p:nvSpPr>
        <p:spPr>
          <a:xfrm>
            <a:off x="2941981" y="1484244"/>
            <a:ext cx="1470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Origens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F6B8A49-11A2-6F41-9888-B803B14E208F}"/>
              </a:ext>
            </a:extLst>
          </p:cNvPr>
          <p:cNvSpPr txBox="1"/>
          <p:nvPr/>
        </p:nvSpPr>
        <p:spPr>
          <a:xfrm>
            <a:off x="6553201" y="1417983"/>
            <a:ext cx="2087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Destinos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B2C2C2F-89B9-A644-8BB8-4E0040849B43}"/>
              </a:ext>
            </a:extLst>
          </p:cNvPr>
          <p:cNvSpPr txBox="1"/>
          <p:nvPr/>
        </p:nvSpPr>
        <p:spPr>
          <a:xfrm>
            <a:off x="2398642" y="2080591"/>
            <a:ext cx="71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FDF1DBF-1A3A-8042-9F93-2F75A6B1D53A}"/>
              </a:ext>
            </a:extLst>
          </p:cNvPr>
          <p:cNvSpPr txBox="1"/>
          <p:nvPr/>
        </p:nvSpPr>
        <p:spPr>
          <a:xfrm>
            <a:off x="2367260" y="3447664"/>
            <a:ext cx="702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25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6D0A78DE-B488-4042-A99E-89C64EB9EDC8}"/>
              </a:ext>
            </a:extLst>
          </p:cNvPr>
          <p:cNvSpPr txBox="1"/>
          <p:nvPr/>
        </p:nvSpPr>
        <p:spPr>
          <a:xfrm>
            <a:off x="2332384" y="4834075"/>
            <a:ext cx="609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EBED1DCC-8D70-5945-8E49-D56D0D467064}"/>
              </a:ext>
            </a:extLst>
          </p:cNvPr>
          <p:cNvSpPr txBox="1"/>
          <p:nvPr/>
        </p:nvSpPr>
        <p:spPr>
          <a:xfrm>
            <a:off x="7421217" y="2027583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14E4AF13-84B0-7F46-B404-B1D73D3FBFE8}"/>
              </a:ext>
            </a:extLst>
          </p:cNvPr>
          <p:cNvSpPr txBox="1"/>
          <p:nvPr/>
        </p:nvSpPr>
        <p:spPr>
          <a:xfrm>
            <a:off x="7394713" y="3124200"/>
            <a:ext cx="67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CFE57C0-8D33-6A43-9466-C818A0117BDF}"/>
              </a:ext>
            </a:extLst>
          </p:cNvPr>
          <p:cNvSpPr txBox="1"/>
          <p:nvPr/>
        </p:nvSpPr>
        <p:spPr>
          <a:xfrm>
            <a:off x="7421217" y="43930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D65AF68-D835-504D-A177-9B6EA2C9FE2F}"/>
              </a:ext>
            </a:extLst>
          </p:cNvPr>
          <p:cNvSpPr txBox="1"/>
          <p:nvPr/>
        </p:nvSpPr>
        <p:spPr>
          <a:xfrm>
            <a:off x="7421217" y="5701745"/>
            <a:ext cx="64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D0F06739-60CC-184C-8FE3-0F40C60200DC}"/>
              </a:ext>
            </a:extLst>
          </p:cNvPr>
          <p:cNvSpPr txBox="1"/>
          <p:nvPr/>
        </p:nvSpPr>
        <p:spPr>
          <a:xfrm>
            <a:off x="4068417" y="198782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2D368F6E-087F-CA40-BE98-36DCDFDC67E4}"/>
              </a:ext>
            </a:extLst>
          </p:cNvPr>
          <p:cNvSpPr txBox="1"/>
          <p:nvPr/>
        </p:nvSpPr>
        <p:spPr>
          <a:xfrm>
            <a:off x="4200939" y="2396915"/>
            <a:ext cx="344556" cy="372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F0539174-B2F6-1249-B132-15F220F8EDAF}"/>
              </a:ext>
            </a:extLst>
          </p:cNvPr>
          <p:cNvSpPr txBox="1"/>
          <p:nvPr/>
        </p:nvSpPr>
        <p:spPr>
          <a:xfrm>
            <a:off x="4068417" y="2701715"/>
            <a:ext cx="516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904E839D-63E9-0F40-B9C3-354B9589446E}"/>
              </a:ext>
            </a:extLst>
          </p:cNvPr>
          <p:cNvSpPr txBox="1"/>
          <p:nvPr/>
        </p:nvSpPr>
        <p:spPr>
          <a:xfrm>
            <a:off x="3594831" y="2777120"/>
            <a:ext cx="433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1A565BE-4732-9D4E-9904-D081A5B30D3E}"/>
              </a:ext>
            </a:extLst>
          </p:cNvPr>
          <p:cNvSpPr txBox="1"/>
          <p:nvPr/>
        </p:nvSpPr>
        <p:spPr>
          <a:xfrm>
            <a:off x="3528391" y="3125929"/>
            <a:ext cx="424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E80EFA2C-7B8E-1745-ACF7-D40931C71E75}"/>
              </a:ext>
            </a:extLst>
          </p:cNvPr>
          <p:cNvSpPr txBox="1"/>
          <p:nvPr/>
        </p:nvSpPr>
        <p:spPr>
          <a:xfrm>
            <a:off x="3768498" y="3357365"/>
            <a:ext cx="417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E790C03-E07B-B24B-9082-0A11B12EF34A}"/>
              </a:ext>
            </a:extLst>
          </p:cNvPr>
          <p:cNvSpPr txBox="1"/>
          <p:nvPr/>
        </p:nvSpPr>
        <p:spPr>
          <a:xfrm>
            <a:off x="3775126" y="3666396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BF7A92D-B32E-AF44-8166-5BA9125F70D4}"/>
              </a:ext>
            </a:extLst>
          </p:cNvPr>
          <p:cNvSpPr txBox="1"/>
          <p:nvPr/>
        </p:nvSpPr>
        <p:spPr>
          <a:xfrm>
            <a:off x="3677477" y="3917750"/>
            <a:ext cx="417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AF3C4FAC-6E59-6146-AB60-34077E1415A2}"/>
              </a:ext>
            </a:extLst>
          </p:cNvPr>
          <p:cNvSpPr txBox="1"/>
          <p:nvPr/>
        </p:nvSpPr>
        <p:spPr>
          <a:xfrm>
            <a:off x="3528391" y="4340090"/>
            <a:ext cx="24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B2507C87-0B86-A841-98C9-96470AD3C464}"/>
              </a:ext>
            </a:extLst>
          </p:cNvPr>
          <p:cNvSpPr txBox="1"/>
          <p:nvPr/>
        </p:nvSpPr>
        <p:spPr>
          <a:xfrm>
            <a:off x="3740426" y="4465983"/>
            <a:ext cx="417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21D766F3-E37B-5643-89D3-4B2BBA7F4B7B}"/>
              </a:ext>
            </a:extLst>
          </p:cNvPr>
          <p:cNvSpPr txBox="1"/>
          <p:nvPr/>
        </p:nvSpPr>
        <p:spPr>
          <a:xfrm>
            <a:off x="3836503" y="4891697"/>
            <a:ext cx="70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16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E69D2753-0C95-C943-A460-B92C2D680FD6}"/>
              </a:ext>
            </a:extLst>
          </p:cNvPr>
          <p:cNvSpPr txBox="1"/>
          <p:nvPr/>
        </p:nvSpPr>
        <p:spPr>
          <a:xfrm>
            <a:off x="4200939" y="5203407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44349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23696-9282-314E-9D96-397C4EB61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PPL do Exemplo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AB2B8F0-84E8-D542-900E-CE1E3A7D67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=10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+20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13 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+11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e>
                    </m:func>
                    <m:r>
                      <a:rPr lang="pt-BR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+7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+9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+20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+4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+14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+16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+18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34</m:t>
                        </m:r>
                      </m:sub>
                    </m:sSub>
                  </m:oMath>
                </a14:m>
                <a:endParaRPr lang="pt-BR" b="0" dirty="0"/>
              </a:p>
              <a:p>
                <a:pPr marL="0" indent="0">
                  <a:buNone/>
                </a:pPr>
                <a:r>
                  <a:rPr lang="pt-BR" dirty="0"/>
                  <a:t>Sujeito a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pt-BR" b="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t-BR" dirty="0"/>
                  <a:t> 0, </a:t>
                </a:r>
                <a:r>
                  <a:rPr lang="pt-BR" dirty="0" err="1"/>
                  <a:t>i</a:t>
                </a:r>
                <a:r>
                  <a:rPr lang="pt-BR" dirty="0"/>
                  <a:t> = 1, 2, 3 e </a:t>
                </a:r>
                <a:r>
                  <a:rPr lang="pt-BR" dirty="0" err="1"/>
                  <a:t>j</a:t>
                </a:r>
                <a:r>
                  <a:rPr lang="pt-BR" dirty="0"/>
                  <a:t> = 1, ... 4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AB2B8F0-84E8-D542-900E-CE1E3A7D67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44" b="-17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91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1FAE9-26EB-B34E-8E87-7C88C24A6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o Solver do Excel</a:t>
            </a:r>
            <a:br>
              <a:rPr lang="pt-BR" dirty="0"/>
            </a:b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93E97D4-6368-6147-A2CA-4215D01AFA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7408" y="1825625"/>
            <a:ext cx="8197183" cy="4351338"/>
          </a:xfrm>
        </p:spPr>
      </p:pic>
    </p:spTree>
    <p:extLst>
      <p:ext uri="{BB962C8B-B14F-4D97-AF65-F5344CB8AC3E}">
        <p14:creationId xmlns:p14="http://schemas.microsoft.com/office/powerpoint/2010/main" val="631614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3CD65-64A4-AC45-A910-6882F0B9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o Solver do Excel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7779124-32C8-A145-9CB2-1649A9432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63015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15054-018E-0E48-A444-35F32802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o Solver do Excel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F8AD705-1D52-F64E-811A-E4567A077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56988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48356-F2E2-7E41-ACFD-6491D7255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o Solver do Excel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C3B9BB1-215D-A543-B8BF-E108A421C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028263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B15EA-C20D-5744-A94F-E420E7FF7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o Solver do Excel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0F868E2-646C-0D43-92E6-FFF9D4265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039341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44906-6578-5C4D-9C7F-934B8A7C1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o Solver do Excel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28FDB12-7B4E-7C4A-BCAB-52D5AF070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839277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DA25D-B6B0-3645-9C2C-93A9FB6A7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Observações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A11685-6BC3-9941-8566-2C26B2807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1. </a:t>
            </a:r>
            <a:r>
              <a:rPr lang="pt-BR" dirty="0"/>
              <a:t>O caso mais geral do problema de transporte supõe O = D.</a:t>
            </a:r>
          </a:p>
          <a:p>
            <a:r>
              <a:rPr lang="pt-BR" dirty="0"/>
              <a:t>- No caso em que a oferta é menor do que a demanda, criamos uma </a:t>
            </a:r>
            <a:r>
              <a:rPr lang="pt-BR" b="1" dirty="0"/>
              <a:t>origem fantasma</a:t>
            </a:r>
            <a:r>
              <a:rPr lang="pt-BR" dirty="0"/>
              <a:t>. </a:t>
            </a:r>
          </a:p>
          <a:p>
            <a:r>
              <a:rPr lang="pt-BR" dirty="0"/>
              <a:t>- No caso em que a demanda é menor do que a oferta, criamos um </a:t>
            </a:r>
            <a:r>
              <a:rPr lang="pt-BR" b="1" dirty="0"/>
              <a:t>destino fantasma</a:t>
            </a:r>
            <a:r>
              <a:rPr lang="pt-BR" dirty="0"/>
              <a:t>.</a:t>
            </a:r>
          </a:p>
          <a:p>
            <a:r>
              <a:rPr lang="pt-BR" dirty="0"/>
              <a:t>Os custos unitários para as origens e destinos fantasmas é zero. Na solução do modelo, as quantidades que são transportadas de origens fantasmas ficam faltando nos destinos. As quantidades que são transportadas para destinos fantasmas, na verdade ficam depositadas nas origens</a:t>
            </a:r>
          </a:p>
          <a:p>
            <a:endParaRPr lang="pt-BR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6224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DA25D-B6B0-3645-9C2C-93A9FB6A7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Observações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A11685-6BC3-9941-8566-2C26B2807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2. </a:t>
            </a:r>
            <a:r>
              <a:rPr lang="pt-BR" dirty="0"/>
              <a:t>No caso da impossibilidade do transporte de uma origem </a:t>
            </a:r>
            <a:r>
              <a:rPr lang="pt-BR" dirty="0" err="1"/>
              <a:t>i</a:t>
            </a:r>
            <a:r>
              <a:rPr lang="pt-BR" dirty="0"/>
              <a:t> a um certo destino </a:t>
            </a:r>
            <a:r>
              <a:rPr lang="pt-BR" dirty="0" err="1"/>
              <a:t>j</a:t>
            </a:r>
            <a:r>
              <a:rPr lang="pt-BR" dirty="0"/>
              <a:t>, usamos um M suficientemente grande para expressar um custo muito alto, </a:t>
            </a:r>
            <a:r>
              <a:rPr lang="pt-BR" dirty="0" err="1"/>
              <a:t>c</a:t>
            </a:r>
            <a:r>
              <a:rPr lang="pt-BR" baseline="-25000" dirty="0" err="1"/>
              <a:t>ij</a:t>
            </a:r>
            <a:r>
              <a:rPr lang="pt-BR" dirty="0"/>
              <a:t>.</a:t>
            </a:r>
          </a:p>
          <a:p>
            <a:endParaRPr lang="pt-BR" b="1" dirty="0"/>
          </a:p>
          <a:p>
            <a:r>
              <a:rPr lang="pt-BR" b="1" dirty="0"/>
              <a:t>3. Propriedades das soluções inteiras: </a:t>
            </a:r>
            <a:r>
              <a:rPr lang="pt-BR" dirty="0"/>
              <a:t>para problemas de transporte em que todos os s</a:t>
            </a:r>
            <a:r>
              <a:rPr lang="pt-BR" baseline="-25000" dirty="0"/>
              <a:t>i</a:t>
            </a:r>
            <a:r>
              <a:rPr lang="pt-BR" dirty="0"/>
              <a:t> e </a:t>
            </a:r>
            <a:r>
              <a:rPr lang="pt-BR" dirty="0" err="1"/>
              <a:t>d</a:t>
            </a:r>
            <a:r>
              <a:rPr lang="pt-BR" baseline="-25000" dirty="0" err="1"/>
              <a:t>j</a:t>
            </a:r>
            <a:r>
              <a:rPr lang="pt-BR" dirty="0"/>
              <a:t> são valores inteiros, todas as VB em toda SBV também são valores inteiros.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67143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11355</TotalTime>
  <Words>648</Words>
  <Application>Microsoft Macintosh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Times New Roman</vt:lpstr>
      <vt:lpstr>Tema do Office</vt:lpstr>
      <vt:lpstr>O Problema do Transporte</vt:lpstr>
      <vt:lpstr>Definição</vt:lpstr>
      <vt:lpstr>Representação</vt:lpstr>
      <vt:lpstr>Formulação Matemática</vt:lpstr>
      <vt:lpstr>Exemplo:</vt:lpstr>
      <vt:lpstr>Rede do exemplo</vt:lpstr>
      <vt:lpstr>PPL do Exemplo</vt:lpstr>
      <vt:lpstr>Usando o Solver do Excel </vt:lpstr>
      <vt:lpstr>Usando o Solver do Excel</vt:lpstr>
      <vt:lpstr>Usando o Solver do Excel</vt:lpstr>
      <vt:lpstr>Usando o Solver do Excel</vt:lpstr>
      <vt:lpstr>Usando o Solver do Excel</vt:lpstr>
      <vt:lpstr>Usando o Solver do Excel</vt:lpstr>
      <vt:lpstr>Observações</vt:lpstr>
      <vt:lpstr>Observações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Problema do Transporte</dc:title>
  <dc:creator>Andréa Bonifácio</dc:creator>
  <cp:lastModifiedBy>Andréa Bonifácio</cp:lastModifiedBy>
  <cp:revision>12</cp:revision>
  <dcterms:created xsi:type="dcterms:W3CDTF">2020-08-15T00:19:51Z</dcterms:created>
  <dcterms:modified xsi:type="dcterms:W3CDTF">2021-09-25T01:13:15Z</dcterms:modified>
</cp:coreProperties>
</file>