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07"/>
  </p:normalViewPr>
  <p:slideViewPr>
    <p:cSldViewPr snapToGrid="0">
      <p:cViewPr varScale="1">
        <p:scale>
          <a:sx n="106" d="100"/>
          <a:sy n="10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E61E-2DB9-E18B-3217-A7610EDCD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2FFDA-11B0-AF2A-47BA-94450F36F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F6C14-797B-457A-F019-9946837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CC35-994E-0F3A-4566-D567208D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50AF-44C2-E4B3-F738-CE8B025A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37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8908-C9E5-D432-A001-FEE8BC6E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C4B2B-C8BD-C50C-E1C1-1E8B474EA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DC708-A910-1EDA-A1B5-35C06AF8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6E4EE-8A5D-0D02-ADEA-8E09D7C3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D0AA1-336F-445B-8A11-C507D3E0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4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9F9-AC23-6B6A-B079-D8BDA28B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DD31E-BD90-6193-DB58-5E6CA5EC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8695C-130C-D8BD-B584-236D38A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13660-8A66-F886-85CA-56443B1A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FAD3D-B6D8-A959-061E-FFFE0BAE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9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67AE-BA78-E841-B6A8-3763A0F0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C28F5-A47B-6FBE-A969-4E2931C6F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A033F-899F-8275-2289-7072724EF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2CBBA-74E8-850D-C601-553F7DFF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8193-40D7-DFEB-73A5-7F421F84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39F96-D6BE-9CDE-8089-5FAD22D3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33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9DC4-FBBF-B4E7-3A96-3F472066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8A4D-D3BE-47CA-2F4B-CE63E098F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A714B-6C3F-3032-E5CC-2E562B45B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C3CFC-4C1E-4561-008F-1AD378444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CB858-FDF3-F164-8EC1-29FF5F4A5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E0C0E-BD86-68F3-2186-397D59CC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7530C-A13B-BAEA-D7B3-411A4BC7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16CD7-DEC4-E806-B49A-55414642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97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5429-376B-4F34-4773-C4D1E50CF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86979-AC12-7281-04A0-09A67B11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9CB4D-426D-9B7D-5CE9-711F2F5B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FD5BB-854F-70ED-8C88-AC34E9F8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13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99854-036D-46D0-55EE-0542E7A1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C4BE8-4C94-8036-E9AC-FBADE954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200E1-ED00-9E7B-8933-FC9D9D92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33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43F8-375C-AF3C-A20C-3256EA77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95A2-373C-C079-BFAB-9197E35A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E7BA5-906D-E311-9A69-1D2649D85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9672F-10E9-9685-CEAF-30413886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81932-5783-A92A-0A7C-8F321FC8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DDE65-4E51-5AE9-4D3C-D2A03E04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9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E197-7255-AAAD-FF9A-717D3273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255C5-F83E-6F31-7F80-059B89CC0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EF2E9-6A91-BBF4-E14E-AD9513BC7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E7181-3911-14BC-E5CB-FDAB9817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F9D46-0B39-5DA1-0B9D-BA27084F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18BEC-C553-91E9-BA47-C15E87D8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16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288F-F6D1-D85A-E5FF-783A36DF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2286C-2C3C-4C89-FA82-A4AE999FA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3C36F-48EF-C1A0-3131-76426644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AF0B0-29C0-815E-ABA7-DF02B48A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7858-50B6-C6B1-F45E-936E6756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14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3CB5C-49E3-B034-56C7-F6E24D2FD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8FDE-8E0A-50A0-F7C4-63F410353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88C82-26B6-A33D-E15A-C09648DB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B2E14-6354-43B8-B7DA-62E9040D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8EAA-79F4-5663-A56F-D9CE3762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11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A75E3-F64D-9FEF-A819-626D73CAD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6B502-6FA7-F349-6627-DF27F9593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838A-840F-9D4E-E9B6-4DCA1F5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36979-A60E-4890-B223-B5247E79A95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5124C-889E-F8B4-5803-F1EA263A1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EA041-3273-5009-A90B-FCED2B048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F9851-D4DB-47DC-9AAE-C578C5C4DE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69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34A1-ABB8-8B90-52AC-B65932D5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36869-7C53-B4EC-0C49-E12A38CDC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4311121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Pesquisa Operacional I</a:t>
            </a:r>
            <a:b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Sensibilidade/ Pós-Otimização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DC04F7-2A1B-C9D0-40E7-D7F0EB2A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Hagrid Text"/>
                <a:ea typeface="Hagrid Text"/>
                <a:cs typeface="Hagrid Text"/>
                <a:sym typeface="Hagrid Text"/>
              </a:rPr>
              <a:t>Profª Andréa Bonifácio</a:t>
            </a:r>
          </a:p>
          <a:p>
            <a:pPr algn="l"/>
            <a:r>
              <a:rPr lang="en-US"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pPr algn="l"/>
            <a:endParaRPr lang="pt-BR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7C191F7-C2F2-185D-FD24-D2DBBBFA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44" y="1417747"/>
            <a:ext cx="4087368" cy="378603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A43AA01-1C09-2157-D549-C8E1484F5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0E9B-DD70-0811-9AF2-452FF47A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36120-57C4-563E-BBA5-CA40EBA0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C82DD7-C983-C45C-A0FA-FCF85369C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Uma das hipóteses da Programação Linear é assumir que todos os parâmetros dos modelos são constantes e conhecidos com certeza.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Porém, muitas vezes, a estimação desses parâmetros é baseada em previsões futuras, de forma que mudanças podem ocorrer até a solução final seja implementada no mundo real.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Nesse sentido, a </a:t>
            </a:r>
            <a:r>
              <a:rPr lang="pt-BR" b="1" dirty="0"/>
              <a:t>análise de sensibilidade </a:t>
            </a:r>
            <a:r>
              <a:rPr lang="pt-BR" dirty="0"/>
              <a:t>é fundamental no estudo de programação linear, já que tem como objetivo avaliar os efeitos que alterações nos parâmetros do modelo causariam na solução ótima.</a:t>
            </a:r>
          </a:p>
          <a:p>
            <a:pPr algn="just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5E21DF8-E032-64DE-70A1-883623A4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5FDAB1B-EEB7-2115-990B-AFAF9C521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6195-BE2F-F1E4-D9F1-9F5D4FDD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5B42E-E0B7-3786-C3C8-F26DCAE1E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292196" cy="1097707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C0AE19-B38F-6FA0-FF44-12E410581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639614"/>
            <a:ext cx="9057572" cy="489834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análise de sensibilidade pode ser empregada em dois casos distintos.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No primeiro caso, chamado simplesmente análise de sensibilidade, estuda-se a variação que os coeficientes da função objetivo e as constantes do lado direito de cada restrição podem assumir (limites superiores e inferiores), sem alterar a solução ótima do modelo inicial ou sem alterar a região de viabilidade.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Esse caso pode ser analisado graficamente, utilizando cálculos algébricos ou diretamente do relatório de sensibilidade de softwares de otimização, considerando uma alteração por vez. </a:t>
            </a:r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9DC464EF-7D58-AD6D-50C8-CD4876B5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6ED160D-A804-E8B6-C899-37666A753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2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D67D-4A31-4A21-414C-CA603EB9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317A1-742D-EAC9-22F4-FEB048F4F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292196" cy="1097707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Pós-otimização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0B6BD6-57EF-87AB-F850-57444A5F4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639614"/>
            <a:ext cx="9057572" cy="489834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O segundo caso, conhecido como análise de sensibilidade pós-otimização ou simplesmente, análise pós-otimização, é empregado quando, após mudanças nos parâmetros do modelo, a solução ótima do modelo é afetada (a solução passa a ser subótima ou infactível), sendo necessário recalcular a nova solução ótima do modelo.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análise, nesse caso, é efetuada a partir da forma tabular do método simplex, podendo considerar mais de uma alteração simultânea. </a:t>
            </a:r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1CFBDF2-6D41-DF5C-3C49-D2C990354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A326256-F883-98FF-3086-6F4E3E119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0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BF6E-9109-E015-1F2C-37836E84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45CCE-FF50-A356-4300-2C61A51EA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292196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Relembrando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F566DE30-A92C-D40F-EA68-7D099905992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40080" y="1639614"/>
                <a:ext cx="9057572" cy="4898346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pt-BR" dirty="0"/>
                  <a:t>Considere o PPL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pt-BR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/>
              </a:p>
              <a:p>
                <a:pPr lvl="0" algn="l"/>
                <a:r>
                  <a:rPr lang="pt-BR" b="1" dirty="0"/>
                  <a:t>Partição Básica: </a:t>
                </a:r>
                <a:r>
                  <a:rPr lang="pt-BR" dirty="0"/>
                  <a:t>Considere uma reorganização da matriz </a:t>
                </a:r>
                <a:r>
                  <a:rPr lang="pt-BR" b="1" dirty="0"/>
                  <a:t>A</a:t>
                </a:r>
                <a:r>
                  <a:rPr lang="pt-BR" dirty="0"/>
                  <a:t> aumentada/ampliada da seguinte forma:</a:t>
                </a:r>
              </a:p>
              <a:p>
                <a:pPr lvl="0"/>
                <a:r>
                  <a:rPr lang="pt-BR" dirty="0"/>
                  <a:t>A = [ B   N]</a:t>
                </a:r>
              </a:p>
              <a:p>
                <a:pPr lvl="0" algn="l"/>
                <a:r>
                  <a:rPr lang="pt-BR" dirty="0"/>
                  <a:t>Em que: </a:t>
                </a:r>
              </a:p>
              <a:p>
                <a:r>
                  <a:rPr lang="pt-BR" dirty="0" err="1"/>
                  <a:t>B</a:t>
                </a:r>
                <a:r>
                  <a:rPr lang="pt-BR" baseline="-25000" dirty="0" err="1"/>
                  <a:t>m</a:t>
                </a:r>
                <a:r>
                  <a:rPr lang="pt-BR" baseline="-25000" dirty="0" err="1">
                    <a:sym typeface="Symbol" pitchFamily="2" charset="2"/>
                  </a:rPr>
                  <a:t></a:t>
                </a:r>
                <a:r>
                  <a:rPr lang="pt-BR" baseline="-25000" dirty="0" err="1"/>
                  <a:t>m</a:t>
                </a:r>
                <a:r>
                  <a:rPr lang="pt-BR" dirty="0"/>
                  <a:t>, chamada </a:t>
                </a:r>
                <a:r>
                  <a:rPr lang="pt-BR" i="1" dirty="0"/>
                  <a:t>matriz básica</a:t>
                </a:r>
                <a:r>
                  <a:rPr lang="pt-BR" dirty="0"/>
                  <a:t>, é formada por m colunas de A e é invertível.</a:t>
                </a:r>
              </a:p>
              <a:p>
                <a:r>
                  <a:rPr lang="pt-BR" dirty="0" err="1"/>
                  <a:t>N</a:t>
                </a:r>
                <a:r>
                  <a:rPr lang="pt-BR" baseline="-25000" dirty="0" err="1"/>
                  <a:t>m</a:t>
                </a:r>
                <a:r>
                  <a:rPr lang="pt-BR" baseline="-25000" dirty="0">
                    <a:sym typeface="Symbol" pitchFamily="2" charset="2"/>
                  </a:rPr>
                  <a:t></a:t>
                </a:r>
                <a:r>
                  <a:rPr lang="pt-BR" baseline="-25000" dirty="0"/>
                  <a:t>(</a:t>
                </a:r>
                <a:r>
                  <a:rPr lang="pt-BR" baseline="-25000" dirty="0" err="1"/>
                  <a:t>n-m</a:t>
                </a:r>
                <a:r>
                  <a:rPr lang="pt-BR" baseline="-25000" dirty="0"/>
                  <a:t>)</a:t>
                </a:r>
                <a:r>
                  <a:rPr lang="pt-BR" dirty="0"/>
                  <a:t>, chamada </a:t>
                </a:r>
                <a:r>
                  <a:rPr lang="pt-BR" i="1" dirty="0"/>
                  <a:t>matriz não básica</a:t>
                </a:r>
                <a:r>
                  <a:rPr lang="pt-BR" dirty="0"/>
                  <a:t>, é formada por </a:t>
                </a:r>
                <a:r>
                  <a:rPr lang="pt-BR" dirty="0" err="1"/>
                  <a:t>n-m</a:t>
                </a:r>
                <a:r>
                  <a:rPr lang="pt-BR" dirty="0"/>
                  <a:t> colunas restantes de A.</a:t>
                </a:r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</p:txBody>
          </p:sp>
        </mc:Choice>
        <mc:Fallback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F566DE30-A92C-D40F-EA68-7D0999059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40080" y="1639614"/>
                <a:ext cx="9057572" cy="4898346"/>
              </a:xfrm>
              <a:blipFill>
                <a:blip r:embed="rId2"/>
                <a:stretch>
                  <a:fillRect l="-1120" t="-23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973D7CA-2F12-3260-E7C2-44357F785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A59FE2C9-0E23-24E4-3887-1ED689836A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1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F966-3E01-6AA7-50B0-5DE26253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91A09-2411-7CD3-A93B-DE3827B6F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292196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30A180-37A7-17F8-0D11-28187CD33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639614"/>
            <a:ext cx="9057572" cy="279737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b="1" dirty="0"/>
              <a:t>Observação 1:</a:t>
            </a:r>
            <a:r>
              <a:rPr lang="pt-BR" dirty="0"/>
              <a:t> a representação matricial para solução ótima de um PPL pelo simplex é (verifique!):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Ou verifique!</a:t>
            </a:r>
          </a:p>
          <a:p>
            <a:pPr algn="just"/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8D33B593-B3EF-9BAB-94EF-DB6CF9603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BF7CE1F-1CC7-4F6F-903E-7F76B03DA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10">
                <a:extLst>
                  <a:ext uri="{FF2B5EF4-FFF2-40B4-BE49-F238E27FC236}">
                    <a16:creationId xmlns:a16="http://schemas.microsoft.com/office/drawing/2014/main" id="{812C8028-C58E-7EEF-34D0-A55F30D399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5843095"/>
                  </p:ext>
                </p:extLst>
              </p:nvPr>
            </p:nvGraphicFramePr>
            <p:xfrm>
              <a:off x="2568770" y="2421012"/>
              <a:ext cx="7054460" cy="14598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63615">
                      <a:extLst>
                        <a:ext uri="{9D8B030D-6E8A-4147-A177-3AD203B41FA5}">
                          <a16:colId xmlns:a16="http://schemas.microsoft.com/office/drawing/2014/main" val="4163125723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2298036477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1410622823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995912499"/>
                        </a:ext>
                      </a:extLst>
                    </a:gridCol>
                  </a:tblGrid>
                  <a:tr h="46317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V.B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V.N.B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3513493"/>
                      </a:ext>
                    </a:extLst>
                  </a:tr>
                  <a:tr h="50215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b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58924770"/>
                      </a:ext>
                    </a:extLst>
                  </a:tr>
                  <a:tr h="494534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b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5599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10">
                <a:extLst>
                  <a:ext uri="{FF2B5EF4-FFF2-40B4-BE49-F238E27FC236}">
                    <a16:creationId xmlns:a16="http://schemas.microsoft.com/office/drawing/2014/main" id="{812C8028-C58E-7EEF-34D0-A55F30D399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5843095"/>
                  </p:ext>
                </p:extLst>
              </p:nvPr>
            </p:nvGraphicFramePr>
            <p:xfrm>
              <a:off x="2568770" y="2421012"/>
              <a:ext cx="7054460" cy="14598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63615">
                      <a:extLst>
                        <a:ext uri="{9D8B030D-6E8A-4147-A177-3AD203B41FA5}">
                          <a16:colId xmlns:a16="http://schemas.microsoft.com/office/drawing/2014/main" val="4163125723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2298036477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1410622823"/>
                        </a:ext>
                      </a:extLst>
                    </a:gridCol>
                    <a:gridCol w="1763615">
                      <a:extLst>
                        <a:ext uri="{9D8B030D-6E8A-4147-A177-3AD203B41FA5}">
                          <a16:colId xmlns:a16="http://schemas.microsoft.com/office/drawing/2014/main" val="995912499"/>
                        </a:ext>
                      </a:extLst>
                    </a:gridCol>
                  </a:tblGrid>
                  <a:tr h="46317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V.B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V.N.B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3513493"/>
                      </a:ext>
                    </a:extLst>
                  </a:tr>
                  <a:tr h="50215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b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9655" t="-103614" r="-100000" b="-97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92" t="-103614" r="-346" b="-97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8924770"/>
                      </a:ext>
                    </a:extLst>
                  </a:tr>
                  <a:tr h="494534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Calibri" panose="020F0502020204030204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b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9655" t="-208642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92" t="-208642" r="-3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55992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ela 6">
                <a:extLst>
                  <a:ext uri="{FF2B5EF4-FFF2-40B4-BE49-F238E27FC236}">
                    <a16:creationId xmlns:a16="http://schemas.microsoft.com/office/drawing/2014/main" id="{EDF314F6-8043-1473-B0FA-84BC28C221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841237"/>
                  </p:ext>
                </p:extLst>
              </p:nvPr>
            </p:nvGraphicFramePr>
            <p:xfrm>
              <a:off x="2568770" y="4921418"/>
              <a:ext cx="7054458" cy="1282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1486">
                      <a:extLst>
                        <a:ext uri="{9D8B030D-6E8A-4147-A177-3AD203B41FA5}">
                          <a16:colId xmlns:a16="http://schemas.microsoft.com/office/drawing/2014/main" val="1709160452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1615900083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2283648673"/>
                        </a:ext>
                      </a:extLst>
                    </a:gridCol>
                  </a:tblGrid>
                  <a:tr h="40696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6532056"/>
                      </a:ext>
                    </a:extLst>
                  </a:tr>
                  <a:tr h="44121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 </m:t>
                                </m:r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680806"/>
                      </a:ext>
                    </a:extLst>
                  </a:tr>
                  <a:tr h="43451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pt-BR" sz="18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13588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ela 6">
                <a:extLst>
                  <a:ext uri="{FF2B5EF4-FFF2-40B4-BE49-F238E27FC236}">
                    <a16:creationId xmlns:a16="http://schemas.microsoft.com/office/drawing/2014/main" id="{EDF314F6-8043-1473-B0FA-84BC28C221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841237"/>
                  </p:ext>
                </p:extLst>
              </p:nvPr>
            </p:nvGraphicFramePr>
            <p:xfrm>
              <a:off x="2568770" y="4921418"/>
              <a:ext cx="7054458" cy="1282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1486">
                      <a:extLst>
                        <a:ext uri="{9D8B030D-6E8A-4147-A177-3AD203B41FA5}">
                          <a16:colId xmlns:a16="http://schemas.microsoft.com/office/drawing/2014/main" val="1709160452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1615900083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2283648673"/>
                        </a:ext>
                      </a:extLst>
                    </a:gridCol>
                  </a:tblGrid>
                  <a:tr h="40696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pt-B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6532056"/>
                      </a:ext>
                    </a:extLst>
                  </a:tr>
                  <a:tr h="44121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99462" t="-100000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541" t="-100000" r="-54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680806"/>
                      </a:ext>
                    </a:extLst>
                  </a:tr>
                  <a:tr h="43451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99462" t="-2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541" t="-200000" r="-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3588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793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4FF3-17D7-249A-F38A-D1A789CE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06027-9779-97E4-4E21-DB05EB4F2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292196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9286C489-C0E5-A9C1-E56B-CF78F258181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2" y="1639614"/>
                <a:ext cx="9057572" cy="27973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b="1" dirty="0"/>
                  <a:t>Observação 2: </a:t>
                </a:r>
                <a:r>
                  <a:rPr lang="pt-BR" dirty="0"/>
                  <a:t>Para um PPL na forma padrão dada acima, no tableau ótimo, nas colunas das variáveis básicas iniciais, aparece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t-BR" dirty="0"/>
                  <a:t>. (verifique!)</a:t>
                </a:r>
              </a:p>
              <a:p>
                <a:pPr algn="just"/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9286C489-C0E5-A9C1-E56B-CF78F25818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2" y="1639614"/>
                <a:ext cx="9057572" cy="2797374"/>
              </a:xfrm>
              <a:blipFill>
                <a:blip r:embed="rId2"/>
                <a:stretch>
                  <a:fillRect l="-1009" t="-2832" r="-1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EC177E5A-1214-DF39-4060-A0995EDA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CE237B51-5238-B642-C743-AF01AF330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6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799F-92A6-1ABF-6BF6-7E8225D7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899DA-5703-1DDE-931E-D0F194B4A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556057"/>
          </a:xfrm>
        </p:spPr>
        <p:txBody>
          <a:bodyPr>
            <a:no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Sensibilidade: preços-sombra e custo reduzido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B33B7-5575-510E-ABDE-FA9858B77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1876097"/>
            <a:ext cx="8940260" cy="481244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pt-BR" b="1" dirty="0"/>
              <a:t>Interpretação do preço-sombra: </a:t>
            </a:r>
            <a:r>
              <a:rPr lang="pt-BR" dirty="0"/>
              <a:t>é o benefício encontrado na função objetivo quando se acrescenta uma unidade a dado recurso. Corresponderá, sempre, aos valores das variáveis naturais do dual. Quando há sobra em dado recurso, traduzido por folga na restrição, o preço-sombra é zero, ou seja, o aumento de uma unidade do recurso não agrega nenhum beneficio à solução. O preço-sombra poderá ser usado para verificar, por exemplo, se a oferta de um adicional de matéria-prima por um preço a combinar valerá à pena. Caso o valor a ser pago seja maior que o preço-sombra não será interessante adquirir o recurso. </a:t>
            </a:r>
            <a:r>
              <a:rPr lang="pt-BR" b="1" dirty="0"/>
              <a:t>A linha 0 na tabela simplex final fornece diretamente os preços-sombra nas colunas correspondentes às variáveis de folga. Para restrições do tipo </a:t>
            </a:r>
            <a:r>
              <a:rPr lang="pt-BR" b="1" dirty="0">
                <a:sym typeface="Symbol" pitchFamily="2" charset="2"/>
              </a:rPr>
              <a:t></a:t>
            </a:r>
            <a:r>
              <a:rPr lang="pt-BR" b="1" dirty="0"/>
              <a:t>, a mesma ideia continua aplicável, exceto que o preço-sombra assumirá o sinal oposto do associado à restrição </a:t>
            </a:r>
            <a:r>
              <a:rPr lang="pt-BR" b="1" dirty="0">
                <a:sym typeface="Symbol" pitchFamily="2" charset="2"/>
              </a:rPr>
              <a:t></a:t>
            </a:r>
            <a:r>
              <a:rPr lang="pt-BR" b="1" dirty="0"/>
              <a:t>.</a:t>
            </a: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BE7A680-DD34-3DD5-8645-7B232B36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620DF9F-9C57-EBF4-2B05-AE70C478A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9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04F8-CD92-7279-7677-493EEA71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0F924-E525-CB9C-E1D0-40E8BE340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556057"/>
          </a:xfrm>
        </p:spPr>
        <p:txBody>
          <a:bodyPr>
            <a:no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Sensibilidade: preços-sombra e custo reduzido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B84E71-768C-4A69-063C-F46A9E153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2112579"/>
            <a:ext cx="8940260" cy="4575967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Interpretação do custo reduzido:</a:t>
            </a:r>
            <a:r>
              <a:rPr lang="pt-BR" dirty="0"/>
              <a:t> o custo reduzido de uma variável é o total a partir do qual seu coeficiente na </a:t>
            </a:r>
            <a:r>
              <a:rPr lang="pt-BR" dirty="0" err="1"/>
              <a:t>f.o</a:t>
            </a:r>
            <a:r>
              <a:rPr lang="pt-BR" dirty="0"/>
              <a:t> deve melhorar para que ela deixe de ser zero na solução ótima; ou quanto a </a:t>
            </a:r>
            <a:r>
              <a:rPr lang="pt-BR" dirty="0" err="1"/>
              <a:t>f.o</a:t>
            </a:r>
            <a:r>
              <a:rPr lang="pt-BR" dirty="0"/>
              <a:t>. irá piorar para cada unidade que ela aumente a partir de zero.</a:t>
            </a:r>
          </a:p>
          <a:p>
            <a:pPr algn="just"/>
            <a:r>
              <a:rPr lang="pt-BR" dirty="0"/>
              <a:t>O custo reduzido só se aplica a variáveis que na solução ótima são zero. Para determina-lo basta olhar o valor do coeficiente dessa variável na linha da função objetivo do tableau final.</a:t>
            </a:r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36184B0-E369-53A0-9F5A-462BDEAFD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461FCE7-8804-C40E-D341-836A4C3EB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9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1290-6B34-11C1-6C59-0573CC2A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2E22D-D3F1-AE4A-2EE6-1C6103110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556057"/>
          </a:xfrm>
        </p:spPr>
        <p:txBody>
          <a:bodyPr>
            <a:no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Sensibilidade: preços-sombra e custo reduzido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D7614A-3209-0EFD-EEEA-225DA02B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2112579"/>
            <a:ext cx="8940260" cy="4575967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Observação 1: </a:t>
            </a:r>
            <a:r>
              <a:rPr lang="pt-BR" dirty="0"/>
              <a:t>Para os preços-sombras é possível calcular </a:t>
            </a:r>
            <a:r>
              <a:rPr lang="pt-BR" b="1" dirty="0"/>
              <a:t>faixas de viabilidade</a:t>
            </a:r>
            <a:r>
              <a:rPr lang="pt-BR" dirty="0"/>
              <a:t>, ou seja, intervalos de variação para o lado direito de uma determinada restrição, mantendo os demais lados direito constantes,  de modo que o preço-sombra atual continua válido.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Observação 2: </a:t>
            </a:r>
            <a:r>
              <a:rPr lang="pt-BR" dirty="0"/>
              <a:t>Para os coeficientes da função objetivo é possível calcular </a:t>
            </a:r>
            <a:r>
              <a:rPr lang="pt-BR" b="1" dirty="0"/>
              <a:t>faixas de </a:t>
            </a:r>
            <a:r>
              <a:rPr lang="pt-BR" b="1" dirty="0" err="1"/>
              <a:t>otimalidade</a:t>
            </a:r>
            <a:r>
              <a:rPr lang="pt-BR" dirty="0"/>
              <a:t>, ou seja, intervalos de variação que cada coeficiente da função objetivo pode assumir, mantendo os demais coeficientes constantes, de modo que a solução atual permanece ótima.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8CCC9BA-9BBE-E436-A998-C47AE14DE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BD80944-F530-F760-2809-790AAF942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0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6134-461F-C5B1-4610-25D084B0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6E9E-FD15-5DC6-19AD-C86FBCE66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556057"/>
          </a:xfrm>
        </p:spPr>
        <p:txBody>
          <a:bodyPr>
            <a:no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Sensibilidade: preços-sombra e custo reduzido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AE1391-9F0A-EF33-C5A4-46F6BB18A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2112579"/>
            <a:ext cx="8940260" cy="4575967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Observação 3: </a:t>
            </a:r>
            <a:r>
              <a:rPr lang="pt-BR" dirty="0"/>
              <a:t>Todos os pacotes computacionais fornecem informações sobre os preços-sombras e suas faixas de viabilidade. Assim, como também informações sobre o custo reduzido e as faixas de </a:t>
            </a:r>
            <a:r>
              <a:rPr lang="pt-BR" dirty="0" err="1"/>
              <a:t>otimalidade</a:t>
            </a:r>
            <a:r>
              <a:rPr lang="pt-BR" dirty="0"/>
              <a:t> dos coeficientes da função objetivo.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BBBD44F9-EF8F-BC85-7BEE-004AF65E7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91FBA02-48AF-CC0B-8427-238D4AE3C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0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EA38-75EB-D0D1-1AB1-BA59BFC5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7206F-136C-EDBD-9628-83096F7DD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955911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045426-12EF-7A02-B84F-F84BFEDD4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1954924"/>
            <a:ext cx="8940260" cy="4733622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empresa BRAZTOY monta três tipos de brinquedos – trens, caminhões e carros – usando três operações. Os limites diários dos tempos disponíveis de mão-de-obra para as três operações são 430, 460 e 420 minutos, respectivamente, e as receitas por unidade de trem, caminhão e carro de brinquedo são R$3, R$2 e R$ 5, respectivamente. Os tempos de montagem por trem nas três operações são 1, 3 e 1 minutos, respectivamente. Os tempos correspondentes por caminhão e por carro são (2, 0, 4) e (1, 2, 0) minutos (o tempo zero indica que a operação não foi usada).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A829F18D-E4AD-EAC3-BD15-BADF4A9B1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512DCEC-8FC8-2C9D-9D68-22C8BD113C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1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1BA2-F9A9-EA07-85FF-6797CE40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42E44-46D4-9FEB-E3E6-8F0A615F5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955911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 do 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85877C-2689-BFE3-E335-DF6FDEB66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1954924"/>
            <a:ext cx="8940260" cy="4733622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Se definirmos 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 e x</a:t>
            </a:r>
            <a:r>
              <a:rPr lang="pt-BR" baseline="-25000" dirty="0"/>
              <a:t>3</a:t>
            </a:r>
            <a:r>
              <a:rPr lang="pt-BR" dirty="0"/>
              <a:t> o número diário de unidades montadas de trens, caminhões e carros, respectivamente.</a:t>
            </a:r>
          </a:p>
          <a:p>
            <a:r>
              <a:rPr lang="pt-BR" dirty="0" err="1"/>
              <a:t>max</a:t>
            </a:r>
            <a:r>
              <a:rPr lang="pt-BR" dirty="0"/>
              <a:t> z = 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+ 5x</a:t>
            </a:r>
            <a:r>
              <a:rPr lang="pt-BR" baseline="-25000" dirty="0"/>
              <a:t>3</a:t>
            </a:r>
            <a:endParaRPr lang="pt-BR" dirty="0"/>
          </a:p>
          <a:p>
            <a:r>
              <a:rPr lang="pt-BR" dirty="0"/>
              <a:t>sujeito a 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430</a:t>
            </a:r>
          </a:p>
          <a:p>
            <a:r>
              <a:rPr lang="pt-BR" dirty="0"/>
              <a:t>3x</a:t>
            </a:r>
            <a:r>
              <a:rPr lang="pt-BR" baseline="-25000" dirty="0"/>
              <a:t>1</a:t>
            </a:r>
            <a:r>
              <a:rPr lang="pt-BR" dirty="0"/>
              <a:t> +       2x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460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            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420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 </a:t>
            </a:r>
            <a:r>
              <a:rPr lang="pt-BR" dirty="0"/>
              <a:t>,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</a:t>
            </a:r>
            <a:r>
              <a:rPr lang="pt-BR" dirty="0"/>
              <a:t> 0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B9C7B7D-9E9A-5139-A49D-A8ACDBF2B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9856D80-599A-6E79-B898-3CA3731DC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4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65A7-92C0-D58B-D61D-4247CFA4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3F7B8-4D5B-3A66-C57F-8A4EF5E78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E4DBF917-D1E7-CF78-790C-87890FAC2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7A672EB-664B-77D5-6B6E-9EACC0CAD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86830721-5C3C-2848-6D01-ABC1F94D9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826906"/>
              </p:ext>
            </p:extLst>
          </p:nvPr>
        </p:nvGraphicFramePr>
        <p:xfrm>
          <a:off x="1433329" y="268067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767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D007-AB0D-26F9-7580-1C851B8E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677B2-38DF-E301-1F2D-8A40EA98F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891CF6F-3F66-60BE-C79B-C2C2C82D4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92BA1FB-E801-EE0F-5139-D85C3DD46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E3EF608F-2F0D-1C6E-0B39-5278A87AD88E}"/>
              </a:ext>
            </a:extLst>
          </p:cNvPr>
          <p:cNvGraphicFramePr>
            <a:graphicFrameLocks noGrp="1"/>
          </p:cNvGraphicFramePr>
          <p:nvPr/>
        </p:nvGraphicFramePr>
        <p:xfrm>
          <a:off x="1433329" y="268067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F6F4F88-9DAE-B681-EDF4-F33DA0D66ED1}"/>
              </a:ext>
            </a:extLst>
          </p:cNvPr>
          <p:cNvSpPr/>
          <p:nvPr/>
        </p:nvSpPr>
        <p:spPr>
          <a:xfrm>
            <a:off x="5249917" y="3815255"/>
            <a:ext cx="3137338" cy="1747512"/>
          </a:xfrm>
          <a:prstGeom prst="rect">
            <a:avLst/>
          </a:prstGeom>
          <a:noFill/>
          <a:ln w="57150" cmpd="sng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EDABF-4BB2-6FC0-D20B-CE0516FFA985}"/>
              </a:ext>
            </a:extLst>
          </p:cNvPr>
          <p:cNvSpPr txBox="1"/>
          <p:nvPr/>
        </p:nvSpPr>
        <p:spPr>
          <a:xfrm>
            <a:off x="6594955" y="5940991"/>
            <a:ext cx="447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B</a:t>
            </a:r>
            <a:r>
              <a:rPr lang="pt-BR" baseline="30000" dirty="0"/>
              <a:t>-1</a:t>
            </a:r>
            <a:endParaRPr lang="pt-BR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4BEE7D-CCAB-7CDB-D26C-E0DD54C9FAD1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818586" y="5562767"/>
            <a:ext cx="0" cy="37822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04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8B1A3-90C4-E927-4B04-54ECF48D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82DCB-1656-D392-B399-DE72DA468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0962DA7-8860-87DB-690A-18697F4C2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44B67B8-5F14-7A9A-A040-AA1BA4BCF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B8ED51B9-418F-86FC-0254-0B699F19D7CE}"/>
              </a:ext>
            </a:extLst>
          </p:cNvPr>
          <p:cNvGraphicFramePr>
            <a:graphicFrameLocks noGrp="1"/>
          </p:cNvGraphicFramePr>
          <p:nvPr/>
        </p:nvGraphicFramePr>
        <p:xfrm>
          <a:off x="1433329" y="268067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3" name="Espaço Reservado para Conteúdo 4">
            <a:extLst>
              <a:ext uri="{FF2B5EF4-FFF2-40B4-BE49-F238E27FC236}">
                <a16:creationId xmlns:a16="http://schemas.microsoft.com/office/drawing/2014/main" id="{294ACFA9-F630-2279-C376-DB7EEBC3D29B}"/>
              </a:ext>
            </a:extLst>
          </p:cNvPr>
          <p:cNvSpPr txBox="1">
            <a:spLocks/>
          </p:cNvSpPr>
          <p:nvPr/>
        </p:nvSpPr>
        <p:spPr>
          <a:xfrm>
            <a:off x="1433328" y="5749871"/>
            <a:ext cx="8264324" cy="42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1. Qual é o preço-sombra de cada operação?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443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7D46-F24D-7B6C-82DC-4434C9AE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7B19F-5025-644B-8414-225E7AFE5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044F99DD-37AF-F1A3-DF93-946C656A1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4891E14-075F-3794-E4A2-FA4947078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98AC2BFA-4B89-23C6-252E-5B7AA084B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493538"/>
              </p:ext>
            </p:extLst>
          </p:nvPr>
        </p:nvGraphicFramePr>
        <p:xfrm>
          <a:off x="1433328" y="210961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3" name="Espaço Reservado para Conteúdo 4">
            <a:extLst>
              <a:ext uri="{FF2B5EF4-FFF2-40B4-BE49-F238E27FC236}">
                <a16:creationId xmlns:a16="http://schemas.microsoft.com/office/drawing/2014/main" id="{242B6EFA-5D27-A077-2FAF-DD6000AA9614}"/>
              </a:ext>
            </a:extLst>
          </p:cNvPr>
          <p:cNvSpPr txBox="1">
            <a:spLocks/>
          </p:cNvSpPr>
          <p:nvPr/>
        </p:nvSpPr>
        <p:spPr>
          <a:xfrm>
            <a:off x="1433328" y="5053663"/>
            <a:ext cx="8264324" cy="16348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pt-BR" dirty="0"/>
              <a:t>Qual é o preço-sombra de cada operação?</a:t>
            </a:r>
          </a:p>
          <a:p>
            <a:r>
              <a:rPr lang="pt-BR" dirty="0"/>
              <a:t>Preço-sombra da Operação 1 é de R$1/min.</a:t>
            </a:r>
          </a:p>
          <a:p>
            <a:r>
              <a:rPr lang="pt-BR" dirty="0"/>
              <a:t>Preço-sombra da Operação 2 é de R$2/min.</a:t>
            </a:r>
          </a:p>
          <a:p>
            <a:r>
              <a:rPr lang="pt-BR" dirty="0"/>
              <a:t>Preço-sombra da Operação 3 é de R$0/min</a:t>
            </a:r>
          </a:p>
          <a:p>
            <a:pPr marL="457200" indent="-4572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9097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BBF33-08E8-4293-C9C0-50A9C717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03633-8287-3635-71D6-4680EE074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802B1DE-9B7D-02CC-D9FD-4D4967975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3B5F2C3-4507-CCF4-E56C-3A5ADF7EB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DE90B84D-76CB-2174-5ED3-848479702DB3}"/>
              </a:ext>
            </a:extLst>
          </p:cNvPr>
          <p:cNvGraphicFramePr>
            <a:graphicFrameLocks noGrp="1"/>
          </p:cNvGraphicFramePr>
          <p:nvPr/>
        </p:nvGraphicFramePr>
        <p:xfrm>
          <a:off x="1433329" y="268067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3" name="Espaço Reservado para Conteúdo 4">
            <a:extLst>
              <a:ext uri="{FF2B5EF4-FFF2-40B4-BE49-F238E27FC236}">
                <a16:creationId xmlns:a16="http://schemas.microsoft.com/office/drawing/2014/main" id="{CF9B4B3B-F6FA-9A26-C27B-CA7FCB0F90F9}"/>
              </a:ext>
            </a:extLst>
          </p:cNvPr>
          <p:cNvSpPr txBox="1">
            <a:spLocks/>
          </p:cNvSpPr>
          <p:nvPr/>
        </p:nvSpPr>
        <p:spPr>
          <a:xfrm>
            <a:off x="1433328" y="5749871"/>
            <a:ext cx="8264324" cy="42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2. Qual é o custo reduzido de cada brinquedo?</a:t>
            </a:r>
          </a:p>
        </p:txBody>
      </p:sp>
    </p:spTree>
    <p:extLst>
      <p:ext uri="{BB962C8B-B14F-4D97-AF65-F5344CB8AC3E}">
        <p14:creationId xmlns:p14="http://schemas.microsoft.com/office/powerpoint/2010/main" val="3848929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F698-7877-E753-8E6E-66212D9F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2D649-4F13-F7C0-322C-68C778E6E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634883"/>
          </a:xfrm>
        </p:spPr>
        <p:txBody>
          <a:bodyPr>
            <a:no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51A31B1-105E-62E1-DE25-3146EFDE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D43FD92-5896-5DBF-FCE9-47966B6E1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F1071AAF-CAAE-46B0-4BD2-26FFADD1F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746177"/>
              </p:ext>
            </p:extLst>
          </p:nvPr>
        </p:nvGraphicFramePr>
        <p:xfrm>
          <a:off x="1433329" y="2109612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3" name="Espaço Reservado para Conteúdo 4">
            <a:extLst>
              <a:ext uri="{FF2B5EF4-FFF2-40B4-BE49-F238E27FC236}">
                <a16:creationId xmlns:a16="http://schemas.microsoft.com/office/drawing/2014/main" id="{CEB28A2B-4129-20CE-C458-70A9BEAA7C79}"/>
              </a:ext>
            </a:extLst>
          </p:cNvPr>
          <p:cNvSpPr txBox="1">
            <a:spLocks/>
          </p:cNvSpPr>
          <p:nvPr/>
        </p:nvSpPr>
        <p:spPr>
          <a:xfrm>
            <a:off x="1433328" y="5115960"/>
            <a:ext cx="8264324" cy="16348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2. Qual é o custo reduzido de cada brinquedo?</a:t>
            </a:r>
          </a:p>
          <a:p>
            <a:pPr algn="just"/>
            <a:r>
              <a:rPr lang="pt-BR" dirty="0"/>
              <a:t>O único brinquedo que tem custo reduzido definido é o trem, pois na solução ótima x</a:t>
            </a:r>
            <a:r>
              <a:rPr lang="pt-BR" baseline="-25000" dirty="0"/>
              <a:t>1</a:t>
            </a:r>
            <a:r>
              <a:rPr lang="pt-BR" dirty="0"/>
              <a:t> = 0. </a:t>
            </a:r>
          </a:p>
          <a:p>
            <a:pPr algn="just"/>
            <a:r>
              <a:rPr lang="pt-BR" dirty="0"/>
              <a:t>O Custo reduzido do trem é R$4,00. Ou seja, seu preço deve aumentar a partir de R$4,00. Dessa forma o trem deve ser vendido a partir de R$ 7,00 para o trem passar a ser produzido.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6474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DE64-EAD7-D1AA-F80A-BF350D5A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84F2F-1272-3E1B-0648-AD7E4509A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8FE5BF1D-83E0-FEB7-3999-04D144D71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46AF0D1-9D22-B172-6018-D73322F41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10" name="Espaço Reservado para Conteúdo 4">
            <a:extLst>
              <a:ext uri="{FF2B5EF4-FFF2-40B4-BE49-F238E27FC236}">
                <a16:creationId xmlns:a16="http://schemas.microsoft.com/office/drawing/2014/main" id="{8EAD3B95-A8E4-7650-4F5F-6D38B853C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7"/>
            <a:ext cx="9143312" cy="51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69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4086B-CC31-42A0-7004-4DBD2664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18522-73EB-1BF6-6FB9-58C8AB109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AAE8254-7730-BDC7-79B0-5A75DA3BC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99BF804F-669F-CF1B-E478-69ACEDD4D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9630C7EB-AF9B-8456-E840-42D26D76F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6"/>
            <a:ext cx="8871921" cy="499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12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0894-013F-9F2B-ADC8-4339CCCD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B0FD9-8FD5-9CA3-C2B0-274A57785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9EF2709-64A3-1181-8218-B9B858131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2189982-D9D4-F955-F535-9C0B985F3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70B9E60-1839-FBF9-E0C7-FB1F67807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6"/>
            <a:ext cx="8871920" cy="499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7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9193-3085-48DD-2F91-59ADCE91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DD1C1-7B89-FC7D-5AFC-776B460F4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17C7DC1B-DD5F-C40E-A016-F1F277519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70C7FDD-5795-FB6D-CB86-15AB1A0C4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553BD912-CAF2-8C18-7F1A-08948220B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6"/>
            <a:ext cx="8792518" cy="51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46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7382-5F80-D20F-8C99-B91C377F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00531-BFE3-E7EB-C237-6BA975D39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7D56F96-29EE-2DF1-34B4-8BF909492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D3A588F-0400-6FFC-5C72-340C34F09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C62D19F-E767-AF89-B400-A0F7B0E3A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6"/>
            <a:ext cx="9143312" cy="51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24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F8D01-0D1D-1ADB-93AC-4A66CDE8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F583E-5F12-7297-4A1C-A773FEA49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1074807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Usando o Solver do Excel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8C448D24-E26B-7494-AB49-A7F4715F8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811A8E3-F956-DC0E-B325-E03ECCA37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9CBFA435-6D92-9326-D580-0C94564ED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94846"/>
            <a:ext cx="9143312" cy="51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0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2AFF-4A57-2BE7-7832-985FD508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98607-AB9B-BC59-05B3-76AA9B64E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4311121"/>
          </a:xfrm>
        </p:spPr>
        <p:txBody>
          <a:bodyPr>
            <a:normAutofit/>
          </a:bodyPr>
          <a:lstStyle/>
          <a:p>
            <a:pPr algn="l"/>
            <a:b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Análise de Sensibilidade/ Pós-Otimização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A95532F0-5D18-D3C9-A7F7-F85226C24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44" y="1417747"/>
            <a:ext cx="4087368" cy="378603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A463361-B02C-8E01-98F8-F1C8D688B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9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95EC-9A6A-364B-7720-8D30292F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63F99-CC00-ABFA-6E8D-ED9E12D2A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81382" cy="955911"/>
          </a:xfrm>
        </p:spPr>
        <p:txBody>
          <a:bodyPr>
            <a:noAutofit/>
          </a:bodyPr>
          <a:lstStyle/>
          <a:p>
            <a:pPr algn="l"/>
            <a:r>
              <a:rPr lang="pt-BR" sz="59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Caso 1: Alterações no RHS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ADE5A1-2299-19C7-37C0-3A94ABC98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1954924"/>
            <a:ext cx="8940260" cy="4733622"/>
          </a:xfrm>
        </p:spPr>
        <p:txBody>
          <a:bodyPr>
            <a:normAutofit/>
          </a:bodyPr>
          <a:lstStyle/>
          <a:p>
            <a:r>
              <a:rPr lang="pt-BR" dirty="0"/>
              <a:t>Alterando-se o vetor b, correspondente ao lado direito das restrições, o vetor final do RHS ficará modificado, uma vez que para a base ótima B, o RHS fica</a:t>
            </a:r>
          </a:p>
          <a:p>
            <a:r>
              <a:rPr lang="pt-BR" dirty="0"/>
              <a:t> </a:t>
            </a:r>
            <a:r>
              <a:rPr lang="pt-BR" b="1" dirty="0"/>
              <a:t>B</a:t>
            </a:r>
            <a:r>
              <a:rPr lang="pt-BR" b="1" baseline="30000" dirty="0"/>
              <a:t>-1</a:t>
            </a:r>
            <a:r>
              <a:rPr lang="pt-BR" b="1" dirty="0"/>
              <a:t>.b</a:t>
            </a:r>
          </a:p>
          <a:p>
            <a:r>
              <a:rPr lang="pt-BR" dirty="0"/>
              <a:t>Esta mudança também afetará o valor da função objetivo, cuja equação é </a:t>
            </a:r>
          </a:p>
          <a:p>
            <a:r>
              <a:rPr lang="pt-BR" b="1" dirty="0"/>
              <a:t>Q(x*) = c</a:t>
            </a:r>
            <a:r>
              <a:rPr lang="pt-BR" b="1" baseline="30000" dirty="0"/>
              <a:t>T</a:t>
            </a:r>
            <a:r>
              <a:rPr lang="pt-BR" b="1" baseline="-25000" dirty="0"/>
              <a:t>B</a:t>
            </a:r>
            <a:r>
              <a:rPr lang="pt-BR" b="1" dirty="0"/>
              <a:t>.B</a:t>
            </a:r>
            <a:r>
              <a:rPr lang="pt-BR" b="1" baseline="30000" dirty="0"/>
              <a:t>-1</a:t>
            </a:r>
            <a:r>
              <a:rPr lang="pt-BR" b="1" dirty="0"/>
              <a:t>.b</a:t>
            </a:r>
          </a:p>
          <a:p>
            <a:r>
              <a:rPr lang="pt-BR" dirty="0"/>
              <a:t>Se surgir algum elemento negativo no RHS, será necessário fazer uma nova iteração através do dual simplex, alterando a base.</a:t>
            </a:r>
          </a:p>
          <a:p>
            <a:endParaRPr lang="pt-BR" dirty="0"/>
          </a:p>
          <a:p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F1C9334-57D5-C15F-A8F3-F13A5714A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4931F60-E4DD-1233-36B2-335F10E3F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58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2D22F-81EF-3823-31ED-647166FA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F2E94A1-2717-EC12-8D5F-DA0DDD71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2">
            <a:normAutofit fontScale="92500" lnSpcReduction="20000"/>
          </a:bodyPr>
          <a:lstStyle/>
          <a:p>
            <a:r>
              <a:rPr lang="pt-BR" dirty="0"/>
              <a:t>Suponha que os executivos da empresa de brinquedos propuseram deslocar a folga de capacidade da Operação 3 para a capacidade da Operação 1. Como essa mudança afetaria a solução ótima?</a:t>
            </a:r>
          </a:p>
          <a:p>
            <a:r>
              <a:rPr lang="pt-BR" dirty="0" err="1"/>
              <a:t>max</a:t>
            </a:r>
            <a:r>
              <a:rPr lang="pt-BR" dirty="0"/>
              <a:t> z = 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+ 5x</a:t>
            </a:r>
            <a:r>
              <a:rPr lang="pt-BR" baseline="-25000" dirty="0"/>
              <a:t>3.  </a:t>
            </a:r>
            <a:endParaRPr lang="pt-BR" dirty="0"/>
          </a:p>
          <a:p>
            <a:r>
              <a:rPr lang="pt-BR" dirty="0"/>
              <a:t>sujeito a 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</a:t>
            </a:r>
            <a:r>
              <a:rPr lang="pt-BR" b="1" dirty="0"/>
              <a:t>430</a:t>
            </a:r>
          </a:p>
          <a:p>
            <a:r>
              <a:rPr lang="pt-BR" dirty="0"/>
              <a:t>3x</a:t>
            </a:r>
            <a:r>
              <a:rPr lang="pt-BR" baseline="-25000" dirty="0"/>
              <a:t>1</a:t>
            </a:r>
            <a:r>
              <a:rPr lang="pt-BR" dirty="0"/>
              <a:t> +       2x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460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            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</a:t>
            </a:r>
            <a:r>
              <a:rPr lang="pt-BR" b="1" dirty="0"/>
              <a:t>420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 </a:t>
            </a:r>
            <a:r>
              <a:rPr lang="pt-BR" dirty="0"/>
              <a:t>,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</a:t>
            </a:r>
            <a:r>
              <a:rPr lang="pt-BR" dirty="0"/>
              <a:t> 0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Novo PPL: </a:t>
            </a:r>
            <a:r>
              <a:rPr lang="pt-BR" dirty="0" err="1"/>
              <a:t>max</a:t>
            </a:r>
            <a:r>
              <a:rPr lang="pt-BR" dirty="0"/>
              <a:t> z = 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+ 5x</a:t>
            </a:r>
            <a:r>
              <a:rPr lang="pt-BR" baseline="-25000" dirty="0"/>
              <a:t>3</a:t>
            </a:r>
            <a:endParaRPr lang="pt-BR" dirty="0"/>
          </a:p>
          <a:p>
            <a:r>
              <a:rPr lang="pt-BR" dirty="0"/>
              <a:t>sujeito a 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 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450</a:t>
            </a:r>
          </a:p>
          <a:p>
            <a:r>
              <a:rPr lang="pt-BR" dirty="0"/>
              <a:t>3x</a:t>
            </a:r>
            <a:r>
              <a:rPr lang="pt-BR" baseline="-25000" dirty="0"/>
              <a:t>1</a:t>
            </a:r>
            <a:r>
              <a:rPr lang="pt-BR" dirty="0"/>
              <a:t> +       2x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460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            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400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 </a:t>
            </a:r>
            <a:r>
              <a:rPr lang="pt-BR" dirty="0"/>
              <a:t>,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</a:t>
            </a:r>
            <a:r>
              <a:rPr lang="pt-BR" dirty="0"/>
              <a:t> 0</a:t>
            </a:r>
          </a:p>
          <a:p>
            <a:endParaRPr lang="pt-BR" dirty="0"/>
          </a:p>
          <a:p>
            <a:r>
              <a:rPr lang="pt-BR" dirty="0"/>
              <a:t>Vamos ter que usar a fórmula:</a:t>
            </a:r>
          </a:p>
          <a:p>
            <a:r>
              <a:rPr lang="pt-BR" b="1" dirty="0"/>
              <a:t>B</a:t>
            </a:r>
            <a:r>
              <a:rPr lang="pt-BR" b="1" baseline="30000" dirty="0"/>
              <a:t>-1</a:t>
            </a:r>
            <a:r>
              <a:rPr lang="pt-BR" b="1" dirty="0"/>
              <a:t>.b</a:t>
            </a:r>
          </a:p>
          <a:p>
            <a:endParaRPr lang="pt-BR" dirty="0"/>
          </a:p>
          <a:p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1A533C5-6C54-06E6-A3FF-567EB7621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CE7A22D7-1AB8-09AE-06BF-135197311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BAF0F2-1F96-96ED-192A-8CA2569BC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 – Empresa de Brinquedos</a:t>
            </a:r>
          </a:p>
        </p:txBody>
      </p:sp>
    </p:spTree>
    <p:extLst>
      <p:ext uri="{BB962C8B-B14F-4D97-AF65-F5344CB8AC3E}">
        <p14:creationId xmlns:p14="http://schemas.microsoft.com/office/powerpoint/2010/main" val="3523250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BE7E-C012-44EE-C90A-3B333F32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0E87C2AD-0292-D69C-5F94-16262DEC72E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B</a:t>
                </a:r>
                <a:r>
                  <a:rPr lang="pt-BR" baseline="30000" dirty="0"/>
                  <a:t>-1</a:t>
                </a:r>
                <a:r>
                  <a:rPr lang="pt-BR" dirty="0"/>
                  <a:t>.b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−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0         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−2      1         1 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450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460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400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110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230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−40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</a:t>
                </a:r>
              </a:p>
              <a:p>
                <a:endParaRPr lang="pt-BR" dirty="0"/>
              </a:p>
              <a:p>
                <a:r>
                  <a:rPr lang="pt-BR" dirty="0"/>
                  <a:t>Como aparece um valor negativo no vetor RHS na tabela simplex final, a solução não é ótima, e a sequência se alterará.</a:t>
                </a:r>
              </a:p>
              <a:p>
                <a:r>
                  <a:rPr lang="pt-BR" dirty="0"/>
                  <a:t>Para restaurar a viabilidade devemos aplicar o algoritmo dual simplex.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pPr>
                  <a:lnSpc>
                    <a:spcPct val="110000"/>
                  </a:lnSpc>
                </a:pPr>
                <a:endParaRPr lang="pt-BR" dirty="0"/>
              </a:p>
              <a:p>
                <a:pPr>
                  <a:lnSpc>
                    <a:spcPct val="11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0E87C2AD-0292-D69C-5F94-16262DEC7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  <a:blipFill>
                <a:blip r:embed="rId2"/>
                <a:stretch>
                  <a:fillRect t="-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E1D438DE-3DF9-975A-E1A5-21AF3E0A8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06D6EF0-B47B-AC83-2B87-7AE9ECC0DB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92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F42B-3F78-4BE5-E59E-CBA5BD26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DE77E-DEB0-69DC-0AD2-00CD945B2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5465"/>
            <a:ext cx="9481382" cy="1487838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Caso 2: Alterando os coeficientes da função objetivo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A3CA61AD-EACF-CA23-DF53-A6929C337DA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pt-BR" dirty="0"/>
                  <a:t>Se o coeficiente alterado for de uma variável que não está na base, uma mudança de base só pode decorrer da entrada da própria variável. Para verificar isto, deve-se calcular: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pt-BR" dirty="0"/>
                  <a:t>, onde </a:t>
                </a:r>
                <a:r>
                  <a:rPr lang="pt-BR" dirty="0" err="1"/>
                  <a:t>A</a:t>
                </a:r>
                <a:r>
                  <a:rPr lang="pt-BR" baseline="-25000" dirty="0" err="1"/>
                  <a:t>.i</a:t>
                </a:r>
                <a:r>
                  <a:rPr lang="pt-BR" dirty="0"/>
                  <a:t> corresponde à </a:t>
                </a:r>
                <a:r>
                  <a:rPr lang="pt-BR" dirty="0" err="1"/>
                  <a:t>i-ésima</a:t>
                </a:r>
                <a:r>
                  <a:rPr lang="pt-BR" dirty="0"/>
                  <a:t> coluna da matriz A. Se o resultado for menor que zero, a variável x</a:t>
                </a:r>
                <a:r>
                  <a:rPr lang="pt-BR" baseline="-25000" dirty="0"/>
                  <a:t>i</a:t>
                </a:r>
                <a:r>
                  <a:rPr lang="pt-BR" dirty="0"/>
                  <a:t> deve entrar na base, e deverá ser feita uma nova iteração do simplex.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pt-BR" dirty="0"/>
                  <a:t>Se, por outro lado, o coeficiente alterado corresponder a uma variável que está na base, isto representa uma alteração em </a:t>
                </a:r>
                <a:r>
                  <a:rPr lang="pt-BR" dirty="0" err="1"/>
                  <a:t>c</a:t>
                </a:r>
                <a:r>
                  <a:rPr lang="pt-BR" baseline="30000" dirty="0" err="1"/>
                  <a:t>T</a:t>
                </a:r>
                <a:r>
                  <a:rPr lang="pt-BR" baseline="-25000" dirty="0" err="1"/>
                  <a:t>B</a:t>
                </a:r>
                <a:r>
                  <a:rPr lang="pt-BR" dirty="0"/>
                  <a:t>. Assim, todos os novos coeficientes da função objetivo deverão ser recalculados: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pt-BR" dirty="0"/>
                  <a:t>, exceto para as variáveis básicas.</a:t>
                </a:r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A3CA61AD-EACF-CA23-DF53-A6929C337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  <a:blipFill>
                <a:blip r:embed="rId2"/>
                <a:stretch>
                  <a:fillRect l="-1022" t="-1031" r="-10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9AF81E1-2A3F-2850-40CD-4468E2EBC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9E5ABDB-D4BD-11CE-52FF-0DE2E8403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5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7504-C531-7ABE-8E49-E73101E3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D9E679-F263-0F17-F60F-A49E72F4C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1">
            <a:normAutofit/>
          </a:bodyPr>
          <a:lstStyle/>
          <a:p>
            <a:r>
              <a:rPr lang="pt-BR" dirty="0"/>
              <a:t>Suponha que a função objetivo da empresa de brinquedos seja alterada para </a:t>
            </a:r>
            <a:r>
              <a:rPr lang="pt-BR" dirty="0" err="1"/>
              <a:t>max</a:t>
            </a:r>
            <a:r>
              <a:rPr lang="pt-BR" dirty="0"/>
              <a:t> z = 4x</a:t>
            </a:r>
            <a:r>
              <a:rPr lang="pt-BR" baseline="-25000" dirty="0"/>
              <a:t>1</a:t>
            </a:r>
            <a:r>
              <a:rPr lang="pt-BR" dirty="0"/>
              <a:t> + 3x</a:t>
            </a:r>
            <a:r>
              <a:rPr lang="pt-BR" baseline="-25000" dirty="0"/>
              <a:t>2 </a:t>
            </a:r>
            <a:r>
              <a:rPr lang="pt-BR" dirty="0"/>
              <a:t>+ 4x</a:t>
            </a:r>
            <a:r>
              <a:rPr lang="pt-BR" baseline="-25000" dirty="0"/>
              <a:t>3. </a:t>
            </a:r>
            <a:r>
              <a:rPr lang="pt-BR" dirty="0"/>
              <a:t>A solução ótima mudará?</a:t>
            </a:r>
          </a:p>
          <a:p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A4404719-1267-F7F3-A490-FAA9AC502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4B06F8C-B540-35A3-0712-183432575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E2C864D-EC26-1EFA-94D1-A764DA122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28992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ACC6-1573-CE2E-3231-D93D8B11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350A5BA-FA31-3F1A-F498-5048ECDA4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1">
            <a:normAutofit/>
          </a:bodyPr>
          <a:lstStyle/>
          <a:p>
            <a:r>
              <a:rPr lang="pt-BR" dirty="0"/>
              <a:t>Suponha que a função objetivo da empresa de brinquedos seja alterada para </a:t>
            </a:r>
            <a:r>
              <a:rPr lang="pt-BR" dirty="0" err="1"/>
              <a:t>max</a:t>
            </a:r>
            <a:r>
              <a:rPr lang="pt-BR" dirty="0"/>
              <a:t> z = 4x</a:t>
            </a:r>
            <a:r>
              <a:rPr lang="pt-BR" baseline="-25000" dirty="0"/>
              <a:t>1</a:t>
            </a:r>
            <a:r>
              <a:rPr lang="pt-BR" dirty="0"/>
              <a:t> + 3x</a:t>
            </a:r>
            <a:r>
              <a:rPr lang="pt-BR" baseline="-25000" dirty="0"/>
              <a:t>2 </a:t>
            </a:r>
            <a:r>
              <a:rPr lang="pt-BR" dirty="0"/>
              <a:t>+ 4x</a:t>
            </a:r>
            <a:r>
              <a:rPr lang="pt-BR" baseline="-25000" dirty="0"/>
              <a:t>3. </a:t>
            </a:r>
            <a:r>
              <a:rPr lang="pt-BR" dirty="0"/>
              <a:t>A solução ótima mudará?</a:t>
            </a:r>
          </a:p>
          <a:p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  <a:p>
            <a:pPr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2035363-00EA-57BF-FCA2-DA4DE64DA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C90F358-DB62-5D11-6D21-2FA20CB9B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5A3B68-524F-1611-4B98-26510A201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3A365937-43AC-FE5E-2994-6AA720ABC0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6328898"/>
                  </p:ext>
                </p:extLst>
              </p:nvPr>
            </p:nvGraphicFramePr>
            <p:xfrm>
              <a:off x="2076691" y="2878921"/>
              <a:ext cx="7054458" cy="1282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1486">
                      <a:extLst>
                        <a:ext uri="{9D8B030D-6E8A-4147-A177-3AD203B41FA5}">
                          <a16:colId xmlns:a16="http://schemas.microsoft.com/office/drawing/2014/main" val="500017011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2776247048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1561511154"/>
                        </a:ext>
                      </a:extLst>
                    </a:gridCol>
                  </a:tblGrid>
                  <a:tr h="40696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148738"/>
                      </a:ext>
                    </a:extLst>
                  </a:tr>
                  <a:tr h="44121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pt-BR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 </m:t>
                                </m:r>
                                <m:sSup>
                                  <m:sSupPr>
                                    <m:ctrlP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pt-BR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980560"/>
                      </a:ext>
                    </a:extLst>
                  </a:tr>
                  <a:tr h="43451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pt-BR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pt-BR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0846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3A365937-43AC-FE5E-2994-6AA720ABC0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6328898"/>
                  </p:ext>
                </p:extLst>
              </p:nvPr>
            </p:nvGraphicFramePr>
            <p:xfrm>
              <a:off x="2076691" y="2878921"/>
              <a:ext cx="7054458" cy="1282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1486">
                      <a:extLst>
                        <a:ext uri="{9D8B030D-6E8A-4147-A177-3AD203B41FA5}">
                          <a16:colId xmlns:a16="http://schemas.microsoft.com/office/drawing/2014/main" val="500017011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2776247048"/>
                        </a:ext>
                      </a:extLst>
                    </a:gridCol>
                    <a:gridCol w="2351486">
                      <a:extLst>
                        <a:ext uri="{9D8B030D-6E8A-4147-A177-3AD203B41FA5}">
                          <a16:colId xmlns:a16="http://schemas.microsoft.com/office/drawing/2014/main" val="1561511154"/>
                        </a:ext>
                      </a:extLst>
                    </a:gridCol>
                  </a:tblGrid>
                  <a:tr h="40696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Linhas</a:t>
                          </a:r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pt-BR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RHS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148738"/>
                      </a:ext>
                    </a:extLst>
                  </a:tr>
                  <a:tr h="44121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f.o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105479" r="-100259" b="-106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105479" r="-259" b="-1068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980560"/>
                      </a:ext>
                    </a:extLst>
                  </a:tr>
                  <a:tr h="43451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pt-BR" sz="20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Restrições</a:t>
                          </a:r>
                          <a:endParaRPr lang="pt-BR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211268" r="-100259" b="-98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211268" r="-259" b="-98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08463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3EC3A-3FDE-8A02-AA95-7BDF5F0DDFB7}"/>
                  </a:ext>
                </a:extLst>
              </p:cNvPr>
              <p:cNvSpPr txBox="1"/>
              <p:nvPr/>
            </p:nvSpPr>
            <p:spPr>
              <a:xfrm>
                <a:off x="1278966" y="5223411"/>
                <a:ext cx="6098582" cy="744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=[</m:t>
                    </m:r>
                  </m:oMath>
                </a14:m>
                <a:r>
                  <a:rPr lang="pt-BR" sz="2000" dirty="0"/>
                  <a:t>3  4   0]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/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pt-BR" sz="2000" dirty="0"/>
                  <a:t>  3   4   0   0   0]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3EC3A-3FDE-8A02-AA95-7BDF5F0DD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66" y="5223411"/>
                <a:ext cx="6098582" cy="744050"/>
              </a:xfrm>
              <a:prstGeom prst="rect">
                <a:avLst/>
              </a:prstGeom>
              <a:blipFill>
                <a:blip r:embed="rId6"/>
                <a:stretch>
                  <a:fillRect t="-3279" b="-13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718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4559-3087-178D-7AD7-0F1BEE72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1D22F96-AC85-10D7-5593-38FC2ABE7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58BD990-C2D2-82FE-693B-1FEABB3E7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FBE4E5-4592-53E6-E072-012831FBD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596191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Tabela Simplex Ótima do Exemplo</a:t>
            </a:r>
          </a:p>
        </p:txBody>
      </p:sp>
      <p:graphicFrame>
        <p:nvGraphicFramePr>
          <p:cNvPr id="8" name="Tabela 3">
            <a:extLst>
              <a:ext uri="{FF2B5EF4-FFF2-40B4-BE49-F238E27FC236}">
                <a16:creationId xmlns:a16="http://schemas.microsoft.com/office/drawing/2014/main" id="{4D1451D0-4CC9-ACE0-8348-F8DCBE9F5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87166"/>
              </p:ext>
            </p:extLst>
          </p:nvPr>
        </p:nvGraphicFramePr>
        <p:xfrm>
          <a:off x="1678330" y="1759351"/>
          <a:ext cx="8264323" cy="2882095"/>
        </p:xfrm>
        <a:graphic>
          <a:graphicData uri="http://schemas.openxmlformats.org/drawingml/2006/table">
            <a:tbl>
              <a:tblPr firstRow="1" bandRow="1"/>
              <a:tblGrid>
                <a:gridCol w="1302050">
                  <a:extLst>
                    <a:ext uri="{9D8B030D-6E8A-4147-A177-3AD203B41FA5}">
                      <a16:colId xmlns:a16="http://schemas.microsoft.com/office/drawing/2014/main" val="2263165962"/>
                    </a:ext>
                  </a:extLst>
                </a:gridCol>
                <a:gridCol w="1120104">
                  <a:extLst>
                    <a:ext uri="{9D8B030D-6E8A-4147-A177-3AD203B41FA5}">
                      <a16:colId xmlns:a16="http://schemas.microsoft.com/office/drawing/2014/main" val="1936878102"/>
                    </a:ext>
                  </a:extLst>
                </a:gridCol>
                <a:gridCol w="703619">
                  <a:extLst>
                    <a:ext uri="{9D8B030D-6E8A-4147-A177-3AD203B41FA5}">
                      <a16:colId xmlns:a16="http://schemas.microsoft.com/office/drawing/2014/main" val="2270851653"/>
                    </a:ext>
                  </a:extLst>
                </a:gridCol>
                <a:gridCol w="706463">
                  <a:extLst>
                    <a:ext uri="{9D8B030D-6E8A-4147-A177-3AD203B41FA5}">
                      <a16:colId xmlns:a16="http://schemas.microsoft.com/office/drawing/2014/main" val="910053371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771764640"/>
                    </a:ext>
                  </a:extLst>
                </a:gridCol>
                <a:gridCol w="1007810">
                  <a:extLst>
                    <a:ext uri="{9D8B030D-6E8A-4147-A177-3AD203B41FA5}">
                      <a16:colId xmlns:a16="http://schemas.microsoft.com/office/drawing/2014/main" val="583476582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301507475"/>
                    </a:ext>
                  </a:extLst>
                </a:gridCol>
                <a:gridCol w="1310579">
                  <a:extLst>
                    <a:ext uri="{9D8B030D-6E8A-4147-A177-3AD203B41FA5}">
                      <a16:colId xmlns:a16="http://schemas.microsoft.com/office/drawing/2014/main" val="2398964795"/>
                    </a:ext>
                  </a:extLst>
                </a:gridCol>
              </a:tblGrid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056855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110798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621219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86246"/>
                  </a:ext>
                </a:extLst>
              </a:tr>
              <a:tr h="5764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98671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0BF4F98-241E-4F44-D253-CDC8495339F9}"/>
              </a:ext>
            </a:extLst>
          </p:cNvPr>
          <p:cNvSpPr/>
          <p:nvPr/>
        </p:nvSpPr>
        <p:spPr>
          <a:xfrm>
            <a:off x="2960176" y="2898183"/>
            <a:ext cx="5656882" cy="174326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B7F34A-59F6-4071-CC85-B49669A00C36}"/>
              </a:ext>
            </a:extLst>
          </p:cNvPr>
          <p:cNvCxnSpPr>
            <a:stCxn id="9" idx="2"/>
          </p:cNvCxnSpPr>
          <p:nvPr/>
        </p:nvCxnSpPr>
        <p:spPr>
          <a:xfrm>
            <a:off x="5788617" y="4641446"/>
            <a:ext cx="7749" cy="4884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96ABB7-C5B3-C835-06AF-9DF097A61239}"/>
              </a:ext>
            </a:extLst>
          </p:cNvPr>
          <p:cNvSpPr txBox="1"/>
          <p:nvPr/>
        </p:nvSpPr>
        <p:spPr>
          <a:xfrm>
            <a:off x="5488752" y="5110998"/>
            <a:ext cx="60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B</a:t>
            </a:r>
            <a:r>
              <a:rPr lang="pt-BR" baseline="30000" dirty="0"/>
              <a:t>-1</a:t>
            </a:r>
            <a:r>
              <a:rPr lang="pt-BR" dirty="0"/>
              <a:t>A</a:t>
            </a:r>
            <a:r>
              <a:rPr lang="pt-BR" baseline="30000" dirty="0"/>
              <a:t>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282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1064-A8DE-DFEE-1606-A37BAB06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ED3F1E9A-3828-982D-0652-90DF2DC73FC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</p:spPr>
            <p:txBody>
              <a:bodyPr numCol="1"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/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/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pt-BR" dirty="0"/>
                  <a:t> = </a:t>
                </a:r>
              </a:p>
              <a:p>
                <a:pPr algn="just"/>
                <a:r>
                  <a:rPr lang="pt-BR" b="0" dirty="0"/>
                  <a:t>=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pt-BR" dirty="0"/>
                  <a:t>3  4   0].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1    0     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−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0</m:t>
                            </m:r>
                          </m:e>
                          <m:e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 0     1      0      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        0      0   −2     1       1 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pt-BR" dirty="0"/>
                  <a:t>  3   4   0   0   0]</a:t>
                </a:r>
              </a:p>
              <a:p>
                <a:pPr algn="just"/>
                <a:r>
                  <a:rPr lang="pt-BR" dirty="0"/>
                  <a:t> </a:t>
                </a:r>
              </a:p>
              <a:p>
                <a:pPr algn="just"/>
                <a:r>
                  <a:rPr lang="pt-BR" dirty="0"/>
                  <a:t>= [21/4   3      4      3/2     5/4     0] -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pt-BR" dirty="0"/>
                  <a:t>  3   4   0   0   0]</a:t>
                </a:r>
              </a:p>
              <a:p>
                <a:pPr algn="just"/>
                <a:r>
                  <a:rPr lang="pt-BR" dirty="0"/>
                  <a:t>= [5/4   0      0      3/2    5/4     0]</a:t>
                </a:r>
              </a:p>
              <a:p>
                <a:pPr algn="just"/>
                <a:endParaRPr lang="pt-BR" dirty="0"/>
              </a:p>
              <a:p>
                <a:pPr algn="just"/>
                <a:r>
                  <a:rPr lang="pt-BR" dirty="0"/>
                  <a:t>Como todos os valores são não negativos, a solução será a mesma, ou seja, x</a:t>
                </a:r>
                <a:r>
                  <a:rPr lang="pt-BR" baseline="-25000" dirty="0"/>
                  <a:t>1</a:t>
                </a:r>
                <a:r>
                  <a:rPr lang="pt-BR" dirty="0"/>
                  <a:t> = 0, x</a:t>
                </a:r>
                <a:r>
                  <a:rPr lang="pt-BR" baseline="-25000" dirty="0"/>
                  <a:t>2</a:t>
                </a:r>
                <a:r>
                  <a:rPr lang="pt-BR" dirty="0"/>
                  <a:t> = 100 e x</a:t>
                </a:r>
                <a:r>
                  <a:rPr lang="pt-BR" baseline="-25000" dirty="0"/>
                  <a:t>3</a:t>
                </a:r>
                <a:r>
                  <a:rPr lang="pt-BR" dirty="0"/>
                  <a:t> = 230. </a:t>
                </a:r>
              </a:p>
              <a:p>
                <a:pPr algn="just"/>
                <a:endParaRPr lang="pt-BR" dirty="0"/>
              </a:p>
              <a:p>
                <a:pPr algn="just"/>
                <a:r>
                  <a:rPr lang="pt-BR" dirty="0"/>
                  <a:t>O valor da função objetivo será </a:t>
                </a:r>
                <a:r>
                  <a:rPr lang="pt-BR" dirty="0" err="1"/>
                  <a:t>z</a:t>
                </a:r>
                <a:r>
                  <a:rPr lang="pt-BR" dirty="0"/>
                  <a:t>* = 4.0 + 3. 100 + 4.230 = 1220</a:t>
                </a:r>
              </a:p>
              <a:p>
                <a:pPr algn="just"/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ED3F1E9A-3828-982D-0652-90DF2DC73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  <a:blipFill>
                <a:blip r:embed="rId2"/>
                <a:stretch>
                  <a:fillRect l="-900" t="-845" r="-9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658631D-DF5E-7BC9-4732-FC62FB2AA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F842CFE-F5C1-A84A-E8A6-B1844DFAA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42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97D9-A9AF-817C-6A67-99A28C7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C05FE-4D82-8375-727F-62069070D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5465"/>
            <a:ext cx="9481382" cy="1487838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Caso 3: Introdução de uma restrição no problema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25FD72-574A-B2CC-8307-813667434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2" y="1954924"/>
            <a:ext cx="8940260" cy="47336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No caso de se tornar necessária a presença de mais de uma restrição, esta deverá ser acrescentada ao problema já no tableau final, acrescentando-se também as devidas variáveis de folga.</a:t>
            </a:r>
          </a:p>
          <a:p>
            <a:pPr algn="just"/>
            <a:r>
              <a:rPr lang="pt-BR" dirty="0"/>
              <a:t>Se as restrições adicionais forem em forma de desigualdade, elementos de valor 1 e -1 aparecerão automaticamente nas colunas das variáveis de folga. Neste caso basta multiplicar por -1 as linhas novas que possuam elementos -1 na coluna das variáveis de folga e fazer operações de modo a colocar o PPL na forma padrão. A partir daí, o dual simplex poderá ser utilizado para resolver o problema.</a:t>
            </a:r>
          </a:p>
          <a:p>
            <a:pPr algn="just"/>
            <a:r>
              <a:rPr lang="pt-BR" dirty="0"/>
              <a:t>Se as restrições adicionais forem em forma de igualdade, o problema não terá mais uma variável de folga. Neste caso, sugere-se a inclusão de uma variável artificial de folga e a solução em duas fases ou pelo Big-M do problema.</a:t>
            </a:r>
          </a:p>
          <a:p>
            <a:pPr algn="just"/>
            <a:r>
              <a:rPr lang="pt-BR" dirty="0"/>
              <a:t>Se a nova restrição é redundante, isto que significa que é satisfeita pela solução ótima atual e, pode ser totalmente eliminada do modelo.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AE46AAD-5779-5ABB-3361-32487A22C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5D4183F-132F-81C0-4E14-104DD727E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8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FBF5-C4FA-705A-B7EF-80B63951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38312EF-2BBE-CD53-42D8-28603C1F8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1">
            <a:normAutofit/>
          </a:bodyPr>
          <a:lstStyle/>
          <a:p>
            <a:pPr algn="just"/>
            <a:r>
              <a:rPr lang="pt-BR" dirty="0"/>
              <a:t>Suponha que os executivos da empresa de brinquedos estejam mudando o projeto de seus brinquedos e que a mudança exigirá a adição de uma quarta operação nas linhas de montagem. A capacidade diária da nova operação é 500 minutos, e os tempos por unidade para os três produtos  nessa operação são três, três e um minuto, respectivamente. Como essa mudança afetaria a solução ótima?</a:t>
            </a:r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B806C63A-838B-B93B-77A1-F325DB1E2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CF496C25-DE2F-9C27-65E5-6DB4FD6AB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126042-D715-1D1F-8E9A-5F5235C84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502594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9292A-7852-F7B1-FC65-EBCDD7F9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C43E515-765C-C1D6-FB20-D1E543985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1">
            <a:normAutofit/>
          </a:bodyPr>
          <a:lstStyle/>
          <a:p>
            <a:pPr algn="just"/>
            <a:r>
              <a:rPr lang="pt-BR" dirty="0"/>
              <a:t>Suponha que os executivos da empresa de brinquedos estejam mudando o projeto de seus brinquedos e que a mudança exigirá a adição de uma quarta operação nas linhas de montagem. A capacidade diária da nova operação é 500 minutos, e os tempos por unidade para os três produtos  nessa operação são três, três e um minuto, respectivamente. Como essa mudança afetaria a solução ótima?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restrição para a operação 4 é 3x</a:t>
            </a:r>
            <a:r>
              <a:rPr lang="pt-BR" baseline="-25000" dirty="0"/>
              <a:t>1</a:t>
            </a:r>
            <a:r>
              <a:rPr lang="pt-BR" dirty="0"/>
              <a:t> + 3x</a:t>
            </a:r>
            <a:r>
              <a:rPr lang="pt-BR" baseline="-25000" dirty="0"/>
              <a:t>2 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 </a:t>
            </a:r>
            <a:r>
              <a:rPr lang="pt-BR" dirty="0">
                <a:sym typeface="Symbol" pitchFamily="2" charset="2"/>
              </a:rPr>
              <a:t></a:t>
            </a:r>
            <a:r>
              <a:rPr lang="pt-BR" dirty="0"/>
              <a:t> 500.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Essa restrição não é satisfeita pela solução ótima atual. </a:t>
            </a:r>
          </a:p>
          <a:p>
            <a:pPr algn="just"/>
            <a:r>
              <a:rPr lang="pt-BR" dirty="0"/>
              <a:t>Portanto, a nova restrição deve ser adicionada à tabela simplex </a:t>
            </a:r>
          </a:p>
          <a:p>
            <a:pPr algn="just"/>
            <a:r>
              <a:rPr lang="pt-BR" dirty="0"/>
              <a:t>ótima.</a:t>
            </a:r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5217774-B223-54EA-2E30-CDD19047C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F873B0D-2F39-83CD-D6BF-824819844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256808-EBE0-D1C5-CA6B-FE1CF2B94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118004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ECE4-F851-F41C-507C-5AC5E62D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3869C86-B970-4935-3123-F1CB6BB36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C1E839C-390E-29FB-C9AA-DF0F3FE49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10" name="Espaço Reservado para Conteúdo 3">
            <a:extLst>
              <a:ext uri="{FF2B5EF4-FFF2-40B4-BE49-F238E27FC236}">
                <a16:creationId xmlns:a16="http://schemas.microsoft.com/office/drawing/2014/main" id="{1916ABDF-48C3-B5EB-7D8D-AF7637B3B2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5501764"/>
              </p:ext>
            </p:extLst>
          </p:nvPr>
        </p:nvGraphicFramePr>
        <p:xfrm>
          <a:off x="2249217" y="1548514"/>
          <a:ext cx="7222602" cy="3423126"/>
        </p:xfrm>
        <a:graphic>
          <a:graphicData uri="http://schemas.openxmlformats.org/drawingml/2006/table">
            <a:tbl>
              <a:tblPr firstRow="1" bandRow="1"/>
              <a:tblGrid>
                <a:gridCol w="982171">
                  <a:extLst>
                    <a:ext uri="{9D8B030D-6E8A-4147-A177-3AD203B41FA5}">
                      <a16:colId xmlns:a16="http://schemas.microsoft.com/office/drawing/2014/main" val="1621235980"/>
                    </a:ext>
                  </a:extLst>
                </a:gridCol>
                <a:gridCol w="844925">
                  <a:extLst>
                    <a:ext uri="{9D8B030D-6E8A-4147-A177-3AD203B41FA5}">
                      <a16:colId xmlns:a16="http://schemas.microsoft.com/office/drawing/2014/main" val="3504061423"/>
                    </a:ext>
                  </a:extLst>
                </a:gridCol>
                <a:gridCol w="530758">
                  <a:extLst>
                    <a:ext uri="{9D8B030D-6E8A-4147-A177-3AD203B41FA5}">
                      <a16:colId xmlns:a16="http://schemas.microsoft.com/office/drawing/2014/main" val="378354152"/>
                    </a:ext>
                  </a:extLst>
                </a:gridCol>
                <a:gridCol w="532903">
                  <a:extLst>
                    <a:ext uri="{9D8B030D-6E8A-4147-A177-3AD203B41FA5}">
                      <a16:colId xmlns:a16="http://schemas.microsoft.com/office/drawing/2014/main" val="1795650717"/>
                    </a:ext>
                  </a:extLst>
                </a:gridCol>
                <a:gridCol w="835275">
                  <a:extLst>
                    <a:ext uri="{9D8B030D-6E8A-4147-A177-3AD203B41FA5}">
                      <a16:colId xmlns:a16="http://schemas.microsoft.com/office/drawing/2014/main" val="558183548"/>
                    </a:ext>
                  </a:extLst>
                </a:gridCol>
                <a:gridCol w="760217">
                  <a:extLst>
                    <a:ext uri="{9D8B030D-6E8A-4147-A177-3AD203B41FA5}">
                      <a16:colId xmlns:a16="http://schemas.microsoft.com/office/drawing/2014/main" val="2941400023"/>
                    </a:ext>
                  </a:extLst>
                </a:gridCol>
                <a:gridCol w="759145">
                  <a:extLst>
                    <a:ext uri="{9D8B030D-6E8A-4147-A177-3AD203B41FA5}">
                      <a16:colId xmlns:a16="http://schemas.microsoft.com/office/drawing/2014/main" val="285680228"/>
                    </a:ext>
                  </a:extLst>
                </a:gridCol>
                <a:gridCol w="988604">
                  <a:extLst>
                    <a:ext uri="{9D8B030D-6E8A-4147-A177-3AD203B41FA5}">
                      <a16:colId xmlns:a16="http://schemas.microsoft.com/office/drawing/2014/main" val="3874235141"/>
                    </a:ext>
                  </a:extLst>
                </a:gridCol>
                <a:gridCol w="988604">
                  <a:extLst>
                    <a:ext uri="{9D8B030D-6E8A-4147-A177-3AD203B41FA5}">
                      <a16:colId xmlns:a16="http://schemas.microsoft.com/office/drawing/2014/main" val="4034192501"/>
                    </a:ext>
                  </a:extLst>
                </a:gridCol>
              </a:tblGrid>
              <a:tr h="5705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318836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24208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19476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207757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602233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704922"/>
                  </a:ext>
                </a:extLst>
              </a:tr>
            </a:tbl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6FEA4FCF-7D87-13DC-FA5D-D18CA6B390FF}"/>
              </a:ext>
            </a:extLst>
          </p:cNvPr>
          <p:cNvSpPr txBox="1">
            <a:spLocks/>
          </p:cNvSpPr>
          <p:nvPr/>
        </p:nvSpPr>
        <p:spPr>
          <a:xfrm>
            <a:off x="1022889" y="5167312"/>
            <a:ext cx="86747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Nova linha x</a:t>
            </a:r>
            <a:r>
              <a:rPr kumimoji="0" lang="pt-BR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7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= velha linha x</a:t>
            </a:r>
            <a:r>
              <a:rPr kumimoji="0" lang="pt-BR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7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– [3 × (linha x</a:t>
            </a:r>
            <a:r>
              <a:rPr kumimoji="0" lang="pt-BR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2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) + (linha x</a:t>
            </a:r>
            <a:r>
              <a:rPr kumimoji="0" lang="pt-BR" sz="28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3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)]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03CDF-32AA-50E7-ECA5-137F7AE5BF8A}"/>
              </a:ext>
            </a:extLst>
          </p:cNvPr>
          <p:cNvSpPr/>
          <p:nvPr/>
        </p:nvSpPr>
        <p:spPr>
          <a:xfrm>
            <a:off x="7485682" y="1548514"/>
            <a:ext cx="976393" cy="342312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1633F-79A5-A642-A209-7F3EC774486F}"/>
              </a:ext>
            </a:extLst>
          </p:cNvPr>
          <p:cNvSpPr/>
          <p:nvPr/>
        </p:nvSpPr>
        <p:spPr>
          <a:xfrm>
            <a:off x="2249217" y="4414328"/>
            <a:ext cx="7222602" cy="55731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931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67CF-DF9F-AF9F-4263-840F6962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16D72EA-815D-2457-0A26-7DACD73B3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E1B3056A-CA3C-0389-86B2-5D3B04853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10" name="Espaço Reservado para Conteúdo 3">
            <a:extLst>
              <a:ext uri="{FF2B5EF4-FFF2-40B4-BE49-F238E27FC236}">
                <a16:creationId xmlns:a16="http://schemas.microsoft.com/office/drawing/2014/main" id="{F66039AA-A199-C8C4-E11A-FAD148D2E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419901"/>
              </p:ext>
            </p:extLst>
          </p:nvPr>
        </p:nvGraphicFramePr>
        <p:xfrm>
          <a:off x="1963802" y="1717437"/>
          <a:ext cx="7222602" cy="3423126"/>
        </p:xfrm>
        <a:graphic>
          <a:graphicData uri="http://schemas.openxmlformats.org/drawingml/2006/table">
            <a:tbl>
              <a:tblPr firstRow="1" bandRow="1"/>
              <a:tblGrid>
                <a:gridCol w="982171">
                  <a:extLst>
                    <a:ext uri="{9D8B030D-6E8A-4147-A177-3AD203B41FA5}">
                      <a16:colId xmlns:a16="http://schemas.microsoft.com/office/drawing/2014/main" val="1621235980"/>
                    </a:ext>
                  </a:extLst>
                </a:gridCol>
                <a:gridCol w="844925">
                  <a:extLst>
                    <a:ext uri="{9D8B030D-6E8A-4147-A177-3AD203B41FA5}">
                      <a16:colId xmlns:a16="http://schemas.microsoft.com/office/drawing/2014/main" val="3504061423"/>
                    </a:ext>
                  </a:extLst>
                </a:gridCol>
                <a:gridCol w="530758">
                  <a:extLst>
                    <a:ext uri="{9D8B030D-6E8A-4147-A177-3AD203B41FA5}">
                      <a16:colId xmlns:a16="http://schemas.microsoft.com/office/drawing/2014/main" val="378354152"/>
                    </a:ext>
                  </a:extLst>
                </a:gridCol>
                <a:gridCol w="532903">
                  <a:extLst>
                    <a:ext uri="{9D8B030D-6E8A-4147-A177-3AD203B41FA5}">
                      <a16:colId xmlns:a16="http://schemas.microsoft.com/office/drawing/2014/main" val="1795650717"/>
                    </a:ext>
                  </a:extLst>
                </a:gridCol>
                <a:gridCol w="835275">
                  <a:extLst>
                    <a:ext uri="{9D8B030D-6E8A-4147-A177-3AD203B41FA5}">
                      <a16:colId xmlns:a16="http://schemas.microsoft.com/office/drawing/2014/main" val="558183548"/>
                    </a:ext>
                  </a:extLst>
                </a:gridCol>
                <a:gridCol w="760217">
                  <a:extLst>
                    <a:ext uri="{9D8B030D-6E8A-4147-A177-3AD203B41FA5}">
                      <a16:colId xmlns:a16="http://schemas.microsoft.com/office/drawing/2014/main" val="2941400023"/>
                    </a:ext>
                  </a:extLst>
                </a:gridCol>
                <a:gridCol w="759145">
                  <a:extLst>
                    <a:ext uri="{9D8B030D-6E8A-4147-A177-3AD203B41FA5}">
                      <a16:colId xmlns:a16="http://schemas.microsoft.com/office/drawing/2014/main" val="285680228"/>
                    </a:ext>
                  </a:extLst>
                </a:gridCol>
                <a:gridCol w="988604">
                  <a:extLst>
                    <a:ext uri="{9D8B030D-6E8A-4147-A177-3AD203B41FA5}">
                      <a16:colId xmlns:a16="http://schemas.microsoft.com/office/drawing/2014/main" val="3874235141"/>
                    </a:ext>
                  </a:extLst>
                </a:gridCol>
                <a:gridCol w="988604">
                  <a:extLst>
                    <a:ext uri="{9D8B030D-6E8A-4147-A177-3AD203B41FA5}">
                      <a16:colId xmlns:a16="http://schemas.microsoft.com/office/drawing/2014/main" val="4034192501"/>
                    </a:ext>
                  </a:extLst>
                </a:gridCol>
              </a:tblGrid>
              <a:tr h="5705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318836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24208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19476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207757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602233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9/4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-3/2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1/4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704922"/>
                  </a:ext>
                </a:extLst>
              </a:tr>
            </a:tbl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AE7FE6A0-09C3-2CB1-514F-325587576590}"/>
              </a:ext>
            </a:extLst>
          </p:cNvPr>
          <p:cNvSpPr txBox="1">
            <a:spLocks/>
          </p:cNvSpPr>
          <p:nvPr/>
        </p:nvSpPr>
        <p:spPr>
          <a:xfrm>
            <a:off x="1452554" y="5167312"/>
            <a:ext cx="8245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pt-BR" sz="2400" dirty="0">
                <a:latin typeface="+mn-lt"/>
              </a:rPr>
              <a:t>Observe que ficamos com uma solução inviável primal. A aplicação do dual simplex produzirá a nova solução ótima: x</a:t>
            </a:r>
            <a:r>
              <a:rPr lang="pt-BR" sz="2400" baseline="-25000" dirty="0">
                <a:latin typeface="+mn-lt"/>
              </a:rPr>
              <a:t>1</a:t>
            </a:r>
            <a:r>
              <a:rPr lang="pt-BR" sz="2400" dirty="0">
                <a:latin typeface="+mn-lt"/>
              </a:rPr>
              <a:t> = 0, x</a:t>
            </a:r>
            <a:r>
              <a:rPr lang="pt-BR" sz="2400" baseline="-25000" dirty="0">
                <a:latin typeface="+mn-lt"/>
              </a:rPr>
              <a:t>2</a:t>
            </a:r>
            <a:r>
              <a:rPr lang="pt-BR" sz="2400" dirty="0">
                <a:latin typeface="+mn-lt"/>
              </a:rPr>
              <a:t> = 90, x</a:t>
            </a:r>
            <a:r>
              <a:rPr lang="pt-BR" sz="2400" baseline="-25000" dirty="0">
                <a:latin typeface="+mn-lt"/>
              </a:rPr>
              <a:t>3</a:t>
            </a:r>
            <a:r>
              <a:rPr lang="pt-BR" sz="2400" dirty="0">
                <a:latin typeface="+mn-lt"/>
              </a:rPr>
              <a:t> = 230 e z* = R$ 1330. (verifique!)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1599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DF77-505D-7DB0-B6D0-86C131DF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E93A5-76E6-0663-0E1F-974034E69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5465"/>
            <a:ext cx="9481382" cy="1487838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Caso 4: Inclusão de uma nova variável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856031E4-2AB8-7276-F4CE-D19D7E22D87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dirty="0"/>
                  <a:t>Deve-se verificar se a nova variável será utilizada. Para tal, calcula-se o coeficiente no tableau final da nova variável x</a:t>
                </a:r>
                <a:r>
                  <a:rPr lang="pt-BR" baseline="-25000" dirty="0"/>
                  <a:t>i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pt-BR" dirty="0"/>
                  <a:t>. Caso este valor seja negativo, será vantajoso colocar a nova variável e aplica-se o simplex para obter a nova base ótima. E os coeficientes na coluna </a:t>
                </a:r>
                <a:r>
                  <a:rPr lang="pt-BR" dirty="0" err="1"/>
                  <a:t>i</a:t>
                </a:r>
                <a:r>
                  <a:rPr lang="pt-BR" dirty="0"/>
                  <a:t> são dados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  <a:p>
                <a:pPr algn="just">
                  <a:lnSpc>
                    <a:spcPct val="10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856031E4-2AB8-7276-F4CE-D19D7E22D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2" y="1954924"/>
                <a:ext cx="8940260" cy="4733622"/>
              </a:xfrm>
              <a:blipFill>
                <a:blip r:embed="rId2"/>
                <a:stretch>
                  <a:fillRect l="-1022" t="-1675" r="-10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59F2EE7-350A-5227-086F-612376C89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78E10B1E-E6C7-CAC8-FB66-AD872284E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20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8CC3-A633-8E7C-63D9-DBC4442B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B3EFDE8-7C30-C1BE-4D0E-186080F9F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1584863"/>
            <a:ext cx="10155643" cy="5103683"/>
          </a:xfrm>
        </p:spPr>
        <p:txBody>
          <a:bodyPr numCol="1">
            <a:normAutofit/>
          </a:bodyPr>
          <a:lstStyle/>
          <a:p>
            <a:pPr algn="just"/>
            <a:r>
              <a:rPr lang="pt-BR" dirty="0"/>
              <a:t>A empresa de brinquedos quer produzir carros de bombeiros, a ser montado em suas instalações fabris em funcionamento. A receita por carro de bombeiros estimada é de R$4 e os tempos de montagem por unidade são um, um e dois, respectivamente. Como essa alteração afetaria a solução? </a:t>
            </a:r>
          </a:p>
          <a:p>
            <a:pPr algn="just"/>
            <a:r>
              <a:rPr lang="pt-BR" dirty="0"/>
              <a:t>Vamos representar o novo produto, carro de bombeiros por x</a:t>
            </a:r>
            <a:r>
              <a:rPr lang="pt-BR" baseline="-25000" dirty="0"/>
              <a:t>7</a:t>
            </a:r>
            <a:r>
              <a:rPr lang="pt-BR" dirty="0"/>
              <a:t>.</a:t>
            </a:r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4B9474C-A006-35CA-B026-0F3685447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59C2DBF-0233-27F9-2C9C-6B29891E7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020639E-BF36-8BC6-B5BD-DFCE9C0A2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10782172" cy="955911"/>
          </a:xfrm>
        </p:spPr>
        <p:txBody>
          <a:bodyPr>
            <a:noAutofit/>
          </a:bodyPr>
          <a:lstStyle/>
          <a:p>
            <a:pPr algn="l"/>
            <a:r>
              <a:rPr lang="pt-BR" sz="50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3239131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489B-0D1C-E161-A98B-E1C7D4E9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3FF66BA6-0978-82A8-CAB2-299B6BD22F7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</p:spPr>
            <p:txBody>
              <a:bodyPr numCol="1"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.7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.7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pt-BR" dirty="0"/>
                  <a:t> = </a:t>
                </a:r>
              </a:p>
              <a:p>
                <a:pPr algn="just"/>
                <a:r>
                  <a:rPr lang="pt-BR" b="0" dirty="0"/>
                  <a:t>=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pt-BR" dirty="0"/>
                  <a:t>  5   0].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−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0         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−2      1         1 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- [4]</a:t>
                </a:r>
              </a:p>
              <a:p>
                <a:pPr algn="just"/>
                <a:r>
                  <a:rPr lang="pt-BR" dirty="0"/>
                  <a:t>=[-1]</a:t>
                </a:r>
              </a:p>
              <a:p>
                <a:pPr algn="just"/>
                <a:endParaRPr lang="pt-BR" dirty="0"/>
              </a:p>
              <a:p>
                <a:pPr algn="just"/>
                <a:r>
                  <a:rPr lang="pt-BR" dirty="0"/>
                  <a:t>Como o resultado é negativo, temos que é lucrativo incluir x</a:t>
                </a:r>
                <a:r>
                  <a:rPr lang="pt-BR" baseline="-25000" dirty="0"/>
                  <a:t>7</a:t>
                </a:r>
                <a:r>
                  <a:rPr lang="pt-BR" dirty="0"/>
                  <a:t> na solução básica ótima. </a:t>
                </a:r>
              </a:p>
              <a:p>
                <a:pPr algn="just"/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</p:txBody>
          </p:sp>
        </mc:Choice>
        <mc:Fallback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3FF66BA6-0978-82A8-CAB2-299B6BD22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  <a:blipFill>
                <a:blip r:embed="rId2"/>
                <a:stretch>
                  <a:fillRect l="-874" t="-1319" r="-8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A65ADB9-7F14-C21B-5626-983551146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5034727-AC7A-181B-D961-D6553FA5D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02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3F3B-AC2E-C8B0-A3D1-FF2D81D1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5B93F5D0-381D-1DEC-045E-517D3C31803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</p:spPr>
            <p:txBody>
              <a:bodyPr numCol="1">
                <a:normAutofit/>
              </a:bodyPr>
              <a:lstStyle/>
              <a:p>
                <a:pPr algn="just"/>
                <a:r>
                  <a:rPr lang="pt-BR" dirty="0"/>
                  <a:t>Para obter a nova solução ótima, em primeiro lugar calculamos sua coluna de restrição fazendo: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.7</m:t>
                        </m:r>
                      </m:sub>
                    </m:sSub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−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0         </m:t>
                            </m:r>
                            <m:f>
                              <m:f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      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−2      1         1 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1/4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e>
                          <m:e>
                            <m:r>
                              <a:rPr lang="pt-B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dirty="0"/>
                  <a:t> .</a:t>
                </a:r>
              </a:p>
              <a:p>
                <a:pPr algn="just"/>
                <a:endParaRPr lang="pt-BR" dirty="0"/>
              </a:p>
              <a:p>
                <a:pPr algn="just"/>
                <a:r>
                  <a:rPr lang="pt-BR" dirty="0"/>
                  <a:t>Assim, a tabela simplex é atualizada para </a:t>
                </a:r>
              </a:p>
              <a:p>
                <a:pPr algn="just"/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  <a:p>
                <a:pPr algn="just">
                  <a:lnSpc>
                    <a:spcPct val="11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5B93F5D0-381D-1DEC-045E-517D3C318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7391" y="914401"/>
                <a:ext cx="10155643" cy="5774146"/>
              </a:xfrm>
              <a:blipFill>
                <a:blip r:embed="rId2"/>
                <a:stretch>
                  <a:fillRect l="-900" t="-1373" r="-9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B210C52-12B4-9013-7B02-DD3D471B6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917E501A-1909-AB6E-9F68-0853C4799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02FB953-EDB3-4038-1AB7-14091E26F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739190"/>
              </p:ext>
            </p:extLst>
          </p:nvPr>
        </p:nvGraphicFramePr>
        <p:xfrm>
          <a:off x="757390" y="4212631"/>
          <a:ext cx="7546693" cy="2354335"/>
        </p:xfrm>
        <a:graphic>
          <a:graphicData uri="http://schemas.openxmlformats.org/drawingml/2006/table">
            <a:tbl>
              <a:tblPr firstRow="1" bandRow="1"/>
              <a:tblGrid>
                <a:gridCol w="1026243">
                  <a:extLst>
                    <a:ext uri="{9D8B030D-6E8A-4147-A177-3AD203B41FA5}">
                      <a16:colId xmlns:a16="http://schemas.microsoft.com/office/drawing/2014/main" val="3239217381"/>
                    </a:ext>
                  </a:extLst>
                </a:gridCol>
                <a:gridCol w="882838">
                  <a:extLst>
                    <a:ext uri="{9D8B030D-6E8A-4147-A177-3AD203B41FA5}">
                      <a16:colId xmlns:a16="http://schemas.microsoft.com/office/drawing/2014/main" val="3612720740"/>
                    </a:ext>
                  </a:extLst>
                </a:gridCol>
                <a:gridCol w="554573">
                  <a:extLst>
                    <a:ext uri="{9D8B030D-6E8A-4147-A177-3AD203B41FA5}">
                      <a16:colId xmlns:a16="http://schemas.microsoft.com/office/drawing/2014/main" val="1351451571"/>
                    </a:ext>
                  </a:extLst>
                </a:gridCol>
                <a:gridCol w="556814">
                  <a:extLst>
                    <a:ext uri="{9D8B030D-6E8A-4147-A177-3AD203B41FA5}">
                      <a16:colId xmlns:a16="http://schemas.microsoft.com/office/drawing/2014/main" val="389698496"/>
                    </a:ext>
                  </a:extLst>
                </a:gridCol>
                <a:gridCol w="872755">
                  <a:extLst>
                    <a:ext uri="{9D8B030D-6E8A-4147-A177-3AD203B41FA5}">
                      <a16:colId xmlns:a16="http://schemas.microsoft.com/office/drawing/2014/main" val="2014972995"/>
                    </a:ext>
                  </a:extLst>
                </a:gridCol>
                <a:gridCol w="794330">
                  <a:extLst>
                    <a:ext uri="{9D8B030D-6E8A-4147-A177-3AD203B41FA5}">
                      <a16:colId xmlns:a16="http://schemas.microsoft.com/office/drawing/2014/main" val="1861588020"/>
                    </a:ext>
                  </a:extLst>
                </a:gridCol>
                <a:gridCol w="793210">
                  <a:extLst>
                    <a:ext uri="{9D8B030D-6E8A-4147-A177-3AD203B41FA5}">
                      <a16:colId xmlns:a16="http://schemas.microsoft.com/office/drawing/2014/main" val="1820754106"/>
                    </a:ext>
                  </a:extLst>
                </a:gridCol>
                <a:gridCol w="1032965">
                  <a:extLst>
                    <a:ext uri="{9D8B030D-6E8A-4147-A177-3AD203B41FA5}">
                      <a16:colId xmlns:a16="http://schemas.microsoft.com/office/drawing/2014/main" val="2798284938"/>
                    </a:ext>
                  </a:extLst>
                </a:gridCol>
                <a:gridCol w="1032965">
                  <a:extLst>
                    <a:ext uri="{9D8B030D-6E8A-4147-A177-3AD203B41FA5}">
                      <a16:colId xmlns:a16="http://schemas.microsoft.com/office/drawing/2014/main" val="3082796426"/>
                    </a:ext>
                  </a:extLst>
                </a:gridCol>
              </a:tblGrid>
              <a:tr h="47086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VB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87455"/>
                  </a:ext>
                </a:extLst>
              </a:tr>
              <a:tr h="470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351492"/>
                  </a:ext>
                </a:extLst>
              </a:tr>
              <a:tr h="470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¼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752531"/>
                  </a:ext>
                </a:extLst>
              </a:tr>
              <a:tr h="470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½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19245"/>
                  </a:ext>
                </a:extLst>
              </a:tr>
              <a:tr h="470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2000" b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8925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33C1EEE-8A50-180F-8D8F-05E23265E7CD}"/>
              </a:ext>
            </a:extLst>
          </p:cNvPr>
          <p:cNvSpPr/>
          <p:nvPr/>
        </p:nvSpPr>
        <p:spPr>
          <a:xfrm>
            <a:off x="6230319" y="4212631"/>
            <a:ext cx="1038386" cy="235433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191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4CAA-474A-BE07-0A01-17395FC6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CE7BE20-49F0-4C20-B747-AFCE7DDE7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91" y="914401"/>
            <a:ext cx="10155643" cy="5774146"/>
          </a:xfrm>
        </p:spPr>
        <p:txBody>
          <a:bodyPr numCol="1">
            <a:normAutofit/>
          </a:bodyPr>
          <a:lstStyle/>
          <a:p>
            <a:pPr algn="just"/>
            <a:r>
              <a:rPr lang="pt-BR" dirty="0"/>
              <a:t>A execução do algoritmo simplex  determina uma nova solução ótima: x</a:t>
            </a:r>
            <a:r>
              <a:rPr lang="pt-BR" baseline="-25000" dirty="0"/>
              <a:t>1</a:t>
            </a:r>
            <a:r>
              <a:rPr lang="pt-BR" dirty="0"/>
              <a:t> = 0, x</a:t>
            </a:r>
            <a:r>
              <a:rPr lang="pt-BR" baseline="-25000" dirty="0"/>
              <a:t>2</a:t>
            </a:r>
            <a:r>
              <a:rPr lang="pt-BR" dirty="0"/>
              <a:t> = 0, x</a:t>
            </a:r>
            <a:r>
              <a:rPr lang="pt-BR" baseline="-25000" dirty="0"/>
              <a:t>3</a:t>
            </a:r>
            <a:r>
              <a:rPr lang="pt-BR" dirty="0"/>
              <a:t> = 125 e x</a:t>
            </a:r>
            <a:r>
              <a:rPr lang="pt-BR" baseline="-25000" dirty="0"/>
              <a:t>7</a:t>
            </a:r>
            <a:r>
              <a:rPr lang="pt-BR" dirty="0"/>
              <a:t> = 210 e z* = 1465. (Verifique!) </a:t>
            </a:r>
          </a:p>
          <a:p>
            <a:pPr algn="just"/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  <a:p>
            <a:pPr algn="just">
              <a:lnSpc>
                <a:spcPct val="110000"/>
              </a:lnSpc>
            </a:pP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A242F88A-3071-DA8B-4E40-8C8C70420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1501628-4609-7D20-1567-1B902AB03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9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2974</Words>
  <Application>Microsoft Macintosh PowerPoint</Application>
  <PresentationFormat>Widescreen</PresentationFormat>
  <Paragraphs>653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3" baseType="lpstr">
      <vt:lpstr>Aharoni</vt:lpstr>
      <vt:lpstr>Aptos</vt:lpstr>
      <vt:lpstr>Aptos Display</vt:lpstr>
      <vt:lpstr>Arial</vt:lpstr>
      <vt:lpstr>Calibri</vt:lpstr>
      <vt:lpstr>Cambria Math</vt:lpstr>
      <vt:lpstr>Hagrid Text</vt:lpstr>
      <vt:lpstr>Times New Roman</vt:lpstr>
      <vt:lpstr>Office Theme</vt:lpstr>
      <vt:lpstr>Pesquisa Operacional I Análise de Sensibilidade/ Pós-Otimização</vt:lpstr>
      <vt:lpstr>Introdução</vt:lpstr>
      <vt:lpstr>Análise de Sensibilidade</vt:lpstr>
      <vt:lpstr>Análise Pós-otimização </vt:lpstr>
      <vt:lpstr>Relembrando</vt:lpstr>
      <vt:lpstr>Tabela Simplex Ótima</vt:lpstr>
      <vt:lpstr>Tabela Simplex Ótima</vt:lpstr>
      <vt:lpstr>Análise de Sensibilidade: preços-sombra e custo reduzido</vt:lpstr>
      <vt:lpstr>Análise de Sensibilidade: preços-sombra e custo reduzido</vt:lpstr>
      <vt:lpstr>Análise de Sensibilidade: preços-sombra e custo reduzido</vt:lpstr>
      <vt:lpstr>Análise de Sensibilidade: preços-sombra e custo reduzido</vt:lpstr>
      <vt:lpstr>Exemplo</vt:lpstr>
      <vt:lpstr>PPL do Exemplo</vt:lpstr>
      <vt:lpstr>Tabela Simplex Ótima do Exemplo</vt:lpstr>
      <vt:lpstr>Tabela Simplex Ótima do Exemplo</vt:lpstr>
      <vt:lpstr>Tabela Simplex Ótima do Exemplo</vt:lpstr>
      <vt:lpstr>Tabela Simplex Ótima do Exemplo</vt:lpstr>
      <vt:lpstr>Tabela Simplex Ótima do Exemplo</vt:lpstr>
      <vt:lpstr>Tabela Simplex Ótima do Exemplo</vt:lpstr>
      <vt:lpstr>Usando o Solver do Excel</vt:lpstr>
      <vt:lpstr>Usando o Solver do Excel</vt:lpstr>
      <vt:lpstr>Usando o Solver do Excel</vt:lpstr>
      <vt:lpstr>Usando o Solver do Excel</vt:lpstr>
      <vt:lpstr>Usando o Solver do Excel</vt:lpstr>
      <vt:lpstr>Usando o Solver do Excel</vt:lpstr>
      <vt:lpstr> Análise de Sensibilidade/ Pós-Otimização</vt:lpstr>
      <vt:lpstr>Caso 1: Alterações no RHS</vt:lpstr>
      <vt:lpstr>Exemplo – Empresa de Brinquedos</vt:lpstr>
      <vt:lpstr>Apresentação do PowerPoint</vt:lpstr>
      <vt:lpstr>Caso 2: Alterando os coeficientes da função objetivo</vt:lpstr>
      <vt:lpstr>Exemplo</vt:lpstr>
      <vt:lpstr>Exemplo</vt:lpstr>
      <vt:lpstr>Tabela Simplex Ótima do Exemplo</vt:lpstr>
      <vt:lpstr>Apresentação do PowerPoint</vt:lpstr>
      <vt:lpstr>Caso 3: Introdução de uma restrição no problema </vt:lpstr>
      <vt:lpstr>Exemplo</vt:lpstr>
      <vt:lpstr>Exemplo</vt:lpstr>
      <vt:lpstr>Apresentação do PowerPoint</vt:lpstr>
      <vt:lpstr>Apresentação do PowerPoint</vt:lpstr>
      <vt:lpstr>Caso 4: Inclusão de uma nova variável </vt:lpstr>
      <vt:lpstr>Exemplo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Operacional I Análise de Sensibilidade/ Pós-Otimização</dc:title>
  <dc:creator>Ana Carolina Nel</dc:creator>
  <cp:lastModifiedBy>Microsoft Office User</cp:lastModifiedBy>
  <cp:revision>3</cp:revision>
  <dcterms:created xsi:type="dcterms:W3CDTF">2025-11-25T03:21:16Z</dcterms:created>
  <dcterms:modified xsi:type="dcterms:W3CDTF">2026-05-11T20:41:00Z</dcterms:modified>
</cp:coreProperties>
</file>