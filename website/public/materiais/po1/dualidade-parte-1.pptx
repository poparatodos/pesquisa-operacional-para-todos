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435A74-7253-4BBD-8C05-C17040F05CCC}" v="82" dt="2025-11-24T11:44:18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07"/>
  </p:normalViewPr>
  <p:slideViewPr>
    <p:cSldViewPr snapToGrid="0">
      <p:cViewPr varScale="1">
        <p:scale>
          <a:sx n="106" d="100"/>
          <a:sy n="10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FD68-720D-72E1-5224-D95547547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DB8C-BDA7-1FEF-C900-2161B0B3D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D7DD0-FD74-77D2-7E39-15D43A99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1DF62-57B3-28A6-7C1F-C66C3B7A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96587-7B92-9E40-D49E-71AC2572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99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83D75-FA35-7C93-758B-1FF4EF6D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BCB4B-DC55-8168-642E-6D46DA552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073F6-F29F-F23A-B553-B821A9F9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EFCD-F283-37B1-9F20-35109280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166BA-280B-8522-BEAA-6F921760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82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6C7A-172E-BC53-BFC6-24111EB2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2FA2A-6545-F607-072B-6045831C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66563-5557-6B6C-626F-AAD2DC86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7D33B-8950-B263-E63B-39FD9DB9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70BC7-173B-C6B2-7502-E0D570C7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96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4CFD-A3E4-05F0-91EA-B6BCCEC2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92304-566A-7724-DB03-2AEA39DAE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D225D-ACD6-3107-73ED-E086E9C26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1079D-8771-9A3B-07BC-E0EBB91B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AD933-3603-8F28-2972-F932B993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B94DE-D63D-780B-3457-53403EFF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58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A2D7-34E9-0093-7BE6-38BFE0DB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E6CB-B74A-90E8-ECAF-F0C09B1A5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73830-C095-3675-A3E9-32FEB8E22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4D7FC-0B1E-2D54-C25B-C67635A24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1E471-20D2-CE7C-0DA4-1DE52735F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14C5D-C484-EF14-F244-C5622E68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AF4DC-D203-4339-424B-8060CCA0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8874D-B625-D854-0A3B-056E751E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25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BD9F-2085-EA58-BCDD-345A98B7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24B6D9-E446-6850-921E-AFC4BF89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8941D-3380-7F6B-3F7E-EE57EA65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BF7DB-EFFB-8D2D-19E3-C80CDB98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41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42EF4-46F1-897E-DB15-DA3D24EE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8775E-CC7B-F01C-0884-3C4DF54EB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35258-0A53-4BEB-CB50-E5EE3BBE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34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B86B-5BA3-D38D-853F-DECDC969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B0F9-AB9F-92F1-C601-32A3EC998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05FCF-6416-A831-BF88-928AD1819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9D4BC-5278-5E80-F9B1-4D1D6EBF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D3825-116A-FFD2-EBFA-124721EC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0F368-0CAA-6E67-DE03-2D50E9EF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35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6338-79B1-29B8-35CB-7488FF45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68D026-3E28-BBAF-8B25-ACCA24929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DADF-A359-20EB-C355-6E9B9BDE4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30A43-AF9A-B031-48D2-8C4163C1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20980-C1BB-9B58-C211-EA5CC1985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E9D7B-F5A4-EA45-981E-F2831470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18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F6D6-6E71-0FD6-C5A4-4231A281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5FC62-6FB6-FDDB-DBE7-FDEBBD7CB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3E38C-162D-9AC2-4AE4-65941233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8EB9-9457-5416-538D-08BEC186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F330A-29EC-5D27-DFFD-2D5497E1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86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EC754-8131-C466-DF27-71B34B642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8428A-5CB4-14C5-E5EC-B94543009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0A69F-BB01-AE70-E265-958144AD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75EC8-7BEA-4B72-2C2F-2A622881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671A7-22B8-2DF0-B29F-5A6B5736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63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62CD8-AEFD-6236-2FF1-E832457B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C55DF-1C63-3EB9-0D6E-E9E49BD3D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9F795-01B0-73FA-35EF-6FF0061D2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603D1-9180-4C7F-B6E3-68AE45A58FE3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87B02-2F1C-1F96-9F9B-1A17F64F7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CAC5-4A2F-C6FE-0D06-8EAC3A323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C9A32-224F-40BE-A27B-3C1BBC547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38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AC21B3D8-6BBC-AF8C-8BCD-3173D77FC0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99EEFC-3CF6-B4B4-537B-F78AEC15B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Pesquisa Operacional I</a:t>
            </a:r>
            <a:br>
              <a:rPr lang="pt-BR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Dualidade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436EA4-6650-702D-7E7D-FA24DC8FD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6850"/>
            <a:ext cx="9144000" cy="1655762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Profª Andréa Bonifácio</a:t>
            </a:r>
          </a:p>
          <a:p>
            <a:pPr algn="l"/>
            <a:r>
              <a:rPr lang="en-US" sz="2400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C45EB20E-219A-FEE3-7050-9CD6BE3F5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6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5CCC-5088-4018-2EED-07148B70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DAAE0E5-058C-7075-7C2A-EBE1B016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C45EDF3-4B43-F079-6F0A-566FF3FE5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Dualidade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33B42A-F23F-C932-196E-C22416C05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Todo PPL, que chamaremos primal, traz consigo um segundo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problema, chamado dual, sendo ambos completamente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inter-relacionados, de tal maneira que a solução ótima de um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fornece informações completas sobre o outro.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9D5058B-9A00-4E5F-69BB-49E37CC73E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5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58F4-C575-07F6-C036-9EFDF518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5E223AB-E70B-5BE7-63C1-CFD6F0BBBA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BF0958-9BE2-700F-CF0B-95674A27E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Forma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Canônica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da </a:t>
            </a:r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Dualidade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39C1B4-FCD6-06D1-1D14-3B1AA92AB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 numCol="2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Considere o seguinte PPL primal: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 : min </a:t>
            </a: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cx</a:t>
            </a:r>
            <a:endParaRPr lang="pt-BR" i="1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</a:t>
            </a:r>
          </a:p>
          <a:p>
            <a:pPr algn="just">
              <a:lnSpc>
                <a:spcPct val="100000"/>
              </a:lnSpc>
            </a:pP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  <a:p>
            <a:pPr algn="just">
              <a:lnSpc>
                <a:spcPct val="100000"/>
              </a:lnSpc>
            </a:pP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O dual desse PPL é: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D :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</a:t>
            </a: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wb</a:t>
            </a:r>
            <a:endParaRPr lang="pt-BR" i="1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wA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</a:t>
            </a:r>
          </a:p>
          <a:p>
            <a:pPr algn="just">
              <a:lnSpc>
                <a:spcPct val="100000"/>
              </a:lnSpc>
            </a:pP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6771E09-6B06-6F58-B1F8-446705073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2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2D62-D1AD-F1DD-5045-D4C0F62C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E4DE432-0EC7-7AEB-F3CD-972212F49F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025D5228-55A7-76A0-92F5-5B573BC4F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55799"/>
            <a:ext cx="9867900" cy="5105399"/>
          </a:xfrm>
        </p:spPr>
        <p:txBody>
          <a:bodyPr numCol="2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Primal: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min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zP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c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c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. . . +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. . .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1n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b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. . .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2n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b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+a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+. . .+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mn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,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, . . . ,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  <a:p>
            <a:pPr algn="just">
              <a:lnSpc>
                <a:spcPct val="100000"/>
              </a:lnSpc>
            </a:pP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Dual:</a:t>
            </a: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max z</a:t>
            </a:r>
            <a:r>
              <a:rPr lang="pl-PL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D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b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+b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+. . . +b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endParaRPr lang="pl-PL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. . .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c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endParaRPr lang="pl-PL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. . .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c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endParaRPr lang="pl-PL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1n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2n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. . . + a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mn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c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n</a:t>
            </a:r>
            <a:endParaRPr lang="pl-PL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,w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, . . . ,w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</a:t>
            </a:r>
            <a:r>
              <a:rPr lang="pl-PL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AECAEA62-EE76-E92E-1E69-0D9FDE76A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80E1EE0E-F67D-0349-CE2E-95D4EE1847AD}"/>
              </a:ext>
            </a:extLst>
          </p:cNvPr>
          <p:cNvSpPr txBox="1">
            <a:spLocks/>
          </p:cNvSpPr>
          <p:nvPr/>
        </p:nvSpPr>
        <p:spPr>
          <a:xfrm>
            <a:off x="1524000" y="880002"/>
            <a:ext cx="9296400" cy="872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Em termos mais específicos, temos: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9060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41C80-2417-9FA7-DD34-41A2CBC1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B82A4ED-BD88-A600-C612-FED8D2EF53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CD22C5-BDF8-3B4A-64AB-56773031D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Observação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A5AFE6-43F7-20B6-7413-5AAE644E9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2150686"/>
            <a:ext cx="9389036" cy="393599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O problema dual  é construído a partir do primal da seguinte maneira: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1. Cada restrição em um problema corresponde a uma variável no outro problema.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2. Cada variável de um problema corresponde a uma restrição no outro problema.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3. Os elementos do lado direito das restrições, em um problema, são coeficientes da função objetivo do outro problema e vice-versa.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4. Se o objetivo de um problema é minimizar, o do outro é maximizar, e vice-versa.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DBC4471-E365-4499-1B90-B7D1E73C1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7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C473D-84FC-BEAF-7F6C-075733751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06D33918-ECDF-2698-4118-4A16432052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4A909A7-85A2-6101-6279-E12082744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67BC98-F8A6-DDB9-12CE-D17423F0D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58462"/>
            <a:ext cx="9389036" cy="4328218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Para o PPL a seguir determine o seu dual:</a:t>
            </a:r>
          </a:p>
          <a:p>
            <a:pPr algn="just">
              <a:lnSpc>
                <a:spcPct val="100000"/>
              </a:lnSpc>
            </a:pP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 : min 6x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+ 8x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3x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4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5x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+ 2x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7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,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DA7DE8FE-A274-9547-4BCA-94B02BCA5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7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67288-52D9-7BD3-5ABF-D304735C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94DB91C3-A9E1-2FEC-F814-8DED8E87BF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C16298F-F6DD-74E1-D9FC-5AA7F5319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84A09A-C04D-A752-88FD-36E2F72F8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30326"/>
            <a:ext cx="9389036" cy="4356354"/>
          </a:xfrm>
        </p:spPr>
        <p:txBody>
          <a:bodyPr numCol="2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Para o PPL a seguir determine o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seu dual: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 : min 6x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+ 8x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endParaRPr lang="pt-BR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3x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4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5x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+ 2x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7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,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  <a:p>
            <a:pPr algn="just">
              <a:lnSpc>
                <a:spcPct val="100000"/>
              </a:lnSpc>
            </a:pPr>
            <a:endParaRPr lang="pt-BR" dirty="0">
              <a:latin typeface="Calibri" panose="020F0502020204030204" pitchFamily="34" charset="0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l-PL" dirty="0"/>
              <a:t>O dual desse PPL  ́e</a:t>
            </a:r>
          </a:p>
          <a:p>
            <a:pPr algn="just">
              <a:lnSpc>
                <a:spcPct val="100000"/>
              </a:lnSpc>
            </a:pPr>
            <a:endParaRPr lang="pl-PL" dirty="0"/>
          </a:p>
          <a:p>
            <a:pPr algn="just">
              <a:lnSpc>
                <a:spcPct val="100000"/>
              </a:lnSpc>
            </a:pPr>
            <a:r>
              <a:rPr lang="pl-PL" dirty="0"/>
              <a:t>D : max 4w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+ 7w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endParaRPr lang="pl-PL" dirty="0"/>
          </a:p>
          <a:p>
            <a:pPr algn="just">
              <a:lnSpc>
                <a:spcPct val="100000"/>
              </a:lnSpc>
            </a:pPr>
            <a:r>
              <a:rPr lang="pl-PL" dirty="0"/>
              <a:t>sujeito a</a:t>
            </a:r>
          </a:p>
          <a:p>
            <a:pPr algn="just">
              <a:lnSpc>
                <a:spcPct val="100000"/>
              </a:lnSpc>
            </a:pPr>
            <a:r>
              <a:rPr lang="pl-PL" dirty="0"/>
              <a:t>3w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+ 5w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/>
              <a:t> ≤ 6</a:t>
            </a:r>
          </a:p>
          <a:p>
            <a:pPr algn="just">
              <a:lnSpc>
                <a:spcPct val="100000"/>
              </a:lnSpc>
            </a:pPr>
            <a:r>
              <a:rPr lang="pl-PL" dirty="0"/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+ 2w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/>
              <a:t> ≤ 8</a:t>
            </a:r>
          </a:p>
          <a:p>
            <a:pPr algn="just">
              <a:lnSpc>
                <a:spcPct val="100000"/>
              </a:lnSpc>
            </a:pPr>
            <a:r>
              <a:rPr lang="pl-PL" dirty="0"/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,w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/>
              <a:t> ≥ 0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34AFDF7-D38D-CC34-F431-EA01B861F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4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5F70-2244-DFF0-D8CD-13CF638C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F48323B-5590-F389-8F99-320254B67B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1369C5-EA21-AF8D-D7FC-21A7AAB37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Lema: </a:t>
            </a:r>
            <a:r>
              <a:rPr lang="en-US" sz="4000" b="1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O dual do dual é o primal</a:t>
            </a:r>
            <a:endParaRPr lang="pt-BR" sz="4000" i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AED2DE-2870-CA01-8985-4FBC2C113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2120264"/>
            <a:ext cx="9389036" cy="3966416"/>
          </a:xfrm>
        </p:spPr>
        <p:txBody>
          <a:bodyPr numCol="2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Prova: 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Considere o dual na 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forma canônica: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Max </a:t>
            </a: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wb</a:t>
            </a:r>
            <a:endParaRPr lang="pt-BR" i="1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wA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</a:t>
            </a:r>
          </a:p>
          <a:p>
            <a:pPr algn="just">
              <a:lnSpc>
                <a:spcPct val="100000"/>
              </a:lnSpc>
            </a:pP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r>
              <a:rPr lang="pt-BR" dirty="0"/>
              <a:t>Este PPL  ́e equivalente a</a:t>
            </a: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r>
              <a:rPr lang="pt-BR" dirty="0"/>
              <a:t>min </a:t>
            </a:r>
            <a:r>
              <a:rPr lang="pt-BR" i="1" dirty="0"/>
              <a:t>−</a:t>
            </a:r>
            <a:r>
              <a:rPr lang="pt-BR" i="1" dirty="0" err="1"/>
              <a:t>wb</a:t>
            </a:r>
            <a:endParaRPr lang="pt-BR" i="1" dirty="0"/>
          </a:p>
          <a:p>
            <a:pPr algn="just">
              <a:lnSpc>
                <a:spcPct val="100000"/>
              </a:lnSpc>
            </a:pPr>
            <a:r>
              <a:rPr lang="pt-BR" dirty="0"/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i="1" dirty="0" err="1"/>
              <a:t>wA</a:t>
            </a:r>
            <a:r>
              <a:rPr lang="pt-BR" dirty="0"/>
              <a:t> ≤ </a:t>
            </a:r>
            <a:r>
              <a:rPr lang="pt-BR" i="1" dirty="0"/>
              <a:t>c</a:t>
            </a:r>
          </a:p>
          <a:p>
            <a:pPr algn="just">
              <a:lnSpc>
                <a:spcPct val="100000"/>
              </a:lnSpc>
            </a:pPr>
            <a:r>
              <a:rPr lang="pt-BR" i="1" dirty="0"/>
              <a:t>w</a:t>
            </a:r>
            <a:r>
              <a:rPr lang="pt-BR" dirty="0"/>
              <a:t> ≥ 0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889A0D2-A44A-EC7D-45E7-95B55C3A3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7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31A8-7174-A2E4-2075-2421D2BF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E88AA602-60E3-9248-83B7-8DF6648885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EF45C7-97F9-95EE-DA6B-6FBFEAABB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248"/>
            <a:ext cx="9144000" cy="91650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O dual do dual</a:t>
            </a:r>
            <a:endParaRPr lang="pt-BR" sz="4400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283535-31E5-B5FB-81DE-E7F7A0049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223889"/>
            <a:ext cx="9389036" cy="4328218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Resolver o PPL anterior equivale a resolver o PPL: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min(−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)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endParaRPr lang="pt-BR" baseline="30000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(−A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)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−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endParaRPr lang="pt-BR" baseline="30000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O dual deste PPL  é dado por:</a:t>
            </a:r>
          </a:p>
          <a:p>
            <a:pPr algn="just">
              <a:lnSpc>
                <a:spcPct val="100000"/>
              </a:lnSpc>
            </a:pP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(−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(−A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) ≤ −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endParaRPr lang="pt-BR" baseline="30000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4C787864-2D7C-2B11-A665-47CA89B19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2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8619-D060-0B77-B448-B2F25F1A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5F87E2A-962E-376F-4239-8D47F845CE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1CB754-28BE-CE33-F6F2-338AD26B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248"/>
            <a:ext cx="9144000" cy="91650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O dual do dual</a:t>
            </a:r>
            <a:endParaRPr lang="pt-BR" sz="4400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A7F39C-F1D6-C64B-ECE1-24425F908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223889"/>
            <a:ext cx="9389036" cy="4328218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Que equivale a: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min </a:t>
            </a: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cx</a:t>
            </a:r>
            <a:endParaRPr lang="pt-BR" i="1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</a:t>
            </a:r>
          </a:p>
          <a:p>
            <a:pPr algn="just">
              <a:lnSpc>
                <a:spcPct val="100000"/>
              </a:lnSpc>
            </a:pP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que  ́e precisamente o problema primal.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EC9E1BB2-3AD2-E28F-AB8B-DF588932F4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94AC-E4CE-038E-FD04-2FB41EC5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21B7339-9439-610A-D0FF-FC1C49E043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36321B3-EC69-C79B-0049-0356650B3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Autofit/>
          </a:bodyPr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Tabela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de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equivalências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para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construir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o dual</a:t>
            </a:r>
            <a:endParaRPr lang="pt-BR" sz="3600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A66359B7-2707-5560-F8AF-BA9B71F9E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83B5BC-3045-84BB-B3AB-F55974E88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899898"/>
              </p:ext>
            </p:extLst>
          </p:nvPr>
        </p:nvGraphicFramePr>
        <p:xfrm>
          <a:off x="2032000" y="1843921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084696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23468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Problema de Maximização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Problema de Minimização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24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Restrições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i="0" dirty="0"/>
                        <a:t>Variáveis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20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≤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541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≥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0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Livre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998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Variáveis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Restrições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1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34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≤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35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348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6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56DA-DCCD-0893-A9F1-80FA762B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7F5E889-F377-6D69-E525-68AE51867C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23E21B-CC56-9284-2E2B-823242390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DB16AA-3AF8-7636-ED9A-66081543E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30326"/>
            <a:ext cx="9389036" cy="4356354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Para o PPL a seguir determine o seu dual: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 :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8x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+ 3x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− 6x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2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5x1 + 7x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−4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0,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38EFBB8A-5AC7-16A8-CF50-DA7B82EB1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49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1529-B7B9-823B-2C9A-E751D4C5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85B4F05-E797-DD13-5C87-8A83D03473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72F7EC-1E1F-26C8-F94A-14332812E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C23DB8-427B-DF45-A8AF-F01C89CCC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30326"/>
            <a:ext cx="9389036" cy="4356354"/>
          </a:xfrm>
        </p:spPr>
        <p:txBody>
          <a:bodyPr numCol="2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Para o PPL a seguir determine o 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seu dual: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 :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8x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+ 3x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sujeito a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− 6x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2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5x1 + 7x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−4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≤ 0,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0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  <a:sym typeface="Hagrid Text"/>
            </a:endParaRP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r>
              <a:rPr lang="pl-PL" dirty="0"/>
              <a:t>O dual desse PPL  ́e</a:t>
            </a:r>
          </a:p>
          <a:p>
            <a:pPr algn="just">
              <a:lnSpc>
                <a:spcPct val="100000"/>
              </a:lnSpc>
            </a:pPr>
            <a:endParaRPr lang="pl-PL" dirty="0"/>
          </a:p>
          <a:p>
            <a:pPr algn="just">
              <a:lnSpc>
                <a:spcPct val="100000"/>
              </a:lnSpc>
            </a:pPr>
            <a:r>
              <a:rPr lang="pl-PL" dirty="0"/>
              <a:t>D : min 2w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− 4w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endParaRPr lang="pl-PL" dirty="0"/>
          </a:p>
          <a:p>
            <a:pPr algn="just">
              <a:lnSpc>
                <a:spcPct val="100000"/>
              </a:lnSpc>
            </a:pPr>
            <a:r>
              <a:rPr lang="pl-PL" dirty="0"/>
              <a:t>sujeito a</a:t>
            </a:r>
          </a:p>
          <a:p>
            <a:pPr algn="just">
              <a:lnSpc>
                <a:spcPct val="100000"/>
              </a:lnSpc>
            </a:pPr>
            <a:r>
              <a:rPr lang="pl-PL" dirty="0"/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+ 5w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/>
              <a:t> ≤ 8</a:t>
            </a:r>
          </a:p>
          <a:p>
            <a:pPr algn="just">
              <a:lnSpc>
                <a:spcPct val="100000"/>
              </a:lnSpc>
            </a:pPr>
            <a:r>
              <a:rPr lang="pl-PL" dirty="0"/>
              <a:t>−6w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+ 7w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/>
              <a:t> ≥ 3</a:t>
            </a:r>
          </a:p>
          <a:p>
            <a:pPr algn="just">
              <a:lnSpc>
                <a:spcPct val="100000"/>
              </a:lnSpc>
            </a:pPr>
            <a:r>
              <a:rPr lang="pl-PL" dirty="0"/>
              <a:t>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</a:t>
            </a:r>
            <a:r>
              <a:rPr lang="pl-PL" dirty="0"/>
              <a:t> ≤ 0,w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</a:t>
            </a:r>
            <a:r>
              <a:rPr lang="pl-PL" dirty="0"/>
              <a:t> livre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E9C21BD-FAA2-01D4-35A7-BB2B69A8F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99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EF6B-18A9-B0FF-7A4F-F747A82E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B5236AEF-383A-AA83-6FE0-8158F08048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13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10E881-7BCF-201A-8CD8-F9529769D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698" y="302365"/>
            <a:ext cx="10100603" cy="252169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Lema: </a:t>
            </a:r>
            <a:r>
              <a:rPr lang="pt-BR" sz="3600" b="1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O valor da função objetivo para qualquer solução viável do problema de minimização é sempre maior ou igual ao valor da função objetivo para qualquer solução viável do problema de maximização.</a:t>
            </a:r>
            <a:endParaRPr lang="pt-BR" sz="3600" i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6DF95A-36F3-9A45-4719-2566A9F9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3589" y="3179688"/>
            <a:ext cx="9744820" cy="2837042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Prova: Considere a forma canônica de dualidade e sejam x</a:t>
            </a:r>
            <a:r>
              <a:rPr lang="pt-BR" baseline="-25000" dirty="0"/>
              <a:t>0</a:t>
            </a:r>
            <a:r>
              <a:rPr lang="pt-BR" dirty="0"/>
              <a:t> e w</a:t>
            </a:r>
            <a:r>
              <a:rPr lang="pt-BR" baseline="-25000" dirty="0"/>
              <a:t>0</a:t>
            </a:r>
            <a:r>
              <a:rPr lang="pt-BR" dirty="0"/>
              <a:t>,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soluções viáveis do primal e dual, respectivamente. Então,</a:t>
            </a:r>
          </a:p>
          <a:p>
            <a:pPr algn="just">
              <a:lnSpc>
                <a:spcPct val="100000"/>
              </a:lnSpc>
            </a:pPr>
            <a:r>
              <a:rPr lang="pt-BR" b="1" dirty="0"/>
              <a:t>Ax</a:t>
            </a:r>
            <a:r>
              <a:rPr lang="pt-BR" b="1" baseline="-25000" dirty="0"/>
              <a:t>0</a:t>
            </a:r>
            <a:r>
              <a:rPr lang="pt-BR" b="1" dirty="0"/>
              <a:t> ≥ b</a:t>
            </a:r>
            <a:r>
              <a:rPr lang="pt-BR" dirty="0"/>
              <a:t>,</a:t>
            </a:r>
            <a:r>
              <a:rPr lang="pt-BR" b="1" dirty="0"/>
              <a:t> x</a:t>
            </a:r>
            <a:r>
              <a:rPr lang="pt-BR" b="1" baseline="-25000" dirty="0"/>
              <a:t>0</a:t>
            </a:r>
            <a:r>
              <a:rPr lang="pt-BR" b="1" dirty="0"/>
              <a:t> ≥ 0 </a:t>
            </a:r>
            <a:r>
              <a:rPr lang="pt-BR" dirty="0"/>
              <a:t>e</a:t>
            </a:r>
            <a:r>
              <a:rPr lang="pt-BR" b="1" dirty="0"/>
              <a:t> w</a:t>
            </a:r>
            <a:r>
              <a:rPr lang="pt-BR" b="1" baseline="-25000" dirty="0"/>
              <a:t>0</a:t>
            </a:r>
            <a:r>
              <a:rPr lang="pt-BR" b="1" dirty="0"/>
              <a:t>A ≤ c</a:t>
            </a:r>
            <a:r>
              <a:rPr lang="pt-BR" dirty="0"/>
              <a:t>,</a:t>
            </a:r>
            <a:r>
              <a:rPr lang="pt-BR" b="1" dirty="0"/>
              <a:t> w</a:t>
            </a:r>
            <a:r>
              <a:rPr lang="pt-BR" b="1" baseline="-25000" dirty="0"/>
              <a:t>0</a:t>
            </a:r>
            <a:r>
              <a:rPr lang="pt-BR" b="1" dirty="0"/>
              <a:t> ≥ 0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Fazendo as multiplicações adequadas temos:</a:t>
            </a:r>
          </a:p>
          <a:p>
            <a:pPr algn="just">
              <a:lnSpc>
                <a:spcPct val="100000"/>
              </a:lnSpc>
            </a:pPr>
            <a:r>
              <a:rPr lang="pt-BR" b="1" dirty="0"/>
              <a:t>w</a:t>
            </a:r>
            <a:r>
              <a:rPr lang="pt-BR" b="1" baseline="-25000" dirty="0"/>
              <a:t>0</a:t>
            </a:r>
            <a:r>
              <a:rPr lang="pt-BR" b="1" dirty="0"/>
              <a:t>Ax</a:t>
            </a:r>
            <a:r>
              <a:rPr lang="pt-BR" b="1" baseline="-25000" dirty="0"/>
              <a:t>0</a:t>
            </a:r>
            <a:r>
              <a:rPr lang="pt-BR" b="1" dirty="0"/>
              <a:t> ≥ w</a:t>
            </a:r>
            <a:r>
              <a:rPr lang="pt-BR" b="1" baseline="-25000" dirty="0"/>
              <a:t>0</a:t>
            </a:r>
            <a:r>
              <a:rPr lang="pt-BR" b="1" dirty="0"/>
              <a:t>b </a:t>
            </a:r>
            <a:r>
              <a:rPr lang="pt-BR" dirty="0"/>
              <a:t>e </a:t>
            </a:r>
            <a:r>
              <a:rPr lang="pt-BR" b="1" dirty="0"/>
              <a:t>w</a:t>
            </a:r>
            <a:r>
              <a:rPr lang="pt-BR" b="1" baseline="-25000" dirty="0"/>
              <a:t>0</a:t>
            </a:r>
            <a:r>
              <a:rPr lang="pt-BR" b="1" dirty="0"/>
              <a:t>Ax</a:t>
            </a:r>
            <a:r>
              <a:rPr lang="pt-BR" b="1" baseline="-25000" dirty="0"/>
              <a:t>0</a:t>
            </a:r>
            <a:r>
              <a:rPr lang="pt-BR" b="1" dirty="0"/>
              <a:t> ≤ cx</a:t>
            </a:r>
            <a:r>
              <a:rPr lang="pt-BR" b="1" baseline="-25000" dirty="0"/>
              <a:t>0</a:t>
            </a:r>
            <a:endParaRPr lang="pt-BR" b="1" dirty="0"/>
          </a:p>
          <a:p>
            <a:pPr algn="just">
              <a:lnSpc>
                <a:spcPct val="100000"/>
              </a:lnSpc>
            </a:pPr>
            <a:r>
              <a:rPr lang="pt-BR" dirty="0"/>
              <a:t>Portanto, </a:t>
            </a:r>
            <a:r>
              <a:rPr lang="pt-BR" b="1" dirty="0"/>
              <a:t>cx</a:t>
            </a:r>
            <a:r>
              <a:rPr lang="pt-BR" b="1" baseline="-25000" dirty="0"/>
              <a:t>0</a:t>
            </a:r>
            <a:r>
              <a:rPr lang="pt-BR" b="1" dirty="0"/>
              <a:t> ≥ w</a:t>
            </a:r>
            <a:r>
              <a:rPr lang="pt-BR" b="1" baseline="-25000" dirty="0"/>
              <a:t>0</a:t>
            </a:r>
            <a:r>
              <a:rPr lang="pt-BR" b="1" dirty="0"/>
              <a:t>Ax</a:t>
            </a:r>
            <a:r>
              <a:rPr lang="pt-BR" b="1" baseline="-25000" dirty="0"/>
              <a:t>0</a:t>
            </a:r>
            <a:r>
              <a:rPr lang="pt-BR" b="1" dirty="0"/>
              <a:t> ≥ w</a:t>
            </a:r>
            <a:r>
              <a:rPr lang="pt-BR" b="1" baseline="-25000" dirty="0"/>
              <a:t>0</a:t>
            </a:r>
            <a:r>
              <a:rPr lang="pt-BR" b="1" dirty="0"/>
              <a:t>b</a:t>
            </a:r>
            <a:r>
              <a:rPr lang="pt-BR" dirty="0"/>
              <a:t>.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C35D55C-033F-3D0B-D654-F64A2E9CC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10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D071-1F88-CB8E-5C2C-80BB7569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8358B99E-DBA9-BA48-1F8A-F50B315327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7F0E96-7706-0A4A-EAAE-E6A5504D6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Corolário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A5C69E-4D51-7609-600C-38C1CA887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475" y="1919490"/>
            <a:ext cx="10425560" cy="3413818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Se x</a:t>
            </a:r>
            <a:r>
              <a:rPr lang="pt-BR" b="1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0</a:t>
            </a: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e w</a:t>
            </a:r>
            <a:r>
              <a:rPr lang="pt-BR" b="1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0</a:t>
            </a: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são soluções viáveis para o primal e dual, respectivamente, tal que</a:t>
            </a:r>
          </a:p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cx</a:t>
            </a:r>
            <a:r>
              <a:rPr lang="pt-BR" b="1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0</a:t>
            </a: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w</a:t>
            </a:r>
            <a:r>
              <a:rPr lang="pt-BR" b="1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0</a:t>
            </a: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b, então x</a:t>
            </a:r>
            <a:r>
              <a:rPr lang="pt-BR" b="1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0</a:t>
            </a: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e w</a:t>
            </a:r>
            <a:r>
              <a:rPr lang="pt-BR" b="1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0</a:t>
            </a: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são soluções ótimas para seus respectivos problemas.</a:t>
            </a:r>
            <a:endParaRPr lang="pt-BR" b="1" dirty="0"/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A20E728D-9439-1655-CB26-A364749C5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6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52E5-B613-6B3A-C1F8-303F1D4A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A154121-4E4C-81AD-4982-F3C7E3FDF2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2BC708-A2FB-0495-BCF7-452A0CD3E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Teorema</a:t>
            </a:r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Fundamental da </a:t>
            </a:r>
            <a:r>
              <a:rPr lang="en-US" sz="48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Dualidade</a:t>
            </a:r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(TFC)</a:t>
            </a:r>
            <a:endParaRPr lang="pt-BR" sz="4800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518F6-1650-B7A9-467F-B7C075817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2150686"/>
            <a:ext cx="9389036" cy="393599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Com relação ao Primal e Dual exatamente uma das seguintes declarações é verdadeira: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1. Ambas possuem soluções  ótimas x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i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e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j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, e além disso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cx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i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j</a:t>
            </a:r>
            <a:r>
              <a:rPr lang="pt-BR" baseline="30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; ou seja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z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primal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z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dual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2. Se um dos problemas tem soluções ilimitadas, o outro deve ser infactível;</a:t>
            </a:r>
          </a:p>
          <a:p>
            <a:pPr algn="just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3. Se um dos problemas é infactível, o outro é infactível ou ilimitado.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9268AC2-EA4E-36D4-D99B-43D01FFAD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50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0A60-8C2A-6404-A44B-1EF7EC78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BBCB1C70-7E6F-CD51-EEA3-7582457622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BE4750-4C14-4562-A2BE-D53CEDB82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Teorema</a:t>
            </a:r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Fundamental da </a:t>
            </a:r>
            <a:r>
              <a:rPr lang="en-US" sz="48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Dualidade</a:t>
            </a:r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 (TFC)</a:t>
            </a:r>
            <a:endParaRPr lang="pt-BR" sz="4800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6B78AA-AE1C-3747-5975-845E44B24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2150686"/>
            <a:ext cx="9389036" cy="393599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Teorema: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Se x</a:t>
            </a:r>
            <a:r>
              <a:rPr lang="pt-BR" baseline="30000" dirty="0"/>
              <a:t>∗</a:t>
            </a:r>
            <a:r>
              <a:rPr lang="pt-BR" dirty="0"/>
              <a:t> e w</a:t>
            </a:r>
            <a:r>
              <a:rPr lang="pt-BR" baseline="30000" dirty="0"/>
              <a:t>∗</a:t>
            </a:r>
            <a:r>
              <a:rPr lang="pt-BR" dirty="0"/>
              <a:t> são soluções ótimas do primal e do dual,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respectivamente, na forma canônica, então:</a:t>
            </a:r>
          </a:p>
          <a:p>
            <a:pPr>
              <a:lnSpc>
                <a:spcPct val="100000"/>
              </a:lnSpc>
            </a:pPr>
            <a:r>
              <a:rPr lang="pt-BR" b="1" dirty="0"/>
              <a:t>(</a:t>
            </a:r>
            <a:r>
              <a:rPr lang="pt-BR" b="1" dirty="0" err="1"/>
              <a:t>c</a:t>
            </a:r>
            <a:r>
              <a:rPr lang="pt-BR" b="1" baseline="-25000" dirty="0" err="1"/>
              <a:t>j</a:t>
            </a:r>
            <a:r>
              <a:rPr lang="pt-BR" b="1" dirty="0"/>
              <a:t> − </a:t>
            </a:r>
            <a:r>
              <a:rPr lang="pt-BR" b="1" dirty="0" err="1"/>
              <a:t>w</a:t>
            </a:r>
            <a:r>
              <a:rPr lang="pt-BR" b="1" baseline="30000" dirty="0" err="1"/>
              <a:t>∗</a:t>
            </a:r>
            <a:r>
              <a:rPr lang="pt-BR" b="1" dirty="0" err="1"/>
              <a:t>a</a:t>
            </a:r>
            <a:r>
              <a:rPr lang="pt-BR" b="1" baseline="-25000" dirty="0" err="1"/>
              <a:t>j</a:t>
            </a:r>
            <a:r>
              <a:rPr lang="pt-BR" b="1" dirty="0"/>
              <a:t>)</a:t>
            </a:r>
            <a:r>
              <a:rPr lang="pt-BR" b="1" dirty="0" err="1"/>
              <a:t>x</a:t>
            </a:r>
            <a:r>
              <a:rPr lang="pt-BR" b="1" baseline="-25000" dirty="0" err="1"/>
              <a:t>j</a:t>
            </a:r>
            <a:r>
              <a:rPr lang="pt-BR" b="1" baseline="30000" dirty="0"/>
              <a:t>∗</a:t>
            </a:r>
            <a:r>
              <a:rPr lang="pt-BR" b="1" dirty="0"/>
              <a:t> = 0, j = 1, . . . , n.</a:t>
            </a:r>
          </a:p>
          <a:p>
            <a:pPr algn="just">
              <a:lnSpc>
                <a:spcPct val="100000"/>
              </a:lnSpc>
            </a:pPr>
            <a:r>
              <a:rPr lang="pt-BR" i="1" dirty="0"/>
              <a:t>Onde </a:t>
            </a:r>
            <a:r>
              <a:rPr lang="pt-BR" i="1" dirty="0" err="1"/>
              <a:t>x</a:t>
            </a:r>
            <a:r>
              <a:rPr lang="pt-BR" i="1" baseline="-25000" dirty="0" err="1"/>
              <a:t>j</a:t>
            </a:r>
            <a:r>
              <a:rPr lang="pt-BR" i="1" dirty="0"/>
              <a:t>∗</a:t>
            </a:r>
            <a:r>
              <a:rPr lang="pt-BR" i="1" baseline="30000" dirty="0"/>
              <a:t>  </a:t>
            </a:r>
            <a:r>
              <a:rPr lang="pt-BR" i="1" dirty="0"/>
              <a:t>é o vetor de soluções  ́ótimas do primal e</a:t>
            </a:r>
          </a:p>
          <a:p>
            <a:pPr>
              <a:lnSpc>
                <a:spcPct val="100000"/>
              </a:lnSpc>
            </a:pPr>
            <a:r>
              <a:rPr lang="pt-BR" b="1" dirty="0" err="1"/>
              <a:t>w</a:t>
            </a:r>
            <a:r>
              <a:rPr lang="pt-BR" b="1" baseline="-25000" dirty="0" err="1"/>
              <a:t>i</a:t>
            </a:r>
            <a:r>
              <a:rPr lang="pt-BR" b="1" baseline="30000" dirty="0"/>
              <a:t>∗</a:t>
            </a:r>
            <a:r>
              <a:rPr lang="pt-BR" b="1" dirty="0"/>
              <a:t>(a</a:t>
            </a:r>
            <a:r>
              <a:rPr lang="pt-BR" b="1" baseline="-25000" dirty="0"/>
              <a:t>i</a:t>
            </a:r>
            <a:r>
              <a:rPr lang="pt-BR" b="1" dirty="0"/>
              <a:t> x</a:t>
            </a:r>
            <a:r>
              <a:rPr lang="pt-BR" b="1" baseline="30000" dirty="0"/>
              <a:t>∗</a:t>
            </a:r>
            <a:r>
              <a:rPr lang="pt-BR" b="1" dirty="0"/>
              <a:t> − b</a:t>
            </a:r>
            <a:r>
              <a:rPr lang="pt-BR" b="1" baseline="-25000" dirty="0"/>
              <a:t>i</a:t>
            </a:r>
            <a:r>
              <a:rPr lang="pt-BR" b="1" dirty="0"/>
              <a:t>) = 0, i = 1, . . . , n.</a:t>
            </a:r>
          </a:p>
          <a:p>
            <a:pPr algn="just">
              <a:lnSpc>
                <a:spcPct val="100000"/>
              </a:lnSpc>
            </a:pPr>
            <a:r>
              <a:rPr lang="pt-BR" i="1" dirty="0"/>
              <a:t>Onde </a:t>
            </a:r>
            <a:r>
              <a:rPr lang="pt-BR" i="1" dirty="0" err="1"/>
              <a:t>w</a:t>
            </a:r>
            <a:r>
              <a:rPr lang="pt-BR" i="1" baseline="-25000" dirty="0" err="1"/>
              <a:t>i</a:t>
            </a:r>
            <a:r>
              <a:rPr lang="pt-BR" i="1" baseline="30000" dirty="0"/>
              <a:t>∗</a:t>
            </a:r>
            <a:r>
              <a:rPr lang="pt-BR" i="1" dirty="0"/>
              <a:t> ́e o vetor de soluções  ótimas do dual.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73D8092-F05A-BE32-4F3D-177FA2C46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0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83F87-63FB-3DDF-568A-EF21DFEB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D843674-C2AD-C2C1-66E1-77F42FB53F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D17BCCB1-B210-DFC2-51C3-8F06DD9BE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49F9906B-77A4-D1C8-F7A4-9A5C2A73172F}"/>
              </a:ext>
            </a:extLst>
          </p:cNvPr>
          <p:cNvSpPr txBox="1">
            <a:spLocks/>
          </p:cNvSpPr>
          <p:nvPr/>
        </p:nvSpPr>
        <p:spPr>
          <a:xfrm>
            <a:off x="818147" y="880001"/>
            <a:ext cx="10002253" cy="5211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t-BR" b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Prova: 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Sejam x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e w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soluções ótimas para o problema primal e o dual na forma canônica, respectivamente. Então, pela demonstração do lema, vimos que</a:t>
            </a:r>
          </a:p>
          <a:p>
            <a:pPr>
              <a:lnSpc>
                <a:spcPct val="100000"/>
              </a:lnSpc>
            </a:pPr>
            <a:r>
              <a:rPr lang="pt-BR" i="1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cx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</a:t>
            </a:r>
            <a:r>
              <a:rPr lang="pl-PL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w*</a:t>
            </a:r>
            <a:r>
              <a:rPr lang="pl-PL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</a:t>
            </a:r>
            <a:r>
              <a:rPr lang="pl-PL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≥ </a:t>
            </a:r>
            <a:r>
              <a:rPr lang="pt-BR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w*</a:t>
            </a:r>
            <a:r>
              <a:rPr lang="pl-PL" i="1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b.</a:t>
            </a:r>
            <a:endParaRPr lang="pt-BR" i="1" dirty="0">
              <a:latin typeface="Calibri" panose="020F0502020204030204" pitchFamily="34" charset="0"/>
              <a:ea typeface="Hagrid Text"/>
              <a:cs typeface="Calibri" panose="020F0502020204030204" pitchFamily="34" charset="0"/>
              <a:sym typeface="Hagrid Text"/>
            </a:endParaRPr>
          </a:p>
          <a:p>
            <a:pPr algn="l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Mas pelo TFD, temos que</a:t>
            </a:r>
          </a:p>
          <a:p>
            <a:pPr>
              <a:lnSpc>
                <a:spcPct val="100000"/>
              </a:lnSpc>
            </a:pP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cx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∗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= w</a:t>
            </a:r>
            <a:r>
              <a:rPr lang="pt-BR" baseline="30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b.</a:t>
            </a:r>
          </a:p>
          <a:p>
            <a:pPr algn="l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Portanto temos,</a:t>
            </a:r>
          </a:p>
          <a:p>
            <a:pPr>
              <a:lnSpc>
                <a:spcPct val="100000"/>
              </a:lnSpc>
            </a:pP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 = w*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 = w*b.</a:t>
            </a:r>
          </a:p>
          <a:p>
            <a:pPr algn="l">
              <a:lnSpc>
                <a:spcPct val="100000"/>
              </a:lnSpc>
            </a:pP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Disto temos, w*(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 − b) = 0 e (c − w*A)x* = 0. Visto que w* ≥ 0 e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 − b ≥ 0, então w*(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Ax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 − b) = 0 implica que 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w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i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*(a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i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x* − b</a:t>
            </a:r>
            <a:r>
              <a:rPr lang="pt-BR" baseline="-25000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i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) = 0, para i = 1, . . . , n. Analogamente, (c − w*A)x* = 0 implica que (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c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j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 − w*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a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j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)</a:t>
            </a:r>
            <a:r>
              <a:rPr lang="pt-BR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x</a:t>
            </a:r>
            <a:r>
              <a:rPr lang="pt-BR" baseline="-25000" dirty="0" err="1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j</a:t>
            </a:r>
            <a:r>
              <a:rPr lang="pt-BR" dirty="0">
                <a:latin typeface="Calibri" panose="020F0502020204030204" pitchFamily="34" charset="0"/>
                <a:ea typeface="Hagrid Text"/>
                <a:cs typeface="Calibri" panose="020F0502020204030204" pitchFamily="34" charset="0"/>
                <a:sym typeface="Hagrid Text"/>
              </a:rPr>
              <a:t>* = 0, para j = 1, . . . , n.</a:t>
            </a:r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028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D231-B7CE-D1FD-8EBB-ADF2E17A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038CAEC-2BB2-4475-F9C1-261CECB63B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4F40A4A-8763-2E21-1E88-9BEE16703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EF1C3BDC-802E-E8C8-4B1E-63D68A8AD8B0}"/>
              </a:ext>
            </a:extLst>
          </p:cNvPr>
          <p:cNvSpPr txBox="1">
            <a:spLocks/>
          </p:cNvSpPr>
          <p:nvPr/>
        </p:nvSpPr>
        <p:spPr>
          <a:xfrm>
            <a:off x="1000593" y="823345"/>
            <a:ext cx="10190813" cy="5211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t-BR" dirty="0"/>
              <a:t>O teorema indica que pelo menos um dos dois termos em cada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expressão dada deve ser zero. Em particular,</a:t>
            </a:r>
          </a:p>
          <a:p>
            <a:pPr>
              <a:lnSpc>
                <a:spcPct val="100000"/>
              </a:lnSpc>
            </a:pPr>
            <a:r>
              <a:rPr lang="pt-BR" dirty="0" err="1"/>
              <a:t>x</a:t>
            </a:r>
            <a:r>
              <a:rPr lang="pt-BR" baseline="-25000" dirty="0" err="1"/>
              <a:t>j</a:t>
            </a:r>
            <a:r>
              <a:rPr lang="pt-BR" dirty="0"/>
              <a:t>* &gt; 0 ⇒ w*</a:t>
            </a:r>
            <a:r>
              <a:rPr lang="pt-BR" dirty="0" err="1"/>
              <a:t>a</a:t>
            </a:r>
            <a:r>
              <a:rPr lang="pt-BR" baseline="-25000" dirty="0" err="1"/>
              <a:t>j</a:t>
            </a:r>
            <a:r>
              <a:rPr lang="pt-BR" dirty="0"/>
              <a:t> = </a:t>
            </a:r>
            <a:r>
              <a:rPr lang="pt-BR" dirty="0" err="1"/>
              <a:t>c</a:t>
            </a:r>
            <a:r>
              <a:rPr lang="pt-BR" baseline="-25000" dirty="0" err="1"/>
              <a:t>j</a:t>
            </a:r>
            <a:endParaRPr lang="pt-BR" baseline="-25000" dirty="0"/>
          </a:p>
          <a:p>
            <a:pPr>
              <a:lnSpc>
                <a:spcPct val="100000"/>
              </a:lnSpc>
            </a:pPr>
            <a:r>
              <a:rPr lang="pt-BR" dirty="0"/>
              <a:t>w*</a:t>
            </a:r>
            <a:r>
              <a:rPr lang="pt-BR" dirty="0" err="1"/>
              <a:t>a</a:t>
            </a:r>
            <a:r>
              <a:rPr lang="pt-BR" baseline="-25000" dirty="0" err="1"/>
              <a:t>j</a:t>
            </a:r>
            <a:r>
              <a:rPr lang="pt-BR" dirty="0"/>
              <a:t> &lt; </a:t>
            </a:r>
            <a:r>
              <a:rPr lang="pt-BR" dirty="0" err="1"/>
              <a:t>c</a:t>
            </a:r>
            <a:r>
              <a:rPr lang="pt-BR" baseline="-25000" dirty="0" err="1"/>
              <a:t>j</a:t>
            </a:r>
            <a:r>
              <a:rPr lang="pt-BR" dirty="0"/>
              <a:t> ⇒ </a:t>
            </a:r>
            <a:r>
              <a:rPr lang="pt-BR" dirty="0" err="1"/>
              <a:t>x</a:t>
            </a:r>
            <a:r>
              <a:rPr lang="pt-BR" baseline="-25000" dirty="0" err="1"/>
              <a:t>j</a:t>
            </a:r>
            <a:r>
              <a:rPr lang="pt-BR" dirty="0"/>
              <a:t>*= 0</a:t>
            </a:r>
          </a:p>
          <a:p>
            <a:pPr>
              <a:lnSpc>
                <a:spcPct val="100000"/>
              </a:lnSpc>
            </a:pPr>
            <a:r>
              <a:rPr lang="pt-BR" dirty="0" err="1"/>
              <a:t>w</a:t>
            </a:r>
            <a:r>
              <a:rPr lang="pt-BR" baseline="-25000" dirty="0" err="1"/>
              <a:t>i</a:t>
            </a:r>
            <a:r>
              <a:rPr lang="pt-BR" dirty="0"/>
              <a:t>* &gt; 0 ⇒ </a:t>
            </a:r>
            <a:r>
              <a:rPr lang="pt-BR" dirty="0" err="1"/>
              <a:t>a</a:t>
            </a:r>
            <a:r>
              <a:rPr lang="pt-BR" baseline="-25000" dirty="0" err="1"/>
              <a:t>i</a:t>
            </a:r>
            <a:r>
              <a:rPr lang="pt-BR" dirty="0" err="1"/>
              <a:t>x</a:t>
            </a:r>
            <a:r>
              <a:rPr lang="pt-BR" dirty="0"/>
              <a:t>* = b</a:t>
            </a:r>
            <a:r>
              <a:rPr lang="pt-BR" baseline="-25000" dirty="0"/>
              <a:t>i</a:t>
            </a:r>
            <a:endParaRPr lang="pt-BR" dirty="0"/>
          </a:p>
          <a:p>
            <a:pPr>
              <a:lnSpc>
                <a:spcPct val="100000"/>
              </a:lnSpc>
            </a:pPr>
            <a:r>
              <a:rPr lang="pt-BR" dirty="0" err="1"/>
              <a:t>a</a:t>
            </a:r>
            <a:r>
              <a:rPr lang="pt-BR" baseline="-25000" dirty="0" err="1"/>
              <a:t>i</a:t>
            </a:r>
            <a:r>
              <a:rPr lang="pt-BR" dirty="0" err="1"/>
              <a:t>x</a:t>
            </a:r>
            <a:r>
              <a:rPr lang="pt-BR" dirty="0"/>
              <a:t>* &gt; b</a:t>
            </a:r>
            <a:r>
              <a:rPr lang="pt-BR" baseline="-25000" dirty="0"/>
              <a:t>i</a:t>
            </a:r>
            <a:r>
              <a:rPr lang="pt-BR" dirty="0"/>
              <a:t> ⇒ </a:t>
            </a:r>
            <a:r>
              <a:rPr lang="pt-BR" dirty="0" err="1"/>
              <a:t>w</a:t>
            </a:r>
            <a:r>
              <a:rPr lang="pt-BR" baseline="-25000" dirty="0" err="1"/>
              <a:t>i</a:t>
            </a:r>
            <a:r>
              <a:rPr lang="pt-BR" dirty="0"/>
              <a:t>* = 0</a:t>
            </a:r>
          </a:p>
          <a:p>
            <a:pPr algn="l">
              <a:lnSpc>
                <a:spcPct val="100000"/>
              </a:lnSpc>
            </a:pPr>
            <a:r>
              <a:rPr lang="pt-BR" dirty="0"/>
              <a:t>Dessa forma, o TFC pode ser declarado como: sobre a </a:t>
            </a:r>
            <a:r>
              <a:rPr lang="pt-BR" dirty="0" err="1"/>
              <a:t>otimalidade</a:t>
            </a:r>
            <a:r>
              <a:rPr lang="pt-BR" dirty="0"/>
              <a:t> “Se uma variável em um problema  ́e positiva, então a restrição correspondente no outro problema deve estar valendo na igualdade (ou seja, folga nula), e se uma restrição em um dos problemas não está valendo na igualdade (ou seja, folga positiva), então a variável no outro problema deve ser nula”.</a:t>
            </a:r>
          </a:p>
        </p:txBody>
      </p:sp>
    </p:spTree>
    <p:extLst>
      <p:ext uri="{BB962C8B-B14F-4D97-AF65-F5344CB8AC3E}">
        <p14:creationId xmlns:p14="http://schemas.microsoft.com/office/powerpoint/2010/main" val="151082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93E8-FFBD-810B-175F-8ED8B50A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EA14754-B64D-4EA1-F3FF-97F9421058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87C594CF-F703-7661-4121-C58DBE926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CCECF0E-E13C-AB2A-A604-6773A8A94B85}"/>
              </a:ext>
            </a:extLst>
          </p:cNvPr>
          <p:cNvSpPr txBox="1">
            <a:spLocks/>
          </p:cNvSpPr>
          <p:nvPr/>
        </p:nvSpPr>
        <p:spPr>
          <a:xfrm>
            <a:off x="1000593" y="823345"/>
            <a:ext cx="10190813" cy="5211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t-BR" dirty="0"/>
              <a:t>Suponha que </a:t>
            </a:r>
            <a:r>
              <a:rPr lang="pt-BR" dirty="0" err="1"/>
              <a:t>x</a:t>
            </a:r>
            <a:r>
              <a:rPr lang="pt-BR" baseline="-25000" dirty="0" err="1"/>
              <a:t>n+i</a:t>
            </a:r>
            <a:r>
              <a:rPr lang="pt-BR" dirty="0"/>
              <a:t> = a</a:t>
            </a:r>
            <a:r>
              <a:rPr lang="pt-BR" baseline="-25000" dirty="0"/>
              <a:t> </a:t>
            </a:r>
            <a:r>
              <a:rPr lang="pt-BR" baseline="-25000" dirty="0" err="1"/>
              <a:t>i</a:t>
            </a:r>
            <a:r>
              <a:rPr lang="pt-BR" dirty="0" err="1"/>
              <a:t>x</a:t>
            </a:r>
            <a:r>
              <a:rPr lang="pt-BR" dirty="0"/>
              <a:t> − b</a:t>
            </a:r>
            <a:r>
              <a:rPr lang="pt-BR" baseline="-25000" dirty="0"/>
              <a:t>i</a:t>
            </a:r>
            <a:r>
              <a:rPr lang="pt-BR" dirty="0"/>
              <a:t> ≥ 0, i = 1, . . . , m são as m variáveis de folga do primal e seja </a:t>
            </a:r>
            <a:r>
              <a:rPr lang="pt-BR" dirty="0" err="1"/>
              <a:t>w</a:t>
            </a:r>
            <a:r>
              <a:rPr lang="pt-BR" baseline="-25000" dirty="0" err="1"/>
              <a:t>m+j</a:t>
            </a:r>
            <a:r>
              <a:rPr lang="pt-BR" dirty="0"/>
              <a:t> = c</a:t>
            </a:r>
            <a:r>
              <a:rPr lang="pt-BR" baseline="-25000" dirty="0"/>
              <a:t> j</a:t>
            </a:r>
            <a:r>
              <a:rPr lang="pt-BR" dirty="0"/>
              <a:t> − </a:t>
            </a:r>
            <a:r>
              <a:rPr lang="pt-BR" dirty="0" err="1"/>
              <a:t>wa</a:t>
            </a:r>
            <a:r>
              <a:rPr lang="pt-BR" baseline="-25000" dirty="0"/>
              <a:t> j</a:t>
            </a:r>
            <a:r>
              <a:rPr lang="pt-BR" dirty="0"/>
              <a:t> ≥ 0, j = 1, . . . , n as n variáveis de folga do dual. Então podemos reescrever as condições do TFC como </a:t>
            </a: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r>
              <a:rPr lang="pt-BR" dirty="0"/>
              <a:t>x</a:t>
            </a:r>
            <a:r>
              <a:rPr lang="pt-BR" baseline="-25000" dirty="0"/>
              <a:t> j </a:t>
            </a:r>
            <a:r>
              <a:rPr lang="pt-BR" dirty="0"/>
              <a:t>* w*</a:t>
            </a:r>
            <a:r>
              <a:rPr lang="pt-BR" baseline="-25000" dirty="0" err="1"/>
              <a:t>m+j</a:t>
            </a:r>
            <a:r>
              <a:rPr lang="pt-BR" dirty="0"/>
              <a:t> = 0, j = 1, . . . , n</a:t>
            </a:r>
          </a:p>
          <a:p>
            <a:pPr>
              <a:lnSpc>
                <a:spcPct val="100000"/>
              </a:lnSpc>
            </a:pPr>
            <a:r>
              <a:rPr lang="pt-BR" dirty="0"/>
              <a:t>e</a:t>
            </a:r>
          </a:p>
          <a:p>
            <a:pPr>
              <a:lnSpc>
                <a:spcPct val="100000"/>
              </a:lnSpc>
            </a:pPr>
            <a:r>
              <a:rPr lang="pt-BR" dirty="0" err="1"/>
              <a:t>w</a:t>
            </a:r>
            <a:r>
              <a:rPr lang="pt-BR" baseline="-25000" dirty="0" err="1"/>
              <a:t>i</a:t>
            </a:r>
            <a:r>
              <a:rPr lang="pt-BR" dirty="0"/>
              <a:t>*x*</a:t>
            </a:r>
            <a:r>
              <a:rPr lang="pt-BR" baseline="-25000" dirty="0" err="1"/>
              <a:t>n+i</a:t>
            </a:r>
            <a:r>
              <a:rPr lang="pt-BR" dirty="0"/>
              <a:t> = 0, i = 1, . . . , m.</a:t>
            </a:r>
          </a:p>
        </p:txBody>
      </p:sp>
    </p:spTree>
    <p:extLst>
      <p:ext uri="{BB962C8B-B14F-4D97-AF65-F5344CB8AC3E}">
        <p14:creationId xmlns:p14="http://schemas.microsoft.com/office/powerpoint/2010/main" val="2387190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5B2E-AA11-8EE1-82EC-36B791FB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E99F1F0-D12E-157E-4B92-A9F7257DEB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37C9BB-B1B7-5BBA-D577-CC2CF324A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2D9B49-C340-D499-1AB0-E8EAFFEC8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38859"/>
            <a:ext cx="9389036" cy="4475602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Use o dual para o resolver o PPL primal dado a seguir, aplicando o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Teorema das Folgas Complementares:</a:t>
            </a:r>
          </a:p>
          <a:p>
            <a:pPr>
              <a:lnSpc>
                <a:spcPct val="100000"/>
              </a:lnSpc>
            </a:pPr>
            <a:r>
              <a:rPr lang="pt-BR" dirty="0"/>
              <a:t>P : min 2x</a:t>
            </a:r>
            <a:r>
              <a:rPr lang="pt-BR" baseline="-25000" dirty="0"/>
              <a:t>1</a:t>
            </a:r>
            <a:r>
              <a:rPr lang="pt-BR" dirty="0"/>
              <a:t> + 3x</a:t>
            </a:r>
            <a:r>
              <a:rPr lang="pt-BR" baseline="-25000" dirty="0"/>
              <a:t>2</a:t>
            </a:r>
            <a:r>
              <a:rPr lang="pt-BR" dirty="0"/>
              <a:t> + 5x</a:t>
            </a:r>
            <a:r>
              <a:rPr lang="pt-BR" baseline="-25000" dirty="0"/>
              <a:t>3</a:t>
            </a:r>
            <a:r>
              <a:rPr lang="pt-BR" dirty="0"/>
              <a:t> + 2x</a:t>
            </a:r>
            <a:r>
              <a:rPr lang="pt-BR" baseline="-25000" dirty="0"/>
              <a:t>4</a:t>
            </a:r>
            <a:r>
              <a:rPr lang="pt-BR" dirty="0"/>
              <a:t> + 3x</a:t>
            </a:r>
            <a:r>
              <a:rPr lang="pt-BR" baseline="-25000" dirty="0"/>
              <a:t>5</a:t>
            </a:r>
            <a:endParaRPr lang="pt-BR" dirty="0"/>
          </a:p>
          <a:p>
            <a:pPr>
              <a:lnSpc>
                <a:spcPct val="100000"/>
              </a:lnSpc>
            </a:pPr>
            <a:r>
              <a:rPr lang="pt-BR" dirty="0"/>
              <a:t>sujeito a</a:t>
            </a:r>
          </a:p>
          <a:p>
            <a:pPr>
              <a:lnSpc>
                <a:spcPct val="100000"/>
              </a:lnSpc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x</a:t>
            </a:r>
            <a:r>
              <a:rPr lang="pt-BR" baseline="-25000" dirty="0"/>
              <a:t>2</a:t>
            </a:r>
            <a:r>
              <a:rPr lang="pt-BR" dirty="0"/>
              <a:t> + 2x</a:t>
            </a:r>
            <a:r>
              <a:rPr lang="pt-BR" baseline="-25000" dirty="0"/>
              <a:t>3</a:t>
            </a:r>
            <a:r>
              <a:rPr lang="pt-BR" dirty="0"/>
              <a:t> + x</a:t>
            </a:r>
            <a:r>
              <a:rPr lang="pt-BR" baseline="-25000" dirty="0"/>
              <a:t>4</a:t>
            </a:r>
            <a:r>
              <a:rPr lang="pt-BR" dirty="0"/>
              <a:t> + 3x</a:t>
            </a:r>
            <a:r>
              <a:rPr lang="pt-BR" baseline="-25000" dirty="0"/>
              <a:t>5</a:t>
            </a:r>
            <a:r>
              <a:rPr lang="pt-BR" dirty="0"/>
              <a:t> ≥ 4</a:t>
            </a:r>
          </a:p>
          <a:p>
            <a:pPr>
              <a:lnSpc>
                <a:spcPct val="100000"/>
              </a:lnSpc>
            </a:pPr>
            <a:r>
              <a:rPr lang="pt-BR" dirty="0"/>
              <a:t>2x</a:t>
            </a:r>
            <a:r>
              <a:rPr lang="pt-BR" baseline="-25000" dirty="0"/>
              <a:t>1</a:t>
            </a:r>
            <a:r>
              <a:rPr lang="pt-BR" dirty="0"/>
              <a:t> − 2x</a:t>
            </a:r>
            <a:r>
              <a:rPr lang="pt-BR" baseline="-25000" dirty="0"/>
              <a:t>2</a:t>
            </a:r>
            <a:r>
              <a:rPr lang="pt-BR" dirty="0"/>
              <a:t> + 3x</a:t>
            </a:r>
            <a:r>
              <a:rPr lang="pt-BR" baseline="-25000" dirty="0"/>
              <a:t>3</a:t>
            </a:r>
            <a:r>
              <a:rPr lang="pt-BR" dirty="0"/>
              <a:t>+ x</a:t>
            </a:r>
            <a:r>
              <a:rPr lang="pt-BR" baseline="-25000" dirty="0"/>
              <a:t>4</a:t>
            </a:r>
            <a:r>
              <a:rPr lang="pt-BR" dirty="0"/>
              <a:t> + x</a:t>
            </a:r>
            <a:r>
              <a:rPr lang="pt-BR" baseline="-25000" dirty="0"/>
              <a:t>5</a:t>
            </a:r>
            <a:r>
              <a:rPr lang="pt-BR" dirty="0"/>
              <a:t> ≥ 3</a:t>
            </a:r>
          </a:p>
          <a:p>
            <a:pPr>
              <a:lnSpc>
                <a:spcPct val="100000"/>
              </a:lnSpc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, x</a:t>
            </a:r>
            <a:r>
              <a:rPr lang="pt-BR" baseline="-25000" dirty="0"/>
              <a:t>3</a:t>
            </a:r>
            <a:r>
              <a:rPr lang="pt-BR" dirty="0"/>
              <a:t>, x</a:t>
            </a:r>
            <a:r>
              <a:rPr lang="pt-BR" baseline="-25000" dirty="0"/>
              <a:t>4</a:t>
            </a:r>
            <a:r>
              <a:rPr lang="pt-BR" dirty="0"/>
              <a:t>, x</a:t>
            </a:r>
            <a:r>
              <a:rPr lang="pt-BR" baseline="-25000" dirty="0"/>
              <a:t>5</a:t>
            </a:r>
            <a:r>
              <a:rPr lang="pt-BR" dirty="0"/>
              <a:t> ≥ 0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93511F42-3686-846F-2685-E4E6EB0AA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37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CE4C-4494-D0D1-78E5-42CAF3EE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11178AA-0839-59D7-6B6B-D8B8AEFE69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56413B-69C9-6D6C-BC7B-111345BC9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6596D4-AA33-5558-D3BA-747D7E85F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38859"/>
            <a:ext cx="9389036" cy="4475602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l-PL" dirty="0"/>
              <a:t>O dual desse PPL  ́e</a:t>
            </a:r>
          </a:p>
          <a:p>
            <a:pPr>
              <a:lnSpc>
                <a:spcPct val="100000"/>
              </a:lnSpc>
            </a:pPr>
            <a:r>
              <a:rPr lang="pl-PL" dirty="0"/>
              <a:t>D : max 4w</a:t>
            </a:r>
            <a:r>
              <a:rPr lang="pl-PL" baseline="-25000" dirty="0"/>
              <a:t>1</a:t>
            </a:r>
            <a:r>
              <a:rPr lang="pl-PL" dirty="0"/>
              <a:t> + 3w</a:t>
            </a:r>
            <a:r>
              <a:rPr lang="pt-BR" baseline="-25000" dirty="0"/>
              <a:t>2</a:t>
            </a:r>
            <a:endParaRPr lang="pl-PL" dirty="0"/>
          </a:p>
          <a:p>
            <a:pPr>
              <a:lnSpc>
                <a:spcPct val="100000"/>
              </a:lnSpc>
            </a:pPr>
            <a:r>
              <a:rPr lang="pl-PL" dirty="0"/>
              <a:t>sujeito a</a:t>
            </a:r>
          </a:p>
          <a:p>
            <a:pPr>
              <a:lnSpc>
                <a:spcPct val="100000"/>
              </a:lnSpc>
            </a:pPr>
            <a:r>
              <a:rPr lang="pl-PL" dirty="0"/>
              <a:t>w</a:t>
            </a:r>
            <a:r>
              <a:rPr lang="pl-PL" baseline="-25000" dirty="0"/>
              <a:t>1</a:t>
            </a:r>
            <a:r>
              <a:rPr lang="pl-PL" dirty="0"/>
              <a:t> + 2w</a:t>
            </a:r>
            <a:r>
              <a:rPr lang="pt-BR" baseline="-25000" dirty="0"/>
              <a:t>2</a:t>
            </a:r>
            <a:r>
              <a:rPr lang="pl-PL" dirty="0"/>
              <a:t> ≤ 2</a:t>
            </a:r>
          </a:p>
          <a:p>
            <a:pPr>
              <a:lnSpc>
                <a:spcPct val="100000"/>
              </a:lnSpc>
            </a:pPr>
            <a:r>
              <a:rPr lang="pl-PL" dirty="0"/>
              <a:t>w</a:t>
            </a:r>
            <a:r>
              <a:rPr lang="pl-PL" baseline="-25000" dirty="0"/>
              <a:t>1</a:t>
            </a:r>
            <a:r>
              <a:rPr lang="pl-PL" dirty="0"/>
              <a:t> − 2w</a:t>
            </a:r>
            <a:r>
              <a:rPr lang="pt-BR" baseline="-25000" dirty="0"/>
              <a:t> 2</a:t>
            </a:r>
            <a:r>
              <a:rPr lang="pl-PL" dirty="0"/>
              <a:t> ≤ 3</a:t>
            </a:r>
          </a:p>
          <a:p>
            <a:pPr>
              <a:lnSpc>
                <a:spcPct val="100000"/>
              </a:lnSpc>
            </a:pPr>
            <a:r>
              <a:rPr lang="pl-PL" dirty="0"/>
              <a:t>2w</a:t>
            </a:r>
            <a:r>
              <a:rPr lang="pl-PL" baseline="-25000" dirty="0"/>
              <a:t>1</a:t>
            </a:r>
            <a:r>
              <a:rPr lang="pl-PL" dirty="0"/>
              <a:t> + 3w</a:t>
            </a:r>
            <a:r>
              <a:rPr lang="pt-BR" baseline="-25000" dirty="0"/>
              <a:t> 2</a:t>
            </a:r>
            <a:r>
              <a:rPr lang="pl-PL" dirty="0"/>
              <a:t> ≤ 5</a:t>
            </a:r>
          </a:p>
          <a:p>
            <a:pPr>
              <a:lnSpc>
                <a:spcPct val="100000"/>
              </a:lnSpc>
            </a:pPr>
            <a:r>
              <a:rPr lang="pl-PL" dirty="0"/>
              <a:t>w</a:t>
            </a:r>
            <a:r>
              <a:rPr lang="pl-PL" baseline="-25000" dirty="0"/>
              <a:t>1</a:t>
            </a:r>
            <a:r>
              <a:rPr lang="pl-PL" dirty="0"/>
              <a:t> + w</a:t>
            </a:r>
            <a:r>
              <a:rPr lang="pt-BR" baseline="-25000" dirty="0"/>
              <a:t> 2</a:t>
            </a:r>
            <a:r>
              <a:rPr lang="pl-PL" dirty="0"/>
              <a:t> ≤ 2</a:t>
            </a:r>
          </a:p>
          <a:p>
            <a:pPr>
              <a:lnSpc>
                <a:spcPct val="100000"/>
              </a:lnSpc>
            </a:pPr>
            <a:r>
              <a:rPr lang="pl-PL" dirty="0"/>
              <a:t>3w</a:t>
            </a:r>
            <a:r>
              <a:rPr lang="pl-PL" baseline="-25000" dirty="0"/>
              <a:t>1</a:t>
            </a:r>
            <a:r>
              <a:rPr lang="pl-PL" dirty="0"/>
              <a:t> + w</a:t>
            </a:r>
            <a:r>
              <a:rPr lang="pt-BR" baseline="-25000" dirty="0"/>
              <a:t> 2</a:t>
            </a:r>
            <a:r>
              <a:rPr lang="pl-PL" dirty="0"/>
              <a:t> ≤ 3</a:t>
            </a:r>
          </a:p>
          <a:p>
            <a:pPr>
              <a:lnSpc>
                <a:spcPct val="100000"/>
              </a:lnSpc>
            </a:pPr>
            <a:r>
              <a:rPr lang="pl-PL" dirty="0"/>
              <a:t>w</a:t>
            </a:r>
            <a:r>
              <a:rPr lang="pl-PL" baseline="-25000" dirty="0"/>
              <a:t>1</a:t>
            </a:r>
            <a:r>
              <a:rPr lang="pl-PL" dirty="0"/>
              <a:t>,w</a:t>
            </a:r>
            <a:r>
              <a:rPr lang="pt-BR" baseline="-25000" dirty="0"/>
              <a:t> 2</a:t>
            </a:r>
            <a:r>
              <a:rPr lang="pl-PL" dirty="0"/>
              <a:t> ≥ 0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6693852-1462-1326-0495-0791785A6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35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CE4C-4494-D0D1-78E5-42CAF3EE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11178AA-0839-59D7-6B6B-D8B8AEFE69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56413B-69C9-6D6C-BC7B-111345BC9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539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en-US" sz="6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ea typeface="Hagrid Text Bold"/>
                <a:cs typeface="Aharoni" panose="02010803020104030203" pitchFamily="2" charset="-79"/>
                <a:sym typeface="Hagrid Text Bold"/>
              </a:rPr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6596D4-AA33-5558-D3BA-747D7E85F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82" y="1738859"/>
            <a:ext cx="9389036" cy="4475602"/>
          </a:xfrm>
        </p:spPr>
        <p:txBody>
          <a:bodyPr numCol="1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Resolva esse problema dual pelo método do gráfico e verifique que sua solução ótima é x</a:t>
            </a:r>
            <a:r>
              <a:rPr lang="pt-BR" baseline="-25000" dirty="0"/>
              <a:t>1</a:t>
            </a:r>
            <a:r>
              <a:rPr lang="pt-BR" dirty="0"/>
              <a:t>* = 0,8 e x</a:t>
            </a:r>
            <a:r>
              <a:rPr lang="pt-BR" baseline="-25000" dirty="0"/>
              <a:t>2</a:t>
            </a:r>
            <a:r>
              <a:rPr lang="pt-BR" dirty="0"/>
              <a:t>* = 0,6. Aplique o teorema das folgas complementares para encontrar a solução ótima </a:t>
            </a:r>
            <a:r>
              <a:rPr lang="pt-BR"/>
              <a:t>do primal.</a:t>
            </a:r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6693852-1462-1326-0495-0791785A6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18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1629</Words>
  <Application>Microsoft Macintosh PowerPoint</Application>
  <PresentationFormat>Widescreen</PresentationFormat>
  <Paragraphs>211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Bookman Old Style</vt:lpstr>
      <vt:lpstr>Calibri</vt:lpstr>
      <vt:lpstr>Hagrid Text</vt:lpstr>
      <vt:lpstr>Office Theme</vt:lpstr>
      <vt:lpstr>Pesquisa Operacional I Dualidade</vt:lpstr>
      <vt:lpstr>Dualidade</vt:lpstr>
      <vt:lpstr>Forma Canônica da Dualidade</vt:lpstr>
      <vt:lpstr>Apresentação do PowerPoint</vt:lpstr>
      <vt:lpstr>Observação</vt:lpstr>
      <vt:lpstr>Exemplo</vt:lpstr>
      <vt:lpstr>Exemplo</vt:lpstr>
      <vt:lpstr>Lema: O dual do dual é o primal</vt:lpstr>
      <vt:lpstr>O dual do dual</vt:lpstr>
      <vt:lpstr>O dual do dual</vt:lpstr>
      <vt:lpstr>Tabela de equivalências para construir o dual</vt:lpstr>
      <vt:lpstr>Exemplo</vt:lpstr>
      <vt:lpstr>Exemplo</vt:lpstr>
      <vt:lpstr>Lema: O valor da função objetivo para qualquer solução viável do problema de minimização é sempre maior ou igual ao valor da função objetivo para qualquer solução viável do problema de maximização.</vt:lpstr>
      <vt:lpstr>Corolário</vt:lpstr>
      <vt:lpstr>Teorema Fundamental da Dualidade (TFC)</vt:lpstr>
      <vt:lpstr>Teorema Fundamental da Dualidade (TFC)</vt:lpstr>
      <vt:lpstr>Apresentação do PowerPoint</vt:lpstr>
      <vt:lpstr>Apresentação do PowerPoint</vt:lpstr>
      <vt:lpstr>Apresentação do PowerPoint</vt:lpstr>
      <vt:lpstr>Exemplo</vt:lpstr>
      <vt:lpstr>Exemplo</vt:lpstr>
      <vt:lpstr>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Pesquisa Operacional I Dualidade</dc:title>
  <dc:creator>Ana Carolina Nel</dc:creator>
  <cp:lastModifiedBy>Microsoft Office User</cp:lastModifiedBy>
  <cp:revision>6</cp:revision>
  <dcterms:created xsi:type="dcterms:W3CDTF">2025-11-23T23:02:12Z</dcterms:created>
  <dcterms:modified xsi:type="dcterms:W3CDTF">2026-05-11T20:11:00Z</dcterms:modified>
</cp:coreProperties>
</file>