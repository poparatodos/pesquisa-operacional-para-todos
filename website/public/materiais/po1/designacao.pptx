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 id="271" r:id="rId9"/>
    <p:sldId id="273" r:id="rId10"/>
    <p:sldId id="274" r:id="rId11"/>
    <p:sldId id="275" r:id="rId12"/>
    <p:sldId id="276" r:id="rId13"/>
    <p:sldId id="277" r:id="rId14"/>
    <p:sldId id="278" r:id="rId15"/>
    <p:sldId id="279" r:id="rId16"/>
    <p:sldId id="280" r:id="rId17"/>
    <p:sldId id="281" r:id="rId18"/>
    <p:sldId id="282" r:id="rId1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90"/>
  </p:normalViewPr>
  <p:slideViewPr>
    <p:cSldViewPr snapToGrid="0" snapToObjects="1">
      <p:cViewPr varScale="1">
        <p:scale>
          <a:sx n="118" d="100"/>
          <a:sy n="118" d="100"/>
        </p:scale>
        <p:origin x="3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0997CD-35DE-9B46-B71A-0679B9431EBD}"/>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797DEC2-72D4-6B48-B248-B6B3020ACC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FE26E49B-4C17-3148-8253-F1294592B32B}"/>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5" name="Espaço Reservado para Rodapé 4">
            <a:extLst>
              <a:ext uri="{FF2B5EF4-FFF2-40B4-BE49-F238E27FC236}">
                <a16:creationId xmlns:a16="http://schemas.microsoft.com/office/drawing/2014/main" id="{ACF224C3-4A63-7E43-9D20-02DE157FD28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5FC1159-89BF-0842-8338-4BA0DAC0F80F}"/>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136930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C7182-A0CC-5D4B-94CE-1275D52E47B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CBEBB38-F7B6-3D43-A28D-3035E660087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075130F-A008-7D46-94CE-9688027157F7}"/>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5" name="Espaço Reservado para Rodapé 4">
            <a:extLst>
              <a:ext uri="{FF2B5EF4-FFF2-40B4-BE49-F238E27FC236}">
                <a16:creationId xmlns:a16="http://schemas.microsoft.com/office/drawing/2014/main" id="{C4074BD9-918A-314B-B2FC-62F347D21E9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43D6A22-B217-264D-A25F-BCF79F7E6FE8}"/>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2875560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C339EF-0AFA-094F-85FF-234B7ACB2A86}"/>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C144847C-5D91-A847-ACE7-549332F467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34B19B31-536F-3A4E-8585-37E4E90E65E5}"/>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5" name="Espaço Reservado para Rodapé 4">
            <a:extLst>
              <a:ext uri="{FF2B5EF4-FFF2-40B4-BE49-F238E27FC236}">
                <a16:creationId xmlns:a16="http://schemas.microsoft.com/office/drawing/2014/main" id="{BB93ED85-502E-D44C-B4F8-4815B3E4D34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7E27830-CB0B-8C4D-82C2-F42C2D2342C5}"/>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60390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AD6EED-68A2-BC4E-AC62-D4375DD86DE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701B8CA-7B3B-2F44-9F54-1AE233F8BCD9}"/>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6FFF729B-5955-754B-A968-6A0CBA38F805}"/>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BCDF685E-4505-9E45-930A-7926304A2890}"/>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6" name="Espaço Reservado para Rodapé 5">
            <a:extLst>
              <a:ext uri="{FF2B5EF4-FFF2-40B4-BE49-F238E27FC236}">
                <a16:creationId xmlns:a16="http://schemas.microsoft.com/office/drawing/2014/main" id="{005F5B90-A8D3-894C-8A17-60763362C66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B333594-52EE-9D49-818C-40EAD79D7FC9}"/>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1044550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3CC9B1-E78F-BC48-AC98-C540E5A6A454}"/>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7904C7C5-D718-A046-B213-BFD823F67E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D98F1D9-8C88-5E47-BA92-887E8A58C8D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376C708A-911A-B64F-9C37-BA6E463048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BF19A7F1-0053-9A43-85F4-3B3A4B94C8CE}"/>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FABFBB7E-C5B5-F846-9F61-36C354AC59DB}"/>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8" name="Espaço Reservado para Rodapé 7">
            <a:extLst>
              <a:ext uri="{FF2B5EF4-FFF2-40B4-BE49-F238E27FC236}">
                <a16:creationId xmlns:a16="http://schemas.microsoft.com/office/drawing/2014/main" id="{C413A585-7F30-D343-88E2-430BA585976A}"/>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6654991-5EA5-A248-BDF7-8BDA40A42AD5}"/>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3041891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01EEDC-739A-8C4A-9AFD-E44A9238F976}"/>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CEE93139-DEDB-8E4E-9B8E-7F13515B5C86}"/>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4" name="Espaço Reservado para Rodapé 3">
            <a:extLst>
              <a:ext uri="{FF2B5EF4-FFF2-40B4-BE49-F238E27FC236}">
                <a16:creationId xmlns:a16="http://schemas.microsoft.com/office/drawing/2014/main" id="{6BA40548-1C04-6243-94EC-0C6378F3E76F}"/>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F31EFF9-3039-B542-B94F-980774CFD067}"/>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63401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2BFC0C9-46D1-8D4E-907E-8D5D2970299E}"/>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3" name="Espaço Reservado para Rodapé 2">
            <a:extLst>
              <a:ext uri="{FF2B5EF4-FFF2-40B4-BE49-F238E27FC236}">
                <a16:creationId xmlns:a16="http://schemas.microsoft.com/office/drawing/2014/main" id="{7F4AF988-61A9-F544-B847-BD8DC3696683}"/>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2076023-F51C-B545-B74A-2C970F2CCB99}"/>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1297284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524F96-C7A4-014B-872E-9DC3D6A6DE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AC4C23E5-76BD-754B-89C4-963D5F1948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D7B76143-E14A-D74A-B4EB-C9E5E6966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8B9BDE9-D286-2945-B5CA-CAA187EE9EA1}"/>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6" name="Espaço Reservado para Rodapé 5">
            <a:extLst>
              <a:ext uri="{FF2B5EF4-FFF2-40B4-BE49-F238E27FC236}">
                <a16:creationId xmlns:a16="http://schemas.microsoft.com/office/drawing/2014/main" id="{0495020A-3962-7E4C-AEDE-61651F945F0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49C67DC-BE9E-4743-B485-CD6155384ED2}"/>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334783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C77837-E374-9A40-880B-36524D47D55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4CF5DD66-3E90-7344-BE90-898FFA568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BD77B7E3-AE69-864A-BD83-E3EF9A8E2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E440B3E-836F-254D-9320-FB9E2ACF5A4E}"/>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6" name="Espaço Reservado para Rodapé 5">
            <a:extLst>
              <a:ext uri="{FF2B5EF4-FFF2-40B4-BE49-F238E27FC236}">
                <a16:creationId xmlns:a16="http://schemas.microsoft.com/office/drawing/2014/main" id="{E3FE85B0-7850-6840-86F2-4F011E38509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B9D8402-4CFC-3A4B-953D-80D998176180}"/>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204100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3DAF28-AE9C-0D44-811B-1BF89D730069}"/>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FCBAEF4-0092-AF48-BE85-7BCC41B52E23}"/>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66FB391-BB90-AC45-9F7C-1D9099CFDE3D}"/>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5" name="Espaço Reservado para Rodapé 4">
            <a:extLst>
              <a:ext uri="{FF2B5EF4-FFF2-40B4-BE49-F238E27FC236}">
                <a16:creationId xmlns:a16="http://schemas.microsoft.com/office/drawing/2014/main" id="{FAB418C7-3EA7-7446-8BC9-C46649EF10D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BBF9144-BB1C-5C41-A5CE-FDAF11A85269}"/>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739827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71A56AF-1C43-FC43-A121-A666A8F4D7CE}"/>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8339BB4D-9D11-B440-A13D-08EA26E68B0F}"/>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A44EF8A-4682-7841-8085-8C48E5DCD71F}"/>
              </a:ext>
            </a:extLst>
          </p:cNvPr>
          <p:cNvSpPr>
            <a:spLocks noGrp="1"/>
          </p:cNvSpPr>
          <p:nvPr>
            <p:ph type="dt" sz="half" idx="10"/>
          </p:nvPr>
        </p:nvSpPr>
        <p:spPr/>
        <p:txBody>
          <a:bodyPr/>
          <a:lstStyle/>
          <a:p>
            <a:fld id="{72D0EAAC-C518-4E49-B76D-CE24DBE05F91}" type="datetimeFigureOut">
              <a:rPr lang="pt-BR" smtClean="0"/>
              <a:t>20/08/2020</a:t>
            </a:fld>
            <a:endParaRPr lang="pt-BR"/>
          </a:p>
        </p:txBody>
      </p:sp>
      <p:sp>
        <p:nvSpPr>
          <p:cNvPr id="5" name="Espaço Reservado para Rodapé 4">
            <a:extLst>
              <a:ext uri="{FF2B5EF4-FFF2-40B4-BE49-F238E27FC236}">
                <a16:creationId xmlns:a16="http://schemas.microsoft.com/office/drawing/2014/main" id="{DE2E22CA-F2D9-9644-B79F-3E9482A639B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5B4D057-DE57-0D43-AFA3-2664E6296D85}"/>
              </a:ext>
            </a:extLst>
          </p:cNvPr>
          <p:cNvSpPr>
            <a:spLocks noGrp="1"/>
          </p:cNvSpPr>
          <p:nvPr>
            <p:ph type="sldNum" sz="quarter" idx="12"/>
          </p:nvPr>
        </p:nvSpPr>
        <p:spPr/>
        <p:txBody>
          <a:bodyPr/>
          <a:lstStyle/>
          <a:p>
            <a:fld id="{7EAC74C1-E2D3-CA41-945C-12B0D65FA729}" type="slidenum">
              <a:rPr lang="pt-BR" smtClean="0"/>
              <a:t>‹nº›</a:t>
            </a:fld>
            <a:endParaRPr lang="pt-BR"/>
          </a:p>
        </p:txBody>
      </p:sp>
    </p:spTree>
    <p:extLst>
      <p:ext uri="{BB962C8B-B14F-4D97-AF65-F5344CB8AC3E}">
        <p14:creationId xmlns:p14="http://schemas.microsoft.com/office/powerpoint/2010/main" val="3347183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B240BA5-8547-6F41-926B-EC74A5D276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920AE16-29A5-624A-8F55-F1CC3C9633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1A9400C-3B56-774C-80D9-BDA3AE7021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0EAAC-C518-4E49-B76D-CE24DBE05F91}" type="datetimeFigureOut">
              <a:rPr lang="pt-BR" smtClean="0"/>
              <a:t>20/08/2020</a:t>
            </a:fld>
            <a:endParaRPr lang="pt-BR"/>
          </a:p>
        </p:txBody>
      </p:sp>
      <p:sp>
        <p:nvSpPr>
          <p:cNvPr id="5" name="Espaço Reservado para Rodapé 4">
            <a:extLst>
              <a:ext uri="{FF2B5EF4-FFF2-40B4-BE49-F238E27FC236}">
                <a16:creationId xmlns:a16="http://schemas.microsoft.com/office/drawing/2014/main" id="{E27CE2E1-BD79-9549-8000-985FAC141C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65BFE4F-CB87-2843-BD44-5FB564034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C74C1-E2D3-CA41-945C-12B0D65FA729}" type="slidenum">
              <a:rPr lang="pt-BR" smtClean="0"/>
              <a:t>‹nº›</a:t>
            </a:fld>
            <a:endParaRPr lang="pt-BR"/>
          </a:p>
        </p:txBody>
      </p:sp>
    </p:spTree>
    <p:extLst>
      <p:ext uri="{BB962C8B-B14F-4D97-AF65-F5344CB8AC3E}">
        <p14:creationId xmlns:p14="http://schemas.microsoft.com/office/powerpoint/2010/main" val="387292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87C6D6-BEF5-DC4F-9560-76133AB8455A}"/>
              </a:ext>
            </a:extLst>
          </p:cNvPr>
          <p:cNvSpPr>
            <a:spLocks noGrp="1"/>
          </p:cNvSpPr>
          <p:nvPr>
            <p:ph type="ctrTitle"/>
          </p:nvPr>
        </p:nvSpPr>
        <p:spPr/>
        <p:txBody>
          <a:bodyPr/>
          <a:lstStyle/>
          <a:p>
            <a:r>
              <a:rPr lang="pt-BR" dirty="0"/>
              <a:t>O Problema da Designação </a:t>
            </a:r>
          </a:p>
        </p:txBody>
      </p:sp>
      <p:sp>
        <p:nvSpPr>
          <p:cNvPr id="3" name="Subtítulo 2">
            <a:extLst>
              <a:ext uri="{FF2B5EF4-FFF2-40B4-BE49-F238E27FC236}">
                <a16:creationId xmlns:a16="http://schemas.microsoft.com/office/drawing/2014/main" id="{EF902DBB-FF66-F048-8377-40E1CC21EDB1}"/>
              </a:ext>
            </a:extLst>
          </p:cNvPr>
          <p:cNvSpPr>
            <a:spLocks noGrp="1"/>
          </p:cNvSpPr>
          <p:nvPr>
            <p:ph type="subTitle" idx="1"/>
          </p:nvPr>
        </p:nvSpPr>
        <p:spPr/>
        <p:txBody>
          <a:bodyPr/>
          <a:lstStyle/>
          <a:p>
            <a:endParaRPr lang="pt-BR" dirty="0"/>
          </a:p>
        </p:txBody>
      </p:sp>
    </p:spTree>
    <p:extLst>
      <p:ext uri="{BB962C8B-B14F-4D97-AF65-F5344CB8AC3E}">
        <p14:creationId xmlns:p14="http://schemas.microsoft.com/office/powerpoint/2010/main" val="1990263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491E45-FF90-C845-8C95-40C6E682A7E1}"/>
              </a:ext>
            </a:extLst>
          </p:cNvPr>
          <p:cNvSpPr>
            <a:spLocks noGrp="1"/>
          </p:cNvSpPr>
          <p:nvPr>
            <p:ph type="title"/>
          </p:nvPr>
        </p:nvSpPr>
        <p:spPr/>
        <p:txBody>
          <a:bodyPr/>
          <a:lstStyle/>
          <a:p>
            <a:r>
              <a:rPr lang="pt-BR" dirty="0"/>
              <a:t>O Problema da Designação </a:t>
            </a:r>
          </a:p>
        </p:txBody>
      </p:sp>
      <p:sp>
        <p:nvSpPr>
          <p:cNvPr id="3" name="Espaço Reservado para Conteúdo 2">
            <a:extLst>
              <a:ext uri="{FF2B5EF4-FFF2-40B4-BE49-F238E27FC236}">
                <a16:creationId xmlns:a16="http://schemas.microsoft.com/office/drawing/2014/main" id="{CEACEF81-E780-3E44-90E8-BBB05536AC42}"/>
              </a:ext>
            </a:extLst>
          </p:cNvPr>
          <p:cNvSpPr>
            <a:spLocks noGrp="1"/>
          </p:cNvSpPr>
          <p:nvPr>
            <p:ph idx="1"/>
          </p:nvPr>
        </p:nvSpPr>
        <p:spPr/>
        <p:txBody>
          <a:bodyPr>
            <a:normAutofit fontScale="92500" lnSpcReduction="10000"/>
          </a:bodyPr>
          <a:lstStyle/>
          <a:p>
            <a:r>
              <a:rPr lang="pt-BR" dirty="0"/>
              <a:t>É um PPL no qual os designados estão sendo alocados para a realização de tarefas, e que satisfaz as seguintes hipóteses:</a:t>
            </a:r>
          </a:p>
          <a:p>
            <a:pPr lvl="0"/>
            <a:r>
              <a:rPr lang="pt-BR" dirty="0"/>
              <a:t>1) Existem </a:t>
            </a:r>
            <a:r>
              <a:rPr lang="pt-BR" dirty="0" err="1"/>
              <a:t>n</a:t>
            </a:r>
            <a:r>
              <a:rPr lang="pt-BR" dirty="0"/>
              <a:t> designados e </a:t>
            </a:r>
            <a:r>
              <a:rPr lang="pt-BR" dirty="0" err="1"/>
              <a:t>n</a:t>
            </a:r>
            <a:r>
              <a:rPr lang="pt-BR" dirty="0"/>
              <a:t> tarefas.</a:t>
            </a:r>
          </a:p>
          <a:p>
            <a:pPr lvl="0"/>
            <a:r>
              <a:rPr lang="pt-BR" dirty="0"/>
              <a:t>2) Deve-se atribuir a cada designado exatamente uma tarefa e cada tarefa deve ser realizada exatamente por um designado.</a:t>
            </a:r>
          </a:p>
          <a:p>
            <a:pPr lvl="0"/>
            <a:r>
              <a:rPr lang="pt-BR" dirty="0"/>
              <a:t>3) Há um custo associado ao designado </a:t>
            </a:r>
            <a:r>
              <a:rPr lang="pt-BR" dirty="0" err="1"/>
              <a:t>i</a:t>
            </a:r>
            <a:r>
              <a:rPr lang="pt-BR" dirty="0"/>
              <a:t> executando a tarefa </a:t>
            </a:r>
            <a:r>
              <a:rPr lang="pt-BR" dirty="0" err="1"/>
              <a:t>j</a:t>
            </a:r>
            <a:r>
              <a:rPr lang="pt-BR" dirty="0"/>
              <a:t> e o objetivo é determinar as designações a serem feitas de modo a minimizar o custo total.</a:t>
            </a:r>
          </a:p>
          <a:p>
            <a:r>
              <a:rPr lang="pt-BR" b="1" dirty="0"/>
              <a:t>Observação:</a:t>
            </a:r>
            <a:r>
              <a:rPr lang="pt-BR" dirty="0"/>
              <a:t> caso as hipóteses 1 e 2 não sejam satisfeitas podemos criar designados ou tarefas  “fantasmas” de modo que as mesmas venham a ser satisfeitas, ou divisão de tarefas e designados.</a:t>
            </a:r>
          </a:p>
          <a:p>
            <a:endParaRPr lang="pt-BR" dirty="0"/>
          </a:p>
        </p:txBody>
      </p:sp>
    </p:spTree>
    <p:extLst>
      <p:ext uri="{BB962C8B-B14F-4D97-AF65-F5344CB8AC3E}">
        <p14:creationId xmlns:p14="http://schemas.microsoft.com/office/powerpoint/2010/main" val="1284971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616C2-9764-BA4F-826C-821EEC09F5E5}"/>
              </a:ext>
            </a:extLst>
          </p:cNvPr>
          <p:cNvSpPr>
            <a:spLocks noGrp="1"/>
          </p:cNvSpPr>
          <p:nvPr>
            <p:ph type="title"/>
          </p:nvPr>
        </p:nvSpPr>
        <p:spPr/>
        <p:txBody>
          <a:bodyPr/>
          <a:lstStyle/>
          <a:p>
            <a:r>
              <a:rPr lang="pt-BR" dirty="0"/>
              <a:t>Formulação Matemática</a:t>
            </a:r>
          </a:p>
        </p:txBody>
      </p:sp>
      <mc:AlternateContent xmlns:mc="http://schemas.openxmlformats.org/markup-compatibility/2006" xmlns:a14="http://schemas.microsoft.com/office/drawing/2010/main">
        <mc:Choice Requires="a14">
          <p:sp>
            <p:nvSpPr>
              <p:cNvPr id="4" name="Retângulo 3">
                <a:extLst>
                  <a:ext uri="{FF2B5EF4-FFF2-40B4-BE49-F238E27FC236}">
                    <a16:creationId xmlns:a16="http://schemas.microsoft.com/office/drawing/2014/main" id="{1A898587-8F2C-2A45-ABB7-A0087462A947}"/>
                  </a:ext>
                </a:extLst>
              </p:cNvPr>
              <p:cNvSpPr/>
              <p:nvPr/>
            </p:nvSpPr>
            <p:spPr>
              <a:xfrm>
                <a:off x="2895600" y="1495250"/>
                <a:ext cx="6096000" cy="5362750"/>
              </a:xfrm>
              <a:prstGeom prst="rect">
                <a:avLst/>
              </a:prstGeom>
            </p:spPr>
            <p:txBody>
              <a:bodyPr>
                <a:spAutoFit/>
              </a:bodyPr>
              <a:lstStyle/>
              <a:p>
                <a:pPr algn="just">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ea typeface="Calibri" panose="020F0502020204030204" pitchFamily="34" charset="0"/>
                              <a:cs typeface="Times New Roman" panose="02020603050405020304" pitchFamily="18" charset="0"/>
                            </a:rPr>
                          </m:ctrlPr>
                        </m:sSubPr>
                        <m:e>
                          <m:r>
                            <a:rPr lang="pt-BR" i="1">
                              <a:latin typeface="Cambria Math" panose="02040503050406030204" pitchFamily="18" charset="0"/>
                              <a:ea typeface="Calibri" panose="020F0502020204030204" pitchFamily="34" charset="0"/>
                              <a:cs typeface="Times New Roman" panose="02020603050405020304" pitchFamily="18" charset="0"/>
                            </a:rPr>
                            <m:t>𝑥</m:t>
                          </m:r>
                        </m:e>
                        <m:sub>
                          <m:r>
                            <a:rPr lang="pt-BR" i="1">
                              <a:latin typeface="Cambria Math" panose="02040503050406030204" pitchFamily="18" charset="0"/>
                              <a:ea typeface="Calibri" panose="020F0502020204030204" pitchFamily="34" charset="0"/>
                              <a:cs typeface="Times New Roman" panose="02020603050405020304" pitchFamily="18" charset="0"/>
                            </a:rPr>
                            <m:t>𝑖𝑗</m:t>
                          </m:r>
                        </m:sub>
                      </m:sSub>
                      <m:r>
                        <a:rPr lang="pt-BR"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pt-BR" i="1">
                              <a:latin typeface="Cambria Math" panose="02040503050406030204" pitchFamily="18" charset="0"/>
                              <a:ea typeface="Calibri" panose="020F0502020204030204" pitchFamily="34" charset="0"/>
                              <a:cs typeface="Times New Roman" panose="02020603050405020304" pitchFamily="18" charset="0"/>
                            </a:rPr>
                          </m:ctrlPr>
                        </m:dPr>
                        <m:e>
                          <m:eqArr>
                            <m:eqArrPr>
                              <m:ctrlPr>
                                <a:rPr lang="pt-BR" i="1">
                                  <a:latin typeface="Cambria Math" panose="02040503050406030204" pitchFamily="18" charset="0"/>
                                  <a:ea typeface="Calibri" panose="020F0502020204030204" pitchFamily="34" charset="0"/>
                                  <a:cs typeface="Times New Roman" panose="02020603050405020304" pitchFamily="18" charset="0"/>
                                </a:rPr>
                              </m:ctrlPr>
                            </m:eqArrPr>
                            <m:e>
                              <m:r>
                                <a:rPr lang="pt-BR" i="1">
                                  <a:latin typeface="Cambria Math" panose="02040503050406030204" pitchFamily="18" charset="0"/>
                                  <a:ea typeface="Calibri" panose="020F0502020204030204" pitchFamily="34" charset="0"/>
                                  <a:cs typeface="Times New Roman" panose="02020603050405020304" pitchFamily="18" charset="0"/>
                                </a:rPr>
                                <m:t>1, </m:t>
                              </m:r>
                              <m:r>
                                <a:rPr lang="pt-BR" i="1">
                                  <a:latin typeface="Cambria Math" panose="02040503050406030204" pitchFamily="18" charset="0"/>
                                  <a:ea typeface="Calibri" panose="020F0502020204030204" pitchFamily="34" charset="0"/>
                                  <a:cs typeface="Times New Roman" panose="02020603050405020304" pitchFamily="18" charset="0"/>
                                </a:rPr>
                                <m:t>𝑠𝑒</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𝑜</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𝑑𝑒𝑠𝑖𝑔𝑛𝑎𝑑𝑜</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𝑖</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𝑟𝑒𝑎𝑙𝑖𝑧𝑎</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𝑎</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𝑡𝑎𝑟𝑒𝑓𝑎</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𝑗</m:t>
                              </m:r>
                            </m:e>
                            <m:e>
                              <m:r>
                                <a:rPr lang="pt-BR" i="1">
                                  <a:latin typeface="Cambria Math" panose="02040503050406030204" pitchFamily="18" charset="0"/>
                                  <a:ea typeface="Calibri" panose="020F0502020204030204" pitchFamily="34" charset="0"/>
                                  <a:cs typeface="Times New Roman" panose="02020603050405020304" pitchFamily="18" charset="0"/>
                                </a:rPr>
                                <m:t>0,                                         </m:t>
                              </m:r>
                              <m:r>
                                <a:rPr lang="pt-BR" i="1">
                                  <a:latin typeface="Cambria Math" panose="02040503050406030204" pitchFamily="18" charset="0"/>
                                  <a:ea typeface="Calibri" panose="020F0502020204030204" pitchFamily="34" charset="0"/>
                                  <a:cs typeface="Times New Roman" panose="02020603050405020304" pitchFamily="18" charset="0"/>
                                </a:rPr>
                                <m:t>𝑐𝑎𝑠𝑜</m:t>
                              </m:r>
                              <m:r>
                                <a:rPr lang="pt-BR" i="1">
                                  <a:latin typeface="Cambria Math" panose="02040503050406030204" pitchFamily="18" charset="0"/>
                                  <a:ea typeface="Calibri" panose="020F0502020204030204" pitchFamily="34" charset="0"/>
                                  <a:cs typeface="Times New Roman" panose="02020603050405020304" pitchFamily="18" charset="0"/>
                                </a:rPr>
                                <m:t> </m:t>
                              </m:r>
                              <m:r>
                                <a:rPr lang="pt-BR" i="1">
                                  <a:latin typeface="Cambria Math" panose="02040503050406030204" pitchFamily="18" charset="0"/>
                                  <a:ea typeface="Calibri" panose="020F0502020204030204" pitchFamily="34" charset="0"/>
                                  <a:cs typeface="Times New Roman" panose="02020603050405020304" pitchFamily="18" charset="0"/>
                                </a:rPr>
                                <m:t>𝑐𝑜𝑛𝑡𝑟</m:t>
                              </m:r>
                              <m:r>
                                <a:rPr lang="pt-BR" i="1">
                                  <a:latin typeface="Cambria Math" panose="02040503050406030204" pitchFamily="18" charset="0"/>
                                  <a:ea typeface="Calibri" panose="020F0502020204030204" pitchFamily="34" charset="0"/>
                                  <a:cs typeface="Times New Roman" panose="02020603050405020304" pitchFamily="18" charset="0"/>
                                </a:rPr>
                                <m:t>á</m:t>
                              </m:r>
                              <m:r>
                                <a:rPr lang="pt-BR" i="1">
                                  <a:latin typeface="Cambria Math" panose="02040503050406030204" pitchFamily="18" charset="0"/>
                                  <a:ea typeface="Calibri" panose="020F0502020204030204" pitchFamily="34" charset="0"/>
                                  <a:cs typeface="Times New Roman" panose="02020603050405020304" pitchFamily="18" charset="0"/>
                                </a:rPr>
                                <m:t>𝑟𝑖𝑜</m:t>
                              </m:r>
                            </m:e>
                          </m:eqArr>
                        </m:e>
                      </m:d>
                    </m:oMath>
                  </m:oMathPara>
                </a14:m>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14:m>
                  <m:oMathPara xmlns:m="http://schemas.openxmlformats.org/officeDocument/2006/math">
                    <m:oMathParaPr>
                      <m:jc m:val="centerGroup"/>
                    </m:oMathParaPr>
                    <m:oMath xmlns:m="http://schemas.openxmlformats.org/officeDocument/2006/math">
                      <m:func>
                        <m:funcPr>
                          <m:ctrlPr>
                            <a:rPr lang="pt-BR" i="1">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pt-BR">
                              <a:latin typeface="Cambria Math" panose="02040503050406030204" pitchFamily="18" charset="0"/>
                              <a:ea typeface="Times New Roman" panose="02020603050405020304" pitchFamily="18" charset="0"/>
                              <a:cs typeface="Times New Roman" panose="02020603050405020304" pitchFamily="18" charset="0"/>
                            </a:rPr>
                            <m:t>min</m:t>
                          </m:r>
                        </m:fName>
                        <m:e>
                          <m:r>
                            <a:rPr lang="pt-BR" i="1">
                              <a:latin typeface="Cambria Math" panose="02040503050406030204" pitchFamily="18" charset="0"/>
                              <a:ea typeface="Times New Roman" panose="02020603050405020304" pitchFamily="18" charset="0"/>
                              <a:cs typeface="Times New Roman" panose="02020603050405020304" pitchFamily="18" charset="0"/>
                            </a:rPr>
                            <m:t>𝑧</m:t>
                          </m:r>
                          <m:r>
                            <a:rPr lang="pt-BR" i="1">
                              <a:latin typeface="Cambria Math" panose="02040503050406030204" pitchFamily="18" charset="0"/>
                              <a:ea typeface="Times New Roman" panose="02020603050405020304" pitchFamily="18" charset="0"/>
                              <a:cs typeface="Times New Roman" panose="02020603050405020304" pitchFamily="18" charset="0"/>
                            </a:rPr>
                            <m:t>= </m:t>
                          </m:r>
                          <m:nary>
                            <m:naryPr>
                              <m:chr m:val="∑"/>
                              <m:limLoc m:val="undOvr"/>
                              <m:ctrlPr>
                                <a:rPr lang="pt-BR" i="1">
                                  <a:latin typeface="Cambria Math" panose="02040503050406030204" pitchFamily="18" charset="0"/>
                                  <a:ea typeface="Times New Roman" panose="02020603050405020304" pitchFamily="18" charset="0"/>
                                  <a:cs typeface="Times New Roman" panose="02020603050405020304" pitchFamily="18" charset="0"/>
                                </a:rPr>
                              </m:ctrlPr>
                            </m:naryPr>
                            <m:sub>
                              <m:r>
                                <a:rPr lang="pt-BR" i="1">
                                  <a:latin typeface="Cambria Math" panose="02040503050406030204" pitchFamily="18" charset="0"/>
                                  <a:ea typeface="Times New Roman" panose="02020603050405020304" pitchFamily="18" charset="0"/>
                                  <a:cs typeface="Times New Roman" panose="02020603050405020304" pitchFamily="18" charset="0"/>
                                </a:rPr>
                                <m:t>𝑖</m:t>
                              </m:r>
                              <m:r>
                                <a:rPr lang="pt-BR" i="1">
                                  <a:latin typeface="Cambria Math" panose="02040503050406030204" pitchFamily="18" charset="0"/>
                                  <a:ea typeface="Times New Roman" panose="02020603050405020304" pitchFamily="18" charset="0"/>
                                  <a:cs typeface="Times New Roman" panose="02020603050405020304" pitchFamily="18" charset="0"/>
                                </a:rPr>
                                <m:t>=1</m:t>
                              </m:r>
                            </m:sub>
                            <m:sup>
                              <m:r>
                                <a:rPr lang="pt-BR" i="1">
                                  <a:latin typeface="Cambria Math" panose="02040503050406030204" pitchFamily="18" charset="0"/>
                                  <a:ea typeface="Times New Roman" panose="02020603050405020304" pitchFamily="18" charset="0"/>
                                  <a:cs typeface="Times New Roman" panose="02020603050405020304" pitchFamily="18" charset="0"/>
                                </a:rPr>
                                <m:t>𝑛</m:t>
                              </m:r>
                            </m:sup>
                            <m:e>
                              <m:nary>
                                <m:naryPr>
                                  <m:chr m:val="∑"/>
                                  <m:limLoc m:val="undOvr"/>
                                  <m:ctrlPr>
                                    <a:rPr lang="pt-BR" i="1">
                                      <a:latin typeface="Cambria Math" panose="02040503050406030204" pitchFamily="18" charset="0"/>
                                      <a:ea typeface="Times New Roman" panose="02020603050405020304" pitchFamily="18" charset="0"/>
                                      <a:cs typeface="Times New Roman" panose="02020603050405020304" pitchFamily="18" charset="0"/>
                                    </a:rPr>
                                  </m:ctrlPr>
                                </m:naryPr>
                                <m:sub>
                                  <m:r>
                                    <a:rPr lang="pt-BR" i="1">
                                      <a:latin typeface="Cambria Math" panose="02040503050406030204" pitchFamily="18" charset="0"/>
                                      <a:ea typeface="Times New Roman" panose="02020603050405020304" pitchFamily="18" charset="0"/>
                                      <a:cs typeface="Times New Roman" panose="02020603050405020304" pitchFamily="18" charset="0"/>
                                    </a:rPr>
                                    <m:t>𝑗</m:t>
                                  </m:r>
                                  <m:r>
                                    <a:rPr lang="pt-BR" i="1">
                                      <a:latin typeface="Cambria Math" panose="02040503050406030204" pitchFamily="18" charset="0"/>
                                      <a:ea typeface="Times New Roman" panose="02020603050405020304" pitchFamily="18" charset="0"/>
                                      <a:cs typeface="Times New Roman" panose="02020603050405020304" pitchFamily="18" charset="0"/>
                                    </a:rPr>
                                    <m:t>=1</m:t>
                                  </m:r>
                                </m:sub>
                                <m:sup>
                                  <m:r>
                                    <a:rPr lang="pt-BR" i="1">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pt-BR" i="1">
                                          <a:latin typeface="Cambria Math" panose="02040503050406030204" pitchFamily="18" charset="0"/>
                                          <a:ea typeface="Times New Roman" panose="02020603050405020304" pitchFamily="18" charset="0"/>
                                          <a:cs typeface="Times New Roman" panose="02020603050405020304" pitchFamily="18" charset="0"/>
                                        </a:rPr>
                                      </m:ctrlPr>
                                    </m:sSubPr>
                                    <m:e>
                                      <m:r>
                                        <a:rPr lang="pt-BR" i="1">
                                          <a:latin typeface="Cambria Math" panose="02040503050406030204" pitchFamily="18" charset="0"/>
                                          <a:ea typeface="Times New Roman" panose="02020603050405020304" pitchFamily="18" charset="0"/>
                                          <a:cs typeface="Times New Roman" panose="02020603050405020304" pitchFamily="18" charset="0"/>
                                        </a:rPr>
                                        <m:t>𝑐</m:t>
                                      </m:r>
                                    </m:e>
                                    <m:sub>
                                      <m:r>
                                        <a:rPr lang="pt-BR" i="1">
                                          <a:latin typeface="Cambria Math" panose="02040503050406030204" pitchFamily="18" charset="0"/>
                                          <a:ea typeface="Times New Roman" panose="02020603050405020304" pitchFamily="18" charset="0"/>
                                          <a:cs typeface="Times New Roman" panose="02020603050405020304" pitchFamily="18" charset="0"/>
                                        </a:rPr>
                                        <m:t>𝑖𝑗</m:t>
                                      </m:r>
                                    </m:sub>
                                  </m:sSub>
                                </m:e>
                              </m:nary>
                            </m:e>
                          </m:nary>
                        </m:e>
                      </m:func>
                      <m:sSub>
                        <m:sSubPr>
                          <m:ctrlPr>
                            <a:rPr lang="pt-BR" i="1">
                              <a:latin typeface="Cambria Math" panose="02040503050406030204" pitchFamily="18" charset="0"/>
                              <a:ea typeface="Times New Roman" panose="02020603050405020304" pitchFamily="18" charset="0"/>
                              <a:cs typeface="Times New Roman" panose="02020603050405020304" pitchFamily="18" charset="0"/>
                            </a:rPr>
                          </m:ctrlPr>
                        </m:sSubPr>
                        <m:e>
                          <m:r>
                            <a:rPr lang="pt-BR" i="1">
                              <a:latin typeface="Cambria Math" panose="02040503050406030204" pitchFamily="18" charset="0"/>
                              <a:ea typeface="Times New Roman" panose="02020603050405020304" pitchFamily="18" charset="0"/>
                              <a:cs typeface="Times New Roman" panose="02020603050405020304" pitchFamily="18" charset="0"/>
                            </a:rPr>
                            <m:t>𝑥</m:t>
                          </m:r>
                        </m:e>
                        <m:sub>
                          <m:r>
                            <a:rPr lang="pt-BR" i="1">
                              <a:latin typeface="Cambria Math" panose="02040503050406030204" pitchFamily="18" charset="0"/>
                              <a:ea typeface="Times New Roman" panose="02020603050405020304" pitchFamily="18" charset="0"/>
                              <a:cs typeface="Times New Roman" panose="02020603050405020304" pitchFamily="18" charset="0"/>
                            </a:rPr>
                            <m:t>𝑖𝑗</m:t>
                          </m:r>
                        </m:sub>
                      </m:sSub>
                    </m:oMath>
                  </m:oMathPara>
                </a14:m>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pt-BR" dirty="0">
                    <a:latin typeface="Times New Roman" panose="02020603050405020304" pitchFamily="18" charset="0"/>
                    <a:ea typeface="Times New Roman" panose="02020603050405020304" pitchFamily="18" charset="0"/>
                    <a:cs typeface="Times New Roman" panose="02020603050405020304" pitchFamily="18" charset="0"/>
                  </a:rPr>
                  <a:t>Sujeito a </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14:m>
                  <m:oMathPara xmlns:m="http://schemas.openxmlformats.org/officeDocument/2006/math">
                    <m:oMathParaPr>
                      <m:jc m:val="centerGroup"/>
                    </m:oMathParaPr>
                    <m:oMath xmlns:m="http://schemas.openxmlformats.org/officeDocument/2006/math">
                      <m:nary>
                        <m:naryPr>
                          <m:chr m:val="∑"/>
                          <m:limLoc m:val="undOvr"/>
                          <m:ctrlPr>
                            <a:rPr lang="pt-BR" i="1">
                              <a:latin typeface="Cambria Math" panose="02040503050406030204" pitchFamily="18" charset="0"/>
                              <a:ea typeface="Times New Roman" panose="02020603050405020304" pitchFamily="18" charset="0"/>
                              <a:cs typeface="Times New Roman" panose="02020603050405020304" pitchFamily="18" charset="0"/>
                            </a:rPr>
                          </m:ctrlPr>
                        </m:naryPr>
                        <m:sub>
                          <m:r>
                            <a:rPr lang="pt-BR" i="1">
                              <a:latin typeface="Cambria Math" panose="02040503050406030204" pitchFamily="18" charset="0"/>
                              <a:ea typeface="Times New Roman" panose="02020603050405020304" pitchFamily="18" charset="0"/>
                              <a:cs typeface="Times New Roman" panose="02020603050405020304" pitchFamily="18" charset="0"/>
                            </a:rPr>
                            <m:t>𝑖</m:t>
                          </m:r>
                          <m:r>
                            <a:rPr lang="pt-BR" i="1">
                              <a:latin typeface="Cambria Math" panose="02040503050406030204" pitchFamily="18" charset="0"/>
                              <a:ea typeface="Times New Roman" panose="02020603050405020304" pitchFamily="18" charset="0"/>
                              <a:cs typeface="Times New Roman" panose="02020603050405020304" pitchFamily="18" charset="0"/>
                            </a:rPr>
                            <m:t>=1</m:t>
                          </m:r>
                        </m:sub>
                        <m:sup>
                          <m:r>
                            <a:rPr lang="pt-BR" i="1">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pt-BR" i="1">
                                  <a:latin typeface="Cambria Math" panose="02040503050406030204" pitchFamily="18" charset="0"/>
                                  <a:ea typeface="Times New Roman" panose="02020603050405020304" pitchFamily="18" charset="0"/>
                                  <a:cs typeface="Times New Roman" panose="02020603050405020304" pitchFamily="18" charset="0"/>
                                </a:rPr>
                              </m:ctrlPr>
                            </m:sSubPr>
                            <m:e>
                              <m:r>
                                <a:rPr lang="pt-BR" i="1">
                                  <a:latin typeface="Cambria Math" panose="02040503050406030204" pitchFamily="18" charset="0"/>
                                  <a:ea typeface="Times New Roman" panose="02020603050405020304" pitchFamily="18" charset="0"/>
                                  <a:cs typeface="Times New Roman" panose="02020603050405020304" pitchFamily="18" charset="0"/>
                                </a:rPr>
                                <m:t>𝑥</m:t>
                              </m:r>
                            </m:e>
                            <m:sub>
                              <m:r>
                                <a:rPr lang="pt-BR" i="1">
                                  <a:latin typeface="Cambria Math" panose="02040503050406030204" pitchFamily="18" charset="0"/>
                                  <a:ea typeface="Times New Roman" panose="02020603050405020304" pitchFamily="18" charset="0"/>
                                  <a:cs typeface="Times New Roman" panose="02020603050405020304" pitchFamily="18" charset="0"/>
                                </a:rPr>
                                <m:t>𝑖𝑗</m:t>
                              </m:r>
                            </m:sub>
                          </m:sSub>
                          <m:r>
                            <a:rPr lang="pt-BR" i="1">
                              <a:latin typeface="Cambria Math" panose="02040503050406030204" pitchFamily="18" charset="0"/>
                              <a:ea typeface="Times New Roman" panose="02020603050405020304" pitchFamily="18" charset="0"/>
                              <a:cs typeface="Times New Roman" panose="02020603050405020304" pitchFamily="18" charset="0"/>
                            </a:rPr>
                            <m:t>=1,       </m:t>
                          </m:r>
                          <m:r>
                            <a:rPr lang="pt-BR" i="1">
                              <a:latin typeface="Cambria Math" panose="02040503050406030204" pitchFamily="18" charset="0"/>
                              <a:ea typeface="Times New Roman" panose="02020603050405020304" pitchFamily="18" charset="0"/>
                              <a:cs typeface="Times New Roman" panose="02020603050405020304" pitchFamily="18" charset="0"/>
                            </a:rPr>
                            <m:t>𝑗</m:t>
                          </m:r>
                          <m:r>
                            <a:rPr lang="pt-BR" i="1">
                              <a:latin typeface="Cambria Math" panose="02040503050406030204" pitchFamily="18" charset="0"/>
                              <a:ea typeface="Times New Roman" panose="02020603050405020304" pitchFamily="18" charset="0"/>
                              <a:cs typeface="Times New Roman" panose="02020603050405020304" pitchFamily="18" charset="0"/>
                            </a:rPr>
                            <m:t>=1,…., </m:t>
                          </m:r>
                          <m:r>
                            <a:rPr lang="pt-BR" i="1">
                              <a:latin typeface="Cambria Math" panose="02040503050406030204" pitchFamily="18" charset="0"/>
                              <a:ea typeface="Times New Roman" panose="02020603050405020304" pitchFamily="18" charset="0"/>
                              <a:cs typeface="Times New Roman" panose="02020603050405020304" pitchFamily="18" charset="0"/>
                            </a:rPr>
                            <m:t>𝑛</m:t>
                          </m:r>
                        </m:e>
                      </m:nary>
                    </m:oMath>
                  </m:oMathPara>
                </a14:m>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pt-BR" dirty="0">
                    <a:latin typeface="Times New Roman" panose="02020603050405020304" pitchFamily="18" charset="0"/>
                    <a:ea typeface="Calibri" panose="020F0502020204030204" pitchFamily="34" charset="0"/>
                    <a:cs typeface="Times New Roman" panose="02020603050405020304" pitchFamily="18" charset="0"/>
                  </a:rPr>
                  <a:t> </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14:m>
                  <m:oMathPara xmlns:m="http://schemas.openxmlformats.org/officeDocument/2006/math">
                    <m:oMathParaPr>
                      <m:jc m:val="centerGroup"/>
                    </m:oMathParaPr>
                    <m:oMath xmlns:m="http://schemas.openxmlformats.org/officeDocument/2006/math">
                      <m:nary>
                        <m:naryPr>
                          <m:chr m:val="∑"/>
                          <m:limLoc m:val="undOvr"/>
                          <m:ctrlPr>
                            <a:rPr lang="pt-BR" i="1">
                              <a:latin typeface="Cambria Math" panose="02040503050406030204" pitchFamily="18" charset="0"/>
                              <a:ea typeface="Times New Roman" panose="02020603050405020304" pitchFamily="18" charset="0"/>
                              <a:cs typeface="Times New Roman" panose="02020603050405020304" pitchFamily="18" charset="0"/>
                            </a:rPr>
                          </m:ctrlPr>
                        </m:naryPr>
                        <m:sub>
                          <m:r>
                            <a:rPr lang="pt-BR" i="1">
                              <a:latin typeface="Cambria Math" panose="02040503050406030204" pitchFamily="18" charset="0"/>
                              <a:ea typeface="Times New Roman" panose="02020603050405020304" pitchFamily="18" charset="0"/>
                              <a:cs typeface="Times New Roman" panose="02020603050405020304" pitchFamily="18" charset="0"/>
                            </a:rPr>
                            <m:t>𝑗</m:t>
                          </m:r>
                          <m:r>
                            <a:rPr lang="pt-BR" i="1">
                              <a:latin typeface="Cambria Math" panose="02040503050406030204" pitchFamily="18" charset="0"/>
                              <a:ea typeface="Times New Roman" panose="02020603050405020304" pitchFamily="18" charset="0"/>
                              <a:cs typeface="Times New Roman" panose="02020603050405020304" pitchFamily="18" charset="0"/>
                            </a:rPr>
                            <m:t>=1</m:t>
                          </m:r>
                        </m:sub>
                        <m:sup>
                          <m:r>
                            <a:rPr lang="pt-BR" i="1">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pt-BR" i="1">
                                  <a:latin typeface="Cambria Math" panose="02040503050406030204" pitchFamily="18" charset="0"/>
                                  <a:ea typeface="Times New Roman" panose="02020603050405020304" pitchFamily="18" charset="0"/>
                                  <a:cs typeface="Times New Roman" panose="02020603050405020304" pitchFamily="18" charset="0"/>
                                </a:rPr>
                              </m:ctrlPr>
                            </m:sSubPr>
                            <m:e>
                              <m:r>
                                <a:rPr lang="pt-BR" i="1">
                                  <a:latin typeface="Cambria Math" panose="02040503050406030204" pitchFamily="18" charset="0"/>
                                  <a:ea typeface="Times New Roman" panose="02020603050405020304" pitchFamily="18" charset="0"/>
                                  <a:cs typeface="Times New Roman" panose="02020603050405020304" pitchFamily="18" charset="0"/>
                                </a:rPr>
                                <m:t>𝑥</m:t>
                              </m:r>
                            </m:e>
                            <m:sub>
                              <m:r>
                                <a:rPr lang="pt-BR" i="1">
                                  <a:latin typeface="Cambria Math" panose="02040503050406030204" pitchFamily="18" charset="0"/>
                                  <a:ea typeface="Times New Roman" panose="02020603050405020304" pitchFamily="18" charset="0"/>
                                  <a:cs typeface="Times New Roman" panose="02020603050405020304" pitchFamily="18" charset="0"/>
                                </a:rPr>
                                <m:t>𝑖𝑗</m:t>
                              </m:r>
                            </m:sub>
                          </m:sSub>
                          <m:r>
                            <a:rPr lang="pt-BR" i="1">
                              <a:latin typeface="Cambria Math" panose="02040503050406030204" pitchFamily="18" charset="0"/>
                              <a:ea typeface="Times New Roman" panose="02020603050405020304" pitchFamily="18" charset="0"/>
                              <a:cs typeface="Times New Roman" panose="02020603050405020304" pitchFamily="18" charset="0"/>
                            </a:rPr>
                            <m:t>=1,       </m:t>
                          </m:r>
                          <m:r>
                            <a:rPr lang="pt-BR" i="1">
                              <a:latin typeface="Cambria Math" panose="02040503050406030204" pitchFamily="18" charset="0"/>
                              <a:ea typeface="Times New Roman" panose="02020603050405020304" pitchFamily="18" charset="0"/>
                              <a:cs typeface="Times New Roman" panose="02020603050405020304" pitchFamily="18" charset="0"/>
                            </a:rPr>
                            <m:t>𝑖</m:t>
                          </m:r>
                          <m:r>
                            <a:rPr lang="pt-BR" i="1">
                              <a:latin typeface="Cambria Math" panose="02040503050406030204" pitchFamily="18" charset="0"/>
                              <a:ea typeface="Times New Roman" panose="02020603050405020304" pitchFamily="18" charset="0"/>
                              <a:cs typeface="Times New Roman" panose="02020603050405020304" pitchFamily="18" charset="0"/>
                            </a:rPr>
                            <m:t>=1,…., </m:t>
                          </m:r>
                          <m:r>
                            <a:rPr lang="pt-BR" i="1">
                              <a:latin typeface="Cambria Math" panose="02040503050406030204" pitchFamily="18" charset="0"/>
                              <a:ea typeface="Times New Roman" panose="02020603050405020304" pitchFamily="18" charset="0"/>
                              <a:cs typeface="Times New Roman" panose="02020603050405020304" pitchFamily="18" charset="0"/>
                            </a:rPr>
                            <m:t>𝑛</m:t>
                          </m:r>
                        </m:e>
                      </m:nary>
                    </m:oMath>
                  </m:oMathPara>
                </a14:m>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ea typeface="Times New Roman" panose="02020603050405020304" pitchFamily="18" charset="0"/>
                              <a:cs typeface="Times New Roman" panose="02020603050405020304" pitchFamily="18" charset="0"/>
                            </a:rPr>
                          </m:ctrlPr>
                        </m:sSubPr>
                        <m:e>
                          <m:r>
                            <a:rPr lang="pt-BR" i="1">
                              <a:latin typeface="Cambria Math" panose="02040503050406030204" pitchFamily="18" charset="0"/>
                              <a:ea typeface="Times New Roman" panose="02020603050405020304" pitchFamily="18" charset="0"/>
                              <a:cs typeface="Times New Roman" panose="02020603050405020304" pitchFamily="18" charset="0"/>
                            </a:rPr>
                            <m:t>𝑥</m:t>
                          </m:r>
                        </m:e>
                        <m:sub>
                          <m:r>
                            <a:rPr lang="pt-BR" i="1">
                              <a:latin typeface="Cambria Math" panose="02040503050406030204" pitchFamily="18" charset="0"/>
                              <a:ea typeface="Times New Roman" panose="02020603050405020304" pitchFamily="18" charset="0"/>
                              <a:cs typeface="Times New Roman" panose="02020603050405020304" pitchFamily="18" charset="0"/>
                            </a:rPr>
                            <m:t>𝑖𝑗</m:t>
                          </m:r>
                        </m:sub>
                      </m:sSub>
                      <m:r>
                        <a:rPr lang="pt-BR" i="1">
                          <a:latin typeface="Cambria Math" panose="02040503050406030204" pitchFamily="18" charset="0"/>
                          <a:ea typeface="Times New Roman" panose="02020603050405020304" pitchFamily="18" charset="0"/>
                          <a:cs typeface="Times New Roman" panose="02020603050405020304" pitchFamily="18" charset="0"/>
                        </a:rPr>
                        <m:t>≥0,     ∀</m:t>
                      </m:r>
                      <m:r>
                        <a:rPr lang="pt-BR" i="1">
                          <a:latin typeface="Cambria Math" panose="02040503050406030204" pitchFamily="18" charset="0"/>
                          <a:ea typeface="Times New Roman" panose="02020603050405020304" pitchFamily="18" charset="0"/>
                          <a:cs typeface="Times New Roman" panose="02020603050405020304" pitchFamily="18" charset="0"/>
                        </a:rPr>
                        <m:t>𝑖</m:t>
                      </m:r>
                      <m:r>
                        <a:rPr lang="pt-BR" i="1">
                          <a:latin typeface="Cambria Math" panose="02040503050406030204" pitchFamily="18" charset="0"/>
                          <a:ea typeface="Times New Roman" panose="02020603050405020304" pitchFamily="18" charset="0"/>
                          <a:cs typeface="Times New Roman" panose="02020603050405020304" pitchFamily="18" charset="0"/>
                        </a:rPr>
                        <m:t>,</m:t>
                      </m:r>
                      <m:r>
                        <a:rPr lang="pt-BR" i="1">
                          <a:latin typeface="Cambria Math" panose="02040503050406030204" pitchFamily="18" charset="0"/>
                          <a:ea typeface="Times New Roman" panose="02020603050405020304" pitchFamily="18" charset="0"/>
                          <a:cs typeface="Times New Roman" panose="02020603050405020304" pitchFamily="18" charset="0"/>
                        </a:rPr>
                        <m:t>𝑗</m:t>
                      </m:r>
                    </m:oMath>
                  </m:oMathPara>
                </a14:m>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tângulo 3">
                <a:extLst>
                  <a:ext uri="{FF2B5EF4-FFF2-40B4-BE49-F238E27FC236}">
                    <a16:creationId xmlns:a16="http://schemas.microsoft.com/office/drawing/2014/main" id="{1A898587-8F2C-2A45-ABB7-A0087462A947}"/>
                  </a:ext>
                </a:extLst>
              </p:cNvPr>
              <p:cNvSpPr>
                <a:spLocks noRot="1" noChangeAspect="1" noMove="1" noResize="1" noEditPoints="1" noAdjustHandles="1" noChangeArrowheads="1" noChangeShapeType="1" noTextEdit="1"/>
              </p:cNvSpPr>
              <p:nvPr/>
            </p:nvSpPr>
            <p:spPr>
              <a:xfrm>
                <a:off x="2895600" y="1495250"/>
                <a:ext cx="6096000" cy="5362750"/>
              </a:xfrm>
              <a:prstGeom prst="rect">
                <a:avLst/>
              </a:prstGeom>
              <a:blipFill>
                <a:blip r:embed="rId2"/>
                <a:stretch>
                  <a:fillRect l="-833" t="-23877" b="-12057"/>
                </a:stretch>
              </a:blipFill>
            </p:spPr>
            <p:txBody>
              <a:bodyPr/>
              <a:lstStyle/>
              <a:p>
                <a:r>
                  <a:rPr lang="pt-BR">
                    <a:noFill/>
                  </a:rPr>
                  <a:t> </a:t>
                </a:r>
              </a:p>
            </p:txBody>
          </p:sp>
        </mc:Fallback>
      </mc:AlternateContent>
    </p:spTree>
    <p:extLst>
      <p:ext uri="{BB962C8B-B14F-4D97-AF65-F5344CB8AC3E}">
        <p14:creationId xmlns:p14="http://schemas.microsoft.com/office/powerpoint/2010/main" val="2579353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602FF7-76B9-DF4C-AF20-609AB1987CAD}"/>
              </a:ext>
            </a:extLst>
          </p:cNvPr>
          <p:cNvSpPr>
            <a:spLocks noGrp="1"/>
          </p:cNvSpPr>
          <p:nvPr>
            <p:ph type="title"/>
          </p:nvPr>
        </p:nvSpPr>
        <p:spPr/>
        <p:txBody>
          <a:bodyPr>
            <a:normAutofit fontScale="90000"/>
          </a:bodyPr>
          <a:lstStyle/>
          <a:p>
            <a:r>
              <a:rPr lang="pt-BR" b="1" u="sng" dirty="0"/>
              <a:t>Algoritmo para o PPL da designação (Método húngaro)</a:t>
            </a:r>
            <a:br>
              <a:rPr lang="pt-BR" dirty="0"/>
            </a:br>
            <a:endParaRPr lang="pt-BR" dirty="0"/>
          </a:p>
        </p:txBody>
      </p:sp>
      <p:sp>
        <p:nvSpPr>
          <p:cNvPr id="4" name="Espaço Reservado para Conteúdo 3">
            <a:extLst>
              <a:ext uri="{FF2B5EF4-FFF2-40B4-BE49-F238E27FC236}">
                <a16:creationId xmlns:a16="http://schemas.microsoft.com/office/drawing/2014/main" id="{7D5CEFE9-AC55-3A40-A37B-DAD44C0B1167}"/>
              </a:ext>
            </a:extLst>
          </p:cNvPr>
          <p:cNvSpPr>
            <a:spLocks noGrp="1"/>
          </p:cNvSpPr>
          <p:nvPr>
            <p:ph sz="half" idx="1"/>
          </p:nvPr>
        </p:nvSpPr>
        <p:spPr/>
        <p:txBody>
          <a:bodyPr>
            <a:normAutofit fontScale="62500" lnSpcReduction="20000"/>
          </a:bodyPr>
          <a:lstStyle/>
          <a:p>
            <a:pPr marL="514350" lvl="0" indent="-514350">
              <a:buFont typeface="+mj-lt"/>
              <a:buAutoNum type="arabicPeriod"/>
            </a:pPr>
            <a:r>
              <a:rPr lang="pt-BR" dirty="0"/>
              <a:t>Subtraia o menor número em cada linha de cada um dos números da linha. Introduza os resultados em uma nova tabela.</a:t>
            </a:r>
          </a:p>
          <a:p>
            <a:pPr marL="514350" lvl="0" indent="-514350">
              <a:buFont typeface="+mj-lt"/>
              <a:buAutoNum type="arabicPeriod"/>
            </a:pPr>
            <a:r>
              <a:rPr lang="pt-BR" dirty="0"/>
              <a:t>Subtraia o menor número em cada coluna da nova tabela de cada um dos números da coluna. Introduza os resultados em outra tabela.</a:t>
            </a:r>
          </a:p>
          <a:p>
            <a:pPr marL="514350" lvl="0" indent="-514350">
              <a:buFont typeface="+mj-lt"/>
              <a:buAutoNum type="arabicPeriod"/>
            </a:pPr>
            <a:r>
              <a:rPr lang="pt-BR" dirty="0"/>
              <a:t>Teste se é possível fazer uma designação ótima. Isso é feito determinando-se o nº mínimo de retas (horizontais ou verticais) necessárias para cobrir todos os zeros. Se o nº de retas for igual ao nº de linhas, é possível termos um conjunto de designações ótimo. Nesse caso, vá para o passo 6. Caso contrário, prossiga no passo 4.</a:t>
            </a:r>
          </a:p>
          <a:p>
            <a:pPr marL="514350" lvl="0" indent="-514350">
              <a:buFont typeface="+mj-lt"/>
              <a:buAutoNum type="arabicPeriod"/>
            </a:pPr>
            <a:r>
              <a:rPr lang="pt-BR" dirty="0"/>
              <a:t>Se o nº de retas for menor que o nº de linhas, modifique a tabela da seguinte maneira:</a:t>
            </a:r>
          </a:p>
          <a:p>
            <a:pPr marL="0" indent="0">
              <a:buNone/>
            </a:pPr>
            <a:r>
              <a:rPr lang="pt-BR" dirty="0"/>
              <a:t>A – subtraia o menor nº descoberto de cada um dos números descobertos da tabela.</a:t>
            </a:r>
          </a:p>
        </p:txBody>
      </p:sp>
      <p:sp>
        <p:nvSpPr>
          <p:cNvPr id="5" name="Espaço Reservado para Conteúdo 4">
            <a:extLst>
              <a:ext uri="{FF2B5EF4-FFF2-40B4-BE49-F238E27FC236}">
                <a16:creationId xmlns:a16="http://schemas.microsoft.com/office/drawing/2014/main" id="{3F65D97D-A776-364C-BBB1-0DA334B7FA9A}"/>
              </a:ext>
            </a:extLst>
          </p:cNvPr>
          <p:cNvSpPr>
            <a:spLocks noGrp="1"/>
          </p:cNvSpPr>
          <p:nvPr>
            <p:ph sz="half" idx="2"/>
          </p:nvPr>
        </p:nvSpPr>
        <p:spPr/>
        <p:txBody>
          <a:bodyPr>
            <a:normAutofit fontScale="62500" lnSpcReduction="20000"/>
          </a:bodyPr>
          <a:lstStyle/>
          <a:p>
            <a:pPr marL="0" indent="0">
              <a:buNone/>
            </a:pPr>
            <a:r>
              <a:rPr lang="pt-BR" dirty="0" err="1"/>
              <a:t>B</a:t>
            </a:r>
            <a:r>
              <a:rPr lang="pt-BR" dirty="0"/>
              <a:t> – adicione o menor nº descoberto aos números que se encontram nas interseções de retas.</a:t>
            </a:r>
          </a:p>
          <a:p>
            <a:pPr marL="0" indent="0">
              <a:buNone/>
            </a:pPr>
            <a:r>
              <a:rPr lang="pt-BR" dirty="0"/>
              <a:t>C – números que foram cruzados, mas não se encontram nas interseções de retas são transferidos sem alteração para a próxima tabela.</a:t>
            </a:r>
          </a:p>
          <a:p>
            <a:pPr marL="0" lvl="0" indent="0">
              <a:buNone/>
            </a:pPr>
            <a:r>
              <a:rPr lang="pt-BR" dirty="0"/>
              <a:t>5. Repita os passos 3 e 4 até se tornar possível um conjunto ótimo de designações.</a:t>
            </a:r>
          </a:p>
          <a:p>
            <a:pPr marL="0" lvl="0" indent="0">
              <a:buNone/>
            </a:pPr>
            <a:r>
              <a:rPr lang="pt-BR" dirty="0"/>
              <a:t>6. Faça as designações uma de cada vez nas posições contendo elementos zero. Comece com linhas ou colunas que tenham apenas um zero. Já que cada linha ou coluna precisam receber exatamente uma designação, risque tanto a linha quanto a coluna envolvida após cada designação ter sido feita. A seguir, prossiga nas linhas e colunas que ainda não foram riscadas para selecionar a próxima designação, preferencialmente dada àquela linha ou coluna que contenha apenas um zero que não foi riscado. Continue até todas as linhas e colunas terem exatamente uma designação e, portanto, terem sido cruzadas.</a:t>
            </a:r>
          </a:p>
          <a:p>
            <a:pPr marL="514350" indent="-514350">
              <a:buFont typeface="+mj-lt"/>
              <a:buAutoNum type="arabicPeriod"/>
            </a:pPr>
            <a:endParaRPr lang="pt-BR" dirty="0"/>
          </a:p>
        </p:txBody>
      </p:sp>
    </p:spTree>
    <p:extLst>
      <p:ext uri="{BB962C8B-B14F-4D97-AF65-F5344CB8AC3E}">
        <p14:creationId xmlns:p14="http://schemas.microsoft.com/office/powerpoint/2010/main" val="87603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9BB86A-F5B0-CC4E-A247-7B3B33EF5084}"/>
              </a:ext>
            </a:extLst>
          </p:cNvPr>
          <p:cNvSpPr>
            <a:spLocks noGrp="1"/>
          </p:cNvSpPr>
          <p:nvPr>
            <p:ph type="title"/>
          </p:nvPr>
        </p:nvSpPr>
        <p:spPr/>
        <p:txBody>
          <a:bodyPr/>
          <a:lstStyle/>
          <a:p>
            <a:r>
              <a:rPr lang="pt-BR" b="1" dirty="0"/>
              <a:t>O caso da maximização</a:t>
            </a:r>
            <a:br>
              <a:rPr lang="pt-BR" dirty="0"/>
            </a:br>
            <a:endParaRPr lang="pt-BR" dirty="0"/>
          </a:p>
        </p:txBody>
      </p:sp>
      <p:sp>
        <p:nvSpPr>
          <p:cNvPr id="3" name="Espaço Reservado para Conteúdo 2">
            <a:extLst>
              <a:ext uri="{FF2B5EF4-FFF2-40B4-BE49-F238E27FC236}">
                <a16:creationId xmlns:a16="http://schemas.microsoft.com/office/drawing/2014/main" id="{B4B599DC-8C25-6649-8D57-D16FC9761E43}"/>
              </a:ext>
            </a:extLst>
          </p:cNvPr>
          <p:cNvSpPr>
            <a:spLocks noGrp="1"/>
          </p:cNvSpPr>
          <p:nvPr>
            <p:ph idx="1"/>
          </p:nvPr>
        </p:nvSpPr>
        <p:spPr/>
        <p:txBody>
          <a:bodyPr/>
          <a:lstStyle/>
          <a:p>
            <a:r>
              <a:rPr lang="pt-BR" dirty="0"/>
              <a:t>Caso a tabela de transferência traga retornos que devem ser maximizados, o modelo deve ser substituído por outro de minimização. Isto, pode ser feito multiplicando a função objetivo por -1, ou transformando o quadro num quadro de perdas (complemento em relação a um valor fixo).</a:t>
            </a:r>
          </a:p>
          <a:p>
            <a:endParaRPr lang="pt-BR" dirty="0"/>
          </a:p>
        </p:txBody>
      </p:sp>
    </p:spTree>
    <p:extLst>
      <p:ext uri="{BB962C8B-B14F-4D97-AF65-F5344CB8AC3E}">
        <p14:creationId xmlns:p14="http://schemas.microsoft.com/office/powerpoint/2010/main" val="240973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A224DA-77A9-B548-AD2E-5D88C00CF892}"/>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31B89345-6EC9-3C4B-AF81-CE79F02F0724}"/>
              </a:ext>
            </a:extLst>
          </p:cNvPr>
          <p:cNvSpPr>
            <a:spLocks noGrp="1"/>
          </p:cNvSpPr>
          <p:nvPr>
            <p:ph idx="1"/>
          </p:nvPr>
        </p:nvSpPr>
        <p:spPr/>
        <p:txBody>
          <a:bodyPr/>
          <a:lstStyle/>
          <a:p>
            <a:r>
              <a:rPr lang="pt-BR" dirty="0"/>
              <a:t>O quadro abaixo representa os custos de transporte de uma máquina dos locais de depósito para as fábricas onde deverão ser instaladas. Designe uma máquina para cada fábrica com o menor custo total possível:</a:t>
            </a:r>
          </a:p>
          <a:p>
            <a:endParaRPr lang="pt-BR" dirty="0"/>
          </a:p>
          <a:p>
            <a:endParaRPr lang="pt-BR" dirty="0"/>
          </a:p>
        </p:txBody>
      </p:sp>
      <p:graphicFrame>
        <p:nvGraphicFramePr>
          <p:cNvPr id="10" name="Tabela 9">
            <a:extLst>
              <a:ext uri="{FF2B5EF4-FFF2-40B4-BE49-F238E27FC236}">
                <a16:creationId xmlns:a16="http://schemas.microsoft.com/office/drawing/2014/main" id="{0C65A6E4-CDDF-174E-ADB1-0367415B0D4D}"/>
              </a:ext>
            </a:extLst>
          </p:cNvPr>
          <p:cNvGraphicFramePr>
            <a:graphicFrameLocks noGrp="1"/>
          </p:cNvGraphicFramePr>
          <p:nvPr>
            <p:extLst>
              <p:ext uri="{D42A27DB-BD31-4B8C-83A1-F6EECF244321}">
                <p14:modId xmlns:p14="http://schemas.microsoft.com/office/powerpoint/2010/main" val="4048829632"/>
              </p:ext>
            </p:extLst>
          </p:nvPr>
        </p:nvGraphicFramePr>
        <p:xfrm>
          <a:off x="3657600" y="3525972"/>
          <a:ext cx="4013518" cy="1633855"/>
        </p:xfrm>
        <a:graphic>
          <a:graphicData uri="http://schemas.openxmlformats.org/drawingml/2006/table">
            <a:tbl>
              <a:tblPr firstRow="1" firstCol="1" bandRow="1"/>
              <a:tblGrid>
                <a:gridCol w="737011">
                  <a:extLst>
                    <a:ext uri="{9D8B030D-6E8A-4147-A177-3AD203B41FA5}">
                      <a16:colId xmlns:a16="http://schemas.microsoft.com/office/drawing/2014/main" val="525453660"/>
                    </a:ext>
                  </a:extLst>
                </a:gridCol>
                <a:gridCol w="868881">
                  <a:extLst>
                    <a:ext uri="{9D8B030D-6E8A-4147-A177-3AD203B41FA5}">
                      <a16:colId xmlns:a16="http://schemas.microsoft.com/office/drawing/2014/main" val="1421005752"/>
                    </a:ext>
                  </a:extLst>
                </a:gridCol>
                <a:gridCol w="802542">
                  <a:extLst>
                    <a:ext uri="{9D8B030D-6E8A-4147-A177-3AD203B41FA5}">
                      <a16:colId xmlns:a16="http://schemas.microsoft.com/office/drawing/2014/main" val="779166426"/>
                    </a:ext>
                  </a:extLst>
                </a:gridCol>
                <a:gridCol w="802542">
                  <a:extLst>
                    <a:ext uri="{9D8B030D-6E8A-4147-A177-3AD203B41FA5}">
                      <a16:colId xmlns:a16="http://schemas.microsoft.com/office/drawing/2014/main" val="873741844"/>
                    </a:ext>
                  </a:extLst>
                </a:gridCol>
                <a:gridCol w="802542">
                  <a:extLst>
                    <a:ext uri="{9D8B030D-6E8A-4147-A177-3AD203B41FA5}">
                      <a16:colId xmlns:a16="http://schemas.microsoft.com/office/drawing/2014/main" val="2893133977"/>
                    </a:ext>
                  </a:extLst>
                </a:gridCol>
              </a:tblGrid>
              <a:tr h="326771">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F1</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F2</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F3</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F4</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6273758"/>
                  </a:ext>
                </a:extLst>
              </a:tr>
              <a:tr h="326771">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M1</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5335971"/>
                  </a:ext>
                </a:extLst>
              </a:tr>
              <a:tr h="326771">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M2</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8469317"/>
                  </a:ext>
                </a:extLst>
              </a:tr>
              <a:tr h="326771">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M3</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0885363"/>
                  </a:ext>
                </a:extLst>
              </a:tr>
              <a:tr h="326771">
                <a:tc>
                  <a:txBody>
                    <a:bodyPr/>
                    <a:lstStyle/>
                    <a:p>
                      <a:pPr algn="ctr">
                        <a:lnSpc>
                          <a:spcPct val="115000"/>
                        </a:lnSpc>
                        <a:spcAft>
                          <a:spcPts val="0"/>
                        </a:spcAft>
                      </a:pPr>
                      <a:r>
                        <a:rPr lang="pt-BR" sz="1100" b="1">
                          <a:effectLst/>
                          <a:latin typeface="Calibri" panose="020F0502020204030204" pitchFamily="34" charset="0"/>
                          <a:ea typeface="Calibri" panose="020F0502020204030204" pitchFamily="34" charset="0"/>
                          <a:cs typeface="Times New Roman" panose="02020603050405020304" pitchFamily="18" charset="0"/>
                        </a:rPr>
                        <a:t>M4</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pt-BR" sz="11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2013753"/>
                  </a:ext>
                </a:extLst>
              </a:tr>
            </a:tbl>
          </a:graphicData>
        </a:graphic>
      </p:graphicFrame>
    </p:spTree>
    <p:extLst>
      <p:ext uri="{BB962C8B-B14F-4D97-AF65-F5344CB8AC3E}">
        <p14:creationId xmlns:p14="http://schemas.microsoft.com/office/powerpoint/2010/main" val="2856534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extLst>
              <p:ext uri="{D42A27DB-BD31-4B8C-83A1-F6EECF244321}">
                <p14:modId xmlns:p14="http://schemas.microsoft.com/office/powerpoint/2010/main" val="3466086827"/>
              </p:ext>
            </p:extLst>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2665639" y="332539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Tree>
    <p:extLst>
      <p:ext uri="{BB962C8B-B14F-4D97-AF65-F5344CB8AC3E}">
        <p14:creationId xmlns:p14="http://schemas.microsoft.com/office/powerpoint/2010/main" val="2782954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Tree>
    <p:extLst>
      <p:ext uri="{BB962C8B-B14F-4D97-AF65-F5344CB8AC3E}">
        <p14:creationId xmlns:p14="http://schemas.microsoft.com/office/powerpoint/2010/main" val="2741603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spTree>
    <p:extLst>
      <p:ext uri="{BB962C8B-B14F-4D97-AF65-F5344CB8AC3E}">
        <p14:creationId xmlns:p14="http://schemas.microsoft.com/office/powerpoint/2010/main" val="2616023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extLst>
              <p:ext uri="{D42A27DB-BD31-4B8C-83A1-F6EECF244321}">
                <p14:modId xmlns:p14="http://schemas.microsoft.com/office/powerpoint/2010/main" val="317161223"/>
              </p:ext>
            </p:extLst>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651982"/>
                  </a:ext>
                </a:extLst>
              </a:tr>
            </a:tbl>
          </a:graphicData>
        </a:graphic>
      </p:graphicFrame>
    </p:spTree>
    <p:extLst>
      <p:ext uri="{BB962C8B-B14F-4D97-AF65-F5344CB8AC3E}">
        <p14:creationId xmlns:p14="http://schemas.microsoft.com/office/powerpoint/2010/main" val="351938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extLst>
              <p:ext uri="{D42A27DB-BD31-4B8C-83A1-F6EECF244321}">
                <p14:modId xmlns:p14="http://schemas.microsoft.com/office/powerpoint/2010/main" val="3034017987"/>
              </p:ext>
            </p:extLst>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spTree>
    <p:extLst>
      <p:ext uri="{BB962C8B-B14F-4D97-AF65-F5344CB8AC3E}">
        <p14:creationId xmlns:p14="http://schemas.microsoft.com/office/powerpoint/2010/main" val="267805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spTree>
    <p:extLst>
      <p:ext uri="{BB962C8B-B14F-4D97-AF65-F5344CB8AC3E}">
        <p14:creationId xmlns:p14="http://schemas.microsoft.com/office/powerpoint/2010/main" val="204610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graphicFrame>
        <p:nvGraphicFramePr>
          <p:cNvPr id="12" name="Tabela 11">
            <a:extLst>
              <a:ext uri="{FF2B5EF4-FFF2-40B4-BE49-F238E27FC236}">
                <a16:creationId xmlns:a16="http://schemas.microsoft.com/office/drawing/2014/main" id="{CFDE37BA-EEB6-5444-9BB6-4E7C01388BBB}"/>
              </a:ext>
            </a:extLst>
          </p:cNvPr>
          <p:cNvGraphicFramePr>
            <a:graphicFrameLocks noGrp="1"/>
          </p:cNvGraphicFramePr>
          <p:nvPr>
            <p:extLst>
              <p:ext uri="{D42A27DB-BD31-4B8C-83A1-F6EECF244321}">
                <p14:modId xmlns:p14="http://schemas.microsoft.com/office/powerpoint/2010/main" val="2711295262"/>
              </p:ext>
            </p:extLst>
          </p:nvPr>
        </p:nvGraphicFramePr>
        <p:xfrm>
          <a:off x="4419599" y="5064770"/>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407161087"/>
                    </a:ext>
                  </a:extLst>
                </a:gridCol>
                <a:gridCol w="800232">
                  <a:extLst>
                    <a:ext uri="{9D8B030D-6E8A-4147-A177-3AD203B41FA5}">
                      <a16:colId xmlns:a16="http://schemas.microsoft.com/office/drawing/2014/main" val="1430353281"/>
                    </a:ext>
                  </a:extLst>
                </a:gridCol>
                <a:gridCol w="800232">
                  <a:extLst>
                    <a:ext uri="{9D8B030D-6E8A-4147-A177-3AD203B41FA5}">
                      <a16:colId xmlns:a16="http://schemas.microsoft.com/office/drawing/2014/main" val="2598567276"/>
                    </a:ext>
                  </a:extLst>
                </a:gridCol>
                <a:gridCol w="800232">
                  <a:extLst>
                    <a:ext uri="{9D8B030D-6E8A-4147-A177-3AD203B41FA5}">
                      <a16:colId xmlns:a16="http://schemas.microsoft.com/office/drawing/2014/main" val="2057488373"/>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2811317"/>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0079745"/>
                  </a:ext>
                </a:extLst>
              </a:tr>
              <a:tr h="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7172783"/>
                  </a:ext>
                </a:extLst>
              </a:tr>
              <a:tr h="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639491"/>
                  </a:ext>
                </a:extLst>
              </a:tr>
            </a:tbl>
          </a:graphicData>
        </a:graphic>
      </p:graphicFrame>
    </p:spTree>
    <p:extLst>
      <p:ext uri="{BB962C8B-B14F-4D97-AF65-F5344CB8AC3E}">
        <p14:creationId xmlns:p14="http://schemas.microsoft.com/office/powerpoint/2010/main" val="2010113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graphicFrame>
        <p:nvGraphicFramePr>
          <p:cNvPr id="12" name="Tabela 11">
            <a:extLst>
              <a:ext uri="{FF2B5EF4-FFF2-40B4-BE49-F238E27FC236}">
                <a16:creationId xmlns:a16="http://schemas.microsoft.com/office/drawing/2014/main" id="{CFDE37BA-EEB6-5444-9BB6-4E7C01388BBB}"/>
              </a:ext>
            </a:extLst>
          </p:cNvPr>
          <p:cNvGraphicFramePr>
            <a:graphicFrameLocks noGrp="1"/>
          </p:cNvGraphicFramePr>
          <p:nvPr>
            <p:extLst>
              <p:ext uri="{D42A27DB-BD31-4B8C-83A1-F6EECF244321}">
                <p14:modId xmlns:p14="http://schemas.microsoft.com/office/powerpoint/2010/main" val="3403664141"/>
              </p:ext>
            </p:extLst>
          </p:nvPr>
        </p:nvGraphicFramePr>
        <p:xfrm>
          <a:off x="4419599" y="5064770"/>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407161087"/>
                    </a:ext>
                  </a:extLst>
                </a:gridCol>
                <a:gridCol w="800232">
                  <a:extLst>
                    <a:ext uri="{9D8B030D-6E8A-4147-A177-3AD203B41FA5}">
                      <a16:colId xmlns:a16="http://schemas.microsoft.com/office/drawing/2014/main" val="1430353281"/>
                    </a:ext>
                  </a:extLst>
                </a:gridCol>
                <a:gridCol w="800232">
                  <a:extLst>
                    <a:ext uri="{9D8B030D-6E8A-4147-A177-3AD203B41FA5}">
                      <a16:colId xmlns:a16="http://schemas.microsoft.com/office/drawing/2014/main" val="2598567276"/>
                    </a:ext>
                  </a:extLst>
                </a:gridCol>
                <a:gridCol w="800232">
                  <a:extLst>
                    <a:ext uri="{9D8B030D-6E8A-4147-A177-3AD203B41FA5}">
                      <a16:colId xmlns:a16="http://schemas.microsoft.com/office/drawing/2014/main" val="2057488373"/>
                    </a:ext>
                  </a:extLst>
                </a:gridCol>
              </a:tblGrid>
              <a:tr h="0">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811317"/>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0079745"/>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7172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639491"/>
                  </a:ext>
                </a:extLst>
              </a:tr>
            </a:tbl>
          </a:graphicData>
        </a:graphic>
      </p:graphicFrame>
    </p:spTree>
    <p:extLst>
      <p:ext uri="{BB962C8B-B14F-4D97-AF65-F5344CB8AC3E}">
        <p14:creationId xmlns:p14="http://schemas.microsoft.com/office/powerpoint/2010/main" val="1877890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graphicFrame>
        <p:nvGraphicFramePr>
          <p:cNvPr id="12" name="Tabela 11">
            <a:extLst>
              <a:ext uri="{FF2B5EF4-FFF2-40B4-BE49-F238E27FC236}">
                <a16:creationId xmlns:a16="http://schemas.microsoft.com/office/drawing/2014/main" id="{CFDE37BA-EEB6-5444-9BB6-4E7C01388BBB}"/>
              </a:ext>
            </a:extLst>
          </p:cNvPr>
          <p:cNvGraphicFramePr>
            <a:graphicFrameLocks noGrp="1"/>
          </p:cNvGraphicFramePr>
          <p:nvPr>
            <p:extLst>
              <p:ext uri="{D42A27DB-BD31-4B8C-83A1-F6EECF244321}">
                <p14:modId xmlns:p14="http://schemas.microsoft.com/office/powerpoint/2010/main" val="2550582304"/>
              </p:ext>
            </p:extLst>
          </p:nvPr>
        </p:nvGraphicFramePr>
        <p:xfrm>
          <a:off x="4419599" y="5064770"/>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407161087"/>
                    </a:ext>
                  </a:extLst>
                </a:gridCol>
                <a:gridCol w="800232">
                  <a:extLst>
                    <a:ext uri="{9D8B030D-6E8A-4147-A177-3AD203B41FA5}">
                      <a16:colId xmlns:a16="http://schemas.microsoft.com/office/drawing/2014/main" val="1430353281"/>
                    </a:ext>
                  </a:extLst>
                </a:gridCol>
                <a:gridCol w="800232">
                  <a:extLst>
                    <a:ext uri="{9D8B030D-6E8A-4147-A177-3AD203B41FA5}">
                      <a16:colId xmlns:a16="http://schemas.microsoft.com/office/drawing/2014/main" val="2598567276"/>
                    </a:ext>
                  </a:extLst>
                </a:gridCol>
                <a:gridCol w="800232">
                  <a:extLst>
                    <a:ext uri="{9D8B030D-6E8A-4147-A177-3AD203B41FA5}">
                      <a16:colId xmlns:a16="http://schemas.microsoft.com/office/drawing/2014/main" val="2057488373"/>
                    </a:ext>
                  </a:extLst>
                </a:gridCol>
              </a:tblGrid>
              <a:tr h="0">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811317"/>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40079745"/>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47172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14639491"/>
                  </a:ext>
                </a:extLst>
              </a:tr>
            </a:tbl>
          </a:graphicData>
        </a:graphic>
      </p:graphicFrame>
    </p:spTree>
    <p:extLst>
      <p:ext uri="{BB962C8B-B14F-4D97-AF65-F5344CB8AC3E}">
        <p14:creationId xmlns:p14="http://schemas.microsoft.com/office/powerpoint/2010/main" val="2685194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graphicFrame>
        <p:nvGraphicFramePr>
          <p:cNvPr id="12" name="Tabela 11">
            <a:extLst>
              <a:ext uri="{FF2B5EF4-FFF2-40B4-BE49-F238E27FC236}">
                <a16:creationId xmlns:a16="http://schemas.microsoft.com/office/drawing/2014/main" id="{CFDE37BA-EEB6-5444-9BB6-4E7C01388BBB}"/>
              </a:ext>
            </a:extLst>
          </p:cNvPr>
          <p:cNvGraphicFramePr>
            <a:graphicFrameLocks noGrp="1"/>
          </p:cNvGraphicFramePr>
          <p:nvPr>
            <p:extLst>
              <p:ext uri="{D42A27DB-BD31-4B8C-83A1-F6EECF244321}">
                <p14:modId xmlns:p14="http://schemas.microsoft.com/office/powerpoint/2010/main" val="797439080"/>
              </p:ext>
            </p:extLst>
          </p:nvPr>
        </p:nvGraphicFramePr>
        <p:xfrm>
          <a:off x="4419599" y="5064770"/>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407161087"/>
                    </a:ext>
                  </a:extLst>
                </a:gridCol>
                <a:gridCol w="800232">
                  <a:extLst>
                    <a:ext uri="{9D8B030D-6E8A-4147-A177-3AD203B41FA5}">
                      <a16:colId xmlns:a16="http://schemas.microsoft.com/office/drawing/2014/main" val="1430353281"/>
                    </a:ext>
                  </a:extLst>
                </a:gridCol>
                <a:gridCol w="800232">
                  <a:extLst>
                    <a:ext uri="{9D8B030D-6E8A-4147-A177-3AD203B41FA5}">
                      <a16:colId xmlns:a16="http://schemas.microsoft.com/office/drawing/2014/main" val="2598567276"/>
                    </a:ext>
                  </a:extLst>
                </a:gridCol>
                <a:gridCol w="800232">
                  <a:extLst>
                    <a:ext uri="{9D8B030D-6E8A-4147-A177-3AD203B41FA5}">
                      <a16:colId xmlns:a16="http://schemas.microsoft.com/office/drawing/2014/main" val="2057488373"/>
                    </a:ext>
                  </a:extLst>
                </a:gridCol>
              </a:tblGrid>
              <a:tr h="185054">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811317"/>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40079745"/>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47172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14639491"/>
                  </a:ext>
                </a:extLst>
              </a:tr>
            </a:tbl>
          </a:graphicData>
        </a:graphic>
      </p:graphicFrame>
    </p:spTree>
    <p:extLst>
      <p:ext uri="{BB962C8B-B14F-4D97-AF65-F5344CB8AC3E}">
        <p14:creationId xmlns:p14="http://schemas.microsoft.com/office/powerpoint/2010/main" val="1563590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graphicFrame>
        <p:nvGraphicFramePr>
          <p:cNvPr id="12" name="Tabela 11">
            <a:extLst>
              <a:ext uri="{FF2B5EF4-FFF2-40B4-BE49-F238E27FC236}">
                <a16:creationId xmlns:a16="http://schemas.microsoft.com/office/drawing/2014/main" id="{CFDE37BA-EEB6-5444-9BB6-4E7C01388BBB}"/>
              </a:ext>
            </a:extLst>
          </p:cNvPr>
          <p:cNvGraphicFramePr>
            <a:graphicFrameLocks noGrp="1"/>
          </p:cNvGraphicFramePr>
          <p:nvPr>
            <p:extLst>
              <p:ext uri="{D42A27DB-BD31-4B8C-83A1-F6EECF244321}">
                <p14:modId xmlns:p14="http://schemas.microsoft.com/office/powerpoint/2010/main" val="2610680139"/>
              </p:ext>
            </p:extLst>
          </p:nvPr>
        </p:nvGraphicFramePr>
        <p:xfrm>
          <a:off x="4419599" y="5064770"/>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407161087"/>
                    </a:ext>
                  </a:extLst>
                </a:gridCol>
                <a:gridCol w="800232">
                  <a:extLst>
                    <a:ext uri="{9D8B030D-6E8A-4147-A177-3AD203B41FA5}">
                      <a16:colId xmlns:a16="http://schemas.microsoft.com/office/drawing/2014/main" val="1430353281"/>
                    </a:ext>
                  </a:extLst>
                </a:gridCol>
                <a:gridCol w="800232">
                  <a:extLst>
                    <a:ext uri="{9D8B030D-6E8A-4147-A177-3AD203B41FA5}">
                      <a16:colId xmlns:a16="http://schemas.microsoft.com/office/drawing/2014/main" val="2598567276"/>
                    </a:ext>
                  </a:extLst>
                </a:gridCol>
                <a:gridCol w="800232">
                  <a:extLst>
                    <a:ext uri="{9D8B030D-6E8A-4147-A177-3AD203B41FA5}">
                      <a16:colId xmlns:a16="http://schemas.microsoft.com/office/drawing/2014/main" val="2057488373"/>
                    </a:ext>
                  </a:extLst>
                </a:gridCol>
              </a:tblGrid>
              <a:tr h="185054">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811317"/>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40079745"/>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47172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14639491"/>
                  </a:ext>
                </a:extLst>
              </a:tr>
            </a:tbl>
          </a:graphicData>
        </a:graphic>
      </p:graphicFrame>
    </p:spTree>
    <p:extLst>
      <p:ext uri="{BB962C8B-B14F-4D97-AF65-F5344CB8AC3E}">
        <p14:creationId xmlns:p14="http://schemas.microsoft.com/office/powerpoint/2010/main" val="3548924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57CFBB5B-B876-A945-84AC-F034C565BC05}"/>
              </a:ext>
            </a:extLst>
          </p:cNvPr>
          <p:cNvSpPr>
            <a:spLocks noChangeArrowheads="1"/>
          </p:cNvSpPr>
          <p:nvPr/>
        </p:nvSpPr>
        <p:spPr bwMode="auto">
          <a:xfrm>
            <a:off x="4668610" y="50319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graphicFrame>
        <p:nvGraphicFramePr>
          <p:cNvPr id="9" name="Tabela 8">
            <a:extLst>
              <a:ext uri="{FF2B5EF4-FFF2-40B4-BE49-F238E27FC236}">
                <a16:creationId xmlns:a16="http://schemas.microsoft.com/office/drawing/2014/main" id="{3F8AE114-A6FC-7646-A751-AC67511EF4FC}"/>
              </a:ext>
            </a:extLst>
          </p:cNvPr>
          <p:cNvGraphicFramePr>
            <a:graphicFrameLocks noGrp="1"/>
          </p:cNvGraphicFramePr>
          <p:nvPr/>
        </p:nvGraphicFramePr>
        <p:xfrm>
          <a:off x="4419600" y="414598"/>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329542402"/>
                    </a:ext>
                  </a:extLst>
                </a:gridCol>
                <a:gridCol w="800232">
                  <a:extLst>
                    <a:ext uri="{9D8B030D-6E8A-4147-A177-3AD203B41FA5}">
                      <a16:colId xmlns:a16="http://schemas.microsoft.com/office/drawing/2014/main" val="4087018418"/>
                    </a:ext>
                  </a:extLst>
                </a:gridCol>
                <a:gridCol w="800232">
                  <a:extLst>
                    <a:ext uri="{9D8B030D-6E8A-4147-A177-3AD203B41FA5}">
                      <a16:colId xmlns:a16="http://schemas.microsoft.com/office/drawing/2014/main" val="1911114015"/>
                    </a:ext>
                  </a:extLst>
                </a:gridCol>
                <a:gridCol w="800232">
                  <a:extLst>
                    <a:ext uri="{9D8B030D-6E8A-4147-A177-3AD203B41FA5}">
                      <a16:colId xmlns:a16="http://schemas.microsoft.com/office/drawing/2014/main" val="156106092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341336"/>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842589"/>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768637"/>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450989"/>
                  </a:ext>
                </a:extLst>
              </a:tr>
            </a:tbl>
          </a:graphicData>
        </a:graphic>
      </p:graphicFrame>
      <p:graphicFrame>
        <p:nvGraphicFramePr>
          <p:cNvPr id="10" name="Tabela 9">
            <a:extLst>
              <a:ext uri="{FF2B5EF4-FFF2-40B4-BE49-F238E27FC236}">
                <a16:creationId xmlns:a16="http://schemas.microsoft.com/office/drawing/2014/main" id="{E72366E8-E389-654C-A4DA-77D6A0A6FD43}"/>
              </a:ext>
            </a:extLst>
          </p:cNvPr>
          <p:cNvGraphicFramePr>
            <a:graphicFrameLocks noGrp="1"/>
          </p:cNvGraphicFramePr>
          <p:nvPr/>
        </p:nvGraphicFramePr>
        <p:xfrm>
          <a:off x="4419599" y="1826077"/>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2130608509"/>
                    </a:ext>
                  </a:extLst>
                </a:gridCol>
                <a:gridCol w="800232">
                  <a:extLst>
                    <a:ext uri="{9D8B030D-6E8A-4147-A177-3AD203B41FA5}">
                      <a16:colId xmlns:a16="http://schemas.microsoft.com/office/drawing/2014/main" val="128595847"/>
                    </a:ext>
                  </a:extLst>
                </a:gridCol>
                <a:gridCol w="800232">
                  <a:extLst>
                    <a:ext uri="{9D8B030D-6E8A-4147-A177-3AD203B41FA5}">
                      <a16:colId xmlns:a16="http://schemas.microsoft.com/office/drawing/2014/main" val="3025028738"/>
                    </a:ext>
                  </a:extLst>
                </a:gridCol>
                <a:gridCol w="800232">
                  <a:extLst>
                    <a:ext uri="{9D8B030D-6E8A-4147-A177-3AD203B41FA5}">
                      <a16:colId xmlns:a16="http://schemas.microsoft.com/office/drawing/2014/main" val="1082261377"/>
                    </a:ext>
                  </a:extLst>
                </a:gridCol>
              </a:tblGrid>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070923"/>
                  </a:ext>
                </a:extLst>
              </a:tr>
              <a:tr h="23857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522038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27993"/>
                  </a:ext>
                </a:extLst>
              </a:tr>
              <a:tr h="238570">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9154922"/>
                  </a:ext>
                </a:extLst>
              </a:tr>
            </a:tbl>
          </a:graphicData>
        </a:graphic>
      </p:graphicFrame>
      <p:sp>
        <p:nvSpPr>
          <p:cNvPr id="13" name="Rectangle 2">
            <a:extLst>
              <a:ext uri="{FF2B5EF4-FFF2-40B4-BE49-F238E27FC236}">
                <a16:creationId xmlns:a16="http://schemas.microsoft.com/office/drawing/2014/main" id="{2C2AE389-50F0-8649-82C1-C408AC8FB562}"/>
              </a:ext>
            </a:extLst>
          </p:cNvPr>
          <p:cNvSpPr>
            <a:spLocks noChangeArrowheads="1"/>
          </p:cNvSpPr>
          <p:nvPr/>
        </p:nvSpPr>
        <p:spPr bwMode="auto">
          <a:xfrm>
            <a:off x="5016953" y="52605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4" name="CaixaDeTexto 13">
            <a:extLst>
              <a:ext uri="{FF2B5EF4-FFF2-40B4-BE49-F238E27FC236}">
                <a16:creationId xmlns:a16="http://schemas.microsoft.com/office/drawing/2014/main" id="{DF2F28CD-5DE8-1D42-9DB9-D41F42D58EE6}"/>
              </a:ext>
            </a:extLst>
          </p:cNvPr>
          <p:cNvSpPr txBox="1"/>
          <p:nvPr/>
        </p:nvSpPr>
        <p:spPr>
          <a:xfrm>
            <a:off x="7826829" y="217716"/>
            <a:ext cx="2286000" cy="1246495"/>
          </a:xfrm>
          <a:prstGeom prst="rect">
            <a:avLst/>
          </a:prstGeom>
          <a:noFill/>
        </p:spPr>
        <p:txBody>
          <a:bodyPr wrap="square" rtlCol="0">
            <a:spAutoFit/>
          </a:bodyPr>
          <a:lstStyle/>
          <a:p>
            <a:r>
              <a:rPr lang="pt-BR" sz="1500" dirty="0"/>
              <a:t>Mínimo da linha</a:t>
            </a:r>
          </a:p>
          <a:p>
            <a:r>
              <a:rPr lang="pt-BR" sz="1500" dirty="0"/>
              <a:t>10</a:t>
            </a:r>
          </a:p>
          <a:p>
            <a:r>
              <a:rPr lang="pt-BR" sz="1500" dirty="0"/>
              <a:t>12</a:t>
            </a:r>
          </a:p>
          <a:p>
            <a:r>
              <a:rPr lang="pt-BR" sz="1500" dirty="0"/>
              <a:t>10</a:t>
            </a:r>
          </a:p>
          <a:p>
            <a:r>
              <a:rPr lang="pt-BR" sz="1500" dirty="0"/>
              <a:t>12</a:t>
            </a:r>
          </a:p>
        </p:txBody>
      </p:sp>
      <p:sp>
        <p:nvSpPr>
          <p:cNvPr id="2" name="CaixaDeTexto 1">
            <a:extLst>
              <a:ext uri="{FF2B5EF4-FFF2-40B4-BE49-F238E27FC236}">
                <a16:creationId xmlns:a16="http://schemas.microsoft.com/office/drawing/2014/main" id="{A20963F8-70A8-9D4C-A646-4C9EA9162072}"/>
              </a:ext>
            </a:extLst>
          </p:cNvPr>
          <p:cNvSpPr txBox="1"/>
          <p:nvPr/>
        </p:nvSpPr>
        <p:spPr>
          <a:xfrm>
            <a:off x="2830284" y="2971800"/>
            <a:ext cx="5204734" cy="323165"/>
          </a:xfrm>
          <a:prstGeom prst="rect">
            <a:avLst/>
          </a:prstGeom>
          <a:noFill/>
        </p:spPr>
        <p:txBody>
          <a:bodyPr wrap="square" rtlCol="0">
            <a:spAutoFit/>
          </a:bodyPr>
          <a:lstStyle/>
          <a:p>
            <a:r>
              <a:rPr lang="pt-BR" sz="1500" dirty="0"/>
              <a:t>Mínimo da coluna           0                  0                1                 3</a:t>
            </a:r>
          </a:p>
        </p:txBody>
      </p:sp>
      <p:graphicFrame>
        <p:nvGraphicFramePr>
          <p:cNvPr id="11" name="Tabela 10">
            <a:extLst>
              <a:ext uri="{FF2B5EF4-FFF2-40B4-BE49-F238E27FC236}">
                <a16:creationId xmlns:a16="http://schemas.microsoft.com/office/drawing/2014/main" id="{19A0809C-8065-8B44-8364-B71FD89121DC}"/>
              </a:ext>
            </a:extLst>
          </p:cNvPr>
          <p:cNvGraphicFramePr>
            <a:graphicFrameLocks noGrp="1"/>
          </p:cNvGraphicFramePr>
          <p:nvPr/>
        </p:nvGraphicFramePr>
        <p:xfrm>
          <a:off x="4419599" y="3429099"/>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3154065816"/>
                    </a:ext>
                  </a:extLst>
                </a:gridCol>
                <a:gridCol w="800232">
                  <a:extLst>
                    <a:ext uri="{9D8B030D-6E8A-4147-A177-3AD203B41FA5}">
                      <a16:colId xmlns:a16="http://schemas.microsoft.com/office/drawing/2014/main" val="3958575166"/>
                    </a:ext>
                  </a:extLst>
                </a:gridCol>
                <a:gridCol w="800232">
                  <a:extLst>
                    <a:ext uri="{9D8B030D-6E8A-4147-A177-3AD203B41FA5}">
                      <a16:colId xmlns:a16="http://schemas.microsoft.com/office/drawing/2014/main" val="3005705104"/>
                    </a:ext>
                  </a:extLst>
                </a:gridCol>
                <a:gridCol w="800232">
                  <a:extLst>
                    <a:ext uri="{9D8B030D-6E8A-4147-A177-3AD203B41FA5}">
                      <a16:colId xmlns:a16="http://schemas.microsoft.com/office/drawing/2014/main" val="681147880"/>
                    </a:ext>
                  </a:extLst>
                </a:gridCol>
              </a:tblGrid>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088714"/>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26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634296"/>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6651982"/>
                  </a:ext>
                </a:extLst>
              </a:tr>
            </a:tbl>
          </a:graphicData>
        </a:graphic>
      </p:graphicFrame>
      <p:cxnSp>
        <p:nvCxnSpPr>
          <p:cNvPr id="4" name="Conector de Seta Reta 3">
            <a:extLst>
              <a:ext uri="{FF2B5EF4-FFF2-40B4-BE49-F238E27FC236}">
                <a16:creationId xmlns:a16="http://schemas.microsoft.com/office/drawing/2014/main" id="{B40DD539-51CB-FC48-8EE2-D7822E0A66EF}"/>
              </a:ext>
            </a:extLst>
          </p:cNvPr>
          <p:cNvCxnSpPr/>
          <p:nvPr/>
        </p:nvCxnSpPr>
        <p:spPr>
          <a:xfrm>
            <a:off x="7437664" y="4038601"/>
            <a:ext cx="78241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8E7CDF8E-CF73-604D-8190-42C06B9807D8}"/>
              </a:ext>
            </a:extLst>
          </p:cNvPr>
          <p:cNvSpPr txBox="1"/>
          <p:nvPr/>
        </p:nvSpPr>
        <p:spPr>
          <a:xfrm>
            <a:off x="8316686" y="3875311"/>
            <a:ext cx="1872343" cy="553998"/>
          </a:xfrm>
          <a:prstGeom prst="rect">
            <a:avLst/>
          </a:prstGeom>
          <a:noFill/>
        </p:spPr>
        <p:txBody>
          <a:bodyPr wrap="square" rtlCol="0">
            <a:spAutoFit/>
          </a:bodyPr>
          <a:lstStyle/>
          <a:p>
            <a:r>
              <a:rPr lang="pt-BR" sz="1500" dirty="0"/>
              <a:t>Menor número descoberto</a:t>
            </a:r>
          </a:p>
        </p:txBody>
      </p:sp>
      <p:graphicFrame>
        <p:nvGraphicFramePr>
          <p:cNvPr id="12" name="Tabela 11">
            <a:extLst>
              <a:ext uri="{FF2B5EF4-FFF2-40B4-BE49-F238E27FC236}">
                <a16:creationId xmlns:a16="http://schemas.microsoft.com/office/drawing/2014/main" id="{CFDE37BA-EEB6-5444-9BB6-4E7C01388BBB}"/>
              </a:ext>
            </a:extLst>
          </p:cNvPr>
          <p:cNvGraphicFramePr>
            <a:graphicFrameLocks noGrp="1"/>
          </p:cNvGraphicFramePr>
          <p:nvPr/>
        </p:nvGraphicFramePr>
        <p:xfrm>
          <a:off x="4419599" y="5064770"/>
          <a:ext cx="3267076" cy="989840"/>
        </p:xfrm>
        <a:graphic>
          <a:graphicData uri="http://schemas.openxmlformats.org/drawingml/2006/table">
            <a:tbl>
              <a:tblPr firstRow="1" firstCol="1" bandRow="1"/>
              <a:tblGrid>
                <a:gridCol w="866380">
                  <a:extLst>
                    <a:ext uri="{9D8B030D-6E8A-4147-A177-3AD203B41FA5}">
                      <a16:colId xmlns:a16="http://schemas.microsoft.com/office/drawing/2014/main" val="407161087"/>
                    </a:ext>
                  </a:extLst>
                </a:gridCol>
                <a:gridCol w="800232">
                  <a:extLst>
                    <a:ext uri="{9D8B030D-6E8A-4147-A177-3AD203B41FA5}">
                      <a16:colId xmlns:a16="http://schemas.microsoft.com/office/drawing/2014/main" val="1430353281"/>
                    </a:ext>
                  </a:extLst>
                </a:gridCol>
                <a:gridCol w="800232">
                  <a:extLst>
                    <a:ext uri="{9D8B030D-6E8A-4147-A177-3AD203B41FA5}">
                      <a16:colId xmlns:a16="http://schemas.microsoft.com/office/drawing/2014/main" val="2598567276"/>
                    </a:ext>
                  </a:extLst>
                </a:gridCol>
                <a:gridCol w="800232">
                  <a:extLst>
                    <a:ext uri="{9D8B030D-6E8A-4147-A177-3AD203B41FA5}">
                      <a16:colId xmlns:a16="http://schemas.microsoft.com/office/drawing/2014/main" val="2057488373"/>
                    </a:ext>
                  </a:extLst>
                </a:gridCol>
              </a:tblGrid>
              <a:tr h="185054">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811317"/>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40079745"/>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47172783"/>
                  </a:ext>
                </a:extLst>
              </a:tr>
              <a:tr h="0">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a:lnSpc>
                          <a:spcPct val="115000"/>
                        </a:lnSpc>
                        <a:spcAft>
                          <a:spcPts val="1000"/>
                        </a:spcAft>
                      </a:pPr>
                      <a:r>
                        <a:rPr lang="pt-BR" sz="15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pt-BR"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14639491"/>
                  </a:ext>
                </a:extLst>
              </a:tr>
            </a:tbl>
          </a:graphicData>
        </a:graphic>
      </p:graphicFrame>
      <p:sp>
        <p:nvSpPr>
          <p:cNvPr id="3" name="CaixaDeTexto 2">
            <a:extLst>
              <a:ext uri="{FF2B5EF4-FFF2-40B4-BE49-F238E27FC236}">
                <a16:creationId xmlns:a16="http://schemas.microsoft.com/office/drawing/2014/main" id="{D7E6556D-A036-AC4E-8C3A-3C696C23612E}"/>
              </a:ext>
            </a:extLst>
          </p:cNvPr>
          <p:cNvSpPr txBox="1"/>
          <p:nvPr/>
        </p:nvSpPr>
        <p:spPr>
          <a:xfrm>
            <a:off x="8220075" y="5064770"/>
            <a:ext cx="3233057" cy="1200329"/>
          </a:xfrm>
          <a:prstGeom prst="rect">
            <a:avLst/>
          </a:prstGeom>
          <a:noFill/>
        </p:spPr>
        <p:txBody>
          <a:bodyPr wrap="square" rtlCol="0">
            <a:spAutoFit/>
          </a:bodyPr>
          <a:lstStyle/>
          <a:p>
            <a:r>
              <a:rPr lang="pt-BR" b="1" dirty="0"/>
              <a:t>Solução ótima:</a:t>
            </a:r>
          </a:p>
          <a:p>
            <a:r>
              <a:rPr lang="pt-BR" b="1" dirty="0"/>
              <a:t>M1 para F1, M2 para F2, M3 para F4 e M4 para F3. Custo total = 10 + 12 + 15 + 13 = 50.</a:t>
            </a:r>
          </a:p>
        </p:txBody>
      </p:sp>
    </p:spTree>
    <p:extLst>
      <p:ext uri="{BB962C8B-B14F-4D97-AF65-F5344CB8AC3E}">
        <p14:creationId xmlns:p14="http://schemas.microsoft.com/office/powerpoint/2010/main" val="172297808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1411</Words>
  <Application>Microsoft Macintosh PowerPoint</Application>
  <PresentationFormat>Widescreen</PresentationFormat>
  <Paragraphs>741</Paragraphs>
  <Slides>18</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18</vt:i4>
      </vt:variant>
    </vt:vector>
  </HeadingPairs>
  <TitlesOfParts>
    <vt:vector size="24" baseType="lpstr">
      <vt:lpstr>Arial</vt:lpstr>
      <vt:lpstr>Calibri</vt:lpstr>
      <vt:lpstr>Calibri Light</vt:lpstr>
      <vt:lpstr>Cambria Math</vt:lpstr>
      <vt:lpstr>Times New Roman</vt:lpstr>
      <vt:lpstr>Tema do Office</vt:lpstr>
      <vt:lpstr>O Problema da Designação </vt:lpstr>
      <vt:lpstr>O Problema da Designação </vt:lpstr>
      <vt:lpstr>Formulação Matemática</vt:lpstr>
      <vt:lpstr>Algoritmo para o PPL da designação (Método húngaro) </vt:lpstr>
      <vt:lpstr>O caso da maximização </vt:lpstr>
      <vt:lpstr>Exemplo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 Problema da Designação </dc:title>
  <dc:creator>Andréa Bonifácio</dc:creator>
  <cp:lastModifiedBy>Andréa Bonifácio</cp:lastModifiedBy>
  <cp:revision>10</cp:revision>
  <dcterms:created xsi:type="dcterms:W3CDTF">2020-08-13T23:45:17Z</dcterms:created>
  <dcterms:modified xsi:type="dcterms:W3CDTF">2020-08-21T02:09:30Z</dcterms:modified>
</cp:coreProperties>
</file>