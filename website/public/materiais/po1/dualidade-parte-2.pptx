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5" r:id="rId3"/>
    <p:sldId id="299" r:id="rId4"/>
    <p:sldId id="296" r:id="rId5"/>
    <p:sldId id="300" r:id="rId6"/>
    <p:sldId id="291" r:id="rId7"/>
    <p:sldId id="258" r:id="rId8"/>
    <p:sldId id="292" r:id="rId9"/>
    <p:sldId id="293" r:id="rId10"/>
    <p:sldId id="294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90" autoAdjust="0"/>
  </p:normalViewPr>
  <p:slideViewPr>
    <p:cSldViewPr>
      <p:cViewPr varScale="1">
        <p:scale>
          <a:sx n="111" d="100"/>
          <a:sy n="111" d="100"/>
        </p:scale>
        <p:origin x="16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91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ED177-20B7-445F-B35B-4A9E751ADC1E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3FF38-8D38-4F47-973A-173A494029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679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08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46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95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29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932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25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01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21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23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956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38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BE895-EE63-4EA6-98A2-417CC55060B7}" type="datetimeFigureOut">
              <a:rPr lang="pt-BR" smtClean="0"/>
              <a:t>11/12/2020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7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Dualidade – parte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765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Maximização de lucro de uma empresa</a:t>
            </a:r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25531"/>
              </p:ext>
            </p:extLst>
          </p:nvPr>
        </p:nvGraphicFramePr>
        <p:xfrm>
          <a:off x="1403648" y="2780928"/>
          <a:ext cx="648072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Recursos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Exigências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Disponibilidade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Produto 1</a:t>
                      </a:r>
                      <a:r>
                        <a:rPr lang="pt-BR" b="1" baseline="0" dirty="0"/>
                        <a:t> 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Produto 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Trabalho (h/unid.)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Matéria-prima (Kg/unid.)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36Kg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Espaço físico (m</a:t>
                      </a:r>
                      <a:r>
                        <a:rPr lang="pt-BR" baseline="30000" dirty="0"/>
                        <a:t>2</a:t>
                      </a:r>
                      <a:r>
                        <a:rPr lang="pt-BR" b="1" dirty="0"/>
                        <a:t>/unid.)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40m</a:t>
                      </a:r>
                      <a:r>
                        <a:rPr lang="pt-BR" baseline="30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Lucro ($/unid.)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87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(P) Max z = 4x</a:t>
            </a:r>
            <a:r>
              <a:rPr lang="pt-BR" baseline="-25000" dirty="0"/>
              <a:t>1</a:t>
            </a:r>
            <a:r>
              <a:rPr lang="pt-BR" dirty="0"/>
              <a:t> + 5x</a:t>
            </a:r>
            <a:r>
              <a:rPr lang="pt-BR" baseline="-25000" dirty="0"/>
              <a:t>2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s.a.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x</a:t>
            </a:r>
            <a:r>
              <a:rPr lang="pt-BR" baseline="-25000" dirty="0"/>
              <a:t>1 </a:t>
            </a:r>
            <a:r>
              <a:rPr lang="pt-BR" dirty="0"/>
              <a:t>+ 2x</a:t>
            </a:r>
            <a:r>
              <a:rPr lang="pt-BR" baseline="-25000" dirty="0"/>
              <a:t>2</a:t>
            </a:r>
            <a:r>
              <a:rPr lang="pt-BR" dirty="0"/>
              <a:t> </a:t>
            </a:r>
            <a:r>
              <a:rPr lang="pt-BR" dirty="0">
                <a:sym typeface="Symbol"/>
              </a:rPr>
              <a:t></a:t>
            </a:r>
            <a:r>
              <a:rPr lang="pt-BR" dirty="0"/>
              <a:t> 10 (trabalho)</a:t>
            </a:r>
          </a:p>
          <a:p>
            <a:pPr marL="0" indent="0">
              <a:buNone/>
            </a:pPr>
            <a:r>
              <a:rPr lang="pt-BR" dirty="0"/>
              <a:t>6x</a:t>
            </a:r>
            <a:r>
              <a:rPr lang="pt-BR" baseline="-25000" dirty="0"/>
              <a:t>1</a:t>
            </a:r>
            <a:r>
              <a:rPr lang="pt-BR" dirty="0"/>
              <a:t> + 6x</a:t>
            </a:r>
            <a:r>
              <a:rPr lang="pt-BR" baseline="-25000" dirty="0"/>
              <a:t>2</a:t>
            </a:r>
            <a:r>
              <a:rPr lang="pt-BR" dirty="0"/>
              <a:t> </a:t>
            </a:r>
            <a:r>
              <a:rPr lang="pt-BR" dirty="0">
                <a:sym typeface="Symbol"/>
              </a:rPr>
              <a:t></a:t>
            </a:r>
            <a:r>
              <a:rPr lang="pt-BR" dirty="0"/>
              <a:t> 36 (matéria-prima)</a:t>
            </a:r>
          </a:p>
          <a:p>
            <a:pPr marL="0" indent="0">
              <a:buNone/>
            </a:pPr>
            <a:r>
              <a:rPr lang="pt-BR" dirty="0"/>
              <a:t>8x</a:t>
            </a:r>
            <a:r>
              <a:rPr lang="pt-BR" baseline="-25000" dirty="0"/>
              <a:t>1</a:t>
            </a:r>
            <a:r>
              <a:rPr lang="pt-BR" dirty="0"/>
              <a:t> + 4x</a:t>
            </a:r>
            <a:r>
              <a:rPr lang="pt-BR" baseline="-25000" dirty="0"/>
              <a:t>2</a:t>
            </a:r>
            <a:r>
              <a:rPr lang="pt-BR" dirty="0"/>
              <a:t> </a:t>
            </a:r>
            <a:r>
              <a:rPr lang="pt-BR" dirty="0">
                <a:sym typeface="Symbol"/>
              </a:rPr>
              <a:t></a:t>
            </a:r>
            <a:r>
              <a:rPr lang="pt-BR" dirty="0"/>
              <a:t> 40 (espaço físico)</a:t>
            </a:r>
          </a:p>
          <a:p>
            <a:pPr marL="0" indent="0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</a:t>
            </a:r>
            <a:r>
              <a:rPr lang="pt-BR" dirty="0"/>
              <a:t> </a:t>
            </a:r>
            <a:r>
              <a:rPr lang="pt-BR" dirty="0">
                <a:sym typeface="Symbol"/>
              </a:rPr>
              <a:t></a:t>
            </a:r>
            <a:r>
              <a:rPr lang="pt-BR" dirty="0"/>
              <a:t> 0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Solução: x</a:t>
            </a:r>
            <a:r>
              <a:rPr lang="pt-BR" baseline="-25000" dirty="0"/>
              <a:t>1</a:t>
            </a:r>
            <a:r>
              <a:rPr lang="pt-BR" dirty="0"/>
              <a:t> = 2, x</a:t>
            </a:r>
            <a:r>
              <a:rPr lang="pt-BR" baseline="-25000" dirty="0"/>
              <a:t>2</a:t>
            </a:r>
            <a:r>
              <a:rPr lang="pt-BR" dirty="0"/>
              <a:t> = 4 e s</a:t>
            </a:r>
            <a:r>
              <a:rPr lang="pt-BR" baseline="-25000" dirty="0"/>
              <a:t>3</a:t>
            </a:r>
            <a:r>
              <a:rPr lang="pt-BR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272072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457200" y="620689"/>
            <a:ext cx="8229600" cy="5760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(D) min z = 10w</a:t>
            </a:r>
            <a:r>
              <a:rPr lang="pt-BR" baseline="-25000" dirty="0"/>
              <a:t>1</a:t>
            </a:r>
            <a:r>
              <a:rPr lang="pt-BR" dirty="0"/>
              <a:t> + 36w</a:t>
            </a:r>
            <a:r>
              <a:rPr lang="pt-BR" baseline="-25000" dirty="0"/>
              <a:t>2</a:t>
            </a:r>
            <a:r>
              <a:rPr lang="pt-BR" dirty="0"/>
              <a:t> + 40w</a:t>
            </a:r>
            <a:r>
              <a:rPr lang="pt-BR" baseline="-25000" dirty="0"/>
              <a:t>3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 err="1"/>
              <a:t>s.a.</a:t>
            </a:r>
            <a:endParaRPr lang="pt-BR" dirty="0"/>
          </a:p>
          <a:p>
            <a:pPr marL="0" indent="0">
              <a:buNone/>
            </a:pPr>
            <a:r>
              <a:rPr lang="pt-BR" dirty="0">
                <a:sym typeface="Symbol"/>
              </a:rPr>
              <a:t>w</a:t>
            </a:r>
            <a:r>
              <a:rPr lang="pt-BR" baseline="-25000" dirty="0"/>
              <a:t>1</a:t>
            </a:r>
            <a:r>
              <a:rPr lang="pt-BR" dirty="0">
                <a:sym typeface="Symbol"/>
              </a:rPr>
              <a:t> + 6w</a:t>
            </a:r>
            <a:r>
              <a:rPr lang="pt-BR" baseline="-25000" dirty="0"/>
              <a:t>2</a:t>
            </a:r>
            <a:r>
              <a:rPr lang="pt-BR" dirty="0">
                <a:sym typeface="Symbol"/>
              </a:rPr>
              <a:t> + 8w</a:t>
            </a:r>
            <a:r>
              <a:rPr lang="pt-BR" baseline="-25000" dirty="0"/>
              <a:t>3</a:t>
            </a:r>
            <a:r>
              <a:rPr lang="pt-BR" dirty="0">
                <a:sym typeface="Symbol"/>
              </a:rPr>
              <a:t>  4</a:t>
            </a:r>
          </a:p>
          <a:p>
            <a:pPr marL="0" indent="0">
              <a:buNone/>
            </a:pPr>
            <a:r>
              <a:rPr lang="pt-BR" dirty="0">
                <a:sym typeface="Symbol"/>
              </a:rPr>
              <a:t>2w</a:t>
            </a:r>
            <a:r>
              <a:rPr lang="pt-BR" baseline="-25000" dirty="0"/>
              <a:t>1</a:t>
            </a:r>
            <a:r>
              <a:rPr lang="pt-BR" dirty="0">
                <a:sym typeface="Symbol"/>
              </a:rPr>
              <a:t> + 6w</a:t>
            </a:r>
            <a:r>
              <a:rPr lang="pt-BR" baseline="-25000" dirty="0"/>
              <a:t>2</a:t>
            </a:r>
            <a:r>
              <a:rPr lang="pt-BR" dirty="0">
                <a:sym typeface="Symbol"/>
              </a:rPr>
              <a:t> + 4w</a:t>
            </a:r>
            <a:r>
              <a:rPr lang="pt-BR" baseline="-25000" dirty="0"/>
              <a:t>3</a:t>
            </a:r>
            <a:r>
              <a:rPr lang="pt-BR" dirty="0">
                <a:sym typeface="Symbol"/>
              </a:rPr>
              <a:t>  5</a:t>
            </a:r>
          </a:p>
          <a:p>
            <a:pPr marL="0" indent="0">
              <a:buNone/>
            </a:pPr>
            <a:r>
              <a:rPr lang="pt-BR" dirty="0" err="1">
                <a:sym typeface="Symbol"/>
              </a:rPr>
              <a:t>w</a:t>
            </a:r>
            <a:r>
              <a:rPr lang="pt-BR" baseline="-25000" dirty="0" err="1">
                <a:sym typeface="Symbol"/>
              </a:rPr>
              <a:t>i</a:t>
            </a:r>
            <a:r>
              <a:rPr lang="pt-BR" dirty="0">
                <a:sym typeface="Symbol"/>
              </a:rPr>
              <a:t>  0,</a:t>
            </a:r>
          </a:p>
          <a:p>
            <a:pPr marL="0" indent="0">
              <a:buNone/>
            </a:pPr>
            <a:r>
              <a:rPr lang="pt-BR" dirty="0">
                <a:sym typeface="Symbol"/>
              </a:rPr>
              <a:t> onde:</a:t>
            </a:r>
          </a:p>
          <a:p>
            <a:pPr marL="0" indent="0">
              <a:buNone/>
            </a:pPr>
            <a:r>
              <a:rPr lang="pt-BR" dirty="0">
                <a:sym typeface="Symbol"/>
              </a:rPr>
              <a:t>w</a:t>
            </a:r>
            <a:r>
              <a:rPr lang="pt-BR" baseline="-25000" dirty="0"/>
              <a:t>1</a:t>
            </a:r>
            <a:r>
              <a:rPr lang="pt-BR" dirty="0">
                <a:sym typeface="Symbol"/>
              </a:rPr>
              <a:t> = valor marginal de uma hora de trabalho;</a:t>
            </a:r>
          </a:p>
          <a:p>
            <a:pPr marL="0" indent="0">
              <a:buNone/>
            </a:pPr>
            <a:r>
              <a:rPr lang="pt-BR" dirty="0">
                <a:sym typeface="Symbol"/>
              </a:rPr>
              <a:t>w</a:t>
            </a:r>
            <a:r>
              <a:rPr lang="pt-BR" baseline="-25000" dirty="0"/>
              <a:t>2</a:t>
            </a:r>
            <a:r>
              <a:rPr lang="pt-BR" dirty="0">
                <a:sym typeface="Symbol"/>
              </a:rPr>
              <a:t> = valor marginal de 1 Kg de matéria-prima;</a:t>
            </a:r>
          </a:p>
          <a:p>
            <a:pPr marL="0" indent="0">
              <a:buNone/>
            </a:pPr>
            <a:r>
              <a:rPr lang="pt-BR" dirty="0">
                <a:sym typeface="Symbol"/>
              </a:rPr>
              <a:t>w</a:t>
            </a:r>
            <a:r>
              <a:rPr lang="pt-BR" baseline="-25000" dirty="0"/>
              <a:t>3</a:t>
            </a:r>
            <a:r>
              <a:rPr lang="pt-BR" dirty="0">
                <a:sym typeface="Symbol"/>
              </a:rPr>
              <a:t> = valor marginal de 1 m</a:t>
            </a:r>
            <a:r>
              <a:rPr lang="pt-BR" baseline="30000" dirty="0">
                <a:sym typeface="Symbol"/>
              </a:rPr>
              <a:t>2</a:t>
            </a:r>
            <a:r>
              <a:rPr lang="pt-BR" dirty="0">
                <a:sym typeface="Symbol"/>
              </a:rPr>
              <a:t> de espaço físico.</a:t>
            </a:r>
          </a:p>
          <a:p>
            <a:pPr marL="0" indent="0">
              <a:buNone/>
            </a:pPr>
            <a:r>
              <a:rPr lang="pt-BR" dirty="0">
                <a:sym typeface="Symbol"/>
              </a:rPr>
              <a:t>S = w</a:t>
            </a:r>
            <a:r>
              <a:rPr lang="pt-BR" baseline="-25000" dirty="0">
                <a:sym typeface="Symbol"/>
              </a:rPr>
              <a:t>1</a:t>
            </a:r>
            <a:r>
              <a:rPr lang="pt-BR" dirty="0">
                <a:sym typeface="Symbol"/>
              </a:rPr>
              <a:t> = 1, w</a:t>
            </a:r>
            <a:r>
              <a:rPr lang="pt-BR" baseline="-25000" dirty="0">
                <a:sym typeface="Symbol"/>
              </a:rPr>
              <a:t>2</a:t>
            </a:r>
            <a:r>
              <a:rPr lang="pt-BR" dirty="0">
                <a:sym typeface="Symbol"/>
              </a:rPr>
              <a:t> = ½ e w</a:t>
            </a:r>
            <a:r>
              <a:rPr lang="pt-BR" baseline="-25000" dirty="0">
                <a:sym typeface="Symbol"/>
              </a:rPr>
              <a:t>3</a:t>
            </a:r>
            <a:r>
              <a:rPr lang="pt-BR" dirty="0">
                <a:sym typeface="Symbol"/>
              </a:rPr>
              <a:t> = 0</a:t>
            </a:r>
          </a:p>
          <a:p>
            <a:pPr marL="0" indent="0">
              <a:buNone/>
            </a:pPr>
            <a:endParaRPr lang="pt-BR" dirty="0">
              <a:sym typeface="Symbol"/>
            </a:endParaRPr>
          </a:p>
          <a:p>
            <a:pPr marL="0" indent="0">
              <a:buNone/>
            </a:pPr>
            <a:endParaRPr lang="pt-BR" dirty="0">
              <a:sym typeface="Symbol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5149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140531"/>
              </p:ext>
            </p:extLst>
          </p:nvPr>
        </p:nvGraphicFramePr>
        <p:xfrm>
          <a:off x="827584" y="1916832"/>
          <a:ext cx="7272808" cy="3168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6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192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V.B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X1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X2</a:t>
                      </a:r>
                      <a:endParaRPr lang="pt-BR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s1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s2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s3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RHS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92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Z</a:t>
                      </a:r>
                      <a:endParaRPr lang="pt-BR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0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0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pt-BR" sz="20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½</a:t>
                      </a:r>
                      <a:endParaRPr lang="pt-BR" sz="20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effectLst/>
                        </a:rPr>
                        <a:t>0</a:t>
                      </a:r>
                      <a:endParaRPr lang="pt-BR" sz="20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28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92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X2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1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+mn-lt"/>
                          <a:ea typeface="+mn-ea"/>
                          <a:cs typeface="+mn-cs"/>
                        </a:rPr>
                        <a:t>-1/6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0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92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X1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0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-1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1/3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0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2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636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0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0</a:t>
                      </a:r>
                      <a:endParaRPr lang="pt-BR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1</a:t>
                      </a:r>
                      <a:endParaRPr lang="pt-BR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8</a:t>
                      </a:r>
                      <a:endParaRPr lang="pt-BR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683568" y="1196752"/>
            <a:ext cx="7416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/>
              <a:t>Tabela simplex ótima do Problema Primal de maximização do lucro da empresa </a:t>
            </a:r>
          </a:p>
        </p:txBody>
      </p:sp>
    </p:spTree>
    <p:extLst>
      <p:ext uri="{BB962C8B-B14F-4D97-AF65-F5344CB8AC3E}">
        <p14:creationId xmlns:p14="http://schemas.microsoft.com/office/powerpoint/2010/main" val="223663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Uma interpretação Econômica da dualidade: motivação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Suponhamos que o problema primal seja de alocação de recursos, onde temos m recursos disponíveis nas quantidades b</a:t>
            </a:r>
            <a:r>
              <a:rPr lang="pt-BR" baseline="-25000" dirty="0"/>
              <a:t>1</a:t>
            </a:r>
            <a:r>
              <a:rPr lang="pt-BR" dirty="0"/>
              <a:t>, ..., </a:t>
            </a:r>
            <a:r>
              <a:rPr lang="pt-BR" dirty="0" err="1"/>
              <a:t>b</a:t>
            </a:r>
            <a:r>
              <a:rPr lang="pt-BR" baseline="-25000" dirty="0" err="1"/>
              <a:t>m</a:t>
            </a:r>
            <a:r>
              <a:rPr lang="pt-BR" dirty="0"/>
              <a:t> com os quais desejamos fabricar n produtos, nas quantidades x</a:t>
            </a:r>
            <a:r>
              <a:rPr lang="pt-BR" baseline="-25000" dirty="0"/>
              <a:t>1</a:t>
            </a:r>
            <a:r>
              <a:rPr lang="pt-BR" dirty="0"/>
              <a:t>,..., </a:t>
            </a:r>
            <a:r>
              <a:rPr lang="pt-BR" dirty="0" err="1"/>
              <a:t>x</a:t>
            </a:r>
            <a:r>
              <a:rPr lang="pt-BR" baseline="-25000" dirty="0" err="1"/>
              <a:t>n</a:t>
            </a:r>
            <a:r>
              <a:rPr lang="pt-BR" dirty="0"/>
              <a:t> a serem determinadas. Cada unidade de um produto j consome </a:t>
            </a:r>
            <a:r>
              <a:rPr lang="pt-BR" dirty="0" err="1"/>
              <a:t>a</a:t>
            </a:r>
            <a:r>
              <a:rPr lang="pt-BR" baseline="-25000" dirty="0" err="1"/>
              <a:t>ij</a:t>
            </a:r>
            <a:r>
              <a:rPr lang="pt-BR" baseline="-25000" dirty="0"/>
              <a:t> </a:t>
            </a:r>
            <a:r>
              <a:rPr lang="pt-BR" dirty="0"/>
              <a:t>unidades do recurso i trazendo um lucro de </a:t>
            </a:r>
            <a:r>
              <a:rPr lang="pt-BR" dirty="0" err="1"/>
              <a:t>c</a:t>
            </a:r>
            <a:r>
              <a:rPr lang="pt-BR" baseline="-25000" dirty="0" err="1"/>
              <a:t>j</a:t>
            </a:r>
            <a:r>
              <a:rPr lang="pt-BR" dirty="0"/>
              <a:t> unidades monetárias. Queremos determinar a quantidade a ser fabricada de cada produto, de modo a maximizar o lucro.</a:t>
            </a:r>
          </a:p>
        </p:txBody>
      </p:sp>
    </p:spTree>
    <p:extLst>
      <p:ext uri="{BB962C8B-B14F-4D97-AF65-F5344CB8AC3E}">
        <p14:creationId xmlns:p14="http://schemas.microsoft.com/office/powerpoint/2010/main" val="128407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Primal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4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𝑀𝑎𝑥</m:t>
                    </m:r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b="0" i="1" smtClean="0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b="0" i="1" smtClean="0">
                            <a:latin typeface="Cambria Math"/>
                          </a:rPr>
                          <m:t>𝑗</m:t>
                        </m:r>
                        <m:r>
                          <a:rPr lang="pt-BR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pt-BR" b="0" i="1" smtClean="0">
                        <a:latin typeface="Cambria Math"/>
                      </a:rPr>
                      <m:t>  </m:t>
                    </m:r>
                  </m:oMath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/>
                            </a:rPr>
                            <m:t>𝑗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    </m:t>
                      </m:r>
                      <m:r>
                        <a:rPr lang="pt-BR" b="0" i="1" smtClean="0">
                          <a:latin typeface="Cambria Math"/>
                        </a:rPr>
                        <m:t>𝑖</m:t>
                      </m:r>
                      <m:r>
                        <a:rPr lang="pt-BR" b="0" i="1" smtClean="0">
                          <a:latin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 b="0" i="0" smtClean="0">
                          <a:latin typeface="Cambria Math"/>
                          <a:ea typeface="Cambria Math"/>
                        </a:rPr>
                        <m:t>0                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/>
                          <a:ea typeface="Cambria Math"/>
                        </a:rPr>
                        <m:t>j</m:t>
                      </m:r>
                      <m:r>
                        <a:rPr lang="pt-BR" b="0" i="0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/>
                          <a:ea typeface="Cambria Math"/>
                        </a:rPr>
                        <m:t>n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Espaço Reservado para Conteúdo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961" t="-151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ço Reservado para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Dual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6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pt-BR" i="1" smtClean="0">
                        <a:latin typeface="Cambria Math"/>
                      </a:rPr>
                      <m:t>𝑀</m:t>
                    </m:r>
                    <m:r>
                      <a:rPr lang="pt-BR" b="0" i="1" smtClean="0">
                        <a:latin typeface="Cambria Math"/>
                      </a:rPr>
                      <m:t>𝑖𝑛</m:t>
                    </m:r>
                    <m:r>
                      <a:rPr lang="pt-BR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𝑤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  <m:r>
                          <a:rPr lang="pt-BR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b="0" i="1" smtClean="0"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i="1">
                        <a:latin typeface="Cambria Math"/>
                      </a:rPr>
                      <m:t>  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i="1" smtClean="0">
                              <a:latin typeface="Cambria Math"/>
                              <a:ea typeface="Cambria Math"/>
                            </a:rPr>
                            <m:t>≥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pt-BR" i="1">
                          <a:latin typeface="Cambria Math"/>
                        </a:rPr>
                        <m:t>    </m:t>
                      </m:r>
                      <m:r>
                        <a:rPr lang="pt-BR" b="0" i="1" smtClean="0">
                          <a:latin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>
                          <a:latin typeface="Cambria Math"/>
                          <a:ea typeface="Cambria Math"/>
                        </a:rPr>
                        <m:t>0                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/>
                          <a:ea typeface="Cambria Math"/>
                        </a:rPr>
                        <m:t>i</m:t>
                      </m:r>
                      <m:r>
                        <a:rPr lang="pt-BR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/>
                          <a:ea typeface="Cambria Math"/>
                        </a:rPr>
                        <m:t>m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7" name="Espaço Reservado para Conteúdo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l="-2112" t="-152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01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Uma interpretação Econômica da 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6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Suponhamos que x* e w* são soluções ótimas do primal e do dual, respectivamente. Então: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𝑄</m:t>
                      </m:r>
                      <m:r>
                        <a:rPr lang="pt-BR" b="0" i="1" baseline="-2500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∗</m:t>
                          </m:r>
                        </m:e>
                      </m:d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=</m:t>
                          </m:r>
                          <m:r>
                            <a:rPr lang="pt-BR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𝑤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∗</m:t>
                          </m:r>
                        </m:e>
                      </m:d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𝑤</m:t>
                      </m:r>
                      <m:r>
                        <a:rPr lang="pt-BR" b="0" i="1" baseline="30000" smtClean="0">
                          <a:latin typeface="Cambria Math"/>
                        </a:rPr>
                        <m:t>∗</m:t>
                      </m:r>
                      <m:r>
                        <a:rPr lang="pt-BR" b="0" i="1" smtClean="0">
                          <a:latin typeface="Cambria Math"/>
                        </a:rPr>
                        <m:t>.</m:t>
                      </m:r>
                      <m:r>
                        <a:rPr lang="pt-BR" b="0" i="1" smtClean="0">
                          <a:latin typeface="Cambria Math"/>
                        </a:rPr>
                        <m:t>𝑏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𝑤</m:t>
                              </m:r>
                              <m:r>
                                <a:rPr lang="pt-BR" b="0" i="1" baseline="30000" smtClean="0">
                                  <a:latin typeface="Cambria Math"/>
                                </a:rPr>
                                <m:t>∗</m:t>
                              </m:r>
                            </m:e>
                            <m:sub>
                              <m:r>
                                <a:rPr lang="pt-BR" i="1" baseline="-2500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i="1">
                          <a:latin typeface="Cambria Math"/>
                        </a:rPr>
                        <m:t>  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Supondo agora b variável e derivando em relação a b, temos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𝑄</m:t>
                          </m:r>
                          <m:r>
                            <a:rPr lang="pt-BR" b="0" i="1" baseline="-25000" smtClean="0">
                              <a:latin typeface="Cambria Math"/>
                              <a:ea typeface="Cambria Math"/>
                            </a:rPr>
                            <m:t>𝑃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pt-BR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/>
                            </a:rPr>
                            <m:t>𝑤</m:t>
                          </m:r>
                        </m:e>
                        <m:sup>
                          <m:r>
                            <a:rPr lang="pt-BR" b="0" i="1" smtClean="0">
                              <a:latin typeface="Cambria Math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7" name="Espaço Reservado para Conteúdo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r="-19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78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Uma interpretação Econômica da 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w*: </a:t>
            </a:r>
            <a:r>
              <a:rPr lang="pt-BR" i="1" dirty="0"/>
              <a:t>é a contribuição ao lucro por unidade de recurso i = 1, ..., m</a:t>
            </a:r>
            <a:r>
              <a:rPr lang="pt-BR" dirty="0"/>
              <a:t>. As variáveis duais </a:t>
            </a:r>
            <a:r>
              <a:rPr lang="pt-BR" i="1" dirty="0"/>
              <a:t>w*</a:t>
            </a:r>
            <a:r>
              <a:rPr lang="pt-BR" i="1" baseline="-25000" dirty="0"/>
              <a:t>i</a:t>
            </a:r>
            <a:r>
              <a:rPr lang="pt-BR" i="1" dirty="0"/>
              <a:t> são também chamadas os </a:t>
            </a:r>
            <a:r>
              <a:rPr lang="pt-BR" b="1" i="1" dirty="0"/>
              <a:t>preços-sombra (ou preços duais) </a:t>
            </a:r>
            <a:r>
              <a:rPr lang="pt-BR" i="1" dirty="0"/>
              <a:t>dos recursos utilizados</a:t>
            </a:r>
            <a:r>
              <a:rPr lang="pt-BR" dirty="0"/>
              <a:t>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313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Uma interpretação Econômica da 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Interpretação do Primal: </a:t>
            </a:r>
            <a:r>
              <a:rPr lang="pt-BR" dirty="0"/>
              <a:t>Problema de melhor utilização dos recursos, de modo a maximizar o lucro ou receita.</a:t>
            </a:r>
          </a:p>
          <a:p>
            <a:endParaRPr lang="pt-BR" dirty="0"/>
          </a:p>
          <a:p>
            <a:r>
              <a:rPr lang="pt-BR" b="1" dirty="0"/>
              <a:t>Interpretação do Dual: </a:t>
            </a:r>
            <a:r>
              <a:rPr lang="pt-BR" dirty="0"/>
              <a:t>Problema de determinação dos valores dos recursos, de modo a minimizar o custo total de obtenção desses recursos. </a:t>
            </a:r>
          </a:p>
        </p:txBody>
      </p:sp>
    </p:spTree>
    <p:extLst>
      <p:ext uri="{BB962C8B-B14F-4D97-AF65-F5344CB8AC3E}">
        <p14:creationId xmlns:p14="http://schemas.microsoft.com/office/powerpoint/2010/main" val="26777676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7451</TotalTime>
  <Words>511</Words>
  <Application>Microsoft Macintosh PowerPoint</Application>
  <PresentationFormat>Apresentação na tela (4:3)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Tema do Office</vt:lpstr>
      <vt:lpstr>Dualidade – parte 2</vt:lpstr>
      <vt:lpstr>Exemplo de dualidade</vt:lpstr>
      <vt:lpstr>Apresentação do PowerPoint</vt:lpstr>
      <vt:lpstr>Apresentação do PowerPoint</vt:lpstr>
      <vt:lpstr>Apresentação do PowerPoint</vt:lpstr>
      <vt:lpstr>Uma interpretação Econômica da dualidade: motivação</vt:lpstr>
      <vt:lpstr>Apresentação do PowerPoint</vt:lpstr>
      <vt:lpstr>Uma interpretação Econômica da dualidade</vt:lpstr>
      <vt:lpstr>Uma interpretação Econômica da dualidade</vt:lpstr>
      <vt:lpstr>Uma interpretação Econômica da dualidade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Dualidade – parte 2</dc:title>
  <dc:creator>Andrea</dc:creator>
  <cp:lastModifiedBy>Andréa Bonifácio</cp:lastModifiedBy>
  <cp:revision>118</cp:revision>
  <dcterms:created xsi:type="dcterms:W3CDTF">2011-10-29T20:35:16Z</dcterms:created>
  <dcterms:modified xsi:type="dcterms:W3CDTF">2020-12-12T00:06:49Z</dcterms:modified>
</cp:coreProperties>
</file>