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61" r:id="rId3"/>
    <p:sldId id="262" r:id="rId4"/>
    <p:sldId id="264" r:id="rId5"/>
    <p:sldId id="265" r:id="rId6"/>
    <p:sldId id="263" r:id="rId7"/>
    <p:sldId id="266" r:id="rId8"/>
    <p:sldId id="267" r:id="rId9"/>
    <p:sldId id="268" r:id="rId10"/>
    <p:sldId id="269" r:id="rId11"/>
    <p:sldId id="273" r:id="rId12"/>
    <p:sldId id="274" r:id="rId13"/>
    <p:sldId id="275" r:id="rId14"/>
    <p:sldId id="276" r:id="rId15"/>
    <p:sldId id="277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70" autoAdjust="0"/>
    <p:restoredTop sz="94607"/>
  </p:normalViewPr>
  <p:slideViewPr>
    <p:cSldViewPr snapToGrid="0">
      <p:cViewPr varScale="1">
        <p:scale>
          <a:sx n="106" d="100"/>
          <a:sy n="106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2EDF59-A874-3D47-8205-E13DC360F229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F10F46-AF8E-5248-9509-0C9B33D6BE9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048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9D649-E3F7-66B1-EF89-7957220B8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C645E1-EFD6-8B25-804E-0C36126D3C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AF2CC-384E-FDFE-1C96-FD88D81A0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3B055-1DD8-C909-6D72-FC3A57F6C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CDF35-4DAD-1BAE-A68E-E6328D6DC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3588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090B1-AD2E-ADC6-F7EC-058C74ECA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313C4-404D-4733-5C08-6097D9492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5D130-A544-6077-212C-8C9759C23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17BC2-1927-8CC0-9DCD-EA1D65AD7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DE54B-524B-399A-6E28-49708F92B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4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D47B6-3947-8DE2-2724-4DB9AE9F8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80FBD-F46A-CB8A-1C48-054389523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8993A-CC11-BE63-EBDA-1F725C03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82112-D222-6508-4A74-D93338EC5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01643-2AC0-0813-4198-4722D4BA2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6867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31318-41C3-4D19-1CFC-734195D62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DEBAE-1FF4-CB1A-3F4A-733BDFB557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1C43A9-58EE-B9A1-5DC2-0AC969776B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B2A428-54BE-B7C2-2705-6E1C66C0A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8922EE-B7BC-8864-D43C-0EF3E7A8E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484B72-B006-855A-C0E9-12DC44047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6579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E301C-0562-A2A1-C216-9D96DF237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9A898-34A2-5B40-A9BE-DCAC6E226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32CE-F92C-FCBF-8FD1-CC36C1871C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BE8408-E21B-0F43-384C-8CA4B7519B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E2DFB9-34A6-75FC-1101-CC1568844C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F87DE6-0BC9-B030-BCC1-8E32F8CE9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8DD7B3-EBDF-C4F0-4C15-19BB01085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2CE552-FE47-B0EE-7EA8-294E84440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529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4D1A3-19E7-C5D8-B691-7BB565F12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CD0D7-BCDB-A0F1-5216-94E15E2A6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A9495D-AA89-BF65-6076-28054FF9A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B5CFF5-81A9-C5FE-487E-ED4B966CB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2490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85AD7A-F0B7-996D-7CED-B13A38E77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9B8BA0-ED4A-BFB8-034B-F8533ACC2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0C46E-EF13-E16B-B7D4-D6671EDC8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2965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1EC42-3179-E259-8CD7-607236946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37474-1913-3F4F-574D-048ABD6174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DEA1A3-650C-8F47-B73F-A7B92C12F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F81EE-DD36-12A4-0B03-F2D949084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D0C0D2-9E5C-0284-9A18-81EB853EC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38428F-7C06-449B-7EB8-46048145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682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961F2-997C-ABC2-2970-404570F69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D5C1A9-9525-FDE3-A0B1-BDCC044AC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F759E3-569F-2BF4-D049-D2F8E6B55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EC7516-24C1-35A0-C9AE-5DB30D6FD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0FFCAA-1450-98BF-A17A-5D64D7D2C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82D5EE-BBE4-DF3D-AF68-46A616AD9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357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2D600-9A0A-BB6D-3C21-F0252DF74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F98A4A-18C1-55CF-D1D8-72B675DC4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F98B4-1B63-68CA-1870-A5AA141C5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394E7-4C74-5962-AF22-F57A9EC9C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B76F6-B90F-7C49-07FF-2CB05D89A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0910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BDDA00-BCB0-382F-DD11-39C9DDE98B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77437F-6F04-5979-BF66-CA2E4644D6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3898E-BE78-D2E5-F102-1D54A466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27773-87F6-6F40-AE72-095CF84AE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F35D3-6429-BE6D-CDE1-32043871F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285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2EE6AE-2E06-28C0-97EC-91D039F1A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C1FD4-6FC1-122C-1629-20F1676BE6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C018E-ABE1-D564-D56C-4877EA883D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10086E-BEBB-499C-B639-E55C36F2003A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4A0998-08B4-0D39-C49A-20D6AFBF24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E7571-70F5-9C58-E46B-DDE433C85B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1E919-F6ED-42D8-ADEB-A8F60AB353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9930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AC21B3D8-6BBC-AF8C-8BCD-3173D77FC07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299EEFC-3CF6-B4B4-537B-F78AEC15BF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BR" b="1" dirty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  <a:cs typeface="Aharoni" panose="02010803020104030203" pitchFamily="2" charset="-79"/>
              </a:rPr>
              <a:t>Pesquisa Operacional I</a:t>
            </a:r>
            <a:br>
              <a:rPr lang="pt-BR" b="1" dirty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  <a:cs typeface="Aharoni" panose="02010803020104030203" pitchFamily="2" charset="-79"/>
              </a:rPr>
            </a:br>
            <a:r>
              <a:rPr lang="pt-BR" b="1" dirty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  <a:cs typeface="Aharoni" panose="02010803020104030203" pitchFamily="2" charset="-79"/>
              </a:rPr>
              <a:t>Dualidade – parte 2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6436EA4-6650-702D-7E7D-FA24DC8FD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16850"/>
            <a:ext cx="9144000" cy="1655762"/>
          </a:xfrm>
        </p:spPr>
        <p:txBody>
          <a:bodyPr/>
          <a:lstStyle/>
          <a:p>
            <a:pPr algn="l"/>
            <a:r>
              <a:rPr lang="en-US" sz="2400" dirty="0">
                <a:solidFill>
                  <a:srgbClr val="515254"/>
                </a:solidFill>
                <a:latin typeface="Hagrid Text"/>
                <a:ea typeface="Hagrid Text"/>
                <a:cs typeface="Hagrid Text"/>
                <a:sym typeface="Hagrid Text"/>
              </a:rPr>
              <a:t>Profª Dra. Andréa Bonifácio</a:t>
            </a:r>
          </a:p>
          <a:p>
            <a:pPr algn="l"/>
            <a:r>
              <a:rPr lang="en-US" sz="2400" dirty="0">
                <a:solidFill>
                  <a:srgbClr val="515254"/>
                </a:solidFill>
                <a:latin typeface="Hagrid Text"/>
                <a:ea typeface="Hagrid Text"/>
                <a:cs typeface="Hagrid Text"/>
                <a:sym typeface="Hagrid Text"/>
              </a:rPr>
              <a:t>Email: andreabonifacio@uniriotec.br</a:t>
            </a:r>
          </a:p>
          <a:p>
            <a:endParaRPr lang="pt-BR" dirty="0"/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C45EB20E-219A-FEE3-7050-9CD6BE3F5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663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D5CCC-5088-4018-2EED-07148B70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4DAAE0E5-058C-7075-7C2A-EBE1B016550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C45EDF3-4B43-F079-6F0A-566FF3FE5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33186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Exemplo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 de 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d</a:t>
            </a:r>
            <a:r>
              <a:rPr lang="en-US" sz="6000" b="1" dirty="0" err="1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ualidade</a:t>
            </a:r>
            <a:endParaRPr lang="pt-BR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233B42A-F23F-C932-196E-C22416C05D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36618"/>
            <a:ext cx="9144000" cy="941294"/>
          </a:xfrm>
        </p:spPr>
        <p:txBody>
          <a:bodyPr/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b="1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Problema de Maximização de lucro de uma empresa</a:t>
            </a:r>
            <a:endParaRPr lang="pt-BR" b="1" dirty="0"/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B9D5058B-9A00-4E5F-69BB-49E37CC73E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BB64CD80-1E32-6EA1-5706-678BAD1409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7753085"/>
              </p:ext>
            </p:extLst>
          </p:nvPr>
        </p:nvGraphicFramePr>
        <p:xfrm>
          <a:off x="1729878" y="3077912"/>
          <a:ext cx="8732243" cy="319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3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3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1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264">
                <a:tc rowSpan="2"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Recursos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Exigências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Disponibilidade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264">
                <a:tc v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Produto 1</a:t>
                      </a:r>
                      <a:r>
                        <a:rPr lang="pt-BR" b="1" baseline="0" dirty="0"/>
                        <a:t> </a:t>
                      </a:r>
                      <a:endParaRPr lang="pt-BR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Produto 2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26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Trabalho (h/unid.)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 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0922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Matéria-prima (Kg/unid.)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36 Kg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0922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Espaço físico (m</a:t>
                      </a:r>
                      <a:r>
                        <a:rPr lang="pt-BR" baseline="30000" dirty="0"/>
                        <a:t>2</a:t>
                      </a:r>
                      <a:r>
                        <a:rPr lang="pt-BR" b="1" dirty="0"/>
                        <a:t>/unid.)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40m</a:t>
                      </a:r>
                      <a:r>
                        <a:rPr lang="pt-BR" baseline="30000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26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Lucro ($/unid.)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4956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C2D9C-397D-DE68-95B7-8AA48B36D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BCC1F951-0AAF-4339-0180-9187D7C7FE2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A8245B4F-A05A-DCCA-5011-9CAD3E0AE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61003"/>
            <a:ext cx="9144000" cy="393599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(Primal) Max z = 4x</a:t>
            </a:r>
            <a:r>
              <a:rPr lang="pt-BR" baseline="-25000" dirty="0"/>
              <a:t>1</a:t>
            </a:r>
            <a:r>
              <a:rPr lang="pt-BR" dirty="0"/>
              <a:t> + 5x</a:t>
            </a:r>
            <a:r>
              <a:rPr lang="pt-BR" baseline="-25000" dirty="0"/>
              <a:t>2</a:t>
            </a:r>
            <a:endParaRPr lang="pt-BR" dirty="0"/>
          </a:p>
          <a:p>
            <a:r>
              <a:rPr lang="pt-BR" dirty="0"/>
              <a:t>s.a.</a:t>
            </a:r>
          </a:p>
          <a:p>
            <a:r>
              <a:rPr lang="pt-BR" dirty="0"/>
              <a:t>x</a:t>
            </a:r>
            <a:r>
              <a:rPr lang="pt-BR" baseline="-25000" dirty="0"/>
              <a:t>1 </a:t>
            </a:r>
            <a:r>
              <a:rPr lang="pt-BR" dirty="0"/>
              <a:t>+ 2x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>
                <a:sym typeface="Symbol"/>
              </a:rPr>
              <a:t></a:t>
            </a:r>
            <a:r>
              <a:rPr lang="pt-BR" dirty="0"/>
              <a:t> 10 (trabalho)</a:t>
            </a:r>
          </a:p>
          <a:p>
            <a:r>
              <a:rPr lang="pt-BR" dirty="0"/>
              <a:t>6x</a:t>
            </a:r>
            <a:r>
              <a:rPr lang="pt-BR" baseline="-25000" dirty="0"/>
              <a:t>1</a:t>
            </a:r>
            <a:r>
              <a:rPr lang="pt-BR" dirty="0"/>
              <a:t> + 6x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>
                <a:sym typeface="Symbol"/>
              </a:rPr>
              <a:t></a:t>
            </a:r>
            <a:r>
              <a:rPr lang="pt-BR" dirty="0"/>
              <a:t> 36 (matéria-prima)</a:t>
            </a:r>
          </a:p>
          <a:p>
            <a:r>
              <a:rPr lang="pt-BR" dirty="0"/>
              <a:t>8x</a:t>
            </a:r>
            <a:r>
              <a:rPr lang="pt-BR" baseline="-25000" dirty="0"/>
              <a:t>1</a:t>
            </a:r>
            <a:r>
              <a:rPr lang="pt-BR" dirty="0"/>
              <a:t> + 4x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>
                <a:sym typeface="Symbol"/>
              </a:rPr>
              <a:t></a:t>
            </a:r>
            <a:r>
              <a:rPr lang="pt-BR" dirty="0"/>
              <a:t> 40 (espaço físico)</a:t>
            </a:r>
          </a:p>
          <a:p>
            <a:r>
              <a:rPr lang="pt-BR" dirty="0"/>
              <a:t>x</a:t>
            </a:r>
            <a:r>
              <a:rPr lang="pt-BR" baseline="-25000" dirty="0"/>
              <a:t>1</a:t>
            </a:r>
            <a:r>
              <a:rPr lang="pt-BR" dirty="0"/>
              <a:t>, x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>
                <a:sym typeface="Symbol"/>
              </a:rPr>
              <a:t></a:t>
            </a:r>
            <a:r>
              <a:rPr lang="pt-BR" dirty="0"/>
              <a:t> 0</a:t>
            </a:r>
          </a:p>
          <a:p>
            <a:endParaRPr lang="pt-BR" dirty="0"/>
          </a:p>
          <a:p>
            <a:r>
              <a:rPr lang="pt-BR" dirty="0"/>
              <a:t>Solução: x</a:t>
            </a:r>
            <a:r>
              <a:rPr lang="pt-BR" baseline="-25000" dirty="0"/>
              <a:t>1</a:t>
            </a:r>
            <a:r>
              <a:rPr lang="pt-BR" dirty="0"/>
              <a:t> = 2, x</a:t>
            </a:r>
            <a:r>
              <a:rPr lang="pt-BR" baseline="-25000" dirty="0"/>
              <a:t>2</a:t>
            </a:r>
            <a:r>
              <a:rPr lang="pt-BR" dirty="0"/>
              <a:t> = 4 e s</a:t>
            </a:r>
            <a:r>
              <a:rPr lang="pt-BR" baseline="-25000" dirty="0"/>
              <a:t>3</a:t>
            </a:r>
            <a:r>
              <a:rPr lang="pt-BR" dirty="0"/>
              <a:t> = 8, onde s</a:t>
            </a:r>
            <a:r>
              <a:rPr lang="pt-BR" baseline="-25000" dirty="0"/>
              <a:t>3</a:t>
            </a:r>
            <a:r>
              <a:rPr lang="pt-BR" dirty="0"/>
              <a:t> é a folga da restrição de espaço físico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6B9A64BC-B6F9-9BB4-A431-09DE55DC9C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712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21854-DADA-F340-57BF-8F5DA6BE4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0797023D-17F8-9CC4-709D-3F0CB60DC0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6B55EBEA-C0E6-9EBF-6DDB-645CBC452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61003"/>
            <a:ext cx="9144000" cy="3935994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(Dual) min z = 10w</a:t>
            </a:r>
            <a:r>
              <a:rPr lang="pt-BR" baseline="-25000" dirty="0"/>
              <a:t>1</a:t>
            </a:r>
            <a:r>
              <a:rPr lang="pt-BR" dirty="0"/>
              <a:t> + 36w</a:t>
            </a:r>
            <a:r>
              <a:rPr lang="pt-BR" baseline="-25000" dirty="0"/>
              <a:t>2</a:t>
            </a:r>
            <a:r>
              <a:rPr lang="pt-BR" dirty="0"/>
              <a:t> + 40w</a:t>
            </a:r>
            <a:r>
              <a:rPr lang="pt-BR" baseline="-25000" dirty="0"/>
              <a:t>3</a:t>
            </a:r>
            <a:r>
              <a:rPr lang="pt-BR" dirty="0"/>
              <a:t> </a:t>
            </a:r>
          </a:p>
          <a:p>
            <a:r>
              <a:rPr lang="pt-BR" dirty="0"/>
              <a:t>s.a.</a:t>
            </a:r>
          </a:p>
          <a:p>
            <a:r>
              <a:rPr lang="pt-BR" dirty="0">
                <a:sym typeface="Symbol"/>
              </a:rPr>
              <a:t>w</a:t>
            </a:r>
            <a:r>
              <a:rPr lang="pt-BR" baseline="-25000" dirty="0"/>
              <a:t>1</a:t>
            </a:r>
            <a:r>
              <a:rPr lang="pt-BR" dirty="0">
                <a:sym typeface="Symbol"/>
              </a:rPr>
              <a:t> + 6w</a:t>
            </a:r>
            <a:r>
              <a:rPr lang="pt-BR" baseline="-25000" dirty="0"/>
              <a:t>2</a:t>
            </a:r>
            <a:r>
              <a:rPr lang="pt-BR" dirty="0">
                <a:sym typeface="Symbol"/>
              </a:rPr>
              <a:t> + 8w</a:t>
            </a:r>
            <a:r>
              <a:rPr lang="pt-BR" baseline="-25000" dirty="0"/>
              <a:t>3</a:t>
            </a:r>
            <a:r>
              <a:rPr lang="pt-BR" dirty="0">
                <a:sym typeface="Symbol"/>
              </a:rPr>
              <a:t>  4</a:t>
            </a:r>
          </a:p>
          <a:p>
            <a:r>
              <a:rPr lang="pt-BR" dirty="0">
                <a:sym typeface="Symbol"/>
              </a:rPr>
              <a:t>2w</a:t>
            </a:r>
            <a:r>
              <a:rPr lang="pt-BR" baseline="-25000" dirty="0"/>
              <a:t>1</a:t>
            </a:r>
            <a:r>
              <a:rPr lang="pt-BR" dirty="0">
                <a:sym typeface="Symbol"/>
              </a:rPr>
              <a:t> + 6w</a:t>
            </a:r>
            <a:r>
              <a:rPr lang="pt-BR" baseline="-25000" dirty="0"/>
              <a:t>2</a:t>
            </a:r>
            <a:r>
              <a:rPr lang="pt-BR" dirty="0">
                <a:sym typeface="Symbol"/>
              </a:rPr>
              <a:t> + 4w</a:t>
            </a:r>
            <a:r>
              <a:rPr lang="pt-BR" baseline="-25000" dirty="0"/>
              <a:t>3</a:t>
            </a:r>
            <a:r>
              <a:rPr lang="pt-BR" dirty="0">
                <a:sym typeface="Symbol"/>
              </a:rPr>
              <a:t>  5</a:t>
            </a:r>
          </a:p>
          <a:p>
            <a:r>
              <a:rPr lang="pt-BR" dirty="0" err="1">
                <a:sym typeface="Symbol"/>
              </a:rPr>
              <a:t>w</a:t>
            </a:r>
            <a:r>
              <a:rPr lang="pt-BR" baseline="-25000" dirty="0" err="1">
                <a:sym typeface="Symbol"/>
              </a:rPr>
              <a:t>i</a:t>
            </a:r>
            <a:r>
              <a:rPr lang="pt-BR" dirty="0">
                <a:sym typeface="Symbol"/>
              </a:rPr>
              <a:t>  0,</a:t>
            </a:r>
          </a:p>
          <a:p>
            <a:r>
              <a:rPr lang="pt-BR" dirty="0">
                <a:sym typeface="Symbol"/>
              </a:rPr>
              <a:t> onde:</a:t>
            </a:r>
          </a:p>
          <a:p>
            <a:r>
              <a:rPr lang="pt-BR" dirty="0">
                <a:sym typeface="Symbol"/>
              </a:rPr>
              <a:t>w</a:t>
            </a:r>
            <a:r>
              <a:rPr lang="pt-BR" baseline="-25000" dirty="0"/>
              <a:t>1</a:t>
            </a:r>
            <a:r>
              <a:rPr lang="pt-BR" dirty="0">
                <a:sym typeface="Symbol"/>
              </a:rPr>
              <a:t> = valor marginal de uma hora de trabalho;</a:t>
            </a:r>
          </a:p>
          <a:p>
            <a:r>
              <a:rPr lang="pt-BR" dirty="0">
                <a:sym typeface="Symbol"/>
              </a:rPr>
              <a:t>w</a:t>
            </a:r>
            <a:r>
              <a:rPr lang="pt-BR" baseline="-25000" dirty="0"/>
              <a:t>2</a:t>
            </a:r>
            <a:r>
              <a:rPr lang="pt-BR" dirty="0">
                <a:sym typeface="Symbol"/>
              </a:rPr>
              <a:t> = valor marginal de 1 Kg de matéria-prima;</a:t>
            </a:r>
          </a:p>
          <a:p>
            <a:r>
              <a:rPr lang="pt-BR" dirty="0">
                <a:sym typeface="Symbol"/>
              </a:rPr>
              <a:t>w</a:t>
            </a:r>
            <a:r>
              <a:rPr lang="pt-BR" baseline="-25000" dirty="0"/>
              <a:t>3</a:t>
            </a:r>
            <a:r>
              <a:rPr lang="pt-BR" dirty="0">
                <a:sym typeface="Symbol"/>
              </a:rPr>
              <a:t> = valor marginal de 1 m</a:t>
            </a:r>
            <a:r>
              <a:rPr lang="pt-BR" baseline="30000" dirty="0">
                <a:sym typeface="Symbol"/>
              </a:rPr>
              <a:t>2</a:t>
            </a:r>
            <a:r>
              <a:rPr lang="pt-BR" dirty="0">
                <a:sym typeface="Symbol"/>
              </a:rPr>
              <a:t> de espaço físico.</a:t>
            </a:r>
          </a:p>
          <a:p>
            <a:r>
              <a:rPr lang="pt-BR" dirty="0">
                <a:sym typeface="Symbol"/>
              </a:rPr>
              <a:t>S = w</a:t>
            </a:r>
            <a:r>
              <a:rPr lang="pt-BR" baseline="-25000" dirty="0">
                <a:sym typeface="Symbol"/>
              </a:rPr>
              <a:t>1</a:t>
            </a:r>
            <a:r>
              <a:rPr lang="pt-BR" dirty="0">
                <a:sym typeface="Symbol"/>
              </a:rPr>
              <a:t> = 1, w</a:t>
            </a:r>
            <a:r>
              <a:rPr lang="pt-BR" baseline="-25000" dirty="0">
                <a:sym typeface="Symbol"/>
              </a:rPr>
              <a:t>2</a:t>
            </a:r>
            <a:r>
              <a:rPr lang="pt-BR" dirty="0">
                <a:sym typeface="Symbol"/>
              </a:rPr>
              <a:t> = ½ e w</a:t>
            </a:r>
            <a:r>
              <a:rPr lang="pt-BR" baseline="-25000" dirty="0">
                <a:sym typeface="Symbol"/>
              </a:rPr>
              <a:t>3</a:t>
            </a:r>
            <a:r>
              <a:rPr lang="pt-BR" dirty="0">
                <a:sym typeface="Symbol"/>
              </a:rPr>
              <a:t> = 0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6A7C4C43-A4B3-E759-2F51-414F57E499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8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07D46-9EAF-17F6-D485-649B0DDE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CE9A65E5-A102-2637-08FB-35BF69F303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C77CB768-AD9D-92CD-6B69-E2B7C56930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068309"/>
            <a:ext cx="9144000" cy="941294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b="1" dirty="0"/>
              <a:t>Tabela simplex ótima do Problema Primal de maximização do lucro da empresa 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C87917C2-B7BF-F8E6-BC74-F205516E72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  <p:graphicFrame>
        <p:nvGraphicFramePr>
          <p:cNvPr id="9" name="Tabela 3">
            <a:extLst>
              <a:ext uri="{FF2B5EF4-FFF2-40B4-BE49-F238E27FC236}">
                <a16:creationId xmlns:a16="http://schemas.microsoft.com/office/drawing/2014/main" id="{9F586B9A-B13F-0998-3A5E-93A7A06EEC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000818"/>
              </p:ext>
            </p:extLst>
          </p:nvPr>
        </p:nvGraphicFramePr>
        <p:xfrm>
          <a:off x="1523999" y="2621339"/>
          <a:ext cx="9389035" cy="316835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28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0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0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0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0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80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08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51929"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V.B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X</a:t>
                      </a:r>
                      <a:r>
                        <a:rPr lang="pt-BR" sz="1800" baseline="-25000" dirty="0">
                          <a:effectLst/>
                        </a:rPr>
                        <a:t>1</a:t>
                      </a:r>
                      <a:endParaRPr lang="pt-BR" sz="1800" baseline="-250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X</a:t>
                      </a:r>
                      <a:r>
                        <a:rPr lang="pt-BR" sz="1800" baseline="-25000" dirty="0">
                          <a:effectLst/>
                        </a:rPr>
                        <a:t>2</a:t>
                      </a:r>
                      <a:endParaRPr lang="pt-BR" sz="1800" baseline="-250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s</a:t>
                      </a:r>
                      <a:r>
                        <a:rPr lang="pt-BR" sz="1800" baseline="-25000" dirty="0">
                          <a:effectLst/>
                        </a:rPr>
                        <a:t>1</a:t>
                      </a:r>
                      <a:endParaRPr lang="pt-BR" sz="1800" baseline="-250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s</a:t>
                      </a:r>
                      <a:r>
                        <a:rPr lang="pt-BR" sz="1800" baseline="-25000" dirty="0">
                          <a:effectLst/>
                        </a:rPr>
                        <a:t>2</a:t>
                      </a:r>
                      <a:endParaRPr lang="pt-BR" sz="1800" baseline="-250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s</a:t>
                      </a:r>
                      <a:r>
                        <a:rPr lang="pt-BR" sz="1800" baseline="-25000" dirty="0">
                          <a:effectLst/>
                        </a:rPr>
                        <a:t>3</a:t>
                      </a:r>
                      <a:endParaRPr lang="pt-BR" sz="1800" baseline="-250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RHS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929"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>
                          <a:effectLst/>
                        </a:rPr>
                        <a:t>Z</a:t>
                      </a:r>
                      <a:endParaRPr lang="pt-BR" sz="180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0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0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b="1" dirty="0"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pt-BR" sz="1800" b="1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b="1" dirty="0">
                          <a:effectLst/>
                          <a:latin typeface="+mn-lt"/>
                          <a:ea typeface="+mn-ea"/>
                          <a:cs typeface="+mn-cs"/>
                        </a:rPr>
                        <a:t>½</a:t>
                      </a:r>
                      <a:endParaRPr lang="pt-BR" sz="1800" b="1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b="1" dirty="0">
                          <a:effectLst/>
                        </a:rPr>
                        <a:t>0</a:t>
                      </a:r>
                      <a:endParaRPr lang="pt-BR" sz="1800" b="1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28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1929"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X</a:t>
                      </a:r>
                      <a:r>
                        <a:rPr lang="pt-BR" sz="1800" baseline="-25000" dirty="0">
                          <a:effectLst/>
                        </a:rPr>
                        <a:t>2</a:t>
                      </a:r>
                      <a:endParaRPr lang="pt-BR" sz="1800" baseline="-250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1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-1/6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0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929"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X</a:t>
                      </a:r>
                      <a:r>
                        <a:rPr lang="pt-BR" sz="1800" baseline="-25000" dirty="0">
                          <a:effectLst/>
                        </a:rPr>
                        <a:t>1</a:t>
                      </a:r>
                      <a:endParaRPr lang="pt-BR" sz="1800" baseline="-250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0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-1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1/3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0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2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636"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pt-BR" sz="1800" baseline="-25000" dirty="0"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endParaRPr lang="pt-BR" sz="1800" baseline="-250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0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>
                          <a:effectLst/>
                        </a:rPr>
                        <a:t>0</a:t>
                      </a:r>
                      <a:endParaRPr lang="pt-BR" sz="180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-2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>
                          <a:effectLst/>
                        </a:rPr>
                        <a:t>1</a:t>
                      </a:r>
                      <a:endParaRPr lang="pt-BR" sz="180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457200"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BR" sz="1800" dirty="0">
                          <a:effectLst/>
                        </a:rPr>
                        <a:t>8</a:t>
                      </a:r>
                      <a:endParaRPr lang="pt-BR" sz="1800" dirty="0">
                        <a:effectLst/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5717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9726E-5459-5FC1-E021-A309228BC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2E5DF1F7-2048-C333-A7B4-BA41EFD8A4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2D4877F-AA02-1F94-78C2-F9CAAED582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Uma interpretação Econômica da dualidade: motivação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C87FB2-9F31-9238-C9EC-CB09004C6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36618"/>
            <a:ext cx="9144000" cy="3935994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pt-BR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Suponhamos que o problema primal seja de alocação de recursos, onde temos m recursos disponíveis nas quantidades b</a:t>
            </a:r>
            <a:r>
              <a:rPr lang="pt-BR" baseline="-25000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1</a:t>
            </a:r>
            <a:r>
              <a:rPr lang="pt-BR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, ..., </a:t>
            </a:r>
            <a:r>
              <a:rPr lang="pt-BR" dirty="0" err="1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b</a:t>
            </a:r>
            <a:r>
              <a:rPr lang="pt-BR" baseline="-25000" dirty="0" err="1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m</a:t>
            </a:r>
            <a:r>
              <a:rPr lang="pt-BR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 com os quais desejamos fabricar n produtos, nas quantidades x</a:t>
            </a:r>
            <a:r>
              <a:rPr lang="pt-BR" baseline="-25000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1</a:t>
            </a:r>
            <a:r>
              <a:rPr lang="pt-BR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,..., </a:t>
            </a:r>
            <a:r>
              <a:rPr lang="pt-BR" dirty="0" err="1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x</a:t>
            </a:r>
            <a:r>
              <a:rPr lang="pt-BR" baseline="-25000" dirty="0" err="1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n</a:t>
            </a:r>
            <a:r>
              <a:rPr lang="pt-BR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 a serem determinadas. Cada unidade de um produto j consome </a:t>
            </a:r>
            <a:r>
              <a:rPr lang="pt-BR" dirty="0" err="1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a</a:t>
            </a:r>
            <a:r>
              <a:rPr lang="pt-BR" baseline="-25000" dirty="0" err="1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ij</a:t>
            </a:r>
            <a:r>
              <a:rPr lang="pt-BR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 unidades do recurso i trazendo um lucro de </a:t>
            </a:r>
            <a:r>
              <a:rPr lang="pt-BR" dirty="0" err="1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c</a:t>
            </a:r>
            <a:r>
              <a:rPr lang="pt-BR" baseline="-25000" dirty="0" err="1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j</a:t>
            </a:r>
            <a:r>
              <a:rPr lang="pt-BR" dirty="0">
                <a:latin typeface="Calibri" panose="020F0502020204030204" pitchFamily="34" charset="0"/>
                <a:ea typeface="Hagrid Text"/>
                <a:cs typeface="Calibri" panose="020F0502020204030204" pitchFamily="34" charset="0"/>
                <a:sym typeface="Hagrid Text"/>
              </a:rPr>
              <a:t> unidades monetárias. Queremos determinar a quantidade a ser fabricada de cada produto, de modo a maximizar o lucro.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CA4BE204-4078-D35E-8DD5-1AF70C1181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540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A9BF6-49D6-D638-9124-A614D86B1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F6730301-C430-2818-D9FD-6DA701E414D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1D831653-0476-F581-3E10-B979BEA592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61003"/>
            <a:ext cx="9144000" cy="677763"/>
          </a:xfrm>
        </p:spPr>
        <p:txBody>
          <a:bodyPr numCol="2">
            <a:normAutofit/>
          </a:bodyPr>
          <a:lstStyle/>
          <a:p>
            <a:r>
              <a:rPr lang="pt-BR" b="1" dirty="0">
                <a:sym typeface="Symbol"/>
              </a:rPr>
              <a:t>Primal</a:t>
            </a:r>
          </a:p>
          <a:p>
            <a:r>
              <a:rPr lang="pt-BR" b="1" dirty="0">
                <a:sym typeface="Symbol"/>
              </a:rPr>
              <a:t>Dual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6DE09A36-EA7E-91C0-3356-9E829F57F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6948AE1D-984D-F7A8-96FE-C69F61D2F6C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10777" y="2138766"/>
                <a:ext cx="4040188" cy="3951288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/>
                      </a:rPr>
                      <m:t>𝑀𝑎𝑥</m:t>
                    </m:r>
                    <m:r>
                      <a:rPr lang="pt-BR" i="1" smtClean="0">
                        <a:latin typeface="Cambria Math"/>
                      </a:rPr>
                      <m:t> </m:t>
                    </m:r>
                    <m:r>
                      <a:rPr lang="pt-BR" i="1" smtClean="0">
                        <a:latin typeface="Cambria Math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/>
                          </a:rPr>
                          <m:t>𝑥</m:t>
                        </m:r>
                      </m:e>
                    </m:d>
                    <m:r>
                      <a:rPr lang="pt-BR" i="1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/>
                          </a:rPr>
                          <m:t>𝑗</m:t>
                        </m:r>
                        <m:r>
                          <a:rPr lang="pt-BR" i="1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/>
                              </a:rPr>
                              <m:t>𝑐</m:t>
                            </m:r>
                          </m:e>
                          <m:sub>
                            <m:r>
                              <a:rPr lang="pt-BR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pt-BR" i="1">
                        <a:latin typeface="Cambria Math"/>
                      </a:rPr>
                      <m:t>  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𝑗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≤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/>
                        </a:rPr>
                        <m:t>   </m:t>
                      </m:r>
                    </m:oMath>
                  </m:oMathPara>
                </a14:m>
                <a:endParaRPr lang="pt-BR" i="1" dirty="0">
                  <a:latin typeface="Cambria Math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i="1" dirty="0">
                  <a:latin typeface="Cambria Math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/>
                        </a:rPr>
                        <m:t>𝑖</m:t>
                      </m:r>
                      <m:r>
                        <a:rPr lang="pt-BR" i="1">
                          <a:latin typeface="Cambria Math"/>
                        </a:rPr>
                        <m:t>=1,…,</m:t>
                      </m:r>
                      <m:r>
                        <a:rPr lang="pt-BR" i="1">
                          <a:latin typeface="Cambria Math"/>
                        </a:rPr>
                        <m:t>𝑚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i="1">
                          <a:latin typeface="Cambria Math"/>
                          <a:ea typeface="Cambria Math"/>
                        </a:rPr>
                        <m:t>≥</m:t>
                      </m:r>
                      <m:r>
                        <a:rPr lang="pt-BR">
                          <a:latin typeface="Cambria Math"/>
                          <a:ea typeface="Cambria Math"/>
                        </a:rPr>
                        <m:t>0                </m:t>
                      </m:r>
                      <m:r>
                        <m:rPr>
                          <m:sty m:val="p"/>
                        </m:rPr>
                        <a:rPr lang="pt-BR">
                          <a:latin typeface="Cambria Math"/>
                          <a:ea typeface="Cambria Math"/>
                        </a:rPr>
                        <m:t>j</m:t>
                      </m:r>
                      <m:r>
                        <a:rPr lang="pt-BR">
                          <a:latin typeface="Cambria Math"/>
                          <a:ea typeface="Cambria Math"/>
                        </a:rPr>
                        <m:t>=1,…,</m:t>
                      </m:r>
                      <m:r>
                        <m:rPr>
                          <m:sty m:val="p"/>
                        </m:rPr>
                        <a:rPr lang="pt-BR">
                          <a:latin typeface="Cambria Math"/>
                          <a:ea typeface="Cambria Math"/>
                        </a:rPr>
                        <m:t>n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6948AE1D-984D-F7A8-96FE-C69F61D2F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777" y="2138766"/>
                <a:ext cx="4040188" cy="3951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Espaço Reservado para Conteúdo 6">
                <a:extLst>
                  <a:ext uri="{FF2B5EF4-FFF2-40B4-BE49-F238E27FC236}">
                    <a16:creationId xmlns:a16="http://schemas.microsoft.com/office/drawing/2014/main" id="{48EFA7D0-73B7-089A-77C8-E49ADC76A9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10314" y="2138766"/>
                <a:ext cx="4817035" cy="3951288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/>
                      </a:rPr>
                      <m:t>𝑀𝑖𝑛</m:t>
                    </m:r>
                    <m:r>
                      <a:rPr lang="pt-BR" i="1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pt-BR" i="1">
                            <a:latin typeface="Cambria Math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/>
                          </a:rPr>
                          <m:t>𝑤</m:t>
                        </m:r>
                      </m:e>
                    </m:d>
                    <m:r>
                      <a:rPr lang="pt-BR" i="1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i="1">
                            <a:latin typeface="Cambria Math"/>
                          </a:rPr>
                          <m:t>𝑖</m:t>
                        </m:r>
                        <m:r>
                          <a:rPr lang="pt-BR" i="1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/>
                          </a:rPr>
                          <m:t>𝑚</m:t>
                        </m:r>
                      </m:sup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i="1">
                        <a:latin typeface="Cambria Math"/>
                      </a:rPr>
                      <m:t>  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≥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/>
                        </a:rPr>
                        <m:t>   </m:t>
                      </m:r>
                    </m:oMath>
                  </m:oMathPara>
                </a14:m>
                <a:endParaRPr lang="pt-BR" i="1" dirty="0">
                  <a:latin typeface="Cambria Math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i="1" dirty="0">
                  <a:latin typeface="Cambria Math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/>
                        </a:rPr>
                        <m:t> </m:t>
                      </m:r>
                      <m:r>
                        <a:rPr lang="pt-BR" i="1">
                          <a:latin typeface="Cambria Math"/>
                        </a:rPr>
                        <m:t>𝑗</m:t>
                      </m:r>
                      <m:r>
                        <a:rPr lang="pt-BR" i="1">
                          <a:latin typeface="Cambria Math"/>
                        </a:rPr>
                        <m:t>=1,…,</m:t>
                      </m:r>
                      <m:r>
                        <a:rPr lang="pt-BR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  <a:ea typeface="Cambria Math"/>
                        </a:rPr>
                        <m:t>≥</m:t>
                      </m:r>
                      <m:r>
                        <a:rPr lang="pt-BR">
                          <a:latin typeface="Cambria Math"/>
                          <a:ea typeface="Cambria Math"/>
                        </a:rPr>
                        <m:t>0                </m:t>
                      </m:r>
                      <m:r>
                        <m:rPr>
                          <m:sty m:val="p"/>
                        </m:rPr>
                        <a:rPr lang="pt-BR">
                          <a:latin typeface="Cambria Math"/>
                          <a:ea typeface="Cambria Math"/>
                        </a:rPr>
                        <m:t>i</m:t>
                      </m:r>
                      <m:r>
                        <a:rPr lang="pt-BR">
                          <a:latin typeface="Cambria Math"/>
                          <a:ea typeface="Cambria Math"/>
                        </a:rPr>
                        <m:t>=1,…,</m:t>
                      </m:r>
                      <m:r>
                        <m:rPr>
                          <m:sty m:val="p"/>
                        </m:rPr>
                        <a:rPr lang="pt-BR">
                          <a:latin typeface="Cambria Math"/>
                          <a:ea typeface="Cambria Math"/>
                        </a:rPr>
                        <m:t>m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8" name="Espaço Reservado para Conteúdo 6">
                <a:extLst>
                  <a:ext uri="{FF2B5EF4-FFF2-40B4-BE49-F238E27FC236}">
                    <a16:creationId xmlns:a16="http://schemas.microsoft.com/office/drawing/2014/main" id="{48EFA7D0-73B7-089A-77C8-E49ADC76A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0314" y="2138766"/>
                <a:ext cx="4817035" cy="39512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880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D5FA-7453-BAD3-85DE-9C87A31F2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4BA163CF-A390-12F8-2107-12277C7B189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3F3540A-37A1-A544-9839-6A9B2FEEEA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Uma interpretação Econômica da dualidade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ubtítulo 2">
                <a:extLst>
                  <a:ext uri="{FF2B5EF4-FFF2-40B4-BE49-F238E27FC236}">
                    <a16:creationId xmlns:a16="http://schemas.microsoft.com/office/drawing/2014/main" id="{C47E4F01-1EA8-D530-255A-479E340834CD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524000" y="2371240"/>
                <a:ext cx="9144000" cy="3701371"/>
              </a:xfrm>
            </p:spPr>
            <p:txBody>
              <a:bodyPr>
                <a:no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lang="pt-BR" dirty="0"/>
                  <a:t>Suponhamos que x* e w* são soluções ótimas do primal e do dual, respectivamente. Então: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</m:t>
                      </m:r>
                      <m:r>
                        <a:rPr lang="pt-BR" b="0" i="1" baseline="-25000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∗</m:t>
                          </m:r>
                        </m:e>
                      </m:d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=</m:t>
                          </m:r>
                          <m:r>
                            <a:rPr lang="pt-BR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𝐷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𝑤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∗</m:t>
                          </m:r>
                        </m:e>
                      </m: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𝑤</m:t>
                      </m:r>
                      <m:r>
                        <a:rPr lang="pt-BR" b="0" i="1" baseline="30000" smtClean="0">
                          <a:latin typeface="Cambria Math"/>
                        </a:rPr>
                        <m:t>∗</m:t>
                      </m:r>
                      <m:r>
                        <a:rPr lang="pt-BR" b="0" i="1" smtClean="0">
                          <a:latin typeface="Cambria Math"/>
                        </a:rPr>
                        <m:t>.</m:t>
                      </m:r>
                      <m:r>
                        <a:rPr lang="pt-BR" b="0" i="1" smtClean="0">
                          <a:latin typeface="Cambria Math"/>
                        </a:rPr>
                        <m:t>𝑏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𝑤</m:t>
                              </m:r>
                              <m:r>
                                <a:rPr lang="pt-BR" b="0" i="1" baseline="30000" smtClean="0">
                                  <a:latin typeface="Cambria Math"/>
                                </a:rPr>
                                <m:t>∗</m:t>
                              </m:r>
                            </m:e>
                            <m:sub>
                              <m:r>
                                <a:rPr lang="pt-BR" i="1" baseline="-2500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/>
                        </a:rPr>
                        <m:t>  </m:t>
                      </m:r>
                    </m:oMath>
                  </m:oMathPara>
                </a14:m>
                <a:endParaRPr lang="pt-BR" dirty="0"/>
              </a:p>
              <a:p>
                <a:pPr>
                  <a:lnSpc>
                    <a:spcPct val="120000"/>
                  </a:lnSpc>
                </a:pPr>
                <a:r>
                  <a:rPr lang="pt-BR" dirty="0"/>
                  <a:t>Supondo agora b variável e derivando em relação a b, temos</a:t>
                </a:r>
              </a:p>
              <a:p>
                <a:pPr>
                  <a:lnSpc>
                    <a:spcPct val="120000"/>
                  </a:lnSpc>
                </a:pPr>
                <a:endParaRPr lang="pt-BR" dirty="0"/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/>
                              <a:ea typeface="Cambria Math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𝑄</m:t>
                          </m:r>
                          <m:r>
                            <a:rPr lang="pt-BR" b="0" i="1" baseline="-25000" smtClean="0">
                              <a:latin typeface="Cambria Math"/>
                              <a:ea typeface="Cambria Math"/>
                            </a:rPr>
                            <m:t>𝑃</m:t>
                          </m:r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(</m:t>
                          </m:r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∗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)</m:t>
                          </m:r>
                        </m:num>
                        <m:den>
                          <m:r>
                            <a:rPr lang="pt-BR" i="1" smtClean="0">
                              <a:latin typeface="Cambria Math"/>
                              <a:ea typeface="Cambria Math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𝑏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</a:rPr>
                            <m:t>𝑤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Subtítulo 2">
                <a:extLst>
                  <a:ext uri="{FF2B5EF4-FFF2-40B4-BE49-F238E27FC236}">
                    <a16:creationId xmlns:a16="http://schemas.microsoft.com/office/drawing/2014/main" id="{C47E4F01-1EA8-D530-255A-479E34083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524000" y="2371240"/>
                <a:ext cx="9144000" cy="3701371"/>
              </a:xfrm>
              <a:blipFill>
                <a:blip r:embed="rId4"/>
                <a:stretch>
                  <a:fillRect l="-1000" b="-95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427102D8-ED25-BE0D-C707-F6E4E11137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286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DB337-8997-93CB-8767-6C2EEC37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80CF0344-0F10-DD57-F65A-97AF5E78890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C4E88E8-9CD5-17CE-E5DD-5D9B42A6F8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Uma interpretação Econômica da dualidade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1DBF421-BAFB-2E39-318F-5C26F66317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71240"/>
            <a:ext cx="9144000" cy="3701371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pt-BR" dirty="0"/>
              <a:t>w*: é a contribuição ao lucro por unidade de recurso i = 1, ..., m. As variáveis duais w*</a:t>
            </a:r>
            <a:r>
              <a:rPr lang="pt-BR" baseline="-25000" dirty="0"/>
              <a:t>i</a:t>
            </a:r>
            <a:r>
              <a:rPr lang="pt-BR" dirty="0"/>
              <a:t> são também chamadas os </a:t>
            </a:r>
            <a:r>
              <a:rPr lang="pt-BR" b="1" dirty="0"/>
              <a:t>preços-sombra (ou preços duais) </a:t>
            </a:r>
            <a:r>
              <a:rPr lang="pt-BR" dirty="0"/>
              <a:t>dos recursos utilizados.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BB70800D-DD84-BDD6-12AE-9CBA53C5F3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558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D134A-F3AA-2333-7672-DAF8586B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66D4D0C5-FABF-4537-DA90-B492E742398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270D45B-C77A-3035-CF14-91C1842CA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Uma interpretação Econômica da dualidade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237AAF-EE61-A948-8A95-8F5C328AE9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71240"/>
            <a:ext cx="9144000" cy="3701371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pt-BR" b="1" dirty="0"/>
              <a:t>Interpretação do Primal: </a:t>
            </a:r>
            <a:r>
              <a:rPr lang="pt-BR" dirty="0"/>
              <a:t>Problema de melhor utilização dos recursos, de modo a maximizar o lucro ou receita.</a:t>
            </a:r>
          </a:p>
          <a:p>
            <a:pPr algn="just">
              <a:lnSpc>
                <a:spcPct val="150000"/>
              </a:lnSpc>
            </a:pPr>
            <a:r>
              <a:rPr lang="pt-BR" b="1" dirty="0"/>
              <a:t>Interpretação do Dual: </a:t>
            </a:r>
            <a:r>
              <a:rPr lang="pt-BR" dirty="0"/>
              <a:t>Problema de determinação dos valores dos recursos, de modo a minimizar o custo total de obtenção desses recursos. 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EA79C12F-494F-3D80-112F-98E2A315F3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19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D134A-F3AA-2333-7672-DAF8586B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66D4D0C5-FABF-4537-DA90-B492E742398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270D45B-C77A-3035-CF14-91C1842CA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Algoritmo dual simplex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237AAF-EE61-A948-8A95-8F5C328AE9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71240"/>
            <a:ext cx="9144000" cy="3701371"/>
          </a:xfrm>
        </p:spPr>
        <p:txBody>
          <a:bodyPr/>
          <a:lstStyle/>
          <a:p>
            <a:pPr algn="just"/>
            <a:r>
              <a:rPr lang="pt-BR" dirty="0"/>
              <a:t>O método dual simplex lida com soluções básicas que são viáveis duais, mas não viável primal. O algoritmo se desloca no sentido de uma solução ótima tentando alcançar a viabilidade primal também.</a:t>
            </a:r>
          </a:p>
          <a:p>
            <a:pPr algn="just"/>
            <a:r>
              <a:rPr lang="pt-BR" dirty="0"/>
              <a:t>O algoritmo consiste em resolver simultaneamente o PPL dual no tableau primal e eliminando, por exemplo a necessidade de usar o método Big M sempre que não houver uma base inicial  do PPL primal viável mas houver uma base inicial dual viável. Esta é uma situação comum em problemas de pós-otimização, casos em que o algoritmo dual simplex é utilizado.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EA79C12F-494F-3D80-112F-98E2A315F3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762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D134A-F3AA-2333-7672-DAF8586B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66D4D0C5-FABF-4537-DA90-B492E742398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270D45B-C77A-3035-CF14-91C1842CA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Algoritmo dual simplex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237AAF-EE61-A948-8A95-8F5C328AE9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71240"/>
            <a:ext cx="9144000" cy="3701371"/>
          </a:xfrm>
        </p:spPr>
        <p:txBody>
          <a:bodyPr/>
          <a:lstStyle/>
          <a:p>
            <a:pPr algn="just"/>
            <a:r>
              <a:rPr lang="pt-BR" b="1" dirty="0"/>
              <a:t>Inicialização: </a:t>
            </a:r>
            <a:r>
              <a:rPr lang="pt-BR" dirty="0"/>
              <a:t>converta todas as restrições funcionais do tipo </a:t>
            </a:r>
            <a:r>
              <a:rPr lang="pt-BR" dirty="0">
                <a:sym typeface="Symbol"/>
              </a:rPr>
              <a:t> na forma , introduza variáveis de folga conforme necessário para obter um sistema de equações. Encontre uma Solução básica tal que os coeficientes na linha 0 do tableau simplex sejam não-negativas (PPL de maximização) ou negativas para as VNB (PPL de minimização). </a:t>
            </a:r>
          </a:p>
          <a:p>
            <a:pPr algn="just"/>
            <a:r>
              <a:rPr lang="pt-BR" dirty="0">
                <a:sym typeface="Symbol"/>
              </a:rPr>
              <a:t>Vá para o teste de viabilidade.</a:t>
            </a:r>
            <a:endParaRPr lang="pt-BR" dirty="0"/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EA79C12F-494F-3D80-112F-98E2A315F3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54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D134A-F3AA-2333-7672-DAF8586B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66D4D0C5-FABF-4537-DA90-B492E742398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270D45B-C77A-3035-CF14-91C1842CA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Algoritmo dual simplex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237AAF-EE61-A948-8A95-8F5C328AE9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71240"/>
            <a:ext cx="9144000" cy="3701371"/>
          </a:xfrm>
        </p:spPr>
        <p:txBody>
          <a:bodyPr/>
          <a:lstStyle/>
          <a:p>
            <a:r>
              <a:rPr lang="pt-BR" b="1" dirty="0"/>
              <a:t>Teste de viabilidade: </a:t>
            </a:r>
            <a:r>
              <a:rPr lang="pt-BR" dirty="0"/>
              <a:t>Se todas as VB são não-negativas, então essa solução é viável e, portanto, ótima; logo, pare. Caso contrário, vá para uma iteração.</a:t>
            </a:r>
          </a:p>
          <a:p>
            <a:endParaRPr lang="pt-BR" dirty="0"/>
          </a:p>
          <a:p>
            <a:r>
              <a:rPr lang="pt-BR" dirty="0"/>
              <a:t> Iteração:</a:t>
            </a:r>
          </a:p>
          <a:p>
            <a:pPr marL="0" indent="0">
              <a:buNone/>
            </a:pPr>
            <a:r>
              <a:rPr lang="pt-BR" b="1" dirty="0"/>
              <a:t>Passo 1 </a:t>
            </a:r>
            <a:r>
              <a:rPr lang="pt-BR" dirty="0"/>
              <a:t>– Condição de Saída: A variável básica com valor mais negativo deverá sair da base. 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EA79C12F-494F-3D80-112F-98E2A315F3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966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D134A-F3AA-2333-7672-DAF8586B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66D4D0C5-FABF-4537-DA90-B492E742398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270D45B-C77A-3035-CF14-91C1842CA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Algoritmo dual simplex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ubtítulo 2">
                <a:extLst>
                  <a:ext uri="{FF2B5EF4-FFF2-40B4-BE49-F238E27FC236}">
                    <a16:creationId xmlns:a16="http://schemas.microsoft.com/office/drawing/2014/main" id="{ED237AAF-EE61-A948-8A95-8F5C328AE9AA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524000" y="2371240"/>
                <a:ext cx="9144000" cy="3701371"/>
              </a:xfrm>
            </p:spPr>
            <p:txBody>
              <a:bodyPr>
                <a:normAutofit fontScale="77500" lnSpcReduction="20000"/>
              </a:bodyPr>
              <a:lstStyle/>
              <a:p>
                <a:pPr algn="just"/>
                <a:r>
                  <a:rPr lang="pt-BR" b="1" dirty="0"/>
                  <a:t>Passo 2 – Condição de </a:t>
                </a:r>
                <a:r>
                  <a:rPr lang="pt-BR" b="1" dirty="0" err="1"/>
                  <a:t>Otimalidade</a:t>
                </a:r>
                <a:r>
                  <a:rPr lang="pt-BR" b="1" dirty="0"/>
                  <a:t>: </a:t>
                </a:r>
                <a:r>
                  <a:rPr lang="pt-BR" dirty="0"/>
                  <a:t>Se a variável que sai da base está na linha r, sejam </a:t>
                </a:r>
                <a:r>
                  <a:rPr lang="pt-BR" dirty="0" err="1"/>
                  <a:t>c’</a:t>
                </a:r>
                <a:r>
                  <a:rPr lang="pt-BR" baseline="-25000" dirty="0" err="1"/>
                  <a:t>j</a:t>
                </a:r>
                <a:r>
                  <a:rPr lang="pt-BR" dirty="0"/>
                  <a:t> o</a:t>
                </a:r>
                <a:r>
                  <a:rPr lang="pt-BR" dirty="0">
                    <a:sym typeface="Symbol"/>
                  </a:rPr>
                  <a:t> coe</a:t>
                </a:r>
                <a:r>
                  <a:rPr lang="pt-BR" dirty="0"/>
                  <a:t>ficiente da VNB </a:t>
                </a:r>
                <a:r>
                  <a:rPr lang="pt-BR" dirty="0" err="1"/>
                  <a:t>x</a:t>
                </a:r>
                <a:r>
                  <a:rPr lang="pt-BR" baseline="-25000" dirty="0" err="1"/>
                  <a:t>j</a:t>
                </a:r>
                <a:r>
                  <a:rPr lang="pt-BR" dirty="0"/>
                  <a:t> na linha 0 e </a:t>
                </a:r>
                <a:r>
                  <a:rPr lang="pt-BR" dirty="0">
                    <a:sym typeface="Symbol"/>
                  </a:rPr>
                  <a:t></a:t>
                </a:r>
                <a:r>
                  <a:rPr lang="pt-BR" baseline="-25000" dirty="0" err="1">
                    <a:sym typeface="Symbol"/>
                  </a:rPr>
                  <a:t>rj</a:t>
                </a:r>
                <a:r>
                  <a:rPr lang="pt-BR" dirty="0">
                    <a:sym typeface="Symbol"/>
                  </a:rPr>
                  <a:t> o coeficiente da restrição da linha r e a coluna j da tabela simplex. A variável que entra na base é a VNB com </a:t>
                </a:r>
                <a:r>
                  <a:rPr lang="pt-BR" baseline="-25000" dirty="0" err="1">
                    <a:sym typeface="Symbol"/>
                  </a:rPr>
                  <a:t>rj</a:t>
                </a:r>
                <a:r>
                  <a:rPr lang="pt-BR" baseline="-25000" dirty="0">
                    <a:sym typeface="Symbol"/>
                  </a:rPr>
                  <a:t> </a:t>
                </a:r>
                <a:r>
                  <a:rPr lang="pt-BR" dirty="0">
                    <a:sym typeface="Symbol"/>
                  </a:rPr>
                  <a:t>&lt; 0 que corresponde a </a:t>
                </a:r>
              </a:p>
              <a:p>
                <a:pPr algn="just"/>
                <a:endParaRPr lang="pt-BR" dirty="0">
                  <a:sym typeface="Symbol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  <a:sym typeface="Symbol"/>
                            </a:rPr>
                            <m:t>𝑚𝑖𝑛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  <a:sym typeface="Symbol"/>
                            </a:rPr>
                            <m:t>𝑉𝑁𝐵</m:t>
                          </m:r>
                          <m:r>
                            <a:rPr lang="pt-BR" b="0" i="1" smtClean="0">
                              <a:latin typeface="Cambria Math"/>
                              <a:sym typeface="Symbol"/>
                            </a:rPr>
                            <m:t> 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  <a:sym typeface="Symbo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  <a:sym typeface="Symbol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pt-BR" i="1" smtClean="0"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sym typeface="Symbol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sym typeface="Symbo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  <a:sym typeface="Symbol"/>
                                        </a:rPr>
                                        <m:t>𝑐</m:t>
                                      </m:r>
                                      <m:r>
                                        <a:rPr lang="pt-BR" b="0" i="1" smtClean="0">
                                          <a:latin typeface="Cambria Math"/>
                                          <a:sym typeface="Symbol"/>
                                        </a:rPr>
                                        <m:t>′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  <a:sym typeface="Symbol"/>
                                        </a:rPr>
                                        <m:t>𝑗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sym typeface="Symbo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 smtClean="0">
                                          <a:latin typeface="Cambria Math"/>
                                          <a:ea typeface="Cambria Math"/>
                                          <a:sym typeface="Symbol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  <a:sym typeface="Symbol"/>
                                        </a:rPr>
                                        <m:t>𝑟𝑗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  <m:r>
                            <a:rPr lang="pt-BR" b="0" i="1" smtClean="0">
                              <a:latin typeface="Cambria Math"/>
                              <a:sym typeface="Symbol"/>
                            </a:rPr>
                            <m:t>, 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  <a:sym typeface="Symbol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  <a:sym typeface="Symbol"/>
                                </a:rPr>
                                <m:t>𝑟𝑗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  <a:sym typeface="Symbol"/>
                            </a:rPr>
                            <m:t>&lt;0</m:t>
                          </m:r>
                        </m:e>
                      </m:d>
                    </m:oMath>
                  </m:oMathPara>
                </a14:m>
                <a:endParaRPr lang="pt-BR" dirty="0">
                  <a:sym typeface="Symbol"/>
                </a:endParaRPr>
              </a:p>
              <a:p>
                <a:pPr marL="0" indent="0" algn="just">
                  <a:buNone/>
                </a:pPr>
                <a:endParaRPr lang="pt-BR" dirty="0">
                  <a:sym typeface="Symbol"/>
                </a:endParaRPr>
              </a:p>
              <a:p>
                <a:pPr marL="0" indent="0" algn="just">
                  <a:buNone/>
                </a:pPr>
                <a:r>
                  <a:rPr lang="pt-BR" dirty="0"/>
                  <a:t>Os empates são resolvidos arbitrariamente. Se </a:t>
                </a:r>
                <a:r>
                  <a:rPr lang="pt-BR" dirty="0">
                    <a:sym typeface="Symbol"/>
                  </a:rPr>
                  <a:t></a:t>
                </a:r>
                <a:r>
                  <a:rPr lang="pt-BR" baseline="-25000" dirty="0">
                    <a:sym typeface="Symbol"/>
                  </a:rPr>
                  <a:t> </a:t>
                </a:r>
                <a:r>
                  <a:rPr lang="pt-BR" baseline="-25000" dirty="0" err="1">
                    <a:sym typeface="Symbol"/>
                  </a:rPr>
                  <a:t>rj</a:t>
                </a:r>
                <a:r>
                  <a:rPr lang="pt-BR" dirty="0">
                    <a:sym typeface="Symbol"/>
                  </a:rPr>
                  <a:t>  0 para todas as VNB </a:t>
                </a:r>
                <a:r>
                  <a:rPr lang="pt-BR" dirty="0" err="1">
                    <a:sym typeface="Symbol"/>
                  </a:rPr>
                  <a:t>x</a:t>
                </a:r>
                <a:r>
                  <a:rPr lang="pt-BR" baseline="-25000" dirty="0" err="1"/>
                  <a:t>j</a:t>
                </a:r>
                <a:r>
                  <a:rPr lang="pt-BR" dirty="0">
                    <a:sym typeface="Symbol"/>
                  </a:rPr>
                  <a:t>, o pr</a:t>
                </a:r>
                <a:r>
                  <a:rPr lang="pt-BR" dirty="0"/>
                  <a:t>oblema não tem solução viável.</a:t>
                </a:r>
              </a:p>
              <a:p>
                <a:pPr algn="just"/>
                <a:r>
                  <a:rPr lang="pt-BR" b="1" dirty="0"/>
                  <a:t>Passo 3 </a:t>
                </a:r>
                <a:r>
                  <a:rPr lang="pt-BR" dirty="0"/>
                  <a:t>– Use a eliminação gaussiana e retorne para o teste de viabilidade.</a:t>
                </a:r>
              </a:p>
              <a:p>
                <a:pPr algn="just"/>
                <a:r>
                  <a:rPr lang="pt-BR" b="1" dirty="0"/>
                  <a:t>Passo 4 </a:t>
                </a:r>
                <a:r>
                  <a:rPr lang="pt-BR" dirty="0"/>
                  <a:t>– Repetir os passos 1 a 3 até que não existam valores </a:t>
                </a:r>
              </a:p>
              <a:p>
                <a:pPr marL="0" indent="0" algn="just">
                  <a:buNone/>
                </a:pPr>
                <a:r>
                  <a:rPr lang="pt-BR" dirty="0"/>
                  <a:t>negativos atribuídos às variáveis básicas.</a:t>
                </a:r>
              </a:p>
            </p:txBody>
          </p:sp>
        </mc:Choice>
        <mc:Fallback>
          <p:sp>
            <p:nvSpPr>
              <p:cNvPr id="3" name="Subtítulo 2">
                <a:extLst>
                  <a:ext uri="{FF2B5EF4-FFF2-40B4-BE49-F238E27FC236}">
                    <a16:creationId xmlns:a16="http://schemas.microsoft.com/office/drawing/2014/main" id="{ED237AAF-EE61-A948-8A95-8F5C328AE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524000" y="2371240"/>
                <a:ext cx="9144000" cy="3701371"/>
              </a:xfrm>
              <a:blipFill>
                <a:blip r:embed="rId4"/>
                <a:stretch>
                  <a:fillRect l="-693" t="-2730" r="-555" b="-23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EA79C12F-494F-3D80-112F-98E2A315F3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06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D134A-F3AA-2333-7672-DAF8586B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66D4D0C5-FABF-4537-DA90-B492E742398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0"/>
            <a:ext cx="7191374" cy="666119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270D45B-C77A-3035-CF14-91C1842CA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1482" y="915621"/>
            <a:ext cx="9389035" cy="1264822"/>
          </a:xfrm>
        </p:spPr>
        <p:txBody>
          <a:bodyPr>
            <a:noAutofit/>
          </a:bodyPr>
          <a:lstStyle/>
          <a:p>
            <a:r>
              <a:rPr lang="pt-BR" sz="45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ea typeface="Hagrid Text Bold"/>
                <a:cs typeface="Aharoni" panose="02010803020104030203" pitchFamily="2" charset="-79"/>
                <a:sym typeface="Hagrid Text Bold"/>
              </a:rPr>
              <a:t>Algoritmo dual simplex</a:t>
            </a:r>
            <a:endParaRPr lang="pt-BR" sz="45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Aharoni" panose="02010803020104030203" pitchFamily="2" charset="-79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237AAF-EE61-A948-8A95-8F5C328AE9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71240"/>
            <a:ext cx="9144000" cy="3701371"/>
          </a:xfrm>
        </p:spPr>
        <p:txBody>
          <a:bodyPr>
            <a:normAutofit/>
          </a:bodyPr>
          <a:lstStyle/>
          <a:p>
            <a:pPr algn="just"/>
            <a:r>
              <a:rPr lang="pt-BR" dirty="0"/>
              <a:t>Em tais situações, a solução ótima de um problema primal (dual) pode retirar-se da primeira linha do quadro final do simplex ou do dual simplex do problema dual (primal), na coluna associada à variável dual (primal) correspondente. </a:t>
            </a:r>
          </a:p>
          <a:p>
            <a:pPr algn="just"/>
            <a:endParaRPr lang="pt-BR" dirty="0"/>
          </a:p>
          <a:p>
            <a:pPr algn="just"/>
            <a:r>
              <a:rPr lang="pt-BR" dirty="0"/>
              <a:t>No caso do PPL ser de minimização os valores encontrados serão simétricos aos desejados.</a:t>
            </a:r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EA79C12F-494F-3D80-112F-98E2A315F3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3035" y="11128"/>
            <a:ext cx="1270000" cy="12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138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961</Words>
  <Application>Microsoft Macintosh PowerPoint</Application>
  <PresentationFormat>Widescreen</PresentationFormat>
  <Paragraphs>130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Arial</vt:lpstr>
      <vt:lpstr>Bookman Old Style</vt:lpstr>
      <vt:lpstr>Calibri</vt:lpstr>
      <vt:lpstr>Cambria Math</vt:lpstr>
      <vt:lpstr>Hagrid Text</vt:lpstr>
      <vt:lpstr>Office Theme</vt:lpstr>
      <vt:lpstr>Pesquisa Operacional I Dualidade – parte 2</vt:lpstr>
      <vt:lpstr>Exemplo de dualidade</vt:lpstr>
      <vt:lpstr>Apresentação do PowerPoint</vt:lpstr>
      <vt:lpstr>Apresentação do PowerPoint</vt:lpstr>
      <vt:lpstr>Apresentação do PowerPoint</vt:lpstr>
      <vt:lpstr>Uma interpretação Econômica da dualidade: motivação</vt:lpstr>
      <vt:lpstr>Apresentação do PowerPoint</vt:lpstr>
      <vt:lpstr>Uma interpretação Econômica da dualidade</vt:lpstr>
      <vt:lpstr>Uma interpretação Econômica da dualidade</vt:lpstr>
      <vt:lpstr>Uma interpretação Econômica da dualidade</vt:lpstr>
      <vt:lpstr>Algoritmo dual simplex</vt:lpstr>
      <vt:lpstr>Algoritmo dual simplex</vt:lpstr>
      <vt:lpstr>Algoritmo dual simplex</vt:lpstr>
      <vt:lpstr>Algoritmo dual simplex</vt:lpstr>
      <vt:lpstr>Algoritmo dual simplex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Pesquisa Operacional I Dualidade – parte 2</dc:title>
  <dc:creator>Ana Carolina Nel</dc:creator>
  <cp:lastModifiedBy>Microsoft Office User</cp:lastModifiedBy>
  <cp:revision>5</cp:revision>
  <dcterms:created xsi:type="dcterms:W3CDTF">2025-11-25T02:45:23Z</dcterms:created>
  <dcterms:modified xsi:type="dcterms:W3CDTF">2026-05-11T20:29:08Z</dcterms:modified>
</cp:coreProperties>
</file>