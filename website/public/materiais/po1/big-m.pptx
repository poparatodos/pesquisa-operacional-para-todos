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0" r:id="rId2"/>
    <p:sldId id="262" r:id="rId3"/>
    <p:sldId id="264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3" r:id="rId1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42B15A-BFF1-49CB-B80A-61E7BA1D2F3C}" v="60" dt="2025-11-11T11:49:15.795"/>
  </p1510:revLst>
</p1510:revInfo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9" autoAdjust="0"/>
    <p:restoredTop sz="94660"/>
  </p:normalViewPr>
  <p:slideViewPr>
    <p:cSldViewPr snapToGrid="0">
      <p:cViewPr>
        <p:scale>
          <a:sx n="60" d="100"/>
          <a:sy n="60" d="100"/>
        </p:scale>
        <p:origin x="-706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F3681D-9899-4F2D-B954-7498EB5051B2}" type="datetimeFigureOut">
              <a:rPr lang="pt-BR" smtClean="0"/>
              <a:t>19/05/2026</a:t>
            </a:fld>
            <a:endParaRPr lang="pt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B6F824-8703-49D2-9D87-1D6145B4F4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7651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42B65D3-D7DF-909B-139A-6D8E47D8A7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F3B187AE-6513-70F5-F6BC-9A662E8609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AEA60AA-42D6-A137-FC16-F0BF9F1F1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F6BB4-DF49-4A43-A315-50B42AE724FC}" type="datetimeFigureOut">
              <a:rPr lang="pt-BR" smtClean="0"/>
              <a:t>19/05/2026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59B2C34-53FE-4FC2-AB88-FDEEFEF5A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CFFCD3D-EB2C-0A4C-BCB2-E312C23B5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EDEC7-8F4C-412D-A45D-4F872D6D20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1444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C19C56D-B860-DE16-EBF3-0DED523A4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FCCD100-AA58-9FB9-01D1-8B61677416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2D354F5-19DC-B0E2-EAAD-6C40245EC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F6BB4-DF49-4A43-A315-50B42AE724FC}" type="datetimeFigureOut">
              <a:rPr lang="pt-BR" smtClean="0"/>
              <a:t>19/05/2026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52D0EEE-491A-BA63-AB94-61A4A9D00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0D3128A-D9B3-DE8E-1D9F-234E1EF2C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EDEC7-8F4C-412D-A45D-4F872D6D20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9495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3E094A7-CC73-22D6-1130-BCDAA2C29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31DDC81-8D3B-F795-300F-264E7E7E97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8E7D677-2132-376D-709C-A0FC0AD95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F6BB4-DF49-4A43-A315-50B42AE724FC}" type="datetimeFigureOut">
              <a:rPr lang="pt-BR" smtClean="0"/>
              <a:t>19/05/2026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7115856-5D65-5785-2E33-3EE145566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69AFFE0-323C-5F64-CD24-2A2D17A65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EDEC7-8F4C-412D-A45D-4F872D6D20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4450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A8933C1-1BE8-4F74-7310-CCE87D1EA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DD239BD-8BBE-BDFA-7460-575DD838B8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3C516D6B-ACE7-3CB3-3FAE-1E5453B2F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9DC61EF5-08E8-304A-6AD1-6D5E63C6C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F6BB4-DF49-4A43-A315-50B42AE724FC}" type="datetimeFigureOut">
              <a:rPr lang="pt-BR" smtClean="0"/>
              <a:t>19/05/2026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CB5266ED-7402-73A5-75A7-A77B788BA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F6C24E51-E289-7653-637B-E8DE523A3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EDEC7-8F4C-412D-A45D-4F872D6D20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6258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DCAA172-F370-7C61-B95D-37891D18A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8DE4F391-B869-FEA5-52DE-0F2AD14E52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AC9E4AC7-9229-C149-2E6C-B415DD5A77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94A671DC-29E1-F78F-B8DF-6C6376FBB9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D031A9ED-A2AD-3720-661C-BB0873763D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78B10CA0-03A5-DC21-1491-CFC707E86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F6BB4-DF49-4A43-A315-50B42AE724FC}" type="datetimeFigureOut">
              <a:rPr lang="pt-BR" smtClean="0"/>
              <a:t>19/05/2026</a:t>
            </a:fld>
            <a:endParaRPr lang="pt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5DBBAD97-1FC3-DC90-DB10-1B74BBB2D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FF41EB33-B31F-4847-A771-34AB15E06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EDEC7-8F4C-412D-A45D-4F872D6D20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16508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4DF9753-6DFF-6E74-C855-14FD4C406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AA8D2D45-B11E-286B-1B81-BD0A91EC3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F6BB4-DF49-4A43-A315-50B42AE724FC}" type="datetimeFigureOut">
              <a:rPr lang="pt-BR" smtClean="0"/>
              <a:t>19/05/2026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3C3D4A97-4220-6672-7DCB-00378837E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B5FEF022-F3EB-FF30-8258-4FEA2207B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EDEC7-8F4C-412D-A45D-4F872D6D20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6680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315F1686-30B2-3833-4AC3-B659FDF75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F6BB4-DF49-4A43-A315-50B42AE724FC}" type="datetimeFigureOut">
              <a:rPr lang="pt-BR" smtClean="0"/>
              <a:t>19/05/2026</a:t>
            </a:fld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A2C0B2C4-1CA3-3A63-5B29-7283E04EC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CE44D1D6-8727-7C8C-F58C-73A266229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EDEC7-8F4C-412D-A45D-4F872D6D20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3897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048EE8C-EE7B-4C53-B115-DECA769AB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EA3B7AC-6632-C636-BC75-D97D210280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D9EC30E2-A68C-36DD-E941-BC59487696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7B6A8CEC-5257-1BAE-F313-4C183273F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F6BB4-DF49-4A43-A315-50B42AE724FC}" type="datetimeFigureOut">
              <a:rPr lang="pt-BR" smtClean="0"/>
              <a:t>19/05/2026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9517FC48-9148-ED7F-267A-AC134DF85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DB2B55A4-398A-D9D7-2838-C57FE1111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EDEC7-8F4C-412D-A45D-4F872D6D20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0288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42697BF-2B66-C621-9FE8-36B7717CA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D793673D-53B0-AF4F-68CD-66B605D719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2A3EE7B4-F439-F453-A565-CCA73839E1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0DBA2350-C2F7-D2C3-C8AA-7C0EE80C2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F6BB4-DF49-4A43-A315-50B42AE724FC}" type="datetimeFigureOut">
              <a:rPr lang="pt-BR" smtClean="0"/>
              <a:t>19/05/2026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26AAB53D-4349-E758-C285-A64649882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C7810EEC-0904-FE16-9C90-63FDD7608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EDEC7-8F4C-412D-A45D-4F872D6D20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4740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862C241-4DC2-5053-9A41-E7C041B5D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016BB339-C333-2186-C5B2-FA2CCC040F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90BE87C-6835-B5C9-9496-B91EE476D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F6BB4-DF49-4A43-A315-50B42AE724FC}" type="datetimeFigureOut">
              <a:rPr lang="pt-BR" smtClean="0"/>
              <a:t>19/05/2026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8B0670E-AF6C-1AB7-BE3E-FE22ADE5B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E9875AF-1E38-AE53-96FA-262F5707F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EDEC7-8F4C-412D-A45D-4F872D6D20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3865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29C695D5-310D-C80E-9D17-13888DAE11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05D9A9DD-E224-C90A-2C23-243CAA32A5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9ACA25C-ACF3-0645-33FD-9974F95A8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F6BB4-DF49-4A43-A315-50B42AE724FC}" type="datetimeFigureOut">
              <a:rPr lang="pt-BR" smtClean="0"/>
              <a:t>19/05/2026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21BAE18-F427-DD65-C7CB-CB0276587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EEBFCEA-67EF-A7F8-46D7-867E5A28B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EDEC7-8F4C-412D-A45D-4F872D6D20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1574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333545EA-226B-69F5-851E-4E13D393A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B715688-45DD-739B-9E04-3E431F4263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29C47E4-F35F-557E-0A4F-82926310B4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FF6BB4-DF49-4A43-A315-50B42AE724FC}" type="datetimeFigureOut">
              <a:rPr lang="pt-BR" smtClean="0"/>
              <a:t>19/05/2026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A729550-9DB8-C11C-62C9-FBC0739B5D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040C8A6-D5AF-5E8B-9D77-FD55CFA09C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DEDEC7-8F4C-412D-A45D-4F872D6D20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08730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90134A1-ABB8-8B90-52AC-B65932D52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BBD36869-7C53-B4EC-0C49-E12A38CDCB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320040"/>
            <a:ext cx="6692827" cy="4311121"/>
          </a:xfrm>
        </p:spPr>
        <p:txBody>
          <a:bodyPr>
            <a:normAutofit fontScale="90000"/>
          </a:bodyPr>
          <a:lstStyle/>
          <a:p>
            <a:pPr algn="l"/>
            <a:r>
              <a:rPr lang="pt-BR" sz="6600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Pesquisa Operacional I</a:t>
            </a:r>
            <a:br>
              <a:rPr lang="pt-BR" sz="6600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pt-BR" sz="6600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Adaptando outras formas de PPL</a:t>
            </a:r>
            <a:br>
              <a:rPr lang="pt-BR" sz="6600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endParaRPr lang="pt-BR" sz="6600" dirty="0">
              <a:solidFill>
                <a:schemeClr val="tx2">
                  <a:lumMod val="90000"/>
                  <a:lumOff val="10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C9DC04F7-2A1B-C9D0-40E7-D7F0EB2A55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631161"/>
            <a:ext cx="6692827" cy="1569486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ea typeface="Hagrid Text"/>
                <a:cs typeface="Hagrid Text"/>
                <a:sym typeface="Hagrid Text"/>
              </a:rPr>
              <a:t>Profª Andréa </a:t>
            </a:r>
            <a:r>
              <a:rPr lang="en-US" dirty="0" err="1">
                <a:ea typeface="Hagrid Text"/>
                <a:cs typeface="Hagrid Text"/>
                <a:sym typeface="Hagrid Text"/>
              </a:rPr>
              <a:t>Bonifácio</a:t>
            </a:r>
            <a:endParaRPr lang="en-US" dirty="0">
              <a:ea typeface="Hagrid Text"/>
              <a:cs typeface="Hagrid Text"/>
              <a:sym typeface="Hagrid Text"/>
            </a:endParaRPr>
          </a:p>
          <a:p>
            <a:pPr algn="l"/>
            <a:r>
              <a:rPr lang="en-US" dirty="0">
                <a:ea typeface="Hagrid Text"/>
                <a:cs typeface="Hagrid Text"/>
                <a:sym typeface="Hagrid Text"/>
              </a:rPr>
              <a:t>Email: andreabonifacio@uniriotec.br</a:t>
            </a:r>
          </a:p>
          <a:p>
            <a:pPr algn="l"/>
            <a:endParaRPr lang="pt-BR" dirty="0"/>
          </a:p>
        </p:txBody>
      </p:sp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xmlns="" id="{57C191F7-C2F2-185D-FD24-D2DBBBFA4D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1544" y="1417747"/>
            <a:ext cx="4087368" cy="3786031"/>
          </a:xfrm>
          <a:prstGeom prst="rect">
            <a:avLst/>
          </a:prstGeom>
        </p:spPr>
      </p:pic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xmlns="" id="{0A43AA01-1C09-2157-D549-C8E1484F53C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772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F730E9B-DD70-0811-9AF2-452FF47A4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87036120-57C4-563E-BBA5-CA40EBA045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320040"/>
            <a:ext cx="9638453" cy="1097707"/>
          </a:xfrm>
        </p:spPr>
        <p:txBody>
          <a:bodyPr>
            <a:normAutofit/>
          </a:bodyPr>
          <a:lstStyle/>
          <a:p>
            <a:pPr algn="l"/>
            <a:r>
              <a:rPr lang="pt-BR" sz="6600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O problema da SBV inicial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B5C82DD7-C983-C45C-A0FA-FCF85369CF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1747319"/>
            <a:ext cx="9057572" cy="4453328"/>
          </a:xfrm>
        </p:spPr>
        <p:txBody>
          <a:bodyPr>
            <a:norm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400" dirty="0" err="1">
                <a:ea typeface="Hagrid Text"/>
                <a:cs typeface="Hagrid Text"/>
                <a:sym typeface="Hagrid Text"/>
              </a:rPr>
              <a:t>PPLs</a:t>
            </a:r>
            <a:r>
              <a:rPr lang="pt-BR" sz="2400" dirty="0">
                <a:ea typeface="Hagrid Text"/>
                <a:cs typeface="Hagrid Text"/>
                <a:sym typeface="Hagrid Text"/>
              </a:rPr>
              <a:t> nos quais todas as restrições são (</a:t>
            </a:r>
            <a:r>
              <a:rPr lang="pt-BR" sz="2400" dirty="0">
                <a:ea typeface="Hagrid Text"/>
                <a:cs typeface="Calibri" panose="020F0502020204030204" pitchFamily="34" charset="0"/>
                <a:sym typeface="Hagrid Text"/>
              </a:rPr>
              <a:t>≤</a:t>
            </a:r>
            <a:r>
              <a:rPr lang="pt-BR" sz="2400" dirty="0">
                <a:ea typeface="Hagrid Text"/>
                <a:cs typeface="Hagrid Text"/>
                <a:sym typeface="Hagrid Text"/>
              </a:rPr>
              <a:t>) com lados direitos não negativos oferecem uma SBV inicial na qual todas as variáveis são de folga.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sz="2400" dirty="0">
              <a:ea typeface="Hagrid Text"/>
              <a:cs typeface="Hagrid Text"/>
              <a:sym typeface="Hagrid Text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400" dirty="0">
                <a:ea typeface="Hagrid Text"/>
                <a:cs typeface="Hagrid Text"/>
                <a:sym typeface="Hagrid Text"/>
              </a:rPr>
              <a:t>Isso não acontece com modelos que envolvem restrições (=) e/ou (</a:t>
            </a:r>
            <a:r>
              <a:rPr lang="pt-BR" sz="2400" dirty="0">
                <a:ea typeface="Hagrid Text"/>
                <a:cs typeface="Calibri" panose="020F0502020204030204" pitchFamily="34" charset="0"/>
                <a:sym typeface="Hagrid Text"/>
              </a:rPr>
              <a:t>≥</a:t>
            </a:r>
            <a:r>
              <a:rPr lang="pt-BR" sz="2400" dirty="0">
                <a:ea typeface="Hagrid Text"/>
                <a:cs typeface="Hagrid Text"/>
                <a:sym typeface="Hagrid Text"/>
              </a:rPr>
              <a:t>).</a:t>
            </a:r>
          </a:p>
          <a:p>
            <a:pPr algn="just"/>
            <a:endParaRPr lang="pt-BR" dirty="0"/>
          </a:p>
        </p:txBody>
      </p:sp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xmlns="" id="{45E21DF8-E032-64DE-70A1-883623A4A1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7652" y="4436988"/>
            <a:ext cx="2430765" cy="2251559"/>
          </a:xfrm>
          <a:prstGeom prst="rect">
            <a:avLst/>
          </a:prstGeom>
        </p:spPr>
      </p:pic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xmlns="" id="{F5FDAB1B-EEB7-2115-990B-AFAF9C521E2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282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B162E55-6F0D-9A20-0E05-B9E7E646A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xmlns="" id="{C4AEAF26-BF10-4CF2-B42A-099F1590AF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7652" y="4436988"/>
            <a:ext cx="2430765" cy="2251559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xmlns="" id="{4B075216-C345-4FB3-9698-02C9810281E3}"/>
              </a:ext>
            </a:extLst>
          </p:cNvPr>
          <p:cNvSpPr txBox="1"/>
          <p:nvPr/>
        </p:nvSpPr>
        <p:spPr>
          <a:xfrm>
            <a:off x="721893" y="335037"/>
            <a:ext cx="10191141" cy="116701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660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ea typeface="+mj-ea"/>
                <a:cs typeface="Aharoni" panose="02010803020104030203" pitchFamily="2" charset="-79"/>
              </a:defRPr>
            </a:lvl1pPr>
          </a:lstStyle>
          <a:p>
            <a:r>
              <a:rPr lang="pt-BR" sz="6000" dirty="0">
                <a:sym typeface="Hagrid Text Bold"/>
              </a:rPr>
              <a:t>O problema da SBV inicial</a:t>
            </a:r>
            <a:endParaRPr lang="en-US" sz="6000" dirty="0">
              <a:sym typeface="Hagrid Text Bold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xmlns="" id="{FF6E22C4-3F07-0482-1222-38840905F00D}"/>
              </a:ext>
            </a:extLst>
          </p:cNvPr>
          <p:cNvSpPr txBox="1"/>
          <p:nvPr/>
        </p:nvSpPr>
        <p:spPr>
          <a:xfrm>
            <a:off x="754454" y="2015010"/>
            <a:ext cx="10683089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pt-BR" sz="2400" dirty="0">
                <a:ea typeface="Hagrid Text"/>
                <a:cs typeface="Hagrid Text"/>
                <a:sym typeface="Hagrid Text"/>
              </a:rPr>
              <a:t>O procedimento para iniciar a resolução de </a:t>
            </a:r>
            <a:r>
              <a:rPr lang="pt-BR" sz="2400" dirty="0" err="1">
                <a:ea typeface="Hagrid Text"/>
                <a:cs typeface="Hagrid Text"/>
                <a:sym typeface="Hagrid Text"/>
              </a:rPr>
              <a:t>PPLs</a:t>
            </a:r>
            <a:r>
              <a:rPr lang="pt-BR" sz="2400" dirty="0">
                <a:ea typeface="Hagrid Text"/>
                <a:cs typeface="Hagrid Text"/>
                <a:sym typeface="Hagrid Text"/>
              </a:rPr>
              <a:t> com restrições (=) e/ou (</a:t>
            </a:r>
            <a:r>
              <a:rPr lang="pt-BR" sz="2400" dirty="0">
                <a:ea typeface="Hagrid Text"/>
                <a:cs typeface="Calibri" panose="020F0502020204030204" pitchFamily="34" charset="0"/>
                <a:sym typeface="Hagrid Text"/>
              </a:rPr>
              <a:t>≥</a:t>
            </a:r>
            <a:r>
              <a:rPr lang="pt-BR" sz="2400" dirty="0">
                <a:ea typeface="Hagrid Text"/>
                <a:cs typeface="Hagrid Text"/>
                <a:sym typeface="Hagrid Text"/>
              </a:rPr>
              <a:t>) é usar </a:t>
            </a:r>
            <a:r>
              <a:rPr lang="pt-BR" sz="2400" b="1" dirty="0">
                <a:ea typeface="Hagrid Text"/>
                <a:cs typeface="Hagrid Text"/>
                <a:sym typeface="Hagrid Text"/>
              </a:rPr>
              <a:t>variáveis artificiais (VA) </a:t>
            </a:r>
            <a:r>
              <a:rPr lang="pt-BR" sz="2400" dirty="0">
                <a:ea typeface="Hagrid Text"/>
                <a:cs typeface="Hagrid Text"/>
                <a:sym typeface="Hagrid Text"/>
              </a:rPr>
              <a:t>que desempenham o papel de folgas na 1ª iteração e então descartá-las legitimamente em iterações posteriores.</a:t>
            </a:r>
          </a:p>
        </p:txBody>
      </p:sp>
      <p:pic>
        <p:nvPicPr>
          <p:cNvPr id="12" name="Imagem 11" descr="Ícone&#10;&#10;O conteúdo gerado por IA pode estar incorreto.">
            <a:extLst>
              <a:ext uri="{FF2B5EF4-FFF2-40B4-BE49-F238E27FC236}">
                <a16:creationId xmlns:a16="http://schemas.microsoft.com/office/drawing/2014/main" xmlns="" id="{2E00AF05-E454-3F4B-3B14-520777C9B43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  <p:sp>
        <p:nvSpPr>
          <p:cNvPr id="8" name="TextBox 6">
            <a:extLst>
              <a:ext uri="{FF2B5EF4-FFF2-40B4-BE49-F238E27FC236}">
                <a16:creationId xmlns:a16="http://schemas.microsoft.com/office/drawing/2014/main" xmlns="" id="{20846665-8DF9-4BAF-BA5E-38EC96B5AA54}"/>
              </a:ext>
            </a:extLst>
          </p:cNvPr>
          <p:cNvSpPr txBox="1"/>
          <p:nvPr/>
        </p:nvSpPr>
        <p:spPr>
          <a:xfrm>
            <a:off x="754455" y="3635961"/>
            <a:ext cx="10683088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pt-BR" sz="2400" dirty="0">
                <a:ea typeface="Hagrid Text"/>
                <a:cs typeface="Hagrid Text"/>
                <a:sym typeface="Hagrid Text"/>
              </a:rPr>
              <a:t>Há dois métodos para adaptar os </a:t>
            </a:r>
            <a:r>
              <a:rPr lang="pt-BR" sz="2400" dirty="0" err="1">
                <a:ea typeface="Hagrid Text"/>
                <a:cs typeface="Hagrid Text"/>
                <a:sym typeface="Hagrid Text"/>
              </a:rPr>
              <a:t>PPLs</a:t>
            </a:r>
            <a:r>
              <a:rPr lang="pt-BR" sz="2400" dirty="0">
                <a:ea typeface="Hagrid Text"/>
                <a:cs typeface="Hagrid Text"/>
                <a:sym typeface="Hagrid Text"/>
              </a:rPr>
              <a:t> fora do formato padrão: </a:t>
            </a:r>
            <a:r>
              <a:rPr lang="pt-BR" sz="2400" b="1" dirty="0">
                <a:ea typeface="Hagrid Text"/>
                <a:cs typeface="Hagrid Text"/>
                <a:sym typeface="Hagrid Text"/>
              </a:rPr>
              <a:t>o método do Big-M</a:t>
            </a:r>
            <a:r>
              <a:rPr lang="pt-BR" sz="2400" dirty="0">
                <a:ea typeface="Hagrid Text"/>
                <a:cs typeface="Hagrid Text"/>
                <a:sym typeface="Hagrid Text"/>
              </a:rPr>
              <a:t> e o </a:t>
            </a:r>
            <a:r>
              <a:rPr lang="pt-BR" sz="2400" b="1" dirty="0">
                <a:ea typeface="Hagrid Text"/>
                <a:cs typeface="Hagrid Text"/>
                <a:sym typeface="Hagrid Text"/>
              </a:rPr>
              <a:t>método das duas fases</a:t>
            </a:r>
            <a:r>
              <a:rPr lang="pt-BR" sz="2400" dirty="0">
                <a:ea typeface="Hagrid Text"/>
                <a:cs typeface="Hagrid Text"/>
                <a:sym typeface="Hagrid Tex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89193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0C05466-A943-9A9C-6360-512E719B6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xmlns="" id="{BE30FEA0-BD92-6D62-74E2-53632CD5400F}"/>
              </a:ext>
            </a:extLst>
          </p:cNvPr>
          <p:cNvSpPr txBox="1"/>
          <p:nvPr/>
        </p:nvSpPr>
        <p:spPr>
          <a:xfrm>
            <a:off x="754454" y="847992"/>
            <a:ext cx="10191141" cy="630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184"/>
              </a:lnSpc>
            </a:pPr>
            <a:r>
              <a:rPr lang="pt-BR" sz="5900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ea typeface="+mj-ea"/>
                <a:cs typeface="Aharoni" panose="02010803020104030203" pitchFamily="2" charset="-79"/>
                <a:sym typeface="Hagrid Text Bold"/>
              </a:rPr>
              <a:t>Método do Big-M</a:t>
            </a:r>
            <a:endParaRPr lang="en-US" sz="5900" dirty="0">
              <a:solidFill>
                <a:schemeClr val="tx2">
                  <a:lumMod val="90000"/>
                  <a:lumOff val="10000"/>
                </a:schemeClr>
              </a:solidFill>
              <a:latin typeface="Aharoni" panose="02010803020104030203" pitchFamily="2" charset="-79"/>
              <a:ea typeface="+mj-ea"/>
              <a:cs typeface="Aharoni" panose="02010803020104030203" pitchFamily="2" charset="-79"/>
              <a:sym typeface="Hagrid Text Bold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xmlns="" id="{557A1E96-9C4C-6143-5601-71D2CC54CD79}"/>
              </a:ext>
            </a:extLst>
          </p:cNvPr>
          <p:cNvSpPr txBox="1"/>
          <p:nvPr/>
        </p:nvSpPr>
        <p:spPr>
          <a:xfrm>
            <a:off x="754454" y="2015010"/>
            <a:ext cx="10683089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pt-BR" sz="2400" dirty="0"/>
              <a:t>O método do Big-M começa com um PPL na forma de equações.</a:t>
            </a:r>
          </a:p>
          <a:p>
            <a:pPr algn="just"/>
            <a:endParaRPr lang="pt-BR" sz="2400" dirty="0"/>
          </a:p>
          <a:p>
            <a:pPr algn="just"/>
            <a:r>
              <a:rPr lang="pt-BR" sz="2400" dirty="0"/>
              <a:t>Se a equação i não tiver uma folga (ou uma variável que puder desempenhar o papel de uma folga), uma variável artificial é adicionada para formar uma solução inicial semelhante a SB na qual todas as variáveis são de folga. </a:t>
            </a:r>
          </a:p>
        </p:txBody>
      </p:sp>
      <p:pic>
        <p:nvPicPr>
          <p:cNvPr id="12" name="Imagem 11" descr="Ícone&#10;&#10;O conteúdo gerado por IA pode estar incorreto.">
            <a:extLst>
              <a:ext uri="{FF2B5EF4-FFF2-40B4-BE49-F238E27FC236}">
                <a16:creationId xmlns:a16="http://schemas.microsoft.com/office/drawing/2014/main" xmlns="" id="{2CA4B91E-4EA2-4892-704D-C70889632EF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xmlns="" id="{F9098C8A-9DC1-4821-BEDD-B767087B88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7652" y="4436988"/>
            <a:ext cx="2430765" cy="2251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736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A6B1F9A-D94B-63AB-82FF-4234B7CC3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xmlns="" id="{F3CDB305-2FAC-4576-A092-AD5F393849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7652" y="4436988"/>
            <a:ext cx="2430765" cy="2251559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xmlns="" id="{E1B489BF-1947-CEE7-9053-3E3251EAE450}"/>
              </a:ext>
            </a:extLst>
          </p:cNvPr>
          <p:cNvSpPr txBox="1"/>
          <p:nvPr/>
        </p:nvSpPr>
        <p:spPr>
          <a:xfrm>
            <a:off x="1000429" y="847992"/>
            <a:ext cx="10191141" cy="630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184"/>
              </a:lnSpc>
            </a:pPr>
            <a:r>
              <a:rPr lang="pt-BR" sz="5900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ea typeface="+mj-ea"/>
                <a:cs typeface="Aharoni" panose="02010803020104030203" pitchFamily="2" charset="-79"/>
                <a:sym typeface="Hagrid Text Bold"/>
              </a:rPr>
              <a:t>Método do Big-M</a:t>
            </a:r>
            <a:endParaRPr lang="en-US" sz="5900" dirty="0">
              <a:solidFill>
                <a:schemeClr val="tx2">
                  <a:lumMod val="90000"/>
                  <a:lumOff val="10000"/>
                </a:schemeClr>
              </a:solidFill>
              <a:latin typeface="Aharoni" panose="02010803020104030203" pitchFamily="2" charset="-79"/>
              <a:ea typeface="+mj-ea"/>
              <a:cs typeface="Aharoni" panose="02010803020104030203" pitchFamily="2" charset="-79"/>
              <a:sym typeface="Hagrid Text Bold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xmlns="" id="{DEA55B8C-A207-A9A7-A926-0F4EE2F4CAB0}"/>
              </a:ext>
            </a:extLst>
          </p:cNvPr>
          <p:cNvSpPr txBox="1"/>
          <p:nvPr/>
        </p:nvSpPr>
        <p:spPr>
          <a:xfrm>
            <a:off x="754455" y="1681280"/>
            <a:ext cx="10191142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pt-BR" sz="2400" dirty="0"/>
              <a:t>Como as variáveis artificiais não são parte do modelo original recebem punições muito altas na função objetivo, o que a certa altura as força a ter valor igual a zero na solução ótima.</a:t>
            </a:r>
          </a:p>
          <a:p>
            <a:pPr algn="just"/>
            <a:endParaRPr lang="pt-BR" sz="2400" dirty="0"/>
          </a:p>
        </p:txBody>
      </p:sp>
      <p:pic>
        <p:nvPicPr>
          <p:cNvPr id="12" name="Imagem 11" descr="Ícone&#10;&#10;O conteúdo gerado por IA pode estar incorreto.">
            <a:extLst>
              <a:ext uri="{FF2B5EF4-FFF2-40B4-BE49-F238E27FC236}">
                <a16:creationId xmlns:a16="http://schemas.microsoft.com/office/drawing/2014/main" xmlns="" id="{2567AE7B-602B-11CB-D0B1-C6B0F65CBAC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  <p:sp>
        <p:nvSpPr>
          <p:cNvPr id="8" name="TextBox 6">
            <a:extLst>
              <a:ext uri="{FF2B5EF4-FFF2-40B4-BE49-F238E27FC236}">
                <a16:creationId xmlns:a16="http://schemas.microsoft.com/office/drawing/2014/main" xmlns="" id="{EFD33779-F348-41CD-B30F-3130A40CF5A9}"/>
              </a:ext>
            </a:extLst>
          </p:cNvPr>
          <p:cNvSpPr txBox="1"/>
          <p:nvPr/>
        </p:nvSpPr>
        <p:spPr>
          <a:xfrm>
            <a:off x="721891" y="3429000"/>
            <a:ext cx="10223705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pt-BR" sz="2400" b="1" dirty="0"/>
              <a:t>Se o PPL original não tiver nenhuma solução viável, então tanto o método do Big M como o método das duas fases levam a uma solução final que tem pelo menos uma variável artificial maior que zero. Caso contrário, todas elas serão iguais a zero.</a:t>
            </a:r>
          </a:p>
          <a:p>
            <a:pPr algn="just"/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4111582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AB0303B-9EA9-9F97-0E8D-2C05343F8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xmlns="" id="{82C2CB9B-E2F1-A919-4486-1C0AF323C841}"/>
              </a:ext>
            </a:extLst>
          </p:cNvPr>
          <p:cNvSpPr txBox="1"/>
          <p:nvPr/>
        </p:nvSpPr>
        <p:spPr>
          <a:xfrm>
            <a:off x="1000429" y="847992"/>
            <a:ext cx="10191141" cy="1169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184"/>
              </a:lnSpc>
            </a:pPr>
            <a:r>
              <a:rPr lang="pt-BR" sz="5900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ea typeface="+mj-ea"/>
                <a:cs typeface="Aharoni" panose="02010803020104030203" pitchFamily="2" charset="-79"/>
                <a:sym typeface="Hagrid Text Bold"/>
              </a:rPr>
              <a:t>Método do Big-M: Regra de penalização das VA</a:t>
            </a:r>
            <a:endParaRPr lang="en-US" sz="5900" dirty="0">
              <a:solidFill>
                <a:schemeClr val="tx2">
                  <a:lumMod val="90000"/>
                  <a:lumOff val="10000"/>
                </a:schemeClr>
              </a:solidFill>
              <a:latin typeface="Aharoni" panose="02010803020104030203" pitchFamily="2" charset="-79"/>
              <a:ea typeface="+mj-ea"/>
              <a:cs typeface="Aharoni" panose="02010803020104030203" pitchFamily="2" charset="-79"/>
              <a:sym typeface="Hagrid Text Bold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xmlns="" id="{FF88C779-33F1-7D3D-6B18-6A1C5B725B2E}"/>
              </a:ext>
            </a:extLst>
          </p:cNvPr>
          <p:cNvSpPr txBox="1"/>
          <p:nvPr/>
        </p:nvSpPr>
        <p:spPr>
          <a:xfrm>
            <a:off x="754454" y="2214537"/>
            <a:ext cx="10683089" cy="23391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pt-BR" sz="2400" dirty="0"/>
              <a:t>Dado M um valor positivo suficientemente alto, o coeficiente da função objetivo de uma VA representa uma punição adequada se:</a:t>
            </a:r>
          </a:p>
          <a:p>
            <a:endParaRPr lang="pt-BR" sz="3200" dirty="0"/>
          </a:p>
          <a:p>
            <a:r>
              <a:rPr lang="pt-BR" sz="2400" dirty="0"/>
              <a:t>Coeficiente na </a:t>
            </a:r>
            <a:r>
              <a:rPr lang="pt-BR" sz="2400" dirty="0" smtClean="0"/>
              <a:t>função -M</a:t>
            </a:r>
            <a:r>
              <a:rPr lang="pt-BR" sz="2400" dirty="0"/>
              <a:t>, em problemas  de maximização</a:t>
            </a:r>
          </a:p>
          <a:p>
            <a:r>
              <a:rPr lang="pt-BR" sz="2400" dirty="0" smtClean="0"/>
              <a:t>objetivo </a:t>
            </a:r>
            <a:r>
              <a:rPr lang="pt-BR" sz="2400" dirty="0"/>
              <a:t>da VA = 	 </a:t>
            </a:r>
            <a:r>
              <a:rPr lang="pt-BR" sz="2400" dirty="0" smtClean="0"/>
              <a:t>  M</a:t>
            </a:r>
            <a:r>
              <a:rPr lang="pt-BR" sz="2400" dirty="0"/>
              <a:t>, em problemas  de minimização</a:t>
            </a:r>
          </a:p>
        </p:txBody>
      </p:sp>
      <p:pic>
        <p:nvPicPr>
          <p:cNvPr id="12" name="Imagem 11" descr="Ícone&#10;&#10;O conteúdo gerado por IA pode estar incorreto.">
            <a:extLst>
              <a:ext uri="{FF2B5EF4-FFF2-40B4-BE49-F238E27FC236}">
                <a16:creationId xmlns:a16="http://schemas.microsoft.com/office/drawing/2014/main" xmlns="" id="{CB8398FC-BE11-08C9-D914-BD27A66E74E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  <p:sp>
        <p:nvSpPr>
          <p:cNvPr id="3" name="Left Brace 2">
            <a:extLst>
              <a:ext uri="{FF2B5EF4-FFF2-40B4-BE49-F238E27FC236}">
                <a16:creationId xmlns:a16="http://schemas.microsoft.com/office/drawing/2014/main" xmlns="" id="{DD12F0D3-D299-16A0-A1E4-612BFF9A740E}"/>
              </a:ext>
            </a:extLst>
          </p:cNvPr>
          <p:cNvSpPr/>
          <p:nvPr/>
        </p:nvSpPr>
        <p:spPr>
          <a:xfrm>
            <a:off x="4489446" y="3829359"/>
            <a:ext cx="292100" cy="770071"/>
          </a:xfrm>
          <a:prstGeom prst="lef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xmlns="" id="{56C8A23F-C247-4D6F-8171-18CFEC8ADE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7652" y="4436988"/>
            <a:ext cx="2430765" cy="2251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485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D8FB444-369B-EC64-B188-F2A804D69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xmlns="" id="{A1120B44-31B5-2F07-6728-755C54D70113}"/>
              </a:ext>
            </a:extLst>
          </p:cNvPr>
          <p:cNvSpPr txBox="1"/>
          <p:nvPr/>
        </p:nvSpPr>
        <p:spPr>
          <a:xfrm>
            <a:off x="1000429" y="847992"/>
            <a:ext cx="10191141" cy="630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184"/>
              </a:lnSpc>
            </a:pPr>
            <a:r>
              <a:rPr lang="pt-BR" sz="5900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ea typeface="+mj-ea"/>
                <a:cs typeface="Aharoni" panose="02010803020104030203" pitchFamily="2" charset="-79"/>
                <a:sym typeface="Hagrid Text Bold"/>
              </a:rPr>
              <a:t>Exemplo</a:t>
            </a:r>
            <a:endParaRPr lang="en-US" sz="5900" dirty="0">
              <a:solidFill>
                <a:schemeClr val="tx2">
                  <a:lumMod val="90000"/>
                  <a:lumOff val="10000"/>
                </a:schemeClr>
              </a:solidFill>
              <a:latin typeface="Aharoni" panose="02010803020104030203" pitchFamily="2" charset="-79"/>
              <a:ea typeface="+mj-ea"/>
              <a:cs typeface="Aharoni" panose="02010803020104030203" pitchFamily="2" charset="-79"/>
              <a:sym typeface="Hagrid Text Bold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xmlns="" id="{51184DCB-0F04-BCFF-8D8F-6C70C2CA0130}"/>
              </a:ext>
            </a:extLst>
          </p:cNvPr>
          <p:cNvSpPr txBox="1"/>
          <p:nvPr/>
        </p:nvSpPr>
        <p:spPr>
          <a:xfrm>
            <a:off x="754454" y="2366937"/>
            <a:ext cx="10683089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pt-BR" sz="3200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ea typeface="+mj-ea"/>
                <a:cs typeface="Aharoni" panose="02010803020104030203" pitchFamily="2" charset="-79"/>
              </a:rPr>
              <a:t>PPL original:</a:t>
            </a:r>
          </a:p>
          <a:p>
            <a:endParaRPr lang="pt-BR" sz="3200" dirty="0">
              <a:solidFill>
                <a:schemeClr val="tx2">
                  <a:lumMod val="90000"/>
                  <a:lumOff val="10000"/>
                </a:schemeClr>
              </a:solidFill>
              <a:latin typeface="Aharoni" panose="02010803020104030203" pitchFamily="2" charset="-79"/>
              <a:ea typeface="+mj-ea"/>
              <a:cs typeface="Aharoni" panose="02010803020104030203" pitchFamily="2" charset="-79"/>
            </a:endParaRPr>
          </a:p>
          <a:p>
            <a:endParaRPr lang="pt-BR" sz="3200" dirty="0">
              <a:latin typeface="Aptos corpo"/>
            </a:endParaRPr>
          </a:p>
        </p:txBody>
      </p:sp>
      <p:pic>
        <p:nvPicPr>
          <p:cNvPr id="12" name="Imagem 11" descr="Ícone&#10;&#10;O conteúdo gerado por IA pode estar incorreto.">
            <a:extLst>
              <a:ext uri="{FF2B5EF4-FFF2-40B4-BE49-F238E27FC236}">
                <a16:creationId xmlns:a16="http://schemas.microsoft.com/office/drawing/2014/main" xmlns="" id="{E9B28E74-975B-402E-03D2-F5529D6AFC8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Espaço Reservado para Conteúdo 6">
                <a:extLst>
                  <a:ext uri="{FF2B5EF4-FFF2-40B4-BE49-F238E27FC236}">
                    <a16:creationId xmlns:a16="http://schemas.microsoft.com/office/drawing/2014/main" xmlns="" id="{B344D13D-BE0D-9C72-0C87-F63C1A68CD7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752450" y="2798737"/>
                <a:ext cx="4687096" cy="2852763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ar-AE" i="1" smtClean="0"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>
                              <a:latin typeface="Cambria Math"/>
                            </a:rPr>
                            <m:t>min</m:t>
                          </m:r>
                        </m:fName>
                        <m:e>
                          <m:r>
                            <a:rPr lang="ar-AE" i="1">
                              <a:latin typeface="Cambria Math"/>
                            </a:rPr>
                            <m:t>𝑧</m:t>
                          </m:r>
                          <m:r>
                            <a:rPr lang="ar-AE" i="1">
                              <a:latin typeface="Cambria Math"/>
                            </a:rPr>
                            <m:t>=</m:t>
                          </m:r>
                          <m:r>
                            <a:rPr lang="ar-AE" i="1">
                              <a:latin typeface="Cambria Math"/>
                            </a:rPr>
                            <m:t>4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ar-AE" i="1">
                              <a:latin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i="1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pt-BR" dirty="0"/>
              </a:p>
              <a:p>
                <a:pPr marL="0" indent="0" algn="ctr">
                  <a:buFont typeface="Arial" panose="020B0604020202020204" pitchFamily="34" charset="0"/>
                  <a:buNone/>
                </a:pPr>
                <a:r>
                  <a:rPr lang="pt-BR" i="1" dirty="0"/>
                  <a:t>Sujeito a 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latin typeface="Cambria Math"/>
                        </a:rPr>
                        <m:t>3</m:t>
                      </m:r>
                      <m:sSub>
                        <m:sSubPr>
                          <m:ctrlPr>
                            <a:rPr lang="ar-AE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ar-AE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ar-AE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ar-AE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ar-AE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ar-AE" i="1">
                          <a:latin typeface="Cambria Math"/>
                        </a:rPr>
                        <m:t>=</m:t>
                      </m:r>
                      <m:r>
                        <a:rPr lang="ar-AE" i="1">
                          <a:latin typeface="Cambria Math"/>
                        </a:rPr>
                        <m:t>3</m:t>
                      </m:r>
                    </m:oMath>
                  </m:oMathPara>
                </a14:m>
                <a:endParaRPr lang="ar-AE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i="1">
                          <a:latin typeface="Cambria Math"/>
                        </a:rPr>
                        <m:t>4</m:t>
                      </m:r>
                      <m:sSub>
                        <m:sSubPr>
                          <m:ctrlPr>
                            <a:rPr lang="ar-AE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ar-AE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ar-AE" i="1">
                          <a:latin typeface="Cambria Math"/>
                        </a:rPr>
                        <m:t>+</m:t>
                      </m:r>
                      <m:r>
                        <a:rPr lang="ar-AE" i="1">
                          <a:latin typeface="Cambria Math"/>
                        </a:rPr>
                        <m:t>3</m:t>
                      </m:r>
                      <m:sSub>
                        <m:sSubPr>
                          <m:ctrlPr>
                            <a:rPr lang="ar-AE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ar-AE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ar-AE" i="1">
                          <a:latin typeface="Cambria Math"/>
                          <a:ea typeface="Cambria Math"/>
                        </a:rPr>
                        <m:t>≥</m:t>
                      </m:r>
                      <m:r>
                        <a:rPr lang="ar-AE" i="1">
                          <a:latin typeface="Cambria Math"/>
                          <a:ea typeface="Cambria Math"/>
                        </a:rPr>
                        <m:t>6</m:t>
                      </m:r>
                    </m:oMath>
                  </m:oMathPara>
                </a14:m>
                <a:endParaRPr lang="ar-AE" dirty="0">
                  <a:ea typeface="Cambria Math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ar-AE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ar-AE" i="1">
                          <a:latin typeface="Cambria Math"/>
                        </a:rPr>
                        <m:t>+</m:t>
                      </m:r>
                      <m:r>
                        <a:rPr lang="ar-AE" i="1">
                          <a:latin typeface="Cambria Math"/>
                        </a:rPr>
                        <m:t>2</m:t>
                      </m:r>
                      <m:sSub>
                        <m:sSubPr>
                          <m:ctrlPr>
                            <a:rPr lang="ar-AE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ar-AE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ar-AE" i="1">
                          <a:latin typeface="Cambria Math"/>
                          <a:ea typeface="Cambria Math"/>
                        </a:rPr>
                        <m:t>≤</m:t>
                      </m:r>
                      <m:r>
                        <a:rPr lang="ar-AE" i="1">
                          <a:latin typeface="Cambria Math"/>
                          <a:ea typeface="Cambria Math"/>
                        </a:rPr>
                        <m:t>4</m:t>
                      </m:r>
                    </m:oMath>
                  </m:oMathPara>
                </a14:m>
                <a:endParaRPr lang="ar-AE" dirty="0">
                  <a:ea typeface="Cambria Math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ar-AE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ar-AE" i="1">
                          <a:latin typeface="Cambria Math"/>
                        </a:rPr>
                        <m:t>,</m:t>
                      </m:r>
                      <m:sSub>
                        <m:sSubPr>
                          <m:ctrlPr>
                            <a:rPr lang="ar-AE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ar-AE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ar-AE" i="1">
                          <a:latin typeface="Cambria Math"/>
                          <a:ea typeface="Cambria Math"/>
                        </a:rPr>
                        <m:t>≥</m:t>
                      </m:r>
                      <m:r>
                        <a:rPr lang="ar-AE" i="1">
                          <a:latin typeface="Cambria Math"/>
                          <a:ea typeface="Cambria Math"/>
                        </a:rPr>
                        <m:t>0</m:t>
                      </m:r>
                    </m:oMath>
                  </m:oMathPara>
                </a14:m>
                <a:endParaRPr lang="ar-AE" dirty="0"/>
              </a:p>
            </p:txBody>
          </p:sp>
        </mc:Choice>
        <mc:Fallback xmlns="">
          <p:sp>
            <p:nvSpPr>
              <p:cNvPr id="2" name="Espaço Reservado para Conteúdo 6">
                <a:extLst>
                  <a:ext uri="{FF2B5EF4-FFF2-40B4-BE49-F238E27FC236}">
                    <a16:creationId xmlns:a16="http://schemas.microsoft.com/office/drawing/2014/main" id="{B344D13D-BE0D-9C72-0C87-F63C1A68C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2450" y="2798737"/>
                <a:ext cx="4687096" cy="28527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xmlns="" id="{7302A537-AE0E-44D4-9AFA-D183463088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7652" y="4436988"/>
            <a:ext cx="2430765" cy="2251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374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EEDFF90-B0FB-3EB2-241F-3B67152F3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xmlns="" id="{1A9570F1-17D0-7FA4-5965-B2415D896222}"/>
              </a:ext>
            </a:extLst>
          </p:cNvPr>
          <p:cNvSpPr txBox="1"/>
          <p:nvPr/>
        </p:nvSpPr>
        <p:spPr>
          <a:xfrm>
            <a:off x="1000429" y="847992"/>
            <a:ext cx="10191141" cy="630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184"/>
              </a:lnSpc>
            </a:pPr>
            <a:r>
              <a:rPr lang="pt-BR" sz="5900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ea typeface="+mj-ea"/>
                <a:cs typeface="Aharoni" panose="02010803020104030203" pitchFamily="2" charset="-79"/>
                <a:sym typeface="Hagrid Text Bold"/>
              </a:rPr>
              <a:t>Exemplo</a:t>
            </a:r>
            <a:endParaRPr lang="en-US" sz="5900" dirty="0">
              <a:solidFill>
                <a:schemeClr val="tx2">
                  <a:lumMod val="90000"/>
                  <a:lumOff val="10000"/>
                </a:schemeClr>
              </a:solidFill>
              <a:latin typeface="Aharoni" panose="02010803020104030203" pitchFamily="2" charset="-79"/>
              <a:ea typeface="+mj-ea"/>
              <a:cs typeface="Aharoni" panose="02010803020104030203" pitchFamily="2" charset="-79"/>
              <a:sym typeface="Hagrid Text Bold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xmlns="" id="{CB4CB2AF-4BE7-968B-FFD6-F4B8CE3A0D86}"/>
              </a:ext>
            </a:extLst>
          </p:cNvPr>
          <p:cNvSpPr txBox="1"/>
          <p:nvPr/>
        </p:nvSpPr>
        <p:spPr>
          <a:xfrm>
            <a:off x="754455" y="2366937"/>
            <a:ext cx="5341546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pt-BR" sz="3200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ea typeface="+mj-ea"/>
                <a:cs typeface="Aharoni" panose="02010803020104030203" pitchFamily="2" charset="-79"/>
              </a:rPr>
              <a:t>PPL original:</a:t>
            </a:r>
          </a:p>
          <a:p>
            <a:endParaRPr lang="pt-BR" sz="3200" dirty="0">
              <a:solidFill>
                <a:schemeClr val="tx2">
                  <a:lumMod val="90000"/>
                  <a:lumOff val="10000"/>
                </a:schemeClr>
              </a:solidFill>
              <a:latin typeface="Aharoni" panose="02010803020104030203" pitchFamily="2" charset="-79"/>
              <a:ea typeface="+mj-ea"/>
              <a:cs typeface="Aharoni" panose="02010803020104030203" pitchFamily="2" charset="-79"/>
            </a:endParaRPr>
          </a:p>
          <a:p>
            <a:endParaRPr lang="pt-BR" sz="3200" dirty="0"/>
          </a:p>
        </p:txBody>
      </p:sp>
      <p:pic>
        <p:nvPicPr>
          <p:cNvPr id="12" name="Imagem 11" descr="Ícone&#10;&#10;O conteúdo gerado por IA pode estar incorreto.">
            <a:extLst>
              <a:ext uri="{FF2B5EF4-FFF2-40B4-BE49-F238E27FC236}">
                <a16:creationId xmlns:a16="http://schemas.microsoft.com/office/drawing/2014/main" xmlns="" id="{6203989E-2EC0-87EA-A2DD-7BED2630282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Espaço Reservado para Conteúdo 6">
                <a:extLst>
                  <a:ext uri="{FF2B5EF4-FFF2-40B4-BE49-F238E27FC236}">
                    <a16:creationId xmlns:a16="http://schemas.microsoft.com/office/drawing/2014/main" xmlns="" id="{0D3C0425-44F8-FA13-BDAD-DC9455E19B6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54455" y="3157245"/>
                <a:ext cx="3461146" cy="2852763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ar-AE" i="1" smtClean="0"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>
                              <a:latin typeface="Cambria Math"/>
                            </a:rPr>
                            <m:t>min</m:t>
                          </m:r>
                        </m:fName>
                        <m:e>
                          <m:r>
                            <a:rPr lang="ar-AE" i="1">
                              <a:latin typeface="Cambria Math"/>
                            </a:rPr>
                            <m:t>𝑧</m:t>
                          </m:r>
                          <m:r>
                            <a:rPr lang="ar-AE" i="1">
                              <a:latin typeface="Cambria Math"/>
                            </a:rPr>
                            <m:t>=</m:t>
                          </m:r>
                          <m:r>
                            <a:rPr lang="ar-AE" i="1">
                              <a:latin typeface="Cambria Math"/>
                            </a:rPr>
                            <m:t>4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ar-AE" i="1">
                              <a:latin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i="1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pt-BR" dirty="0"/>
              </a:p>
              <a:p>
                <a:pPr marL="0" indent="0" algn="ctr">
                  <a:buFont typeface="Arial" panose="020B0604020202020204" pitchFamily="34" charset="0"/>
                  <a:buNone/>
                </a:pPr>
                <a:r>
                  <a:rPr lang="pt-BR" i="1" dirty="0"/>
                  <a:t>Sujeito a 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latin typeface="Cambria Math"/>
                        </a:rPr>
                        <m:t>3</m:t>
                      </m:r>
                      <m:sSub>
                        <m:sSubPr>
                          <m:ctrlPr>
                            <a:rPr lang="ar-AE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ar-AE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ar-AE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ar-AE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ar-AE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ar-AE" i="1">
                          <a:latin typeface="Cambria Math"/>
                        </a:rPr>
                        <m:t>=</m:t>
                      </m:r>
                      <m:r>
                        <a:rPr lang="ar-AE" i="1">
                          <a:latin typeface="Cambria Math"/>
                        </a:rPr>
                        <m:t>3</m:t>
                      </m:r>
                    </m:oMath>
                  </m:oMathPara>
                </a14:m>
                <a:endParaRPr lang="ar-AE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i="1">
                          <a:latin typeface="Cambria Math"/>
                        </a:rPr>
                        <m:t>4</m:t>
                      </m:r>
                      <m:sSub>
                        <m:sSubPr>
                          <m:ctrlPr>
                            <a:rPr lang="ar-AE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ar-AE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ar-AE" i="1">
                          <a:latin typeface="Cambria Math"/>
                        </a:rPr>
                        <m:t>+</m:t>
                      </m:r>
                      <m:r>
                        <a:rPr lang="ar-AE" i="1">
                          <a:latin typeface="Cambria Math"/>
                        </a:rPr>
                        <m:t>3</m:t>
                      </m:r>
                      <m:sSub>
                        <m:sSubPr>
                          <m:ctrlPr>
                            <a:rPr lang="ar-AE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ar-AE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ar-AE" i="1">
                          <a:latin typeface="Cambria Math"/>
                          <a:ea typeface="Cambria Math"/>
                        </a:rPr>
                        <m:t>≥</m:t>
                      </m:r>
                      <m:r>
                        <a:rPr lang="ar-AE" i="1">
                          <a:latin typeface="Cambria Math"/>
                          <a:ea typeface="Cambria Math"/>
                        </a:rPr>
                        <m:t>6</m:t>
                      </m:r>
                    </m:oMath>
                  </m:oMathPara>
                </a14:m>
                <a:endParaRPr lang="ar-AE" dirty="0">
                  <a:ea typeface="Cambria Math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ar-AE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ar-AE" i="1">
                          <a:latin typeface="Cambria Math"/>
                        </a:rPr>
                        <m:t>+</m:t>
                      </m:r>
                      <m:r>
                        <a:rPr lang="ar-AE" i="1">
                          <a:latin typeface="Cambria Math"/>
                        </a:rPr>
                        <m:t>2</m:t>
                      </m:r>
                      <m:sSub>
                        <m:sSubPr>
                          <m:ctrlPr>
                            <a:rPr lang="ar-AE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ar-AE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ar-AE" i="1">
                          <a:latin typeface="Cambria Math"/>
                          <a:ea typeface="Cambria Math"/>
                        </a:rPr>
                        <m:t>≤</m:t>
                      </m:r>
                      <m:r>
                        <a:rPr lang="ar-AE" i="1">
                          <a:latin typeface="Cambria Math"/>
                          <a:ea typeface="Cambria Math"/>
                        </a:rPr>
                        <m:t>4</m:t>
                      </m:r>
                    </m:oMath>
                  </m:oMathPara>
                </a14:m>
                <a:endParaRPr lang="ar-AE" dirty="0">
                  <a:ea typeface="Cambria Math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ar-AE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ar-AE" i="1">
                          <a:latin typeface="Cambria Math"/>
                        </a:rPr>
                        <m:t>,</m:t>
                      </m:r>
                      <m:sSub>
                        <m:sSubPr>
                          <m:ctrlPr>
                            <a:rPr lang="ar-AE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ar-AE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ar-AE" i="1">
                          <a:latin typeface="Cambria Math"/>
                          <a:ea typeface="Cambria Math"/>
                        </a:rPr>
                        <m:t>≥</m:t>
                      </m:r>
                      <m:r>
                        <a:rPr lang="ar-AE" i="1">
                          <a:latin typeface="Cambria Math"/>
                          <a:ea typeface="Cambria Math"/>
                        </a:rPr>
                        <m:t>0</m:t>
                      </m:r>
                    </m:oMath>
                  </m:oMathPara>
                </a14:m>
                <a:endParaRPr lang="ar-AE" dirty="0"/>
              </a:p>
            </p:txBody>
          </p:sp>
        </mc:Choice>
        <mc:Fallback xmlns="">
          <p:sp>
            <p:nvSpPr>
              <p:cNvPr id="2" name="Espaço Reservado para Conteúdo 6">
                <a:extLst>
                  <a:ext uri="{FF2B5EF4-FFF2-40B4-BE49-F238E27FC236}">
                    <a16:creationId xmlns:a16="http://schemas.microsoft.com/office/drawing/2014/main" id="{0D3C0425-44F8-FA13-BDAD-DC9455E19B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455" y="3157245"/>
                <a:ext cx="3461146" cy="28527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6">
            <a:extLst>
              <a:ext uri="{FF2B5EF4-FFF2-40B4-BE49-F238E27FC236}">
                <a16:creationId xmlns:a16="http://schemas.microsoft.com/office/drawing/2014/main" xmlns="" id="{A65BFB2C-D845-201C-955C-0A9B33BDDAFA}"/>
              </a:ext>
            </a:extLst>
          </p:cNvPr>
          <p:cNvSpPr txBox="1"/>
          <p:nvPr/>
        </p:nvSpPr>
        <p:spPr>
          <a:xfrm>
            <a:off x="6095999" y="2366937"/>
            <a:ext cx="5341546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pt-BR" sz="3200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ea typeface="+mj-ea"/>
                <a:cs typeface="Aharoni" panose="02010803020104030203" pitchFamily="2" charset="-79"/>
              </a:rPr>
              <a:t>PPL </a:t>
            </a:r>
            <a:r>
              <a:rPr lang="pt-BR" sz="3200" dirty="0" smtClean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ea typeface="+mj-ea"/>
                <a:cs typeface="Aharoni" panose="02010803020104030203" pitchFamily="2" charset="-79"/>
              </a:rPr>
              <a:t>aumentado/ampliado:</a:t>
            </a:r>
            <a:endParaRPr lang="pt-BR" sz="3200" dirty="0">
              <a:solidFill>
                <a:schemeClr val="tx2">
                  <a:lumMod val="90000"/>
                  <a:lumOff val="10000"/>
                </a:schemeClr>
              </a:solidFill>
              <a:latin typeface="Aharoni" panose="02010803020104030203" pitchFamily="2" charset="-79"/>
              <a:ea typeface="+mj-ea"/>
              <a:cs typeface="Aharoni" panose="02010803020104030203" pitchFamily="2" charset="-79"/>
            </a:endParaRPr>
          </a:p>
          <a:p>
            <a:endParaRPr lang="pt-BR" sz="3200" dirty="0">
              <a:solidFill>
                <a:schemeClr val="tx2">
                  <a:lumMod val="90000"/>
                  <a:lumOff val="10000"/>
                </a:schemeClr>
              </a:solidFill>
              <a:latin typeface="Aharoni" panose="02010803020104030203" pitchFamily="2" charset="-79"/>
              <a:ea typeface="+mj-ea"/>
              <a:cs typeface="Aharoni" panose="02010803020104030203" pitchFamily="2" charset="-79"/>
            </a:endParaRPr>
          </a:p>
          <a:p>
            <a:endParaRPr lang="pt-BR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spaço Reservado para Conteúdo 8">
                <a:extLst>
                  <a:ext uri="{FF2B5EF4-FFF2-40B4-BE49-F238E27FC236}">
                    <a16:creationId xmlns:a16="http://schemas.microsoft.com/office/drawing/2014/main" xmlns="" id="{BEBE6C14-49EB-63CF-D0E5-23DB147D55D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5999" y="3216275"/>
                <a:ext cx="4041775" cy="2983799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pt-BR" i="1" smtClean="0"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>
                              <a:latin typeface="Cambria Math"/>
                            </a:rPr>
                            <m:t>min</m:t>
                          </m:r>
                        </m:fName>
                        <m:e>
                          <m:r>
                            <a:rPr lang="pt-BR" i="1">
                              <a:latin typeface="Cambria Math"/>
                            </a:rPr>
                            <m:t>𝑧</m:t>
                          </m:r>
                          <m:r>
                            <a:rPr lang="pt-BR" i="1">
                              <a:latin typeface="Cambria Math"/>
                            </a:rPr>
                            <m:t>=</m:t>
                          </m:r>
                          <m:r>
                            <a:rPr lang="pt-BR" i="1">
                              <a:latin typeface="Cambria Math"/>
                            </a:rPr>
                            <m:t>4</m:t>
                          </m:r>
                          <m:sSub>
                            <m:sSubPr>
                              <m:ctrlPr>
                                <a:rPr lang="pt-BR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pt-BR" i="1">
                              <a:latin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pt-BR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i="1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pt-BR" dirty="0"/>
              </a:p>
              <a:p>
                <a:pPr marL="0" indent="0" algn="ctr">
                  <a:buFont typeface="Arial" panose="020B0604020202020204" pitchFamily="34" charset="0"/>
                  <a:buNone/>
                </a:pPr>
                <a:r>
                  <a:rPr lang="pt-BR" i="1" dirty="0"/>
                  <a:t>Sujeito a 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latin typeface="Cambria Math"/>
                        </a:rPr>
                        <m:t>3</m:t>
                      </m:r>
                      <m:sSub>
                        <m:sSubPr>
                          <m:ctrlPr>
                            <a:rPr lang="pt-BR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pt-BR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pt-BR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pt-BR" i="1">
                          <a:latin typeface="Cambria Math"/>
                        </a:rPr>
                        <m:t>=</m:t>
                      </m:r>
                      <m:r>
                        <a:rPr lang="pt-BR" i="1">
                          <a:latin typeface="Cambria Math"/>
                        </a:rPr>
                        <m:t>3</m:t>
                      </m:r>
                    </m:oMath>
                  </m:oMathPara>
                </a14:m>
                <a:endParaRPr lang="pt-BR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latin typeface="Cambria Math"/>
                        </a:rPr>
                        <m:t>4</m:t>
                      </m:r>
                      <m:sSub>
                        <m:sSubPr>
                          <m:ctrlPr>
                            <a:rPr lang="pt-BR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pt-BR" i="1">
                          <a:latin typeface="Cambria Math"/>
                        </a:rPr>
                        <m:t>+</m:t>
                      </m:r>
                      <m:r>
                        <a:rPr lang="pt-BR" i="1">
                          <a:latin typeface="Cambria Math"/>
                        </a:rPr>
                        <m:t>3</m:t>
                      </m:r>
                      <m:sSub>
                        <m:sSubPr>
                          <m:ctrlPr>
                            <a:rPr lang="pt-BR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pt-BR" i="1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pt-BR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i="1"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pt-BR" i="1">
                          <a:latin typeface="Cambria Math"/>
                        </a:rPr>
                        <m:t>=</m:t>
                      </m:r>
                      <m:r>
                        <a:rPr lang="pt-BR" i="1">
                          <a:latin typeface="Cambria Math"/>
                          <a:ea typeface="Cambria Math"/>
                        </a:rPr>
                        <m:t>6</m:t>
                      </m:r>
                    </m:oMath>
                  </m:oMathPara>
                </a14:m>
                <a:endParaRPr lang="pt-BR" dirty="0">
                  <a:ea typeface="Cambria Math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pt-BR" i="1">
                          <a:latin typeface="Cambria Math"/>
                        </a:rPr>
                        <m:t>+</m:t>
                      </m:r>
                      <m:r>
                        <a:rPr lang="pt-BR" i="1">
                          <a:latin typeface="Cambria Math"/>
                        </a:rPr>
                        <m:t>2</m:t>
                      </m:r>
                      <m:sSub>
                        <m:sSubPr>
                          <m:ctrlPr>
                            <a:rPr lang="pt-BR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pt-BR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pt-BR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i="1">
                              <a:latin typeface="Cambria Math"/>
                            </a:rPr>
                            <m:t>4</m:t>
                          </m:r>
                        </m:sub>
                      </m:sSub>
                      <m:r>
                        <a:rPr lang="pt-BR" i="1">
                          <a:latin typeface="Cambria Math"/>
                        </a:rPr>
                        <m:t>=</m:t>
                      </m:r>
                      <m:r>
                        <a:rPr lang="pt-BR" i="1">
                          <a:latin typeface="Cambria Math"/>
                          <a:ea typeface="Cambria Math"/>
                        </a:rPr>
                        <m:t>4</m:t>
                      </m:r>
                    </m:oMath>
                  </m:oMathPara>
                </a14:m>
                <a:endParaRPr lang="pt-BR" dirty="0">
                  <a:ea typeface="Cambria Math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pt-BR" i="1">
                          <a:latin typeface="Cambria Math"/>
                        </a:rPr>
                        <m:t>,</m:t>
                      </m:r>
                      <m:sSub>
                        <m:sSubPr>
                          <m:ctrlPr>
                            <a:rPr lang="pt-BR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pt-BR" i="1">
                          <a:latin typeface="Cambria Math"/>
                        </a:rPr>
                        <m:t>,</m:t>
                      </m:r>
                      <m:sSub>
                        <m:sSubPr>
                          <m:ctrlPr>
                            <a:rPr lang="pt-BR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i="1"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pt-BR" i="1">
                          <a:latin typeface="Cambria Math"/>
                        </a:rPr>
                        <m:t>,</m:t>
                      </m:r>
                      <m:sSub>
                        <m:sSubPr>
                          <m:ctrlPr>
                            <a:rPr lang="pt-BR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i="1">
                              <a:latin typeface="Cambria Math"/>
                            </a:rPr>
                            <m:t>4</m:t>
                          </m:r>
                        </m:sub>
                      </m:sSub>
                      <m:r>
                        <a:rPr lang="pt-BR" i="1">
                          <a:latin typeface="Cambria Math"/>
                          <a:ea typeface="Cambria Math"/>
                        </a:rPr>
                        <m:t>≥</m:t>
                      </m:r>
                      <m:r>
                        <a:rPr lang="pt-BR" i="1">
                          <a:latin typeface="Cambria Math"/>
                          <a:ea typeface="Cambria Math"/>
                        </a:rPr>
                        <m:t>0</m:t>
                      </m:r>
                    </m:oMath>
                  </m:oMathPara>
                </a14:m>
                <a:endParaRPr lang="pt-BR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pt-BR" dirty="0"/>
              </a:p>
            </p:txBody>
          </p:sp>
        </mc:Choice>
        <mc:Fallback xmlns="">
          <p:sp>
            <p:nvSpPr>
              <p:cNvPr id="4" name="Espaço Reservado para Conteúdo 8">
                <a:extLst>
                  <a:ext uri="{FF2B5EF4-FFF2-40B4-BE49-F238E27FC236}">
                    <a16:creationId xmlns:a16="http://schemas.microsoft.com/office/drawing/2014/main" id="{BEBE6C14-49EB-63CF-D0E5-23DB147D55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99" y="3216275"/>
                <a:ext cx="4041775" cy="29837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Imagem 8" descr="Ícone&#10;&#10;O conteúdo gerado por IA pode estar incorreto.">
            <a:extLst>
              <a:ext uri="{FF2B5EF4-FFF2-40B4-BE49-F238E27FC236}">
                <a16:creationId xmlns:a16="http://schemas.microsoft.com/office/drawing/2014/main" xmlns="" id="{373DC2B4-73F8-474C-BC99-9752243003C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7652" y="4436988"/>
            <a:ext cx="2430765" cy="2251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989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030741C-B0F2-6647-A0E8-7FD385517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 descr="Ícone&#10;&#10;O conteúdo gerado por IA pode estar incorreto.">
            <a:extLst>
              <a:ext uri="{FF2B5EF4-FFF2-40B4-BE49-F238E27FC236}">
                <a16:creationId xmlns:a16="http://schemas.microsoft.com/office/drawing/2014/main" xmlns="" id="{B3CDD830-F569-4A74-BA89-B5A4810859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7652" y="4436988"/>
            <a:ext cx="2430765" cy="2251559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xmlns="" id="{79B55BB7-D957-1257-85B3-793B8EC24CE2}"/>
              </a:ext>
            </a:extLst>
          </p:cNvPr>
          <p:cNvSpPr txBox="1"/>
          <p:nvPr/>
        </p:nvSpPr>
        <p:spPr>
          <a:xfrm>
            <a:off x="1000429" y="847992"/>
            <a:ext cx="10191141" cy="630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184"/>
              </a:lnSpc>
            </a:pPr>
            <a:r>
              <a:rPr lang="pt-BR" sz="5400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ea typeface="+mj-ea"/>
                <a:cs typeface="Aharoni" panose="02010803020104030203" pitchFamily="2" charset="-79"/>
                <a:sym typeface="Hagrid Text Bold"/>
              </a:rPr>
              <a:t>Exemplo</a:t>
            </a:r>
            <a:endParaRPr lang="en-US" sz="5400" dirty="0">
              <a:solidFill>
                <a:schemeClr val="tx2">
                  <a:lumMod val="90000"/>
                  <a:lumOff val="10000"/>
                </a:schemeClr>
              </a:solidFill>
              <a:latin typeface="Aharoni" panose="02010803020104030203" pitchFamily="2" charset="-79"/>
              <a:ea typeface="+mj-ea"/>
              <a:cs typeface="Aharoni" panose="02010803020104030203" pitchFamily="2" charset="-79"/>
              <a:sym typeface="Hagrid Text Bold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xmlns="" id="{754A28DD-8682-3536-6DC5-360BABB80E46}"/>
              </a:ext>
            </a:extLst>
          </p:cNvPr>
          <p:cNvSpPr txBox="1"/>
          <p:nvPr/>
        </p:nvSpPr>
        <p:spPr>
          <a:xfrm>
            <a:off x="754455" y="1428985"/>
            <a:ext cx="5341546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pt-BR" sz="3200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ea typeface="+mj-ea"/>
                <a:cs typeface="Aharoni" panose="02010803020104030203" pitchFamily="2" charset="-79"/>
              </a:rPr>
              <a:t>PPL aumentado:</a:t>
            </a:r>
          </a:p>
          <a:p>
            <a:endParaRPr lang="pt-BR" sz="3200" dirty="0">
              <a:solidFill>
                <a:schemeClr val="tx2">
                  <a:lumMod val="90000"/>
                  <a:lumOff val="10000"/>
                </a:schemeClr>
              </a:solidFill>
              <a:latin typeface="Aharoni" panose="02010803020104030203" pitchFamily="2" charset="-79"/>
              <a:ea typeface="+mj-ea"/>
              <a:cs typeface="Aharoni" panose="02010803020104030203" pitchFamily="2" charset="-79"/>
            </a:endParaRPr>
          </a:p>
          <a:p>
            <a:endParaRPr lang="pt-BR" sz="3200" dirty="0"/>
          </a:p>
        </p:txBody>
      </p:sp>
      <p:pic>
        <p:nvPicPr>
          <p:cNvPr id="12" name="Imagem 11" descr="Ícone&#10;&#10;O conteúdo gerado por IA pode estar incorreto.">
            <a:extLst>
              <a:ext uri="{FF2B5EF4-FFF2-40B4-BE49-F238E27FC236}">
                <a16:creationId xmlns:a16="http://schemas.microsoft.com/office/drawing/2014/main" xmlns="" id="{FA206F01-05F5-3A60-7A6B-E0EEEA6D701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  <p:sp>
        <p:nvSpPr>
          <p:cNvPr id="3" name="TextBox 6">
            <a:extLst>
              <a:ext uri="{FF2B5EF4-FFF2-40B4-BE49-F238E27FC236}">
                <a16:creationId xmlns:a16="http://schemas.microsoft.com/office/drawing/2014/main" xmlns="" id="{ABEB9EE9-F3D2-1228-7434-DBCAEDFC756B}"/>
              </a:ext>
            </a:extLst>
          </p:cNvPr>
          <p:cNvSpPr txBox="1"/>
          <p:nvPr/>
        </p:nvSpPr>
        <p:spPr>
          <a:xfrm>
            <a:off x="6096000" y="1457936"/>
            <a:ext cx="5341546" cy="1892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pt-BR"/>
            </a:defPPr>
            <a:lvl1pPr algn="ctr">
              <a:lnSpc>
                <a:spcPts val="4184"/>
              </a:lnSpc>
              <a:defRPr sz="590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ea typeface="+mj-ea"/>
                <a:cs typeface="Aharoni" panose="02010803020104030203" pitchFamily="2" charset="-79"/>
              </a:defRPr>
            </a:lvl1pPr>
          </a:lstStyle>
          <a:p>
            <a:pPr algn="l"/>
            <a:r>
              <a:rPr lang="pt-BR" sz="3200" dirty="0"/>
              <a:t>PPL artificial:</a:t>
            </a:r>
          </a:p>
          <a:p>
            <a:endParaRPr lang="pt-BR" dirty="0"/>
          </a:p>
          <a:p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spaço Reservado para Conteúdo 8">
                <a:extLst>
                  <a:ext uri="{FF2B5EF4-FFF2-40B4-BE49-F238E27FC236}">
                    <a16:creationId xmlns:a16="http://schemas.microsoft.com/office/drawing/2014/main" xmlns="" id="{8610F2F2-987A-F2D7-A499-8C084147983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54455" y="2167649"/>
                <a:ext cx="4041775" cy="2983799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pt-BR" i="1" smtClean="0"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>
                              <a:latin typeface="Cambria Math"/>
                            </a:rPr>
                            <m:t>min</m:t>
                          </m:r>
                        </m:fName>
                        <m:e>
                          <m:r>
                            <a:rPr lang="pt-BR" i="1">
                              <a:latin typeface="Cambria Math"/>
                            </a:rPr>
                            <m:t>𝑧</m:t>
                          </m:r>
                          <m:r>
                            <a:rPr lang="pt-BR" i="1">
                              <a:latin typeface="Cambria Math"/>
                            </a:rPr>
                            <m:t>=</m:t>
                          </m:r>
                          <m:r>
                            <a:rPr lang="pt-BR" i="1">
                              <a:latin typeface="Cambria Math"/>
                            </a:rPr>
                            <m:t>4</m:t>
                          </m:r>
                          <m:sSub>
                            <m:sSubPr>
                              <m:ctrlPr>
                                <a:rPr lang="pt-BR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pt-BR" i="1">
                              <a:latin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pt-BR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i="1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pt-BR" dirty="0"/>
              </a:p>
              <a:p>
                <a:pPr marL="0" indent="0" algn="ctr">
                  <a:buFont typeface="Arial" panose="020B0604020202020204" pitchFamily="34" charset="0"/>
                  <a:buNone/>
                </a:pPr>
                <a:r>
                  <a:rPr lang="pt-BR" i="1" dirty="0"/>
                  <a:t>Sujeito a 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latin typeface="Cambria Math"/>
                        </a:rPr>
                        <m:t>3</m:t>
                      </m:r>
                      <m:sSub>
                        <m:sSubPr>
                          <m:ctrlPr>
                            <a:rPr lang="pt-BR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pt-BR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pt-BR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pt-BR" i="1">
                          <a:latin typeface="Cambria Math"/>
                        </a:rPr>
                        <m:t>=</m:t>
                      </m:r>
                      <m:r>
                        <a:rPr lang="pt-BR" i="1">
                          <a:latin typeface="Cambria Math"/>
                        </a:rPr>
                        <m:t>3</m:t>
                      </m:r>
                    </m:oMath>
                  </m:oMathPara>
                </a14:m>
                <a:endParaRPr lang="pt-BR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latin typeface="Cambria Math"/>
                        </a:rPr>
                        <m:t>4</m:t>
                      </m:r>
                      <m:sSub>
                        <m:sSubPr>
                          <m:ctrlPr>
                            <a:rPr lang="pt-BR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pt-BR" i="1">
                          <a:latin typeface="Cambria Math"/>
                        </a:rPr>
                        <m:t>+</m:t>
                      </m:r>
                      <m:r>
                        <a:rPr lang="pt-BR" i="1">
                          <a:latin typeface="Cambria Math"/>
                        </a:rPr>
                        <m:t>3</m:t>
                      </m:r>
                      <m:sSub>
                        <m:sSubPr>
                          <m:ctrlPr>
                            <a:rPr lang="pt-BR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pt-BR" i="1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pt-BR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i="1"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pt-BR" i="1">
                          <a:latin typeface="Cambria Math"/>
                        </a:rPr>
                        <m:t>=</m:t>
                      </m:r>
                      <m:r>
                        <a:rPr lang="pt-BR" i="1">
                          <a:latin typeface="Cambria Math"/>
                          <a:ea typeface="Cambria Math"/>
                        </a:rPr>
                        <m:t>6</m:t>
                      </m:r>
                    </m:oMath>
                  </m:oMathPara>
                </a14:m>
                <a:endParaRPr lang="pt-BR" dirty="0">
                  <a:ea typeface="Cambria Math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pt-BR" i="1">
                          <a:latin typeface="Cambria Math"/>
                        </a:rPr>
                        <m:t>+</m:t>
                      </m:r>
                      <m:r>
                        <a:rPr lang="pt-BR" i="1">
                          <a:latin typeface="Cambria Math"/>
                        </a:rPr>
                        <m:t>2</m:t>
                      </m:r>
                      <m:sSub>
                        <m:sSubPr>
                          <m:ctrlPr>
                            <a:rPr lang="pt-BR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pt-BR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pt-BR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i="1">
                              <a:latin typeface="Cambria Math"/>
                            </a:rPr>
                            <m:t>4</m:t>
                          </m:r>
                        </m:sub>
                      </m:sSub>
                      <m:r>
                        <a:rPr lang="pt-BR" i="1">
                          <a:latin typeface="Cambria Math"/>
                        </a:rPr>
                        <m:t>=</m:t>
                      </m:r>
                      <m:r>
                        <a:rPr lang="pt-BR" i="1">
                          <a:latin typeface="Cambria Math"/>
                          <a:ea typeface="Cambria Math"/>
                        </a:rPr>
                        <m:t>4</m:t>
                      </m:r>
                    </m:oMath>
                  </m:oMathPara>
                </a14:m>
                <a:endParaRPr lang="pt-BR" dirty="0">
                  <a:ea typeface="Cambria Math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pt-BR" i="1">
                          <a:latin typeface="Cambria Math"/>
                        </a:rPr>
                        <m:t>,</m:t>
                      </m:r>
                      <m:sSub>
                        <m:sSubPr>
                          <m:ctrlPr>
                            <a:rPr lang="pt-BR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pt-BR" i="1">
                          <a:latin typeface="Cambria Math"/>
                        </a:rPr>
                        <m:t>,</m:t>
                      </m:r>
                      <m:sSub>
                        <m:sSubPr>
                          <m:ctrlPr>
                            <a:rPr lang="pt-BR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i="1"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pt-BR" i="1">
                          <a:latin typeface="Cambria Math"/>
                        </a:rPr>
                        <m:t>,</m:t>
                      </m:r>
                      <m:sSub>
                        <m:sSubPr>
                          <m:ctrlPr>
                            <a:rPr lang="pt-BR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i="1">
                              <a:latin typeface="Cambria Math"/>
                            </a:rPr>
                            <m:t>4</m:t>
                          </m:r>
                        </m:sub>
                      </m:sSub>
                      <m:r>
                        <a:rPr lang="pt-BR" i="1">
                          <a:latin typeface="Cambria Math"/>
                          <a:ea typeface="Cambria Math"/>
                        </a:rPr>
                        <m:t>≥</m:t>
                      </m:r>
                      <m:r>
                        <a:rPr lang="pt-BR" i="1">
                          <a:latin typeface="Cambria Math"/>
                          <a:ea typeface="Cambria Math"/>
                        </a:rPr>
                        <m:t>0</m:t>
                      </m:r>
                    </m:oMath>
                  </m:oMathPara>
                </a14:m>
                <a:endParaRPr lang="pt-BR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pt-BR" dirty="0"/>
              </a:p>
            </p:txBody>
          </p:sp>
        </mc:Choice>
        <mc:Fallback xmlns="">
          <p:sp>
            <p:nvSpPr>
              <p:cNvPr id="4" name="Espaço Reservado para Conteúdo 8">
                <a:extLst>
                  <a:ext uri="{FF2B5EF4-FFF2-40B4-BE49-F238E27FC236}">
                    <a16:creationId xmlns:a16="http://schemas.microsoft.com/office/drawing/2014/main" id="{8610F2F2-987A-F2D7-A499-8C08414798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455" y="2167649"/>
                <a:ext cx="4041775" cy="29837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Espaço Reservado para Conteúdo 8">
                <a:extLst>
                  <a:ext uri="{FF2B5EF4-FFF2-40B4-BE49-F238E27FC236}">
                    <a16:creationId xmlns:a16="http://schemas.microsoft.com/office/drawing/2014/main" xmlns="" id="{F95FA275-C7B6-2875-6507-5E41F7E0428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6000" y="2421012"/>
                <a:ext cx="5203758" cy="2904408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pt-BR" i="1" smtClean="0"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>
                              <a:latin typeface="Cambria Math"/>
                            </a:rPr>
                            <m:t>min</m:t>
                          </m:r>
                        </m:fName>
                        <m:e>
                          <m:r>
                            <a:rPr lang="pt-BR" i="1">
                              <a:latin typeface="Cambria Math"/>
                            </a:rPr>
                            <m:t>𝑧</m:t>
                          </m:r>
                          <m:r>
                            <a:rPr lang="pt-BR" i="1">
                              <a:latin typeface="Cambria Math"/>
                            </a:rPr>
                            <m:t>=</m:t>
                          </m:r>
                          <m:r>
                            <a:rPr lang="pt-BR" i="1">
                              <a:latin typeface="Cambria Math"/>
                            </a:rPr>
                            <m:t>4</m:t>
                          </m:r>
                          <m:sSub>
                            <m:sSubPr>
                              <m:ctrlPr>
                                <a:rPr lang="pt-BR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pt-BR" i="1">
                              <a:latin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pt-BR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i="1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pt-BR" i="1">
                              <a:latin typeface="Cambria Math"/>
                            </a:rPr>
                            <m:t>+</m:t>
                          </m:r>
                          <m:r>
                            <a:rPr lang="pt-BR" i="1">
                              <a:latin typeface="Cambria Math"/>
                            </a:rPr>
                            <m:t>𝑀</m:t>
                          </m:r>
                          <m:acc>
                            <m:accPr>
                              <m:chr m:val="̅"/>
                              <m:ctrlPr>
                                <a:rPr lang="pt-BR" i="1">
                                  <a:latin typeface="Cambria Math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pt-BR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pt-BR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i="1">
                                      <a:latin typeface="Cambria Math"/>
                                    </a:rPr>
                                    <m:t>5</m:t>
                                  </m:r>
                                </m:sub>
                              </m:sSub>
                            </m:e>
                          </m:acc>
                          <m:r>
                            <a:rPr lang="pt-BR" i="1">
                              <a:latin typeface="Cambria Math"/>
                            </a:rPr>
                            <m:t>+</m:t>
                          </m:r>
                          <m:r>
                            <a:rPr lang="pt-BR" i="1">
                              <a:latin typeface="Cambria Math"/>
                            </a:rPr>
                            <m:t>𝑀</m:t>
                          </m:r>
                          <m:acc>
                            <m:accPr>
                              <m:chr m:val="̅"/>
                              <m:ctrlPr>
                                <a:rPr lang="pt-BR" i="1">
                                  <a:latin typeface="Cambria Math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pt-BR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pt-BR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i="1">
                                      <a:latin typeface="Cambria Math"/>
                                    </a:rPr>
                                    <m:t>6</m:t>
                                  </m:r>
                                </m:sub>
                              </m:sSub>
                            </m:e>
                          </m:acc>
                        </m:e>
                      </m:func>
                    </m:oMath>
                  </m:oMathPara>
                </a14:m>
                <a:endParaRPr lang="pt-BR" dirty="0"/>
              </a:p>
              <a:p>
                <a:pPr marL="0" indent="0" algn="ctr">
                  <a:buFont typeface="Arial" panose="020B0604020202020204" pitchFamily="34" charset="0"/>
                  <a:buNone/>
                </a:pPr>
                <a:r>
                  <a:rPr lang="pt-BR" i="1" dirty="0"/>
                  <a:t>Sujeito a 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latin typeface="Cambria Math"/>
                        </a:rPr>
                        <m:t>3</m:t>
                      </m:r>
                      <m:sSub>
                        <m:sSubPr>
                          <m:ctrlPr>
                            <a:rPr lang="pt-BR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pt-BR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pt-BR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pt-BR" i="1">
                          <a:latin typeface="Cambria Math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pt-BR" i="1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pt-BR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i="1">
                                  <a:latin typeface="Cambria Math"/>
                                </a:rPr>
                                <m:t>5</m:t>
                              </m:r>
                            </m:sub>
                          </m:sSub>
                        </m:e>
                      </m:acc>
                      <m:r>
                        <a:rPr lang="pt-BR" i="1">
                          <a:latin typeface="Cambria Math"/>
                        </a:rPr>
                        <m:t>=</m:t>
                      </m:r>
                      <m:r>
                        <a:rPr lang="pt-BR" i="1">
                          <a:latin typeface="Cambria Math"/>
                        </a:rPr>
                        <m:t>3</m:t>
                      </m:r>
                    </m:oMath>
                  </m:oMathPara>
                </a14:m>
                <a:endParaRPr lang="pt-BR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latin typeface="Cambria Math"/>
                        </a:rPr>
                        <m:t>4</m:t>
                      </m:r>
                      <m:sSub>
                        <m:sSubPr>
                          <m:ctrlPr>
                            <a:rPr lang="pt-BR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pt-BR" i="1">
                          <a:latin typeface="Cambria Math"/>
                        </a:rPr>
                        <m:t>+</m:t>
                      </m:r>
                      <m:r>
                        <a:rPr lang="pt-BR" i="1">
                          <a:latin typeface="Cambria Math"/>
                        </a:rPr>
                        <m:t>3</m:t>
                      </m:r>
                      <m:sSub>
                        <m:sSubPr>
                          <m:ctrlPr>
                            <a:rPr lang="pt-BR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pt-BR" i="1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pt-BR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i="1"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pt-BR" i="1">
                          <a:latin typeface="Cambria Math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pt-BR" i="1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pt-BR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i="1">
                                  <a:latin typeface="Cambria Math"/>
                                </a:rPr>
                                <m:t>6</m:t>
                              </m:r>
                            </m:sub>
                          </m:sSub>
                        </m:e>
                      </m:acc>
                      <m:r>
                        <a:rPr lang="pt-BR" i="1">
                          <a:latin typeface="Cambria Math"/>
                        </a:rPr>
                        <m:t>=</m:t>
                      </m:r>
                      <m:r>
                        <a:rPr lang="pt-BR" i="1">
                          <a:latin typeface="Cambria Math"/>
                          <a:ea typeface="Cambria Math"/>
                        </a:rPr>
                        <m:t>6</m:t>
                      </m:r>
                    </m:oMath>
                  </m:oMathPara>
                </a14:m>
                <a:endParaRPr lang="pt-BR" dirty="0">
                  <a:ea typeface="Cambria Math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pt-BR" i="1">
                          <a:latin typeface="Cambria Math"/>
                        </a:rPr>
                        <m:t>+</m:t>
                      </m:r>
                      <m:r>
                        <a:rPr lang="pt-BR" i="1">
                          <a:latin typeface="Cambria Math"/>
                        </a:rPr>
                        <m:t>2</m:t>
                      </m:r>
                      <m:sSub>
                        <m:sSubPr>
                          <m:ctrlPr>
                            <a:rPr lang="pt-BR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pt-BR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pt-BR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i="1">
                              <a:latin typeface="Cambria Math"/>
                            </a:rPr>
                            <m:t>4</m:t>
                          </m:r>
                        </m:sub>
                      </m:sSub>
                      <m:r>
                        <a:rPr lang="pt-BR" i="1">
                          <a:latin typeface="Cambria Math"/>
                        </a:rPr>
                        <m:t>=</m:t>
                      </m:r>
                      <m:r>
                        <a:rPr lang="pt-BR" i="1">
                          <a:latin typeface="Cambria Math"/>
                          <a:ea typeface="Cambria Math"/>
                        </a:rPr>
                        <m:t>4</m:t>
                      </m:r>
                    </m:oMath>
                  </m:oMathPara>
                </a14:m>
                <a:endParaRPr lang="pt-BR" dirty="0">
                  <a:ea typeface="Cambria Math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pt-BR" i="1">
                          <a:latin typeface="Cambria Math"/>
                        </a:rPr>
                        <m:t>,</m:t>
                      </m:r>
                      <m:sSub>
                        <m:sSubPr>
                          <m:ctrlPr>
                            <a:rPr lang="pt-BR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pt-BR" i="1">
                          <a:latin typeface="Cambria Math"/>
                        </a:rPr>
                        <m:t>,</m:t>
                      </m:r>
                      <m:sSub>
                        <m:sSubPr>
                          <m:ctrlPr>
                            <a:rPr lang="pt-BR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i="1"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pt-BR" i="1">
                          <a:latin typeface="Cambria Math"/>
                        </a:rPr>
                        <m:t>,</m:t>
                      </m:r>
                      <m:sSub>
                        <m:sSubPr>
                          <m:ctrlPr>
                            <a:rPr lang="pt-BR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i="1">
                              <a:latin typeface="Cambria Math"/>
                            </a:rPr>
                            <m:t>4</m:t>
                          </m:r>
                        </m:sub>
                      </m:sSub>
                      <m:r>
                        <a:rPr lang="pt-BR" i="1">
                          <a:latin typeface="Cambria Math"/>
                        </a:rPr>
                        <m:t>,</m:t>
                      </m:r>
                      <m:acc>
                        <m:accPr>
                          <m:chr m:val="̅"/>
                          <m:ctrlPr>
                            <a:rPr lang="pt-BR" i="1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pt-BR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i="1">
                                  <a:latin typeface="Cambria Math"/>
                                </a:rPr>
                                <m:t>5</m:t>
                              </m:r>
                            </m:sub>
                          </m:sSub>
                        </m:e>
                      </m:acc>
                      <m:r>
                        <a:rPr lang="pt-BR" i="1">
                          <a:latin typeface="Cambria Math"/>
                        </a:rPr>
                        <m:t>,</m:t>
                      </m:r>
                      <m:acc>
                        <m:accPr>
                          <m:chr m:val="̅"/>
                          <m:ctrlPr>
                            <a:rPr lang="pt-BR" i="1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pt-BR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i="1">
                                  <a:latin typeface="Cambria Math"/>
                                </a:rPr>
                                <m:t>6</m:t>
                              </m:r>
                            </m:sub>
                          </m:sSub>
                        </m:e>
                      </m:acc>
                      <m:r>
                        <a:rPr lang="pt-BR" i="1">
                          <a:latin typeface="Cambria Math"/>
                          <a:ea typeface="Cambria Math"/>
                        </a:rPr>
                        <m:t>≥</m:t>
                      </m:r>
                      <m:r>
                        <a:rPr lang="pt-BR" i="1">
                          <a:latin typeface="Cambria Math"/>
                          <a:ea typeface="Cambria Math"/>
                        </a:rPr>
                        <m:t>0</m:t>
                      </m:r>
                    </m:oMath>
                  </m:oMathPara>
                </a14:m>
                <a:endParaRPr lang="pt-BR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pt-BR" dirty="0"/>
              </a:p>
            </p:txBody>
          </p:sp>
        </mc:Choice>
        <mc:Fallback xmlns="">
          <p:sp>
            <p:nvSpPr>
              <p:cNvPr id="7" name="Espaço Reservado para Conteúdo 8">
                <a:extLst>
                  <a:ext uri="{FF2B5EF4-FFF2-40B4-BE49-F238E27FC236}">
                    <a16:creationId xmlns:a16="http://schemas.microsoft.com/office/drawing/2014/main" id="{F95FA275-C7B6-2875-6507-5E41F7E042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421012"/>
                <a:ext cx="5203758" cy="290440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4661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72428AD-084B-60F0-3B5D-45A2EFCA8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 descr="Ícone&#10;&#10;O conteúdo gerado por IA pode estar incorreto.">
            <a:extLst>
              <a:ext uri="{FF2B5EF4-FFF2-40B4-BE49-F238E27FC236}">
                <a16:creationId xmlns:a16="http://schemas.microsoft.com/office/drawing/2014/main" xmlns="" id="{E6E2F532-DC2F-4D92-B700-154813EC3C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7652" y="4436988"/>
            <a:ext cx="2430765" cy="2251559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xmlns="" id="{A680AED2-1055-B859-5ACE-6FF0B26ED9B4}"/>
              </a:ext>
            </a:extLst>
          </p:cNvPr>
          <p:cNvSpPr txBox="1"/>
          <p:nvPr/>
        </p:nvSpPr>
        <p:spPr>
          <a:xfrm>
            <a:off x="1000429" y="847992"/>
            <a:ext cx="10191141" cy="630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184"/>
              </a:lnSpc>
            </a:pPr>
            <a:r>
              <a:rPr lang="pt-BR" sz="5400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ea typeface="+mj-ea"/>
                <a:cs typeface="Aharoni" panose="02010803020104030203" pitchFamily="2" charset="-79"/>
                <a:sym typeface="Hagrid Text Bold"/>
              </a:rPr>
              <a:t>Exemplo</a:t>
            </a:r>
            <a:endParaRPr lang="en-US" sz="5400" dirty="0">
              <a:solidFill>
                <a:schemeClr val="tx2">
                  <a:lumMod val="90000"/>
                  <a:lumOff val="10000"/>
                </a:schemeClr>
              </a:solidFill>
              <a:latin typeface="Aharoni" panose="02010803020104030203" pitchFamily="2" charset="-79"/>
              <a:ea typeface="+mj-ea"/>
              <a:cs typeface="Aharoni" panose="02010803020104030203" pitchFamily="2" charset="-79"/>
              <a:sym typeface="Hagrid Text Bold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xmlns="" id="{A0737E92-B83E-D67A-F764-45D9EA846EDA}"/>
              </a:ext>
            </a:extLst>
          </p:cNvPr>
          <p:cNvSpPr txBox="1"/>
          <p:nvPr/>
        </p:nvSpPr>
        <p:spPr>
          <a:xfrm>
            <a:off x="515014" y="1682349"/>
            <a:ext cx="5341546" cy="15234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184"/>
              </a:lnSpc>
            </a:pPr>
            <a:r>
              <a:rPr lang="pt-BR" sz="3200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ea typeface="+mj-ea"/>
                <a:cs typeface="Aharoni" panose="02010803020104030203" pitchFamily="2" charset="-79"/>
              </a:rPr>
              <a:t>PPL artificial:</a:t>
            </a:r>
          </a:p>
          <a:p>
            <a:endParaRPr lang="pt-BR" sz="3200" dirty="0"/>
          </a:p>
          <a:p>
            <a:endParaRPr lang="pt-BR" sz="3200" dirty="0"/>
          </a:p>
        </p:txBody>
      </p:sp>
      <p:pic>
        <p:nvPicPr>
          <p:cNvPr id="12" name="Imagem 11" descr="Ícone&#10;&#10;O conteúdo gerado por IA pode estar incorreto.">
            <a:extLst>
              <a:ext uri="{FF2B5EF4-FFF2-40B4-BE49-F238E27FC236}">
                <a16:creationId xmlns:a16="http://schemas.microsoft.com/office/drawing/2014/main" xmlns="" id="{13CAB4F8-E34E-EAEE-6461-5E0E7318358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  <p:sp>
        <p:nvSpPr>
          <p:cNvPr id="3" name="TextBox 6">
            <a:extLst>
              <a:ext uri="{FF2B5EF4-FFF2-40B4-BE49-F238E27FC236}">
                <a16:creationId xmlns:a16="http://schemas.microsoft.com/office/drawing/2014/main" xmlns="" id="{23E2A6C2-2808-3036-823C-8BF5237B4667}"/>
              </a:ext>
            </a:extLst>
          </p:cNvPr>
          <p:cNvSpPr txBox="1"/>
          <p:nvPr/>
        </p:nvSpPr>
        <p:spPr>
          <a:xfrm>
            <a:off x="6095999" y="1682349"/>
            <a:ext cx="5341546" cy="15696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184"/>
              </a:lnSpc>
            </a:pPr>
            <a:r>
              <a:rPr lang="pt-BR" sz="3200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ea typeface="+mj-ea"/>
                <a:cs typeface="Aharoni" panose="02010803020104030203" pitchFamily="2" charset="-79"/>
              </a:rPr>
              <a:t>PPL artificial equivalente:</a:t>
            </a:r>
          </a:p>
          <a:p>
            <a:pPr>
              <a:lnSpc>
                <a:spcPts val="4184"/>
              </a:lnSpc>
            </a:pPr>
            <a:endParaRPr lang="pt-BR" sz="3200" dirty="0">
              <a:solidFill>
                <a:schemeClr val="tx2">
                  <a:lumMod val="90000"/>
                  <a:lumOff val="10000"/>
                </a:schemeClr>
              </a:solidFill>
              <a:latin typeface="Aharoni" panose="02010803020104030203" pitchFamily="2" charset="-79"/>
              <a:ea typeface="+mj-ea"/>
              <a:cs typeface="Aharoni" panose="02010803020104030203" pitchFamily="2" charset="-79"/>
            </a:endParaRPr>
          </a:p>
          <a:p>
            <a:endParaRPr lang="pt-BR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Espaço Reservado para Conteúdo 8">
                <a:extLst>
                  <a:ext uri="{FF2B5EF4-FFF2-40B4-BE49-F238E27FC236}">
                    <a16:creationId xmlns:a16="http://schemas.microsoft.com/office/drawing/2014/main" xmlns="" id="{8ACC9CC0-BAEC-C439-11F0-3957E47AFB7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15014" y="2421012"/>
                <a:ext cx="4907886" cy="2904408"/>
              </a:xfrm>
              <a:prstGeom prst="rect">
                <a:avLst/>
              </a:prstGeom>
            </p:spPr>
            <p:txBody>
              <a:bodyPr>
                <a:normAutofit fontScale="925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pt-BR" i="1" smtClean="0"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>
                              <a:latin typeface="Cambria Math"/>
                            </a:rPr>
                            <m:t>min</m:t>
                          </m:r>
                        </m:fName>
                        <m:e>
                          <m:r>
                            <a:rPr lang="pt-BR" i="1">
                              <a:latin typeface="Cambria Math"/>
                            </a:rPr>
                            <m:t>𝑧</m:t>
                          </m:r>
                          <m:r>
                            <a:rPr lang="pt-BR" i="1">
                              <a:latin typeface="Cambria Math"/>
                            </a:rPr>
                            <m:t>=</m:t>
                          </m:r>
                          <m:r>
                            <a:rPr lang="pt-BR" i="1">
                              <a:latin typeface="Cambria Math"/>
                            </a:rPr>
                            <m:t>4</m:t>
                          </m:r>
                          <m:sSub>
                            <m:sSubPr>
                              <m:ctrlPr>
                                <a:rPr lang="pt-BR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pt-BR" i="1">
                              <a:latin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pt-BR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i="1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pt-BR" i="1">
                              <a:latin typeface="Cambria Math"/>
                            </a:rPr>
                            <m:t>+</m:t>
                          </m:r>
                          <m:r>
                            <a:rPr lang="pt-BR" i="1">
                              <a:latin typeface="Cambria Math"/>
                            </a:rPr>
                            <m:t>𝑀</m:t>
                          </m:r>
                          <m:acc>
                            <m:accPr>
                              <m:chr m:val="̅"/>
                              <m:ctrlPr>
                                <a:rPr lang="pt-BR" i="1">
                                  <a:latin typeface="Cambria Math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pt-BR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pt-BR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i="1">
                                      <a:latin typeface="Cambria Math"/>
                                    </a:rPr>
                                    <m:t>5</m:t>
                                  </m:r>
                                </m:sub>
                              </m:sSub>
                            </m:e>
                          </m:acc>
                          <m:r>
                            <a:rPr lang="pt-BR" i="1">
                              <a:latin typeface="Cambria Math"/>
                            </a:rPr>
                            <m:t>+</m:t>
                          </m:r>
                          <m:r>
                            <a:rPr lang="pt-BR" i="1">
                              <a:latin typeface="Cambria Math"/>
                            </a:rPr>
                            <m:t>𝑀</m:t>
                          </m:r>
                          <m:acc>
                            <m:accPr>
                              <m:chr m:val="̅"/>
                              <m:ctrlPr>
                                <a:rPr lang="pt-BR" i="1">
                                  <a:latin typeface="Cambria Math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pt-BR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pt-BR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i="1">
                                      <a:latin typeface="Cambria Math"/>
                                    </a:rPr>
                                    <m:t>6</m:t>
                                  </m:r>
                                </m:sub>
                              </m:sSub>
                            </m:e>
                          </m:acc>
                        </m:e>
                      </m:func>
                    </m:oMath>
                  </m:oMathPara>
                </a14:m>
                <a:endParaRPr lang="pt-BR" dirty="0"/>
              </a:p>
              <a:p>
                <a:pPr marL="0" indent="0" algn="ctr">
                  <a:buFont typeface="Arial" panose="020B0604020202020204" pitchFamily="34" charset="0"/>
                  <a:buNone/>
                </a:pPr>
                <a:r>
                  <a:rPr lang="pt-BR" i="1" dirty="0"/>
                  <a:t>Sujeito a 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latin typeface="Cambria Math"/>
                        </a:rPr>
                        <m:t>3</m:t>
                      </m:r>
                      <m:sSub>
                        <m:sSubPr>
                          <m:ctrlPr>
                            <a:rPr lang="pt-BR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pt-BR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pt-BR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pt-BR" i="1">
                          <a:latin typeface="Cambria Math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pt-BR" i="1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pt-BR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i="1">
                                  <a:latin typeface="Cambria Math"/>
                                </a:rPr>
                                <m:t>5</m:t>
                              </m:r>
                            </m:sub>
                          </m:sSub>
                        </m:e>
                      </m:acc>
                      <m:r>
                        <a:rPr lang="pt-BR" i="1">
                          <a:latin typeface="Cambria Math"/>
                        </a:rPr>
                        <m:t>=</m:t>
                      </m:r>
                      <m:r>
                        <a:rPr lang="pt-BR" i="1">
                          <a:latin typeface="Cambria Math"/>
                        </a:rPr>
                        <m:t>3</m:t>
                      </m:r>
                    </m:oMath>
                  </m:oMathPara>
                </a14:m>
                <a:endParaRPr lang="pt-BR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latin typeface="Cambria Math"/>
                        </a:rPr>
                        <m:t>4</m:t>
                      </m:r>
                      <m:sSub>
                        <m:sSubPr>
                          <m:ctrlPr>
                            <a:rPr lang="pt-BR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pt-BR" i="1">
                          <a:latin typeface="Cambria Math"/>
                        </a:rPr>
                        <m:t>+</m:t>
                      </m:r>
                      <m:r>
                        <a:rPr lang="pt-BR" i="1">
                          <a:latin typeface="Cambria Math"/>
                        </a:rPr>
                        <m:t>3</m:t>
                      </m:r>
                      <m:sSub>
                        <m:sSubPr>
                          <m:ctrlPr>
                            <a:rPr lang="pt-BR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pt-BR" i="1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pt-BR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i="1"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pt-BR" i="1">
                          <a:latin typeface="Cambria Math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pt-BR" i="1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pt-BR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i="1">
                                  <a:latin typeface="Cambria Math"/>
                                </a:rPr>
                                <m:t>6</m:t>
                              </m:r>
                            </m:sub>
                          </m:sSub>
                        </m:e>
                      </m:acc>
                      <m:r>
                        <a:rPr lang="pt-BR" i="1">
                          <a:latin typeface="Cambria Math"/>
                        </a:rPr>
                        <m:t>=</m:t>
                      </m:r>
                      <m:r>
                        <a:rPr lang="pt-BR" i="1">
                          <a:latin typeface="Cambria Math"/>
                          <a:ea typeface="Cambria Math"/>
                        </a:rPr>
                        <m:t>6</m:t>
                      </m:r>
                    </m:oMath>
                  </m:oMathPara>
                </a14:m>
                <a:endParaRPr lang="pt-BR" dirty="0">
                  <a:ea typeface="Cambria Math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pt-BR" i="1">
                          <a:latin typeface="Cambria Math"/>
                        </a:rPr>
                        <m:t>+</m:t>
                      </m:r>
                      <m:r>
                        <a:rPr lang="pt-BR" i="1">
                          <a:latin typeface="Cambria Math"/>
                        </a:rPr>
                        <m:t>2</m:t>
                      </m:r>
                      <m:sSub>
                        <m:sSubPr>
                          <m:ctrlPr>
                            <a:rPr lang="pt-BR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pt-BR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pt-BR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i="1">
                              <a:latin typeface="Cambria Math"/>
                            </a:rPr>
                            <m:t>4</m:t>
                          </m:r>
                        </m:sub>
                      </m:sSub>
                      <m:r>
                        <a:rPr lang="pt-BR" i="1">
                          <a:latin typeface="Cambria Math"/>
                        </a:rPr>
                        <m:t>=</m:t>
                      </m:r>
                      <m:r>
                        <a:rPr lang="pt-BR" i="1">
                          <a:latin typeface="Cambria Math"/>
                          <a:ea typeface="Cambria Math"/>
                        </a:rPr>
                        <m:t>4</m:t>
                      </m:r>
                    </m:oMath>
                  </m:oMathPara>
                </a14:m>
                <a:endParaRPr lang="pt-BR" dirty="0">
                  <a:ea typeface="Cambria Math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pt-BR" i="1">
                          <a:latin typeface="Cambria Math"/>
                        </a:rPr>
                        <m:t>,</m:t>
                      </m:r>
                      <m:sSub>
                        <m:sSubPr>
                          <m:ctrlPr>
                            <a:rPr lang="pt-BR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pt-BR" i="1">
                          <a:latin typeface="Cambria Math"/>
                        </a:rPr>
                        <m:t>,</m:t>
                      </m:r>
                      <m:sSub>
                        <m:sSubPr>
                          <m:ctrlPr>
                            <a:rPr lang="pt-BR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i="1"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pt-BR" i="1">
                          <a:latin typeface="Cambria Math"/>
                        </a:rPr>
                        <m:t>,</m:t>
                      </m:r>
                      <m:sSub>
                        <m:sSubPr>
                          <m:ctrlPr>
                            <a:rPr lang="pt-BR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i="1">
                              <a:latin typeface="Cambria Math"/>
                            </a:rPr>
                            <m:t>4</m:t>
                          </m:r>
                        </m:sub>
                      </m:sSub>
                      <m:r>
                        <a:rPr lang="pt-BR" i="1">
                          <a:latin typeface="Cambria Math"/>
                        </a:rPr>
                        <m:t>,</m:t>
                      </m:r>
                      <m:acc>
                        <m:accPr>
                          <m:chr m:val="̅"/>
                          <m:ctrlPr>
                            <a:rPr lang="pt-BR" i="1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pt-BR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i="1">
                                  <a:latin typeface="Cambria Math"/>
                                </a:rPr>
                                <m:t>5</m:t>
                              </m:r>
                            </m:sub>
                          </m:sSub>
                        </m:e>
                      </m:acc>
                      <m:r>
                        <a:rPr lang="pt-BR" i="1">
                          <a:latin typeface="Cambria Math"/>
                        </a:rPr>
                        <m:t>,</m:t>
                      </m:r>
                      <m:acc>
                        <m:accPr>
                          <m:chr m:val="̅"/>
                          <m:ctrlPr>
                            <a:rPr lang="pt-BR" i="1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pt-BR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i="1">
                                  <a:latin typeface="Cambria Math"/>
                                </a:rPr>
                                <m:t>6</m:t>
                              </m:r>
                            </m:sub>
                          </m:sSub>
                        </m:e>
                      </m:acc>
                      <m:r>
                        <a:rPr lang="pt-BR" i="1">
                          <a:latin typeface="Cambria Math"/>
                          <a:ea typeface="Cambria Math"/>
                        </a:rPr>
                        <m:t>≥</m:t>
                      </m:r>
                      <m:r>
                        <a:rPr lang="pt-BR" i="1">
                          <a:latin typeface="Cambria Math"/>
                          <a:ea typeface="Cambria Math"/>
                        </a:rPr>
                        <m:t>0</m:t>
                      </m:r>
                    </m:oMath>
                  </m:oMathPara>
                </a14:m>
                <a:endParaRPr lang="pt-BR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pt-BR" dirty="0"/>
              </a:p>
            </p:txBody>
          </p:sp>
        </mc:Choice>
        <mc:Fallback xmlns="">
          <p:sp>
            <p:nvSpPr>
              <p:cNvPr id="7" name="Espaço Reservado para Conteúdo 8">
                <a:extLst>
                  <a:ext uri="{FF2B5EF4-FFF2-40B4-BE49-F238E27FC236}">
                    <a16:creationId xmlns:a16="http://schemas.microsoft.com/office/drawing/2014/main" id="{8ACC9CC0-BAEC-C439-11F0-3957E47AFB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014" y="2421012"/>
                <a:ext cx="4907886" cy="2904408"/>
              </a:xfrm>
              <a:prstGeom prst="rect">
                <a:avLst/>
              </a:prstGeom>
              <a:blipFill>
                <a:blip r:embed="rId5"/>
                <a:stretch>
                  <a:fillRect l="-496" r="-37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Espaço Reservado para Conteúdo 8">
                <a:extLst>
                  <a:ext uri="{FF2B5EF4-FFF2-40B4-BE49-F238E27FC236}">
                    <a16:creationId xmlns:a16="http://schemas.microsoft.com/office/drawing/2014/main" xmlns="" id="{2985C3D6-1104-C8E9-8B49-DD943BCBC4D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5999" y="2421012"/>
                <a:ext cx="5341546" cy="2904408"/>
              </a:xfrm>
              <a:prstGeom prst="rect">
                <a:avLst/>
              </a:prstGeom>
            </p:spPr>
            <p:txBody>
              <a:bodyPr>
                <a:normAutofit fontScale="925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pt-BR" i="1" smtClean="0"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>
                              <a:latin typeface="Cambria Math"/>
                            </a:rPr>
                            <m:t>m</m:t>
                          </m:r>
                          <m:r>
                            <a:rPr lang="pt-BR" i="1">
                              <a:latin typeface="Cambria Math"/>
                            </a:rPr>
                            <m:t>𝑎𝑥</m:t>
                          </m:r>
                        </m:fName>
                        <m:e>
                          <m:r>
                            <a:rPr lang="pt-BR" i="1">
                              <a:latin typeface="Cambria Math"/>
                            </a:rPr>
                            <m:t>−</m:t>
                          </m:r>
                          <m:r>
                            <a:rPr lang="pt-BR" i="1">
                              <a:latin typeface="Cambria Math"/>
                            </a:rPr>
                            <m:t>𝑧</m:t>
                          </m:r>
                          <m:r>
                            <a:rPr lang="pt-BR" i="1">
                              <a:latin typeface="Cambria Math"/>
                            </a:rPr>
                            <m:t>=−</m:t>
                          </m:r>
                          <m:r>
                            <a:rPr lang="pt-BR" i="1">
                              <a:latin typeface="Cambria Math"/>
                            </a:rPr>
                            <m:t>4</m:t>
                          </m:r>
                          <m:sSub>
                            <m:sSubPr>
                              <m:ctrlPr>
                                <a:rPr lang="pt-BR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pt-BR" i="1"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pt-BR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i="1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pt-BR" i="1">
                              <a:latin typeface="Cambria Math"/>
                            </a:rPr>
                            <m:t>− </m:t>
                          </m:r>
                          <m:r>
                            <a:rPr lang="pt-BR" i="1">
                              <a:latin typeface="Cambria Math"/>
                            </a:rPr>
                            <m:t>𝑀</m:t>
                          </m:r>
                          <m:acc>
                            <m:accPr>
                              <m:chr m:val="̅"/>
                              <m:ctrlPr>
                                <a:rPr lang="pt-BR" i="1">
                                  <a:latin typeface="Cambria Math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pt-BR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pt-BR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i="1">
                                      <a:latin typeface="Cambria Math"/>
                                    </a:rPr>
                                    <m:t>5</m:t>
                                  </m:r>
                                </m:sub>
                              </m:sSub>
                            </m:e>
                          </m:acc>
                          <m:r>
                            <a:rPr lang="pt-BR" i="1">
                              <a:latin typeface="Cambria Math"/>
                            </a:rPr>
                            <m:t>−</m:t>
                          </m:r>
                          <m:r>
                            <a:rPr lang="pt-BR" i="1">
                              <a:latin typeface="Cambria Math"/>
                            </a:rPr>
                            <m:t>𝑀</m:t>
                          </m:r>
                          <m:acc>
                            <m:accPr>
                              <m:chr m:val="̅"/>
                              <m:ctrlPr>
                                <a:rPr lang="pt-BR" i="1">
                                  <a:latin typeface="Cambria Math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pt-BR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pt-BR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i="1">
                                      <a:latin typeface="Cambria Math"/>
                                    </a:rPr>
                                    <m:t>6</m:t>
                                  </m:r>
                                </m:sub>
                              </m:sSub>
                            </m:e>
                          </m:acc>
                        </m:e>
                      </m:func>
                    </m:oMath>
                  </m:oMathPara>
                </a14:m>
                <a:endParaRPr lang="pt-BR" dirty="0"/>
              </a:p>
              <a:p>
                <a:pPr marL="0" indent="0" algn="ctr">
                  <a:buFont typeface="Arial" panose="020B0604020202020204" pitchFamily="34" charset="0"/>
                  <a:buNone/>
                </a:pPr>
                <a:r>
                  <a:rPr lang="pt-BR" i="1" dirty="0"/>
                  <a:t>Sujeito a 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latin typeface="Cambria Math"/>
                        </a:rPr>
                        <m:t>3</m:t>
                      </m:r>
                      <m:sSub>
                        <m:sSubPr>
                          <m:ctrlPr>
                            <a:rPr lang="pt-BR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pt-BR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pt-BR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pt-BR" i="1">
                          <a:latin typeface="Cambria Math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pt-BR" i="1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pt-BR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i="1">
                                  <a:latin typeface="Cambria Math"/>
                                </a:rPr>
                                <m:t>5</m:t>
                              </m:r>
                            </m:sub>
                          </m:sSub>
                        </m:e>
                      </m:acc>
                      <m:r>
                        <a:rPr lang="pt-BR" i="1">
                          <a:latin typeface="Cambria Math"/>
                        </a:rPr>
                        <m:t>=</m:t>
                      </m:r>
                      <m:r>
                        <a:rPr lang="pt-BR" i="1">
                          <a:latin typeface="Cambria Math"/>
                        </a:rPr>
                        <m:t>3</m:t>
                      </m:r>
                    </m:oMath>
                  </m:oMathPara>
                </a14:m>
                <a:endParaRPr lang="pt-BR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latin typeface="Cambria Math"/>
                        </a:rPr>
                        <m:t>4</m:t>
                      </m:r>
                      <m:sSub>
                        <m:sSubPr>
                          <m:ctrlPr>
                            <a:rPr lang="pt-BR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pt-BR" i="1">
                          <a:latin typeface="Cambria Math"/>
                        </a:rPr>
                        <m:t>+</m:t>
                      </m:r>
                      <m:r>
                        <a:rPr lang="pt-BR" i="1">
                          <a:latin typeface="Cambria Math"/>
                        </a:rPr>
                        <m:t>3</m:t>
                      </m:r>
                      <m:sSub>
                        <m:sSubPr>
                          <m:ctrlPr>
                            <a:rPr lang="pt-BR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pt-BR" i="1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pt-BR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i="1"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pt-BR" i="1">
                          <a:latin typeface="Cambria Math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pt-BR" i="1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pt-BR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i="1">
                                  <a:latin typeface="Cambria Math"/>
                                </a:rPr>
                                <m:t>6</m:t>
                              </m:r>
                            </m:sub>
                          </m:sSub>
                        </m:e>
                      </m:acc>
                      <m:r>
                        <a:rPr lang="pt-BR" i="1">
                          <a:latin typeface="Cambria Math"/>
                        </a:rPr>
                        <m:t>=</m:t>
                      </m:r>
                      <m:r>
                        <a:rPr lang="pt-BR" i="1">
                          <a:latin typeface="Cambria Math"/>
                          <a:ea typeface="Cambria Math"/>
                        </a:rPr>
                        <m:t>6</m:t>
                      </m:r>
                    </m:oMath>
                  </m:oMathPara>
                </a14:m>
                <a:endParaRPr lang="pt-BR" dirty="0">
                  <a:ea typeface="Cambria Math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pt-BR" i="1">
                          <a:latin typeface="Cambria Math"/>
                        </a:rPr>
                        <m:t>+</m:t>
                      </m:r>
                      <m:r>
                        <a:rPr lang="pt-BR" i="1">
                          <a:latin typeface="Cambria Math"/>
                        </a:rPr>
                        <m:t>2</m:t>
                      </m:r>
                      <m:sSub>
                        <m:sSubPr>
                          <m:ctrlPr>
                            <a:rPr lang="pt-BR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pt-BR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pt-BR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i="1">
                              <a:latin typeface="Cambria Math"/>
                            </a:rPr>
                            <m:t>4</m:t>
                          </m:r>
                        </m:sub>
                      </m:sSub>
                      <m:r>
                        <a:rPr lang="pt-BR" i="1">
                          <a:latin typeface="Cambria Math"/>
                        </a:rPr>
                        <m:t>=</m:t>
                      </m:r>
                      <m:r>
                        <a:rPr lang="pt-BR" i="1">
                          <a:latin typeface="Cambria Math"/>
                          <a:ea typeface="Cambria Math"/>
                        </a:rPr>
                        <m:t>4</m:t>
                      </m:r>
                    </m:oMath>
                  </m:oMathPara>
                </a14:m>
                <a:endParaRPr lang="pt-BR" dirty="0">
                  <a:ea typeface="Cambria Math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pt-BR" i="1">
                          <a:latin typeface="Cambria Math"/>
                        </a:rPr>
                        <m:t>,</m:t>
                      </m:r>
                      <m:sSub>
                        <m:sSubPr>
                          <m:ctrlPr>
                            <a:rPr lang="pt-BR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pt-BR" i="1">
                          <a:latin typeface="Cambria Math"/>
                        </a:rPr>
                        <m:t>,</m:t>
                      </m:r>
                      <m:sSub>
                        <m:sSubPr>
                          <m:ctrlPr>
                            <a:rPr lang="pt-BR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i="1"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pt-BR" i="1">
                          <a:latin typeface="Cambria Math"/>
                        </a:rPr>
                        <m:t>,</m:t>
                      </m:r>
                      <m:sSub>
                        <m:sSubPr>
                          <m:ctrlPr>
                            <a:rPr lang="pt-BR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i="1">
                              <a:latin typeface="Cambria Math"/>
                            </a:rPr>
                            <m:t>4</m:t>
                          </m:r>
                        </m:sub>
                      </m:sSub>
                      <m:r>
                        <a:rPr lang="pt-BR" i="1">
                          <a:latin typeface="Cambria Math"/>
                        </a:rPr>
                        <m:t>,</m:t>
                      </m:r>
                      <m:acc>
                        <m:accPr>
                          <m:chr m:val="̅"/>
                          <m:ctrlPr>
                            <a:rPr lang="pt-BR" i="1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pt-BR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i="1">
                                  <a:latin typeface="Cambria Math"/>
                                </a:rPr>
                                <m:t>5</m:t>
                              </m:r>
                            </m:sub>
                          </m:sSub>
                        </m:e>
                      </m:acc>
                      <m:r>
                        <a:rPr lang="pt-BR" i="1">
                          <a:latin typeface="Cambria Math"/>
                        </a:rPr>
                        <m:t>,</m:t>
                      </m:r>
                      <m:acc>
                        <m:accPr>
                          <m:chr m:val="̅"/>
                          <m:ctrlPr>
                            <a:rPr lang="pt-BR" i="1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pt-BR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i="1">
                                  <a:latin typeface="Cambria Math"/>
                                </a:rPr>
                                <m:t>6</m:t>
                              </m:r>
                            </m:sub>
                          </m:sSub>
                        </m:e>
                      </m:acc>
                      <m:r>
                        <a:rPr lang="pt-BR" i="1">
                          <a:latin typeface="Cambria Math"/>
                          <a:ea typeface="Cambria Math"/>
                        </a:rPr>
                        <m:t>≥</m:t>
                      </m:r>
                      <m:r>
                        <a:rPr lang="pt-BR" i="1">
                          <a:latin typeface="Cambria Math"/>
                          <a:ea typeface="Cambria Math"/>
                        </a:rPr>
                        <m:t>0</m:t>
                      </m:r>
                    </m:oMath>
                  </m:oMathPara>
                </a14:m>
                <a:endParaRPr lang="pt-BR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pt-BR" dirty="0"/>
              </a:p>
            </p:txBody>
          </p:sp>
        </mc:Choice>
        <mc:Fallback xmlns="">
          <p:sp>
            <p:nvSpPr>
              <p:cNvPr id="2" name="Espaço Reservado para Conteúdo 8">
                <a:extLst>
                  <a:ext uri="{FF2B5EF4-FFF2-40B4-BE49-F238E27FC236}">
                    <a16:creationId xmlns:a16="http://schemas.microsoft.com/office/drawing/2014/main" id="{2985C3D6-1104-C8E9-8B49-DD943BCBC4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99" y="2421012"/>
                <a:ext cx="5341546" cy="290440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2533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9746736-D31C-4900-1DEB-DD1201B29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xmlns="" id="{F0D49153-16C4-4CF2-90FB-50EBB0D3A6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7652" y="4436988"/>
            <a:ext cx="2430765" cy="2251559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xmlns="" id="{11D7A5C1-F90B-C26F-2283-E8B48751D61F}"/>
              </a:ext>
            </a:extLst>
          </p:cNvPr>
          <p:cNvSpPr txBox="1"/>
          <p:nvPr/>
        </p:nvSpPr>
        <p:spPr>
          <a:xfrm>
            <a:off x="543229" y="847992"/>
            <a:ext cx="10191141" cy="611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84"/>
              </a:lnSpc>
            </a:pPr>
            <a:r>
              <a:rPr lang="pt-BR" sz="5400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ea typeface="+mj-ea"/>
                <a:cs typeface="Aharoni" panose="02010803020104030203" pitchFamily="2" charset="-79"/>
                <a:sym typeface="Hagrid Text Bold"/>
              </a:rPr>
              <a:t>Tabela Simplex inicial do Big-M</a:t>
            </a:r>
            <a:endParaRPr lang="en-US" sz="5400" dirty="0">
              <a:solidFill>
                <a:schemeClr val="tx2">
                  <a:lumMod val="90000"/>
                  <a:lumOff val="10000"/>
                </a:schemeClr>
              </a:solidFill>
              <a:latin typeface="Aharoni" panose="02010803020104030203" pitchFamily="2" charset="-79"/>
              <a:ea typeface="+mj-ea"/>
              <a:cs typeface="Aharoni" panose="02010803020104030203" pitchFamily="2" charset="-79"/>
              <a:sym typeface="Hagrid Text Bold"/>
            </a:endParaRPr>
          </a:p>
        </p:txBody>
      </p:sp>
      <p:pic>
        <p:nvPicPr>
          <p:cNvPr id="12" name="Imagem 11" descr="Ícone&#10;&#10;O conteúdo gerado por IA pode estar incorreto.">
            <a:extLst>
              <a:ext uri="{FF2B5EF4-FFF2-40B4-BE49-F238E27FC236}">
                <a16:creationId xmlns:a16="http://schemas.microsoft.com/office/drawing/2014/main" xmlns="" id="{E0BB87E2-ACE9-F5BF-4A53-4D42235B109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ela 1">
                <a:extLst>
                  <a:ext uri="{FF2B5EF4-FFF2-40B4-BE49-F238E27FC236}">
                    <a16:creationId xmlns:a16="http://schemas.microsoft.com/office/drawing/2014/main" xmlns="" id="{2D217515-1ED1-3CAD-19E2-FAE3F31349D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63656837"/>
                  </p:ext>
                </p:extLst>
              </p:nvPr>
            </p:nvGraphicFramePr>
            <p:xfrm>
              <a:off x="2006600" y="2265849"/>
              <a:ext cx="8178800" cy="3652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22350">
                      <a:extLst>
                        <a:ext uri="{9D8B030D-6E8A-4147-A177-3AD203B41FA5}">
                          <a16:colId xmlns:a16="http://schemas.microsoft.com/office/drawing/2014/main" xmlns="" val="194499480"/>
                        </a:ext>
                      </a:extLst>
                    </a:gridCol>
                    <a:gridCol w="1022350">
                      <a:extLst>
                        <a:ext uri="{9D8B030D-6E8A-4147-A177-3AD203B41FA5}">
                          <a16:colId xmlns:a16="http://schemas.microsoft.com/office/drawing/2014/main" xmlns="" val="3239068335"/>
                        </a:ext>
                      </a:extLst>
                    </a:gridCol>
                    <a:gridCol w="1022350">
                      <a:extLst>
                        <a:ext uri="{9D8B030D-6E8A-4147-A177-3AD203B41FA5}">
                          <a16:colId xmlns:a16="http://schemas.microsoft.com/office/drawing/2014/main" xmlns="" val="3707295783"/>
                        </a:ext>
                      </a:extLst>
                    </a:gridCol>
                    <a:gridCol w="1022350">
                      <a:extLst>
                        <a:ext uri="{9D8B030D-6E8A-4147-A177-3AD203B41FA5}">
                          <a16:colId xmlns:a16="http://schemas.microsoft.com/office/drawing/2014/main" xmlns="" val="318886580"/>
                        </a:ext>
                      </a:extLst>
                    </a:gridCol>
                    <a:gridCol w="1022350">
                      <a:extLst>
                        <a:ext uri="{9D8B030D-6E8A-4147-A177-3AD203B41FA5}">
                          <a16:colId xmlns:a16="http://schemas.microsoft.com/office/drawing/2014/main" xmlns="" val="4049606609"/>
                        </a:ext>
                      </a:extLst>
                    </a:gridCol>
                    <a:gridCol w="1022350">
                      <a:extLst>
                        <a:ext uri="{9D8B030D-6E8A-4147-A177-3AD203B41FA5}">
                          <a16:colId xmlns:a16="http://schemas.microsoft.com/office/drawing/2014/main" xmlns="" val="821043363"/>
                        </a:ext>
                      </a:extLst>
                    </a:gridCol>
                    <a:gridCol w="1022350">
                      <a:extLst>
                        <a:ext uri="{9D8B030D-6E8A-4147-A177-3AD203B41FA5}">
                          <a16:colId xmlns:a16="http://schemas.microsoft.com/office/drawing/2014/main" xmlns="" val="1642525029"/>
                        </a:ext>
                      </a:extLst>
                    </a:gridCol>
                    <a:gridCol w="1022350">
                      <a:extLst>
                        <a:ext uri="{9D8B030D-6E8A-4147-A177-3AD203B41FA5}">
                          <a16:colId xmlns:a16="http://schemas.microsoft.com/office/drawing/2014/main" xmlns="" val="1236862271"/>
                        </a:ext>
                      </a:extLst>
                    </a:gridCol>
                  </a:tblGrid>
                  <a:tr h="722444">
                    <a:tc>
                      <a:txBody>
                        <a:bodyPr/>
                        <a:lstStyle/>
                        <a:p>
                          <a:r>
                            <a:rPr lang="pt-BR" dirty="0">
                              <a:latin typeface="+mn-lt"/>
                            </a:rPr>
                            <a:t>V.B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b="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b="0" smtClean="0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b="0" smtClean="0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b="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b="0" smtClean="0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b="0" smtClean="0"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b="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b="0" smtClean="0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b="0" smtClean="0">
                                        <a:latin typeface="Cambria Math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b="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b="0" smtClean="0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b="0" smtClean="0">
                                        <a:latin typeface="Cambria Math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pt-BR" b="0" i="1" smtClean="0">
                                        <a:latin typeface="Cambria Math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pt-BR" b="0" i="1" smtClean="0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b="0" smtClean="0">
                                            <a:latin typeface="Cambria Math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pt-BR" b="0" smtClean="0">
                                            <a:latin typeface="Cambria Math"/>
                                          </a:rPr>
                                          <m:t>5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pt-BR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pt-BR" b="0" i="1" smtClean="0">
                                        <a:latin typeface="Cambria Math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pt-BR" b="0" i="1" smtClean="0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b="0" smtClean="0">
                                            <a:latin typeface="Cambria Math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pt-BR" b="0" smtClean="0">
                                            <a:latin typeface="Cambria Math"/>
                                          </a:rPr>
                                          <m:t>6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pt-BR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BR" dirty="0">
                              <a:latin typeface="+mn-lt"/>
                            </a:rPr>
                            <a:t>RHS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803164676"/>
                      </a:ext>
                    </a:extLst>
                  </a:tr>
                  <a:tr h="73247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>
                              <a:solidFill>
                                <a:srgbClr val="FF0000"/>
                              </a:solidFill>
                              <a:latin typeface="+mn-lt"/>
                            </a:rPr>
                            <a:t>-z</a:t>
                          </a:r>
                          <a:endParaRPr lang="pt-BR" dirty="0">
                            <a:solidFill>
                              <a:srgbClr val="FF0000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0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2503180970"/>
                      </a:ext>
                    </a:extLst>
                  </a:tr>
                  <a:tr h="73247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pt-BR" b="0" i="1" smtClean="0">
                                        <a:latin typeface="Cambria Math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pt-BR" b="0" i="1" smtClean="0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b="0" smtClean="0">
                                            <a:latin typeface="Cambria Math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pt-BR" b="0" smtClean="0">
                                            <a:latin typeface="Cambria Math"/>
                                          </a:rPr>
                                          <m:t>5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pt-BR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>
                              <a:latin typeface="+mn-lt"/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>
                              <a:latin typeface="+mn-lt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>
                              <a:latin typeface="+mn-lt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>
                              <a:solidFill>
                                <a:srgbClr val="0070C0"/>
                              </a:solidFill>
                              <a:latin typeface="+mn-lt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>
                              <a:solidFill>
                                <a:srgbClr val="0070C0"/>
                              </a:solidFill>
                              <a:latin typeface="+mn-lt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>
                              <a:solidFill>
                                <a:srgbClr val="0070C0"/>
                              </a:solidFill>
                              <a:latin typeface="+mn-lt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>
                              <a:latin typeface="+mn-lt"/>
                            </a:rPr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13666"/>
                      </a:ext>
                    </a:extLst>
                  </a:tr>
                  <a:tr h="73247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pt-BR" b="0" i="1" smtClean="0">
                                        <a:latin typeface="Cambria Math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pt-BR" b="0" i="1" smtClean="0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b="0" smtClean="0">
                                            <a:latin typeface="Cambria Math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pt-BR" b="0" smtClean="0">
                                            <a:latin typeface="Cambria Math"/>
                                          </a:rPr>
                                          <m:t>6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pt-BR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>
                              <a:latin typeface="+mn-lt"/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>
                              <a:latin typeface="+mn-lt"/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>
                              <a:latin typeface="+mn-lt"/>
                            </a:rPr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>
                              <a:solidFill>
                                <a:srgbClr val="0070C0"/>
                              </a:solidFill>
                              <a:latin typeface="+mn-lt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>
                              <a:solidFill>
                                <a:srgbClr val="0070C0"/>
                              </a:solidFill>
                              <a:latin typeface="+mn-lt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>
                              <a:solidFill>
                                <a:srgbClr val="0070C0"/>
                              </a:solidFill>
                              <a:latin typeface="+mn-lt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>
                              <a:latin typeface="+mn-lt"/>
                            </a:rPr>
                            <a:t>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514658102"/>
                      </a:ext>
                    </a:extLst>
                  </a:tr>
                  <a:tr h="73247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b="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b="0" smtClean="0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b="0" smtClean="0">
                                        <a:latin typeface="Cambria Math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>
                              <a:latin typeface="+mn-lt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>
                              <a:latin typeface="+mn-lt"/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>
                              <a:latin typeface="+mn-lt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>
                              <a:solidFill>
                                <a:srgbClr val="0070C0"/>
                              </a:solidFill>
                              <a:latin typeface="+mn-lt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>
                              <a:solidFill>
                                <a:srgbClr val="0070C0"/>
                              </a:solidFill>
                              <a:latin typeface="+mn-lt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>
                              <a:solidFill>
                                <a:srgbClr val="0070C0"/>
                              </a:solidFill>
                              <a:latin typeface="+mn-lt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>
                              <a:latin typeface="+mn-lt"/>
                            </a:rPr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5819739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ela 1">
                <a:extLst>
                  <a:ext uri="{FF2B5EF4-FFF2-40B4-BE49-F238E27FC236}">
                    <a16:creationId xmlns:a16="http://schemas.microsoft.com/office/drawing/2014/main" id="{2D217515-1ED1-3CAD-19E2-FAE3F31349D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63656837"/>
                  </p:ext>
                </p:extLst>
              </p:nvPr>
            </p:nvGraphicFramePr>
            <p:xfrm>
              <a:off x="2006600" y="2265849"/>
              <a:ext cx="8178800" cy="3652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22350">
                      <a:extLst>
                        <a:ext uri="{9D8B030D-6E8A-4147-A177-3AD203B41FA5}">
                          <a16:colId xmlns:a16="http://schemas.microsoft.com/office/drawing/2014/main" val="194499480"/>
                        </a:ext>
                      </a:extLst>
                    </a:gridCol>
                    <a:gridCol w="1022350">
                      <a:extLst>
                        <a:ext uri="{9D8B030D-6E8A-4147-A177-3AD203B41FA5}">
                          <a16:colId xmlns:a16="http://schemas.microsoft.com/office/drawing/2014/main" val="3239068335"/>
                        </a:ext>
                      </a:extLst>
                    </a:gridCol>
                    <a:gridCol w="1022350">
                      <a:extLst>
                        <a:ext uri="{9D8B030D-6E8A-4147-A177-3AD203B41FA5}">
                          <a16:colId xmlns:a16="http://schemas.microsoft.com/office/drawing/2014/main" val="3707295783"/>
                        </a:ext>
                      </a:extLst>
                    </a:gridCol>
                    <a:gridCol w="1022350">
                      <a:extLst>
                        <a:ext uri="{9D8B030D-6E8A-4147-A177-3AD203B41FA5}">
                          <a16:colId xmlns:a16="http://schemas.microsoft.com/office/drawing/2014/main" val="318886580"/>
                        </a:ext>
                      </a:extLst>
                    </a:gridCol>
                    <a:gridCol w="1022350">
                      <a:extLst>
                        <a:ext uri="{9D8B030D-6E8A-4147-A177-3AD203B41FA5}">
                          <a16:colId xmlns:a16="http://schemas.microsoft.com/office/drawing/2014/main" val="4049606609"/>
                        </a:ext>
                      </a:extLst>
                    </a:gridCol>
                    <a:gridCol w="1022350">
                      <a:extLst>
                        <a:ext uri="{9D8B030D-6E8A-4147-A177-3AD203B41FA5}">
                          <a16:colId xmlns:a16="http://schemas.microsoft.com/office/drawing/2014/main" val="821043363"/>
                        </a:ext>
                      </a:extLst>
                    </a:gridCol>
                    <a:gridCol w="1022350">
                      <a:extLst>
                        <a:ext uri="{9D8B030D-6E8A-4147-A177-3AD203B41FA5}">
                          <a16:colId xmlns:a16="http://schemas.microsoft.com/office/drawing/2014/main" val="1642525029"/>
                        </a:ext>
                      </a:extLst>
                    </a:gridCol>
                    <a:gridCol w="1022350">
                      <a:extLst>
                        <a:ext uri="{9D8B030D-6E8A-4147-A177-3AD203B41FA5}">
                          <a16:colId xmlns:a16="http://schemas.microsoft.com/office/drawing/2014/main" val="1236862271"/>
                        </a:ext>
                      </a:extLst>
                    </a:gridCol>
                  </a:tblGrid>
                  <a:tr h="722444">
                    <a:tc>
                      <a:txBody>
                        <a:bodyPr/>
                        <a:lstStyle/>
                        <a:p>
                          <a:r>
                            <a:rPr lang="pt-BR" dirty="0">
                              <a:latin typeface="+mn-lt"/>
                            </a:rPr>
                            <a:t>V.B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5"/>
                          <a:stretch>
                            <a:fillRect l="-100595" t="-4202" r="-601190" b="-40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5"/>
                          <a:stretch>
                            <a:fillRect l="-201796" t="-4202" r="-504790" b="-40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5"/>
                          <a:stretch>
                            <a:fillRect l="-300000" t="-4202" r="-401786" b="-40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5"/>
                          <a:stretch>
                            <a:fillRect l="-400000" t="-4202" r="-301786" b="-40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5"/>
                          <a:stretch>
                            <a:fillRect l="-500000" t="-4202" r="-201786" b="-40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5"/>
                          <a:stretch>
                            <a:fillRect l="-603593" t="-4202" r="-102994" b="-40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BR" dirty="0">
                              <a:latin typeface="+mn-lt"/>
                            </a:rPr>
                            <a:t>RHS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3164676"/>
                      </a:ext>
                    </a:extLst>
                  </a:tr>
                  <a:tr h="73247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>
                              <a:solidFill>
                                <a:srgbClr val="FF0000"/>
                              </a:solidFill>
                              <a:latin typeface="+mn-lt"/>
                            </a:rPr>
                            <a:t>-z</a:t>
                          </a:r>
                          <a:endParaRPr lang="pt-BR" dirty="0">
                            <a:solidFill>
                              <a:srgbClr val="FF0000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0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03180970"/>
                      </a:ext>
                    </a:extLst>
                  </a:tr>
                  <a:tr h="732477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5"/>
                          <a:stretch>
                            <a:fillRect l="-595" t="-203333" r="-701190" b="-20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>
                              <a:latin typeface="+mn-lt"/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>
                              <a:latin typeface="+mn-lt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>
                              <a:latin typeface="+mn-lt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>
                              <a:solidFill>
                                <a:srgbClr val="0070C0"/>
                              </a:solidFill>
                              <a:latin typeface="+mn-lt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>
                              <a:solidFill>
                                <a:srgbClr val="0070C0"/>
                              </a:solidFill>
                              <a:latin typeface="+mn-lt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>
                              <a:solidFill>
                                <a:srgbClr val="0070C0"/>
                              </a:solidFill>
                              <a:latin typeface="+mn-lt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>
                              <a:latin typeface="+mn-lt"/>
                            </a:rPr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3666"/>
                      </a:ext>
                    </a:extLst>
                  </a:tr>
                  <a:tr h="732477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5"/>
                          <a:stretch>
                            <a:fillRect l="-595" t="-300826" r="-701190" b="-1008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>
                              <a:latin typeface="+mn-lt"/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>
                              <a:latin typeface="+mn-lt"/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>
                              <a:latin typeface="+mn-lt"/>
                            </a:rPr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>
                              <a:solidFill>
                                <a:srgbClr val="0070C0"/>
                              </a:solidFill>
                              <a:latin typeface="+mn-lt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>
                              <a:solidFill>
                                <a:srgbClr val="0070C0"/>
                              </a:solidFill>
                              <a:latin typeface="+mn-lt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>
                              <a:solidFill>
                                <a:srgbClr val="0070C0"/>
                              </a:solidFill>
                              <a:latin typeface="+mn-lt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>
                              <a:latin typeface="+mn-lt"/>
                            </a:rPr>
                            <a:t>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14658102"/>
                      </a:ext>
                    </a:extLst>
                  </a:tr>
                  <a:tr h="732477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5"/>
                          <a:stretch>
                            <a:fillRect l="-595" t="-404167" r="-701190" b="-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>
                              <a:latin typeface="+mn-lt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>
                              <a:latin typeface="+mn-lt"/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>
                              <a:latin typeface="+mn-lt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>
                              <a:solidFill>
                                <a:srgbClr val="0070C0"/>
                              </a:solidFill>
                              <a:latin typeface="+mn-lt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>
                              <a:solidFill>
                                <a:srgbClr val="0070C0"/>
                              </a:solidFill>
                              <a:latin typeface="+mn-lt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>
                              <a:solidFill>
                                <a:srgbClr val="0070C0"/>
                              </a:solidFill>
                              <a:latin typeface="+mn-lt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>
                              <a:latin typeface="+mn-lt"/>
                            </a:rPr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819739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8036741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CF0E474-C0A1-ED4E-4DBF-44644755D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xmlns="" id="{0B446F3B-12CE-44C7-89D8-A33B4841A4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7652" y="4436988"/>
            <a:ext cx="2430765" cy="2251559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xmlns="" id="{652880B8-D42E-E827-74AE-6B4F0B4CE326}"/>
              </a:ext>
            </a:extLst>
          </p:cNvPr>
          <p:cNvSpPr txBox="1"/>
          <p:nvPr/>
        </p:nvSpPr>
        <p:spPr>
          <a:xfrm>
            <a:off x="1000429" y="847992"/>
            <a:ext cx="10191141" cy="580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184"/>
              </a:lnSpc>
            </a:pPr>
            <a:r>
              <a:rPr lang="pt-BR" sz="5900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ea typeface="+mj-ea"/>
                <a:cs typeface="Aharoni" panose="02010803020104030203" pitchFamily="2" charset="-79"/>
                <a:sym typeface="Hagrid Text Bold"/>
              </a:rPr>
              <a:t>Método </a:t>
            </a:r>
            <a:r>
              <a:rPr lang="pt-BR" sz="5900" dirty="0" smtClean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ea typeface="+mj-ea"/>
                <a:cs typeface="Aharoni" panose="02010803020104030203" pitchFamily="2" charset="-79"/>
                <a:sym typeface="Hagrid Text Bold"/>
              </a:rPr>
              <a:t>do Big-M</a:t>
            </a:r>
            <a:endParaRPr lang="en-US" sz="5900" dirty="0">
              <a:solidFill>
                <a:schemeClr val="tx2">
                  <a:lumMod val="90000"/>
                  <a:lumOff val="10000"/>
                </a:schemeClr>
              </a:solidFill>
              <a:latin typeface="Aharoni" panose="02010803020104030203" pitchFamily="2" charset="-79"/>
              <a:ea typeface="+mj-ea"/>
              <a:cs typeface="Aharoni" panose="02010803020104030203" pitchFamily="2" charset="-79"/>
              <a:sym typeface="Hagrid Text Bold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xmlns="" id="{C35DB645-24CF-151B-FDC7-AC3D98DE6568}"/>
              </a:ext>
            </a:extLst>
          </p:cNvPr>
          <p:cNvSpPr txBox="1"/>
          <p:nvPr/>
        </p:nvSpPr>
        <p:spPr>
          <a:xfrm>
            <a:off x="754454" y="1681280"/>
            <a:ext cx="10683089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pt-BR" sz="2400" dirty="0" smtClean="0">
                <a:sym typeface="Symbol"/>
              </a:rPr>
              <a:t>Esta tabela deverá ser organizada antes da aplicação do algoritmo simplex, assistam a </a:t>
            </a:r>
            <a:r>
              <a:rPr lang="pt-BR" sz="2400" dirty="0" err="1" smtClean="0">
                <a:sym typeface="Symbol"/>
              </a:rPr>
              <a:t>videoaula</a:t>
            </a:r>
            <a:r>
              <a:rPr lang="pt-BR" sz="2400" dirty="0" smtClean="0">
                <a:sym typeface="Symbol"/>
              </a:rPr>
              <a:t> prática da execução do método para entender como isto é feito.</a:t>
            </a:r>
            <a:endParaRPr lang="pt-BR" sz="2400" dirty="0">
              <a:sym typeface="Symbol"/>
            </a:endParaRPr>
          </a:p>
        </p:txBody>
      </p:sp>
      <p:pic>
        <p:nvPicPr>
          <p:cNvPr id="12" name="Imagem 11" descr="Ícone&#10;&#10;O conteúdo gerado por IA pode estar incorreto.">
            <a:extLst>
              <a:ext uri="{FF2B5EF4-FFF2-40B4-BE49-F238E27FC236}">
                <a16:creationId xmlns:a16="http://schemas.microsoft.com/office/drawing/2014/main" xmlns="" id="{FC116158-B455-16BD-6229-935DC08A309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4262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1085</Words>
  <Application>Microsoft Office PowerPoint</Application>
  <PresentationFormat>Personalizar</PresentationFormat>
  <Paragraphs>118</Paragraphs>
  <Slides>12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3" baseType="lpstr">
      <vt:lpstr>Office Theme</vt:lpstr>
      <vt:lpstr>Pesquisa Operacional I Adaptando outras formas de PPL </vt:lpstr>
      <vt:lpstr>O problema da SBV inicial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Pesquisa Operacional I Adaptando outras formas de PPL</dc:title>
  <dc:creator>Ana Carolina Nel</dc:creator>
  <cp:lastModifiedBy>andrea</cp:lastModifiedBy>
  <cp:revision>6</cp:revision>
  <dcterms:created xsi:type="dcterms:W3CDTF">2025-11-11T11:21:04Z</dcterms:created>
  <dcterms:modified xsi:type="dcterms:W3CDTF">2026-05-19T22:54:06Z</dcterms:modified>
</cp:coreProperties>
</file>