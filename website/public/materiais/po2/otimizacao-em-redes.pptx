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9" r:id="rId3"/>
    <p:sldId id="337" r:id="rId4"/>
    <p:sldId id="338" r:id="rId5"/>
    <p:sldId id="310" r:id="rId6"/>
    <p:sldId id="311" r:id="rId7"/>
    <p:sldId id="312" r:id="rId8"/>
    <p:sldId id="313" r:id="rId9"/>
    <p:sldId id="345" r:id="rId10"/>
    <p:sldId id="339" r:id="rId11"/>
    <p:sldId id="344" r:id="rId12"/>
    <p:sldId id="340" r:id="rId13"/>
  </p:sldIdLst>
  <p:sldSz cx="9144000" cy="6858000" type="screen4x3"/>
  <p:notesSz cx="6858000" cy="100012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61" autoAdjust="0"/>
    <p:restoredTop sz="94706"/>
  </p:normalViewPr>
  <p:slideViewPr>
    <p:cSldViewPr>
      <p:cViewPr varScale="1">
        <p:scale>
          <a:sx n="109" d="100"/>
          <a:sy n="109" d="100"/>
        </p:scale>
        <p:origin x="174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E1B0E-9886-4D39-8F90-35563236A96D}" type="datetimeFigureOut">
              <a:rPr lang="pt-BR" smtClean="0"/>
              <a:t>15/04/2021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1BC7-2989-4938-8598-8E4B4495B7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667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E1B0E-9886-4D39-8F90-35563236A96D}" type="datetimeFigureOut">
              <a:rPr lang="pt-BR" smtClean="0"/>
              <a:t>15/04/2021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1BC7-2989-4938-8598-8E4B4495B7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619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E1B0E-9886-4D39-8F90-35563236A96D}" type="datetimeFigureOut">
              <a:rPr lang="pt-BR" smtClean="0"/>
              <a:t>15/04/2021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1BC7-2989-4938-8598-8E4B4495B7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8502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E1B0E-9886-4D39-8F90-35563236A96D}" type="datetimeFigureOut">
              <a:rPr lang="pt-BR" smtClean="0"/>
              <a:t>15/04/2021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1BC7-2989-4938-8598-8E4B4495B7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1678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E1B0E-9886-4D39-8F90-35563236A96D}" type="datetimeFigureOut">
              <a:rPr lang="pt-BR" smtClean="0"/>
              <a:t>15/04/2021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1BC7-2989-4938-8598-8E4B4495B7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7152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E1B0E-9886-4D39-8F90-35563236A96D}" type="datetimeFigureOut">
              <a:rPr lang="pt-BR" smtClean="0"/>
              <a:t>15/04/2021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1BC7-2989-4938-8598-8E4B4495B7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908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E1B0E-9886-4D39-8F90-35563236A96D}" type="datetimeFigureOut">
              <a:rPr lang="pt-BR" smtClean="0"/>
              <a:t>15/04/2021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1BC7-2989-4938-8598-8E4B4495B7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19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E1B0E-9886-4D39-8F90-35563236A96D}" type="datetimeFigureOut">
              <a:rPr lang="pt-BR" smtClean="0"/>
              <a:t>15/04/2021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1BC7-2989-4938-8598-8E4B4495B7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762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E1B0E-9886-4D39-8F90-35563236A96D}" type="datetimeFigureOut">
              <a:rPr lang="pt-BR" smtClean="0"/>
              <a:t>15/04/2021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1BC7-2989-4938-8598-8E4B4495B7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866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E1B0E-9886-4D39-8F90-35563236A96D}" type="datetimeFigureOut">
              <a:rPr lang="pt-BR" smtClean="0"/>
              <a:t>15/04/2021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1BC7-2989-4938-8598-8E4B4495B7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7941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E1B0E-9886-4D39-8F90-35563236A96D}" type="datetimeFigureOut">
              <a:rPr lang="pt-BR" smtClean="0"/>
              <a:t>15/04/2021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1BC7-2989-4938-8598-8E4B4495B7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912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E1B0E-9886-4D39-8F90-35563236A96D}" type="datetimeFigureOut">
              <a:rPr lang="pt-BR" smtClean="0"/>
              <a:t>15/04/2021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21BC7-2989-4938-8598-8E4B4495B7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936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Otimização em Redes _ Parte II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Pesquisa Operacional II</a:t>
            </a:r>
          </a:p>
        </p:txBody>
      </p:sp>
    </p:spTree>
    <p:extLst>
      <p:ext uri="{BB962C8B-B14F-4D97-AF65-F5344CB8AC3E}">
        <p14:creationId xmlns:p14="http://schemas.microsoft.com/office/powerpoint/2010/main" val="255118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Fluxo de Custo Mínimo: Definições preliminares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Capacidade do arco: </a:t>
            </a:r>
            <a:r>
              <a:rPr lang="pt-BR" dirty="0"/>
              <a:t>quantidade máxima de fluxo que pode ser transportada em um arco direcionado.</a:t>
            </a:r>
          </a:p>
          <a:p>
            <a:r>
              <a:rPr lang="pt-BR" b="1" dirty="0"/>
              <a:t>Nó de suprimento (origem): </a:t>
            </a:r>
            <a:r>
              <a:rPr lang="pt-BR" dirty="0"/>
              <a:t>o fluxo saindo do nó excede o fluxo entrando.</a:t>
            </a:r>
          </a:p>
          <a:p>
            <a:r>
              <a:rPr lang="pt-BR" b="1" dirty="0"/>
              <a:t>Nó de demanda (escoadouro): </a:t>
            </a:r>
            <a:r>
              <a:rPr lang="pt-BR" dirty="0"/>
              <a:t>o fluxo que entra no nó excede o fluxo que sai.</a:t>
            </a:r>
          </a:p>
          <a:p>
            <a:r>
              <a:rPr lang="pt-BR" b="1" dirty="0"/>
              <a:t>Nó </a:t>
            </a:r>
            <a:r>
              <a:rPr lang="pt-BR" b="1" i="1" dirty="0" err="1"/>
              <a:t>transshipment</a:t>
            </a:r>
            <a:r>
              <a:rPr lang="pt-BR" b="1" i="1" dirty="0"/>
              <a:t> </a:t>
            </a:r>
            <a:r>
              <a:rPr lang="pt-BR" b="1" dirty="0"/>
              <a:t>(intermediário): </a:t>
            </a:r>
            <a:r>
              <a:rPr lang="pt-BR" dirty="0"/>
              <a:t>o fluxo que entra é igual ao fluxo que sai.</a:t>
            </a:r>
          </a:p>
        </p:txBody>
      </p:sp>
    </p:spTree>
    <p:extLst>
      <p:ext uri="{BB962C8B-B14F-4D97-AF65-F5344CB8AC3E}">
        <p14:creationId xmlns:p14="http://schemas.microsoft.com/office/powerpoint/2010/main" val="138460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O problema do fluxo de custo mínimo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052736"/>
            <a:ext cx="8856984" cy="5805264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1. A rede é direcionada e conexa.</a:t>
            </a:r>
          </a:p>
          <a:p>
            <a:r>
              <a:rPr lang="pt-BR" dirty="0"/>
              <a:t>2. Pelo menos um dos nós é um nó de suprimento.</a:t>
            </a:r>
          </a:p>
          <a:p>
            <a:r>
              <a:rPr lang="pt-BR" dirty="0"/>
              <a:t>3. Pelo menos um dos demais nós é um nó de demanda.</a:t>
            </a:r>
          </a:p>
          <a:p>
            <a:r>
              <a:rPr lang="pt-BR" dirty="0"/>
              <a:t>4. Todos os nós remanescentes são nós intermediários.</a:t>
            </a:r>
          </a:p>
          <a:p>
            <a:r>
              <a:rPr lang="pt-BR" dirty="0"/>
              <a:t>5. O fluxo através de um arco é permitido somente na direção indicada pela seta, em que a quantidade máxima de fluxo é dada pela capacidade desse arco.</a:t>
            </a:r>
          </a:p>
          <a:p>
            <a:r>
              <a:rPr lang="pt-BR" dirty="0"/>
              <a:t>6. A rede tem arcos suficientes com capacidade suficiente para permitir que todo o fluxo gerado nos nós de suprimento atinjam todos os nós de demanda.</a:t>
            </a:r>
          </a:p>
          <a:p>
            <a:r>
              <a:rPr lang="pt-BR" dirty="0"/>
              <a:t>7. O custo do fluxo através de cada arco é proporcional à quantidade desse fluxo, no qual o custo por fluxo unitário é conhecido.</a:t>
            </a:r>
          </a:p>
          <a:p>
            <a:r>
              <a:rPr lang="pt-BR" dirty="0"/>
              <a:t>8. O objetivo é minimizar o custo total de enviar a provisão disponível através da rede a fim de satisfazer a demanda dada. </a:t>
            </a:r>
          </a:p>
        </p:txBody>
      </p:sp>
    </p:spTree>
    <p:extLst>
      <p:ext uri="{BB962C8B-B14F-4D97-AF65-F5344CB8AC3E}">
        <p14:creationId xmlns:p14="http://schemas.microsoft.com/office/powerpoint/2010/main" val="3669920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Aplicações do Problema do Fluxo de Custo Mínimo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1397040"/>
              </p:ext>
            </p:extLst>
          </p:nvPr>
        </p:nvGraphicFramePr>
        <p:xfrm>
          <a:off x="457200" y="1600200"/>
          <a:ext cx="8229600" cy="3479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baseline="0" dirty="0"/>
                        <a:t>Tipo de Aplicação</a:t>
                      </a:r>
                      <a:endParaRPr lang="pt-BR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Nós de origem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Nós intermediários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Nós de demanda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Operação</a:t>
                      </a:r>
                      <a:r>
                        <a:rPr lang="pt-BR" baseline="0" dirty="0"/>
                        <a:t> de uma rede de distribuição</a:t>
                      </a:r>
                      <a:endParaRPr lang="pt-BR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Origens das mercadorias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Instalações</a:t>
                      </a:r>
                      <a:r>
                        <a:rPr lang="pt-BR" baseline="0" dirty="0"/>
                        <a:t> intermediárias para armazenamento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Clientes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Controle</a:t>
                      </a:r>
                      <a:r>
                        <a:rPr lang="pt-BR" b="0" baseline="0" dirty="0">
                          <a:solidFill>
                            <a:schemeClr val="tx1"/>
                          </a:solidFill>
                        </a:rPr>
                        <a:t> de resíduos sólidos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Origens de resíduos sólidos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Instalações de processamento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Localização</a:t>
                      </a:r>
                      <a:r>
                        <a:rPr lang="pt-BR" b="0" baseline="0" dirty="0">
                          <a:solidFill>
                            <a:schemeClr val="tx1"/>
                          </a:solidFill>
                        </a:rPr>
                        <a:t> de aterros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Operação de uma rede de</a:t>
                      </a:r>
                      <a:r>
                        <a:rPr lang="pt-BR" baseline="0" dirty="0"/>
                        <a:t> suprimento</a:t>
                      </a:r>
                      <a:endParaRPr lang="pt-BR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Fornecedores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Depósitos intermediários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Instalações de processamento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Coordenação de </a:t>
                      </a:r>
                      <a:r>
                        <a:rPr lang="pt-BR" dirty="0" err="1"/>
                        <a:t>mix</a:t>
                      </a:r>
                      <a:r>
                        <a:rPr lang="pt-BR" baseline="0" dirty="0"/>
                        <a:t> de produtos nas fábricas</a:t>
                      </a:r>
                      <a:endParaRPr lang="pt-BR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Fábricas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Fabricação de um produto específico</a:t>
                      </a:r>
                      <a:r>
                        <a:rPr lang="pt-BR" baseline="0" dirty="0"/>
                        <a:t> 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Mercado para um produto específico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60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Fluxo de Custo Mínimo: Formulação do Modelo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Considere uma rede direcionada e conexa em que os n nós incluem pelo menos um nó de suprimento e pelo menos um nó de demanda.</a:t>
            </a:r>
          </a:p>
          <a:p>
            <a:r>
              <a:rPr lang="pt-BR" dirty="0" err="1"/>
              <a:t>x</a:t>
            </a:r>
            <a:r>
              <a:rPr lang="pt-BR" baseline="-25000" dirty="0" err="1"/>
              <a:t>ij</a:t>
            </a:r>
            <a:r>
              <a:rPr lang="pt-BR" dirty="0"/>
              <a:t> = fluxo através do arco (i, j). (a ser determinado!)</a:t>
            </a:r>
          </a:p>
          <a:p>
            <a:pPr marL="0" indent="0">
              <a:buNone/>
            </a:pPr>
            <a:r>
              <a:rPr lang="pt-BR" dirty="0"/>
              <a:t>São dados:</a:t>
            </a:r>
          </a:p>
          <a:p>
            <a:r>
              <a:rPr lang="pt-BR" dirty="0" err="1"/>
              <a:t>c</a:t>
            </a:r>
            <a:r>
              <a:rPr lang="pt-BR" baseline="-25000" dirty="0" err="1"/>
              <a:t>ij</a:t>
            </a:r>
            <a:r>
              <a:rPr lang="pt-BR" dirty="0"/>
              <a:t> = custo unitário do fluxo através do arco (i, j).</a:t>
            </a:r>
          </a:p>
          <a:p>
            <a:r>
              <a:rPr lang="pt-BR" dirty="0" err="1"/>
              <a:t>u</a:t>
            </a:r>
            <a:r>
              <a:rPr lang="pt-BR" baseline="-25000" dirty="0" err="1"/>
              <a:t>ij</a:t>
            </a:r>
            <a:r>
              <a:rPr lang="pt-BR" dirty="0"/>
              <a:t> = capacidade no arco (i, j)</a:t>
            </a:r>
          </a:p>
          <a:p>
            <a:r>
              <a:rPr lang="pt-BR" dirty="0"/>
              <a:t>b</a:t>
            </a:r>
            <a:r>
              <a:rPr lang="pt-BR" baseline="-25000" dirty="0"/>
              <a:t>i</a:t>
            </a:r>
            <a:r>
              <a:rPr lang="pt-BR" dirty="0"/>
              <a:t> = fluxo líquido gerado no nó i.</a:t>
            </a:r>
          </a:p>
          <a:p>
            <a:r>
              <a:rPr lang="pt-BR" b="1" dirty="0"/>
              <a:t>Objetivo: </a:t>
            </a:r>
            <a:r>
              <a:rPr lang="pt-BR" dirty="0"/>
              <a:t>minimizar o custo total de remessa da oferta disponível através da rede para satisfazer a demanda.</a:t>
            </a:r>
          </a:p>
        </p:txBody>
      </p:sp>
    </p:spTree>
    <p:extLst>
      <p:ext uri="{BB962C8B-B14F-4D97-AF65-F5344CB8AC3E}">
        <p14:creationId xmlns:p14="http://schemas.microsoft.com/office/powerpoint/2010/main" val="4276833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Fluxo de Custo Mínimo: Formulação do Modelo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/>
                          </a:rPr>
                          <m:t>min</m:t>
                        </m:r>
                      </m:fName>
                      <m:e>
                        <m:r>
                          <a:rPr lang="pt-BR" b="0" i="1" smtClean="0">
                            <a:latin typeface="Cambria Math"/>
                          </a:rPr>
                          <m:t>𝑧</m:t>
                        </m:r>
                        <m:r>
                          <a:rPr lang="pt-BR" b="0" i="1" smtClean="0">
                            <a:latin typeface="Cambria Math"/>
                          </a:rPr>
                          <m:t>= </m:t>
                        </m:r>
                        <m:nary>
                          <m:naryPr>
                            <m:chr m:val="∑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pt-BR" b="0" i="1" smtClean="0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pt-BR" b="0" i="1" smtClean="0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pt-BR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pt-BR" b="0" i="1" smtClean="0">
                                    <a:latin typeface="Cambria Math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pt-BR" b="0" i="1" smtClean="0">
                                    <a:latin typeface="Cambria Math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latin typeface="Cambria Math"/>
                                      </a:rPr>
                                      <m:t>𝑖𝑗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latin typeface="Cambria Math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func>
                  </m:oMath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sujeito a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pt-BR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𝑗𝑖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/>
                                </a:rPr>
                                <m:t>, 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𝑝𝑎𝑟𝑎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𝑐𝑎𝑑𝑎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ó 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,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0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≤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≤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𝑢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,    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𝑝𝑎𝑟𝑎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𝑐𝑎𝑑𝑎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𝑎𝑟𝑐𝑜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, 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𝑗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9186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rede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64704"/>
          </a:xfrm>
        </p:spPr>
        <p:txBody>
          <a:bodyPr/>
          <a:lstStyle/>
          <a:p>
            <a:r>
              <a:rPr lang="pt-BR" dirty="0"/>
              <a:t>Ver exemplo da página 56 do livro.</a:t>
            </a:r>
          </a:p>
        </p:txBody>
      </p:sp>
      <p:sp>
        <p:nvSpPr>
          <p:cNvPr id="4" name="Elipse 3"/>
          <p:cNvSpPr/>
          <p:nvPr/>
        </p:nvSpPr>
        <p:spPr>
          <a:xfrm>
            <a:off x="1547664" y="2924944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131840" y="4437112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5364088" y="5661248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1547664" y="5661248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364088" y="2924944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1547664" y="292494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547664" y="566124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131840" y="443711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5436096" y="2924944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5436096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1259632" y="2627620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b</a:t>
            </a:r>
            <a:r>
              <a:rPr lang="pt-BR" baseline="-25000" dirty="0" err="1"/>
              <a:t>A</a:t>
            </a:r>
            <a:r>
              <a:rPr lang="pt-BR" dirty="0"/>
              <a:t> = [50]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5292080" y="263691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[-30]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1475656" y="6093296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[40]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491880" y="4211796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[0]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292080" y="6093296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[-60]</a:t>
            </a:r>
          </a:p>
        </p:txBody>
      </p:sp>
      <p:cxnSp>
        <p:nvCxnSpPr>
          <p:cNvPr id="24" name="Conector de seta reta 23"/>
          <p:cNvCxnSpPr>
            <a:endCxn id="5" idx="1"/>
          </p:cNvCxnSpPr>
          <p:nvPr/>
        </p:nvCxnSpPr>
        <p:spPr>
          <a:xfrm>
            <a:off x="2051720" y="3294276"/>
            <a:ext cx="1143392" cy="12061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>
            <a:stCxn id="5" idx="5"/>
            <a:endCxn id="6" idx="2"/>
          </p:cNvCxnSpPr>
          <p:nvPr/>
        </p:nvCxnSpPr>
        <p:spPr>
          <a:xfrm>
            <a:off x="3500616" y="4805888"/>
            <a:ext cx="1863472" cy="10713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>
            <a:stCxn id="4" idx="6"/>
            <a:endCxn id="8" idx="2"/>
          </p:cNvCxnSpPr>
          <p:nvPr/>
        </p:nvCxnSpPr>
        <p:spPr>
          <a:xfrm>
            <a:off x="1979712" y="3140968"/>
            <a:ext cx="338437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7" idx="7"/>
            <a:endCxn id="5" idx="3"/>
          </p:cNvCxnSpPr>
          <p:nvPr/>
        </p:nvCxnSpPr>
        <p:spPr>
          <a:xfrm flipV="1">
            <a:off x="1916440" y="4805888"/>
            <a:ext cx="1278672" cy="9186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/>
          <p:cNvCxnSpPr>
            <a:endCxn id="8" idx="3"/>
          </p:cNvCxnSpPr>
          <p:nvPr/>
        </p:nvCxnSpPr>
        <p:spPr>
          <a:xfrm flipH="1" flipV="1">
            <a:off x="5427360" y="3293720"/>
            <a:ext cx="8736" cy="2430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>
            <a:stCxn id="8" idx="5"/>
            <a:endCxn id="6" idx="7"/>
          </p:cNvCxnSpPr>
          <p:nvPr/>
        </p:nvCxnSpPr>
        <p:spPr>
          <a:xfrm>
            <a:off x="5732864" y="3293720"/>
            <a:ext cx="0" cy="2430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/>
          <p:cNvSpPr txBox="1"/>
          <p:nvPr/>
        </p:nvSpPr>
        <p:spPr>
          <a:xfrm>
            <a:off x="5076056" y="4396462"/>
            <a:ext cx="35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5796136" y="439646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2123728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483768" y="534158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3815916" y="5265204"/>
            <a:ext cx="126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    1</a:t>
            </a:r>
          </a:p>
          <a:p>
            <a:r>
              <a:rPr lang="pt-BR" dirty="0"/>
              <a:t>(</a:t>
            </a:r>
            <a:r>
              <a:rPr lang="pt-BR" dirty="0" err="1"/>
              <a:t>u</a:t>
            </a:r>
            <a:r>
              <a:rPr lang="pt-BR" baseline="-25000" dirty="0" err="1"/>
              <a:t>CE</a:t>
            </a:r>
            <a:r>
              <a:rPr lang="pt-BR" dirty="0"/>
              <a:t>) = 80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3419872" y="2492896"/>
            <a:ext cx="1044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   </a:t>
            </a:r>
          </a:p>
          <a:p>
            <a:r>
              <a:rPr lang="pt-BR" dirty="0"/>
              <a:t>(</a:t>
            </a:r>
            <a:r>
              <a:rPr lang="pt-BR" dirty="0" err="1"/>
              <a:t>c</a:t>
            </a:r>
            <a:r>
              <a:rPr lang="pt-BR" baseline="-25000" dirty="0" err="1"/>
              <a:t>AD</a:t>
            </a:r>
            <a:r>
              <a:rPr lang="pt-BR" dirty="0"/>
              <a:t>) = 9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791580" y="4005064"/>
            <a:ext cx="1260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             2</a:t>
            </a:r>
          </a:p>
          <a:p>
            <a:endParaRPr lang="pt-BR" dirty="0"/>
          </a:p>
          <a:p>
            <a:r>
              <a:rPr lang="pt-BR" dirty="0"/>
              <a:t>(</a:t>
            </a:r>
            <a:r>
              <a:rPr lang="pt-BR" dirty="0" err="1"/>
              <a:t>u</a:t>
            </a:r>
            <a:r>
              <a:rPr lang="pt-BR" baseline="-25000" dirty="0" err="1"/>
              <a:t>AB</a:t>
            </a:r>
            <a:r>
              <a:rPr lang="pt-BR" dirty="0"/>
              <a:t>) = 10</a:t>
            </a:r>
          </a:p>
        </p:txBody>
      </p:sp>
      <p:cxnSp>
        <p:nvCxnSpPr>
          <p:cNvPr id="20" name="Conector de seta reta 19"/>
          <p:cNvCxnSpPr>
            <a:stCxn id="4" idx="4"/>
            <a:endCxn id="7" idx="0"/>
          </p:cNvCxnSpPr>
          <p:nvPr/>
        </p:nvCxnSpPr>
        <p:spPr>
          <a:xfrm>
            <a:off x="1763688" y="3356992"/>
            <a:ext cx="0" cy="2304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388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52736"/>
                <a:ext cx="8229600" cy="51845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Min z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2</m:t>
                        </m:r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𝐴𝐵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+4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𝐴𝐶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+9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𝐴𝐷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+3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𝐵𝐶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𝐶𝐸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+3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𝐷𝐸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+2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𝐸𝐷</m:t>
                        </m:r>
                      </m:sub>
                    </m:sSub>
                  </m:oMath>
                </a14:m>
                <a:endParaRPr lang="pt-BR" b="0" dirty="0"/>
              </a:p>
              <a:p>
                <a:pPr marL="0" indent="0">
                  <a:buNone/>
                </a:pPr>
                <a:r>
                  <a:rPr lang="pt-BR" dirty="0"/>
                  <a:t>Sujeito a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𝐴𝐵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𝐴𝐶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𝐴𝐷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=50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−</m:t>
                          </m:r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𝐴𝐵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𝐵𝐶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=40</m:t>
                      </m:r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𝐴𝐶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𝐵𝐶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𝐶𝐸</m:t>
                          </m:r>
                        </m:sub>
                      </m:sSub>
                      <m:r>
                        <a:rPr lang="pt-BR" b="0" i="0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𝐴𝐷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𝐷𝐸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𝐸𝐷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=−30</m:t>
                      </m:r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𝐶𝐸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𝐷𝐸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𝐸𝐷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=−60</m:t>
                      </m:r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𝐴𝐵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≤10,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      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𝐶𝐸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≤80, ∀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≥0</m:t>
                      </m:r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:endParaRPr lang="pt-BR" b="0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52736"/>
                <a:ext cx="8229600" cy="5184576"/>
              </a:xfrm>
              <a:blipFill rotWithShape="1">
                <a:blip r:embed="rId2"/>
                <a:stretch>
                  <a:fillRect l="-1852" t="-14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403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98EBB-4F31-A34C-9B5C-F07C5193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 das Soluções Viáveis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EE14783-D018-E443-9404-FF593CD533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Uma condição necessária para um PFCM ter qualquer solução viável é que </a:t>
                </a:r>
              </a:p>
              <a:p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Caso essa condição seja violada cria-se uma origem fantasma (se oferta &lt; demanda) ou um nó de destino fantasma (se oferta &gt; demanda). Em ambos os casos, o custo dos arcos </a:t>
                </a:r>
                <a:r>
                  <a:rPr lang="pt-BR" dirty="0" err="1"/>
                  <a:t>c</a:t>
                </a:r>
                <a:r>
                  <a:rPr lang="pt-BR" baseline="-25000" dirty="0" err="1"/>
                  <a:t>ij</a:t>
                </a:r>
                <a:r>
                  <a:rPr lang="pt-BR" dirty="0"/>
                  <a:t> = 0 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EE14783-D018-E443-9404-FF593CD533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81" b="-193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1668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Casos Especiais do Problema do Fluxo de custo mínimo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Problema do transporte</a:t>
            </a:r>
          </a:p>
          <a:p>
            <a:r>
              <a:rPr lang="pt-BR" dirty="0"/>
              <a:t>Problema da designação</a:t>
            </a:r>
          </a:p>
          <a:p>
            <a:r>
              <a:rPr lang="pt-BR" dirty="0"/>
              <a:t>Problema do caminho mais curto</a:t>
            </a:r>
          </a:p>
          <a:p>
            <a:r>
              <a:rPr lang="pt-BR" dirty="0"/>
              <a:t>Problema do fluxo máximo</a:t>
            </a:r>
          </a:p>
        </p:txBody>
      </p:sp>
    </p:spTree>
    <p:extLst>
      <p:ext uri="{BB962C8B-B14F-4D97-AF65-F5344CB8AC3E}">
        <p14:creationId xmlns:p14="http://schemas.microsoft.com/office/powerpoint/2010/main" val="2830861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 do Menor Caminho como um problema do Fluxo de custo mínimo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1º) Ao nó de origem é atribuído um fluxo líquido igual a n-1.</a:t>
            </a:r>
          </a:p>
          <a:p>
            <a:pPr marL="0" indent="0">
              <a:buNone/>
            </a:pPr>
            <a:r>
              <a:rPr lang="pt-BR" dirty="0"/>
              <a:t>2º) para cada um dos demais nós é atribuído um fluxo líquido igual a -1.</a:t>
            </a:r>
          </a:p>
          <a:p>
            <a:pPr marL="0" indent="0">
              <a:buNone/>
            </a:pPr>
            <a:r>
              <a:rPr lang="pt-BR" dirty="0"/>
              <a:t>3º) o custo </a:t>
            </a:r>
            <a:r>
              <a:rPr lang="pt-BR" dirty="0" err="1"/>
              <a:t>c</a:t>
            </a:r>
            <a:r>
              <a:rPr lang="pt-BR" baseline="-25000" dirty="0" err="1"/>
              <a:t>ij</a:t>
            </a:r>
            <a:r>
              <a:rPr lang="pt-BR" dirty="0"/>
              <a:t> = a distância indicada no arco (</a:t>
            </a:r>
            <a:r>
              <a:rPr lang="pt-BR" dirty="0" err="1"/>
              <a:t>i</a:t>
            </a:r>
            <a:r>
              <a:rPr lang="pt-BR" dirty="0"/>
              <a:t>, </a:t>
            </a:r>
            <a:r>
              <a:rPr lang="pt-BR" dirty="0" err="1"/>
              <a:t>j</a:t>
            </a:r>
            <a:r>
              <a:rPr lang="pt-BR" dirty="0"/>
              <a:t>), para todos os arcos.</a:t>
            </a:r>
          </a:p>
          <a:p>
            <a:pPr marL="0" indent="0" algn="just">
              <a:buNone/>
            </a:pPr>
            <a:r>
              <a:rPr lang="pt-BR" dirty="0"/>
              <a:t>4º) capacidade de </a:t>
            </a:r>
            <a:r>
              <a:rPr lang="pt-BR"/>
              <a:t>arco ilimitada para </a:t>
            </a:r>
            <a:r>
              <a:rPr lang="pt-BR" dirty="0"/>
              <a:t>todos os arcos.</a:t>
            </a:r>
          </a:p>
        </p:txBody>
      </p:sp>
    </p:spTree>
    <p:extLst>
      <p:ext uri="{BB962C8B-B14F-4D97-AF65-F5344CB8AC3E}">
        <p14:creationId xmlns:p14="http://schemas.microsoft.com/office/powerpoint/2010/main" val="1743902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Problema do Fluxo máximo como um problema do Fluxo de custo mínimo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1º) configure </a:t>
            </a:r>
            <a:r>
              <a:rPr lang="pt-BR" dirty="0" err="1"/>
              <a:t>c</a:t>
            </a:r>
            <a:r>
              <a:rPr lang="pt-BR" baseline="-25000" dirty="0" err="1"/>
              <a:t>ij</a:t>
            </a:r>
            <a:r>
              <a:rPr lang="pt-BR" dirty="0"/>
              <a:t> = 0, para todos os arcos</a:t>
            </a:r>
          </a:p>
          <a:p>
            <a:pPr marL="0" indent="0">
              <a:buNone/>
            </a:pPr>
            <a:r>
              <a:rPr lang="pt-BR" dirty="0"/>
              <a:t>2º) escolha uma quantidade F, que é um limite superior seguro sobre o fluxo máximo através da rede (</a:t>
            </a:r>
            <a:r>
              <a:rPr lang="pt-BR" b="1" dirty="0"/>
              <a:t>use o teorema do corte mínimo e fluxo máximo</a:t>
            </a:r>
            <a:r>
              <a:rPr lang="pt-BR" dirty="0"/>
              <a:t>). </a:t>
            </a:r>
          </a:p>
          <a:p>
            <a:pPr marL="0" indent="0">
              <a:buNone/>
            </a:pPr>
            <a:r>
              <a:rPr lang="pt-BR" dirty="0"/>
              <a:t>3º) designe b</a:t>
            </a:r>
            <a:r>
              <a:rPr lang="pt-BR" baseline="-25000" dirty="0"/>
              <a:t>i</a:t>
            </a:r>
            <a:r>
              <a:rPr lang="pt-BR" dirty="0"/>
              <a:t> = 0 para todos os nós intermediários da rede, b</a:t>
            </a:r>
            <a:r>
              <a:rPr lang="pt-BR" baseline="-25000" dirty="0"/>
              <a:t>i</a:t>
            </a:r>
            <a:r>
              <a:rPr lang="pt-BR" dirty="0"/>
              <a:t> = F para o nó origem e b</a:t>
            </a:r>
            <a:r>
              <a:rPr lang="pt-BR" baseline="-25000" dirty="0"/>
              <a:t>i</a:t>
            </a:r>
            <a:r>
              <a:rPr lang="pt-BR" dirty="0"/>
              <a:t> = -F para o nó demanda.</a:t>
            </a:r>
          </a:p>
          <a:p>
            <a:pPr marL="0" indent="0" algn="just">
              <a:buNone/>
            </a:pPr>
            <a:r>
              <a:rPr lang="pt-BR" dirty="0"/>
              <a:t>4º) adicionar um arco indo diretamente do nó suprimento para o nó de demanda e atribuindo a ele um custo unitário grande </a:t>
            </a:r>
            <a:r>
              <a:rPr lang="pt-BR" dirty="0" err="1"/>
              <a:t>c</a:t>
            </a:r>
            <a:r>
              <a:rPr lang="pt-BR" baseline="-25000" dirty="0" err="1"/>
              <a:t>ij</a:t>
            </a:r>
            <a:r>
              <a:rPr lang="pt-BR" dirty="0"/>
              <a:t> = M, e uma capacidade de arco ilimitada.</a:t>
            </a:r>
          </a:p>
        </p:txBody>
      </p:sp>
    </p:spTree>
    <p:extLst>
      <p:ext uri="{BB962C8B-B14F-4D97-AF65-F5344CB8AC3E}">
        <p14:creationId xmlns:p14="http://schemas.microsoft.com/office/powerpoint/2010/main" val="36023995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32465</TotalTime>
  <Words>859</Words>
  <Application>Microsoft Macintosh PowerPoint</Application>
  <PresentationFormat>Apresentação na tela (4:3)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Tema do Office</vt:lpstr>
      <vt:lpstr>Otimização em Redes _ Parte II</vt:lpstr>
      <vt:lpstr>Fluxo de Custo Mínimo: Definições preliminares</vt:lpstr>
      <vt:lpstr>O problema do fluxo de custo mínimo</vt:lpstr>
      <vt:lpstr>Aplicações do Problema do Fluxo de Custo Mínimo</vt:lpstr>
      <vt:lpstr>Fluxo de Custo Mínimo: Formulação do Modelo</vt:lpstr>
      <vt:lpstr>Fluxo de Custo Mínimo: Formulação do Modelo</vt:lpstr>
      <vt:lpstr>Exemplo de rede</vt:lpstr>
      <vt:lpstr>Apresentação do PowerPoint</vt:lpstr>
      <vt:lpstr>Propriedade das Soluções Viáveis</vt:lpstr>
      <vt:lpstr>Casos Especiais do Problema do Fluxo de custo mínimo</vt:lpstr>
      <vt:lpstr>Problema do Menor Caminho como um problema do Fluxo de custo mínimo</vt:lpstr>
      <vt:lpstr>Problema do Fluxo máximo como um problema do Fluxo de custo mínimo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Otimização em Redes</dc:title>
  <dc:creator>Andrea</dc:creator>
  <cp:lastModifiedBy>Andréa Bonifácio</cp:lastModifiedBy>
  <cp:revision>170</cp:revision>
  <cp:lastPrinted>2012-03-27T15:05:40Z</cp:lastPrinted>
  <dcterms:created xsi:type="dcterms:W3CDTF">2012-01-17T11:52:45Z</dcterms:created>
  <dcterms:modified xsi:type="dcterms:W3CDTF">2021-04-29T01:37:25Z</dcterms:modified>
</cp:coreProperties>
</file>