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theme/themeOverride12.xml" ContentType="application/vnd.openxmlformats-officedocument.themeOverride+xml"/>
  <Override PartName="/ppt/theme/themeOverride13.xml" ContentType="application/vnd.openxmlformats-officedocument.themeOverride+xml"/>
  <Override PartName="/ppt/theme/themeOverride14.xml" ContentType="application/vnd.openxmlformats-officedocument.themeOverride+xml"/>
  <Override PartName="/ppt/theme/themeOverride15.xml" ContentType="application/vnd.openxmlformats-officedocument.themeOverride+xml"/>
  <Override PartName="/ppt/theme/themeOverride1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  <p:sldId id="280" r:id="rId1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3" autoAdjust="0"/>
    <p:restoredTop sz="94632"/>
  </p:normalViewPr>
  <p:slideViewPr>
    <p:cSldViewPr snapToGrid="0">
      <p:cViewPr varScale="1">
        <p:scale>
          <a:sx n="106" d="100"/>
          <a:sy n="106" d="100"/>
        </p:scale>
        <p:origin x="8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84FA72-C0C9-1636-8DF5-AFDB716C82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A831EF-9CC8-CA15-FECB-1B9C3B9C34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5BCB803-AB35-E5F1-85E0-57BD863EF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36BA30-71BB-ACD4-DC73-D0667D00A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2B9F62-910B-DBC9-47E5-A430BD647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65964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728C08-B293-3274-C7BC-9DDA86031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BC120A-DA16-E997-ED4B-3442316236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604941-0B52-AF11-1785-9FE0B3B68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4F645E-C5C3-A271-0BE1-5D31834A0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1E365B4-A796-2F53-7528-6C4E7B94F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3360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1CBEF-0552-FE9C-91A1-6C7FDDA8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EFA077-B35E-3FCF-EE08-B542DF90F8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CB6B49-ADAA-39E6-70E0-CE595F3CE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944D18-8074-D2D0-EF98-510BE9FDF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657A9EF-D016-8CA8-993D-6FD6B70CA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2562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A652A-0275-E69C-FD7E-FFED58A1A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3020D71-025C-4138-7620-93D660001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360911-70E0-5DBF-30B8-9AAD15BADC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4CD757-9B8B-210F-8F8A-1DA122D5A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15E098C-7EBA-D86F-3DFD-4BC21483D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9DB2222-C524-7254-BCF9-F6D92D207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8147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FA8670-000F-5118-1AD8-BA7D68887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B14835D-C450-D2A0-3268-365133089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CED8C7-33BC-F9E8-2C22-BB5F1C4B1A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29BC43C3-632E-35C3-488F-017E0D9C4C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053F7D2-CCB9-91D5-F59A-780386A8EC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E6CC755-49D7-B0DA-581D-15119A627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71BCB1E-A962-06F3-0642-7EE92EB9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0F962C6-836B-9FB1-3E8B-41177126E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50935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4753C6-A7D2-DBCA-5570-ABAF78077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CC65BF8-9A45-DA37-E583-051D4B9F7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F77B7F3-4D0D-8189-6C1D-5EF19AF4B3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1905C72-244B-737A-2BAE-BFE76D38D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97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A5864E-A7BF-ED96-C830-A3D7B0D8E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DB54B30C-0643-17C0-DC44-721CC83D3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D363D2-658A-4C54-96ED-5AB838D93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45047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A010F-F084-16BE-4566-D05322C61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9B5011-BCB9-C60A-AFF8-18118765EE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45267E-1E16-83A6-A2A2-0985E1AFC8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5B9315-7E4D-CDC5-4767-6D888394A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87E19-67E4-120B-F460-0E6E5253B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C48CE5-6DB2-5CF1-C4E0-34B01B20D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9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B8BA8-822B-8528-D6B2-A8EE22E6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29A7106-E879-F836-882B-09E8DBC3F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A7970DA-EAF2-93C0-449B-A48A87A2F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6DE0A7-9226-6AA0-B923-19870B5CB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E37D48-6E5B-F60A-44B0-EA3982E5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47EDAF1-F05D-7FEC-4327-6957DEE97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3733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4C9896-9FEB-F5CA-34D9-30CBF04CF4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36CD3F5-E6E6-2F85-F629-CD1A7C9105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04B523-DBD1-048D-FEC6-29E8F29A5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5BD2125-67D0-A9B5-886F-551AD8223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DB8B16-F6D2-47F4-2DA5-887B6FF45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86165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C225474-8A83-ABE1-40A4-6EFB55B9F78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83D6A8E-2D24-E67F-C553-2C635242D5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74BBF1-C37A-99D1-7943-50C2ABF60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3EBF4DD-8675-6E92-C646-40312697D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08CC2D0-C0B5-1D3C-DD60-5819B2BD2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3370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DCC5637-2B4C-06AD-5C2F-A6E58CDDB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E23F6CE-F0EC-F913-6437-6DCA461A1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3538D05-AA36-BDE8-D602-2B541FE243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C23DC8-26DF-4EE7-B120-CBA96110CA8F}" type="datetimeFigureOut">
              <a:rPr lang="pt-BR" smtClean="0"/>
              <a:t>22/06/2026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C10BD68-6FF1-F04E-D490-A7B93CC1D7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781AE3-221E-8A4F-96BE-C7BABCB4CB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E388F-D8AC-4ECD-939E-5AF5A57ACFF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7802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Relationship Id="rId6" Type="http://schemas.openxmlformats.org/officeDocument/2006/relationships/image" Target="../media/image3.gif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Relationship Id="rId5" Type="http://schemas.openxmlformats.org/officeDocument/2006/relationships/image" Target="../media/image4.gif"/><Relationship Id="rId4" Type="http://schemas.openxmlformats.org/officeDocument/2006/relationships/image" Target="../media/image3.gi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7.xml"/><Relationship Id="rId6" Type="http://schemas.openxmlformats.org/officeDocument/2006/relationships/hyperlink" Target="http://www.atractor.pt/matviva/geral/t5cores/paisesvizinhos.htm" TargetMode="Externa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Relationship Id="rId5" Type="http://schemas.openxmlformats.org/officeDocument/2006/relationships/image" Target="../media/image6.jpeg"/><Relationship Id="rId4" Type="http://schemas.openxmlformats.org/officeDocument/2006/relationships/image" Target="../media/image5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0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1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3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4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5.xml"/><Relationship Id="rId4" Type="http://schemas.openxmlformats.org/officeDocument/2006/relationships/image" Target="../media/image9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6.xml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0134A1-ABB8-8B90-52AC-B65932D5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D36869-7C53-B4EC-0C49-E12A38CDC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3892669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TEORIA DOS GRAFOS – Introdução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DC04F7-2A1B-C9D0-40E7-D7F0EB2A5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631161"/>
            <a:ext cx="6692827" cy="1569486"/>
          </a:xfrm>
        </p:spPr>
        <p:txBody>
          <a:bodyPr>
            <a:normAutofit/>
          </a:bodyPr>
          <a:lstStyle/>
          <a:p>
            <a:pPr algn="l"/>
            <a:r>
              <a:rPr lang="en-US">
                <a:latin typeface="Hagrid Text"/>
                <a:ea typeface="Hagrid Text"/>
                <a:cs typeface="Hagrid Text"/>
                <a:sym typeface="Hagrid Text"/>
              </a:rPr>
              <a:t>Profª Andréa Bonifácio</a:t>
            </a:r>
          </a:p>
          <a:p>
            <a:pPr algn="l"/>
            <a:r>
              <a:rPr lang="en-US">
                <a:latin typeface="Hagrid Text"/>
                <a:ea typeface="Hagrid Text"/>
                <a:cs typeface="Hagrid Text"/>
                <a:sym typeface="Hagrid Text"/>
              </a:rPr>
              <a:t>Email: andreabonifacio@uniriotec.br</a:t>
            </a:r>
          </a:p>
          <a:p>
            <a:pPr algn="l"/>
            <a:endParaRPr lang="pt-BR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57C191F7-C2F2-185D-FD24-D2DBBBFA4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544" y="1417747"/>
            <a:ext cx="4087368" cy="3786031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A43AA01-1C09-2157-D549-C8E1484F5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7724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30E9B-DD70-0811-9AF2-452FF47A4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036120-57C4-563E-BBA5-CA40EBA04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20040"/>
            <a:ext cx="6692827" cy="1097707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Objetivos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5C82DD7-C983-C45C-A0FA-FCF85369CF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1652069"/>
            <a:ext cx="9057572" cy="4453328"/>
          </a:xfrm>
        </p:spPr>
        <p:txBody>
          <a:bodyPr>
            <a:normAutofit/>
          </a:bodyPr>
          <a:lstStyle/>
          <a:p>
            <a:pPr algn="just" rtl="0" fontAlgn="base"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Apresentar conceitos básicos de grafos.</a:t>
            </a:r>
          </a:p>
          <a:p>
            <a:pPr algn="just"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dirty="0">
              <a:latin typeface="Hagrid Text"/>
            </a:endParaRPr>
          </a:p>
          <a:p>
            <a:pPr algn="just"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A utilização de grafos como ferramenta de modelagem de problemas, e seu universo teórico próprio. </a:t>
            </a:r>
          </a:p>
          <a:p>
            <a:pPr algn="just"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dirty="0">
              <a:latin typeface="Hagrid Text"/>
            </a:endParaRPr>
          </a:p>
          <a:p>
            <a:pPr algn="just"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dirty="0">
                <a:latin typeface="Hagrid Text"/>
              </a:rPr>
              <a:t>Apresentar algoritmos clássicos que resolvem problemas modelados por grafos, amplamente utilizados em pesquisa operacional. </a:t>
            </a:r>
          </a:p>
          <a:p>
            <a:pPr algn="just">
              <a:lnSpc>
                <a:spcPts val="5250"/>
              </a:lnSpc>
            </a:pPr>
            <a:endParaRPr lang="en-US" sz="2400" dirty="0">
              <a:latin typeface="Hagrid Text"/>
              <a:ea typeface="Hagrid Text"/>
              <a:cs typeface="Hagrid Text"/>
              <a:sym typeface="Hagrid Text"/>
            </a:endParaRPr>
          </a:p>
          <a:p>
            <a:pPr algn="l"/>
            <a:endParaRPr lang="pt-BR" dirty="0"/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5E21DF8-E032-64DE-70A1-883623A4A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F5FDAB1B-EEB7-2115-990B-AFAF9C521E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82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D25FF48-1D74-9C61-9CB4-572A48876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29268-B02C-1778-767C-2C4179791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42900"/>
            <a:ext cx="9837420" cy="19160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Introdução Histórica a Teoria dos Grafos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2CCD628-2482-1AF6-095F-17B5A52D20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7652" y="4436988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E4E214CC-1E18-205A-8580-64B11AEEA0D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93B147C3-07DA-B9DE-EFF6-E5328F2B2AE8}"/>
              </a:ext>
            </a:extLst>
          </p:cNvPr>
          <p:cNvSpPr txBox="1"/>
          <p:nvPr/>
        </p:nvSpPr>
        <p:spPr>
          <a:xfrm>
            <a:off x="640080" y="2685716"/>
            <a:ext cx="10123170" cy="2343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Um grafo é uma estrutura matemática muito útil para representar relações de interdependência entre elementos de um conjunto.</a:t>
            </a:r>
          </a:p>
          <a:p>
            <a:pPr algn="just" fontAlgn="base">
              <a:lnSpc>
                <a:spcPct val="90000"/>
              </a:lnSpc>
              <a:spcBef>
                <a:spcPts val="1000"/>
              </a:spcBef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  <a:p>
            <a:pPr algn="just" fontAlgn="base">
              <a:lnSpc>
                <a:spcPct val="90000"/>
              </a:lnSpc>
              <a:spcBef>
                <a:spcPts val="1000"/>
              </a:spcBef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O primeiro registro data de 1736, por Euler, sobre o problema de encontrar um caminho circular por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Konigsberg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usando cada uma das pontes sobre um rio que cortava a cidade exatamente uma vez.</a:t>
            </a:r>
          </a:p>
        </p:txBody>
      </p:sp>
    </p:spTree>
    <p:extLst>
      <p:ext uri="{BB962C8B-B14F-4D97-AF65-F5344CB8AC3E}">
        <p14:creationId xmlns:p14="http://schemas.microsoft.com/office/powerpoint/2010/main" val="4271627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7EF0191E-B1C9-598D-7181-C6B566CE8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9697E4-6C43-9CBF-1844-C4F1FEEF6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42900"/>
            <a:ext cx="9837420" cy="19160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Introdução Histórica a Teoria dos Grafos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5BA410C-60AC-2B4E-D11F-D6332F9640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632">
            <a:off x="9761235" y="4606441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760CD1B-D1A7-5B54-F91A-379D7B9D6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DCA7876-7163-07B1-34F0-E928753F388C}"/>
              </a:ext>
            </a:extLst>
          </p:cNvPr>
          <p:cNvSpPr txBox="1"/>
          <p:nvPr/>
        </p:nvSpPr>
        <p:spPr>
          <a:xfrm>
            <a:off x="640080" y="2920483"/>
            <a:ext cx="1012317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No Rio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Pregel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, junto à cidade de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Konigsberg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, na então Prússia, existiam duas ilhas interligadas por uma ponte e mais 6 pontes ligando-as a cidade. Como era muito complicado fazer o transporte de cargas e pessoas através de barcos, algumas pontes foram construídas para auxiliar neste deslocamento entre as ilhas e as duas margens. Após algum tempo as pessoas começaram a se perguntar se era possível sair de sua casa, passar por cada ponte exatamente uma vez e voltar para a segurança de seu lar. </a:t>
            </a:r>
          </a:p>
          <a:p>
            <a:pPr>
              <a:buNone/>
            </a:pPr>
            <a:br>
              <a:rPr lang="pt-BR" sz="2400" b="0" dirty="0">
                <a:effectLst/>
              </a:rPr>
            </a:br>
            <a:endParaRPr lang="pt-BR" sz="240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3E5ED69-DB62-11CC-2148-E291BCC80E4C}"/>
              </a:ext>
            </a:extLst>
          </p:cNvPr>
          <p:cNvSpPr txBox="1"/>
          <p:nvPr/>
        </p:nvSpPr>
        <p:spPr>
          <a:xfrm>
            <a:off x="640080" y="239025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>
              <a:buNone/>
            </a:pPr>
            <a:r>
              <a:rPr lang="pt-BR" sz="2400" b="1" i="0" u="sng" dirty="0">
                <a:solidFill>
                  <a:srgbClr val="292934"/>
                </a:solidFill>
                <a:effectLst/>
                <a:latin typeface="Quattrocento Sans" panose="020B0502050000020003" pitchFamily="34" charset="0"/>
              </a:rPr>
              <a:t>O Problema da Ponte de </a:t>
            </a:r>
            <a:r>
              <a:rPr lang="pt-BR" sz="2400" b="1" i="0" u="sng" dirty="0" err="1">
                <a:solidFill>
                  <a:srgbClr val="292934"/>
                </a:solidFill>
                <a:effectLst/>
                <a:latin typeface="Quattrocento Sans" panose="020B0502050000020003" pitchFamily="34" charset="0"/>
              </a:rPr>
              <a:t>Konigsberg</a:t>
            </a:r>
            <a:endParaRPr lang="pt-BR" sz="2400" b="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4220902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F08F5A95-342F-F7C8-3307-4AFDDC2B4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D119BF-70DD-11B9-3B14-5FA055277B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42900"/>
            <a:ext cx="9837420" cy="19160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Problema da Ponte de </a:t>
            </a:r>
            <a:r>
              <a:rPr lang="pt-BR" sz="6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Konigsberg</a:t>
            </a:r>
            <a:endParaRPr lang="pt-BR" sz="66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1EA69E4-CA08-2D9D-9359-AD403A52A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632">
            <a:off x="9761235" y="4606441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82E9C02D-73C1-C883-7226-1ABCF306CB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C061B862-B260-81CA-33BA-9055567C98D9}"/>
              </a:ext>
            </a:extLst>
          </p:cNvPr>
          <p:cNvSpPr txBox="1"/>
          <p:nvPr/>
        </p:nvSpPr>
        <p:spPr>
          <a:xfrm>
            <a:off x="5886450" y="3036477"/>
            <a:ext cx="52768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</a:t>
            </a:r>
            <a:r>
              <a:rPr lang="pt-BR" sz="2400" b="1" dirty="0">
                <a:solidFill>
                  <a:prstClr val="black"/>
                </a:solidFill>
                <a:latin typeface="Hagrid Text"/>
              </a:rPr>
              <a:t>Problema: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partindo de uma dessas regiões, determinar um trajeto pelas pontes segundo o qual se possa retornar à região de partida, após atravessar cada ponte somente uma vez.</a:t>
            </a:r>
            <a:br>
              <a:rPr lang="pt-BR" sz="2400" dirty="0">
                <a:solidFill>
                  <a:prstClr val="black"/>
                </a:solidFill>
                <a:latin typeface="Hagrid Text"/>
              </a:rPr>
            </a:br>
            <a:endParaRPr lang="pt-BR" sz="2400" dirty="0">
              <a:solidFill>
                <a:prstClr val="black"/>
              </a:solidFill>
              <a:latin typeface="Hagrid Text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03902DD-ED8E-8CB2-80DA-2545AAFFE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2550644"/>
            <a:ext cx="4846320" cy="342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36904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00162490-EEA7-2B3C-97E6-2DD019F6B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7E29AE-B139-6F2C-9792-3AF2A9512D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42900"/>
            <a:ext cx="9837420" cy="19160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Problema da Ponte de </a:t>
            </a:r>
            <a:r>
              <a:rPr lang="pt-BR" sz="6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Konigsberg</a:t>
            </a:r>
            <a:endParaRPr lang="pt-BR" sz="66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BEC338B6-8AF9-FB82-6404-0BCAD274ED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3BBFF7BB-999F-7FD5-D969-F6FDAFE0C535}"/>
              </a:ext>
            </a:extLst>
          </p:cNvPr>
          <p:cNvSpPr txBox="1"/>
          <p:nvPr/>
        </p:nvSpPr>
        <p:spPr>
          <a:xfrm>
            <a:off x="7285318" y="1797294"/>
            <a:ext cx="34099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spcBef>
                <a:spcPts val="480"/>
              </a:spcBef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Solução de Euler (1736)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C20A50C-7E61-F3E0-6F19-5C7E0BD777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" y="2550644"/>
            <a:ext cx="4846320" cy="34234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76E4B5DE-6CB8-B79E-D572-522F5589B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1753" y="2550644"/>
            <a:ext cx="3611282" cy="3250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8818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1F9E177-111D-97DB-1C35-129D94946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A74A77-0792-342F-A888-A96C431A7D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42900"/>
            <a:ext cx="9837420" cy="19160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 Problema da Ponte de </a:t>
            </a:r>
            <a:r>
              <a:rPr lang="pt-BR" sz="6600" dirty="0" err="1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Konigsberg</a:t>
            </a:r>
            <a:endParaRPr lang="pt-BR" sz="6600" dirty="0">
              <a:solidFill>
                <a:schemeClr val="tx2">
                  <a:lumMod val="90000"/>
                  <a:lumOff val="10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41A83BFD-4BBE-3FD0-FDED-38FE3998D8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632">
            <a:off x="9761235" y="4606441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9C1DA8F-9EE5-20A6-CD4B-7819700072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4B1135C-A22F-9FF0-584B-4B7FC313A28C}"/>
              </a:ext>
            </a:extLst>
          </p:cNvPr>
          <p:cNvSpPr txBox="1"/>
          <p:nvPr/>
        </p:nvSpPr>
        <p:spPr>
          <a:xfrm>
            <a:off x="640080" y="2884077"/>
            <a:ext cx="8542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 Solução de Euler (1736):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existe o trajeto desejado quando e somente quando em cada região ocorrer um número par de pontes.</a:t>
            </a:r>
          </a:p>
        </p:txBody>
      </p:sp>
    </p:spTree>
    <p:extLst>
      <p:ext uri="{BB962C8B-B14F-4D97-AF65-F5344CB8AC3E}">
        <p14:creationId xmlns:p14="http://schemas.microsoft.com/office/powerpoint/2010/main" val="8868143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8BD73C27-A0B0-710F-FA0A-7C6A954B7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A84BAE-3383-8CA2-784B-5B3598020A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565" y="11128"/>
            <a:ext cx="9837420" cy="1916059"/>
          </a:xfrm>
        </p:spPr>
        <p:txBody>
          <a:bodyPr>
            <a:norm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Desenvolvimento da Teoria de Grafos ao longo dos anos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43002316-1BB6-C625-55A9-A7392B7078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0B97F0B5-6612-74AA-D055-21A8AC5FE168}"/>
              </a:ext>
            </a:extLst>
          </p:cNvPr>
          <p:cNvSpPr txBox="1"/>
          <p:nvPr/>
        </p:nvSpPr>
        <p:spPr>
          <a:xfrm>
            <a:off x="548565" y="2041297"/>
            <a:ext cx="10999470" cy="48167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r>
              <a:rPr lang="pt-BR" sz="2400" b="1" dirty="0">
                <a:solidFill>
                  <a:prstClr val="black"/>
                </a:solidFill>
                <a:latin typeface="Hagrid Text"/>
              </a:rPr>
              <a:t>- 1847: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Kirchhoff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utilizou modelos de grafos para obter resultados em circuitos elétricos.</a:t>
            </a:r>
          </a:p>
          <a:p>
            <a:pPr rtl="0" fontAlgn="base"/>
            <a:endParaRPr lang="pt-BR" sz="1800" b="1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fontAlgn="base">
              <a:spcBef>
                <a:spcPts val="480"/>
              </a:spcBef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- 1857: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Cayley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aplicou grafos a Química.</a:t>
            </a: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  <a:p>
            <a:pPr fontAlgn="base">
              <a:spcBef>
                <a:spcPts val="480"/>
              </a:spcBef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- 1852: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Guthrie formulou o problema das 4 cores - colorir os países de um mapa, cada país de uma cor, de tal forma que países fronteiriços possuam cores diferentes.</a:t>
            </a:r>
          </a:p>
          <a:p>
            <a:pPr indent="-34290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  <a:p>
            <a:pPr fontAlgn="base">
              <a:spcBef>
                <a:spcPts val="480"/>
              </a:spcBef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- Década de 50: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com o surgimento da Pesquisa Operacional, modelos de grafos foram utilizados na busca de melhores soluções para problemas de projeto (Rede de Projetos), organização e distribuição.</a:t>
            </a:r>
          </a:p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</p:txBody>
      </p:sp>
    </p:spTree>
    <p:extLst>
      <p:ext uri="{BB962C8B-B14F-4D97-AF65-F5344CB8AC3E}">
        <p14:creationId xmlns:p14="http://schemas.microsoft.com/office/powerpoint/2010/main" val="17383342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0F89348-AA08-0725-2FE3-7D1938BAA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3A319B-E39B-017F-36AD-5864F18599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115" y="344716"/>
            <a:ext cx="11113770" cy="2740855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Desenvolvimento da Teoria dos Grafos: Problemas Famosos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5D6A559-B7AB-53D8-96F1-A71F25627C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19632">
            <a:off x="9761235" y="4606441"/>
            <a:ext cx="2430765" cy="2251559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4100F048-C384-5C8F-E29D-32CA9D7060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80BEC7E-6223-23CA-6770-9BEDCDE64762}"/>
              </a:ext>
            </a:extLst>
          </p:cNvPr>
          <p:cNvSpPr txBox="1"/>
          <p:nvPr/>
        </p:nvSpPr>
        <p:spPr>
          <a:xfrm>
            <a:off x="678180" y="3438965"/>
            <a:ext cx="854202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 1. Problema das 4 cores: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Serão suficientes quatro cores  para pintar um mapa plano de forma que dois </a:t>
            </a:r>
            <a:r>
              <a:rPr lang="pt-BR" sz="2400" dirty="0">
                <a:solidFill>
                  <a:prstClr val="black"/>
                </a:solidFill>
                <a:latin typeface="Hagrid Tex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países vizinhos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não partilhem a mesma cor?</a:t>
            </a:r>
          </a:p>
        </p:txBody>
      </p:sp>
    </p:spTree>
    <p:extLst>
      <p:ext uri="{BB962C8B-B14F-4D97-AF65-F5344CB8AC3E}">
        <p14:creationId xmlns:p14="http://schemas.microsoft.com/office/powerpoint/2010/main" val="310356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D2A31114-7871-FA9D-6598-D9F101187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5F4AC1-7A90-3CE7-FF79-8337C2A8A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66506" y="330432"/>
            <a:ext cx="9837420" cy="1264823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das 4 cores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182B002B-52F2-541D-F179-A940333216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419F06DD-A7A0-88A9-84C4-CCB1951F0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2836" y="2026201"/>
            <a:ext cx="2846161" cy="424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AF10C285-EA26-8636-90C2-107157C27E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0342" y="1752600"/>
            <a:ext cx="3268823" cy="4518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51046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4D901700-70F9-DAF2-4B68-B8B65F79E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524520-C047-9772-8256-D8D8DE7678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8565" y="643539"/>
            <a:ext cx="9837420" cy="936587"/>
          </a:xfrm>
        </p:spPr>
        <p:txBody>
          <a:bodyPr>
            <a:normAutofit/>
          </a:bodyPr>
          <a:lstStyle/>
          <a:p>
            <a:pPr algn="l"/>
            <a:r>
              <a:rPr lang="pt-BR" sz="54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das 4 cores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D71121B5-F485-BA53-2685-0AB69E39CE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6FF7FD6-A9E5-9F7E-C9D0-F6398D41ABF9}"/>
              </a:ext>
            </a:extLst>
          </p:cNvPr>
          <p:cNvSpPr txBox="1"/>
          <p:nvPr/>
        </p:nvSpPr>
        <p:spPr>
          <a:xfrm>
            <a:off x="548565" y="1580126"/>
            <a:ext cx="10999470" cy="4752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/>
            <a:endParaRPr lang="pt-BR" sz="1800" b="1" i="0" u="none" strike="noStrike" dirty="0">
              <a:solidFill>
                <a:srgbClr val="93A299"/>
              </a:solidFill>
              <a:effectLst/>
              <a:latin typeface="Arial" panose="020B0604020202020204" pitchFamily="34" charset="0"/>
            </a:endParaRPr>
          </a:p>
          <a:p>
            <a:pPr rtl="0" fontAlgn="base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1879: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Alfred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Bray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Kempe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publicou uma demonstração do Teorema das 4 cores no American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Journal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of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Mathematics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.</a:t>
            </a:r>
          </a:p>
          <a:p>
            <a:pPr rtl="0" fontAlgn="base"/>
            <a:endParaRPr lang="pt-BR" sz="2400" dirty="0">
              <a:solidFill>
                <a:prstClr val="black"/>
              </a:solidFill>
              <a:latin typeface="Hagrid Text"/>
            </a:endParaRP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1880: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Percy John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Heawood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provou que a demonstração de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Kempe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tinha um erro e provou o Teorema das 5 cores.</a:t>
            </a: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1976: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Haken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e Appel provaram o teorema das 4 cores. Porém a demonstração inclui mais de 1000 horas do uso de computadores de alta velocidade.</a:t>
            </a:r>
          </a:p>
          <a:p>
            <a:pPr rtl="0" fontAlgn="base">
              <a:spcBef>
                <a:spcPts val="480"/>
              </a:spcBef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prstClr val="black"/>
                </a:solidFill>
                <a:latin typeface="Hagrid Text"/>
              </a:rPr>
              <a:t>1994: 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Seymour, Robertson, Sanders e Thomas apresentaram uma prova simplificada do teorema porém ainda utilizando computadores.</a:t>
            </a:r>
          </a:p>
        </p:txBody>
      </p:sp>
    </p:spTree>
    <p:extLst>
      <p:ext uri="{BB962C8B-B14F-4D97-AF65-F5344CB8AC3E}">
        <p14:creationId xmlns:p14="http://schemas.microsoft.com/office/powerpoint/2010/main" val="10998825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C7048E2F-B4AE-46C6-3407-91CDC26A2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79480B-E63C-A147-D527-BB6BE4A286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058630"/>
            <a:ext cx="9837420" cy="1200329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das 4 cores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273BBC4C-6BD3-7CE9-AE4C-62021B2683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1" y="4493497"/>
            <a:ext cx="2552700" cy="2364504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0A138AFF-6C01-C37B-7F07-8037B3CCDD9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A5FB8EC-534B-DFD3-B3DD-DF808C28DBB1}"/>
              </a:ext>
            </a:extLst>
          </p:cNvPr>
          <p:cNvSpPr txBox="1"/>
          <p:nvPr/>
        </p:nvSpPr>
        <p:spPr>
          <a:xfrm>
            <a:off x="640080" y="2598003"/>
            <a:ext cx="91897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Ainda hoje, a questão de obter uma demonstração que não necessite do auxílio de computadores continua em aberto!!!</a:t>
            </a:r>
          </a:p>
        </p:txBody>
      </p:sp>
    </p:spTree>
    <p:extLst>
      <p:ext uri="{BB962C8B-B14F-4D97-AF65-F5344CB8AC3E}">
        <p14:creationId xmlns:p14="http://schemas.microsoft.com/office/powerpoint/2010/main" val="10103961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1C9F0D91-9E23-0DC4-9D7E-DE0EAD37D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B1D28D-56DB-482F-668D-5E31EFA5BF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81000"/>
            <a:ext cx="9837420" cy="18779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Ciclo Hamiltoniano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F146F2DA-A4E2-8922-7489-2B4E1E49B6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1" y="4493497"/>
            <a:ext cx="2552700" cy="2364504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D5D6A994-03C7-C97B-6F11-D3A61DDAE99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DE029E05-58F1-E24D-D7AA-9010C8DBC006}"/>
              </a:ext>
            </a:extLst>
          </p:cNvPr>
          <p:cNvSpPr txBox="1"/>
          <p:nvPr/>
        </p:nvSpPr>
        <p:spPr>
          <a:xfrm>
            <a:off x="640080" y="2598003"/>
            <a:ext cx="9189720" cy="1633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</a:t>
            </a:r>
            <a:r>
              <a:rPr lang="pt-BR" sz="2400" b="1" dirty="0">
                <a:solidFill>
                  <a:prstClr val="black"/>
                </a:solidFill>
                <a:latin typeface="Hagrid Text"/>
              </a:rPr>
              <a:t>Origem: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 Jogo para determinar uma rota pelas linhas de um grafo com 20 pontos (representando 20 cidades), passando por cada cidade apenas uma vez e retornando a cidade inicial.</a:t>
            </a:r>
          </a:p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</p:txBody>
      </p:sp>
    </p:spTree>
    <p:extLst>
      <p:ext uri="{BB962C8B-B14F-4D97-AF65-F5344CB8AC3E}">
        <p14:creationId xmlns:p14="http://schemas.microsoft.com/office/powerpoint/2010/main" val="17636716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32A35D79-E92B-CDB5-97F9-690B524F6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192C9C-1F9A-A23C-A182-8BD9852D22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381000"/>
            <a:ext cx="9837420" cy="18779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Ciclo Hamiltoniano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4B167E83-5C90-AD6E-A667-EEDAB807BF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9583BFF6-E1BE-A515-4203-45C58EC606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4934" y="2258959"/>
            <a:ext cx="3848101" cy="36807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99" name="Picture 3">
            <a:extLst>
              <a:ext uri="{FF2B5EF4-FFF2-40B4-BE49-F238E27FC236}">
                <a16:creationId xmlns:a16="http://schemas.microsoft.com/office/drawing/2014/main" id="{2C901C9C-83CE-5563-EC26-9E664A151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2" y="2258960"/>
            <a:ext cx="5099048" cy="3770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25628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8EC5C33-2613-A66C-20C6-FC6CBB0AB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578F94-F4D7-FEF5-3EF5-C221B488F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720044"/>
            <a:ext cx="9837420" cy="18779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Ciclo Hamiltoniano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7F76725F-A939-6AD6-D0AE-49E5336F89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1" y="4493497"/>
            <a:ext cx="2552700" cy="2364504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33CBF803-5406-F1C3-81E4-CF7FA288C3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B2E0588E-ADCD-A2B9-4701-81A03A34D96F}"/>
              </a:ext>
            </a:extLst>
          </p:cNvPr>
          <p:cNvSpPr txBox="1"/>
          <p:nvPr/>
        </p:nvSpPr>
        <p:spPr>
          <a:xfrm>
            <a:off x="640080" y="2913525"/>
            <a:ext cx="9189720" cy="1264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Não há uma condição necessária e suficiente para se verificar a existência de um ciclo hamiltoniano em um grafo arbitrário!</a:t>
            </a:r>
          </a:p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</p:txBody>
      </p:sp>
    </p:spTree>
    <p:extLst>
      <p:ext uri="{BB962C8B-B14F-4D97-AF65-F5344CB8AC3E}">
        <p14:creationId xmlns:p14="http://schemas.microsoft.com/office/powerpoint/2010/main" val="6431707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711B78-B32B-6225-1502-F58D7554E3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229E04-6C2B-9023-6A04-8D0DA93E5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720044"/>
            <a:ext cx="9837420" cy="18779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Problema do Caixeiro Viajante (PCV)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C3091FCF-389E-DABF-0E02-E48F8DE8A0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1" y="4493497"/>
            <a:ext cx="2552700" cy="2364504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9318F78C-404F-77CE-F957-CB4CE4101DC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ED1783B3-1F41-6904-2EA4-6C97B6F437D0}"/>
              </a:ext>
            </a:extLst>
          </p:cNvPr>
          <p:cNvSpPr txBox="1"/>
          <p:nvPr/>
        </p:nvSpPr>
        <p:spPr>
          <a:xfrm>
            <a:off x="640080" y="2913525"/>
            <a:ext cx="9189720" cy="3111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Suponha que um caixeiro viajante tenha de visitar n cidades diferentes iniciando e encerrando sua viagem na primeira cidade. </a:t>
            </a:r>
            <a:br>
              <a:rPr lang="pt-BR" sz="2400" dirty="0">
                <a:solidFill>
                  <a:prstClr val="black"/>
                </a:solidFill>
                <a:latin typeface="Hagrid Text"/>
              </a:rPr>
            </a:br>
            <a:r>
              <a:rPr lang="pt-BR" sz="2400" dirty="0">
                <a:solidFill>
                  <a:prstClr val="black"/>
                </a:solidFill>
                <a:latin typeface="Hagrid Text"/>
              </a:rPr>
              <a:t>Suponha, também, que não importa a ordem com que as cidades são visitadas e que de cada uma delas pode-se ir diretamente a qualquer outra. O PCV consiste em descobrir a rota que torna mínima a viagem total (no sentido de tempo ou custo ou </a:t>
            </a:r>
            <a:r>
              <a:rPr lang="pt-BR" sz="2400" dirty="0" err="1">
                <a:solidFill>
                  <a:prstClr val="black"/>
                </a:solidFill>
                <a:latin typeface="Hagrid Text"/>
              </a:rPr>
              <a:t>etc</a:t>
            </a:r>
            <a:r>
              <a:rPr lang="pt-BR" sz="2400" dirty="0">
                <a:solidFill>
                  <a:prstClr val="black"/>
                </a:solidFill>
                <a:latin typeface="Hagrid Text"/>
              </a:rPr>
              <a:t>) e que passe em todas as cidades uma única vez.</a:t>
            </a:r>
          </a:p>
          <a:p>
            <a:pPr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</p:txBody>
      </p:sp>
    </p:spTree>
    <p:extLst>
      <p:ext uri="{BB962C8B-B14F-4D97-AF65-F5344CB8AC3E}">
        <p14:creationId xmlns:p14="http://schemas.microsoft.com/office/powerpoint/2010/main" val="17994676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6AB91466-896D-519B-8506-5167A6C02E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6486-89BE-0770-1955-12C90CE7E3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720044"/>
            <a:ext cx="9837420" cy="1877959"/>
          </a:xfrm>
        </p:spPr>
        <p:txBody>
          <a:bodyPr>
            <a:normAutofit fontScale="90000"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Aplicações da Teoria de Grafos</a:t>
            </a:r>
          </a:p>
        </p:txBody>
      </p:sp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6A101012-8536-2685-6D31-D1709C8D36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898DD93-A71D-B3A6-58E9-85F22887E662}"/>
              </a:ext>
            </a:extLst>
          </p:cNvPr>
          <p:cNvSpPr txBox="1"/>
          <p:nvPr/>
        </p:nvSpPr>
        <p:spPr>
          <a:xfrm>
            <a:off x="255070" y="2908566"/>
            <a:ext cx="91897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</a:t>
            </a:r>
            <a:r>
              <a:rPr lang="pt-BR" sz="2400" b="1" dirty="0">
                <a:solidFill>
                  <a:prstClr val="black"/>
                </a:solidFill>
                <a:latin typeface="Hagrid Text"/>
              </a:rPr>
              <a:t>Problema de localização e de traçado de rotas:</a:t>
            </a:r>
          </a:p>
          <a:p>
            <a:pPr fontAlgn="base"/>
            <a:r>
              <a:rPr lang="pt-BR" sz="2400" dirty="0">
                <a:solidFill>
                  <a:prstClr val="black"/>
                </a:solidFill>
                <a:latin typeface="Hagrid Text"/>
              </a:rPr>
              <a:t> De forma a reduzir seus custos operacionais e </a:t>
            </a:r>
          </a:p>
          <a:p>
            <a:pPr fontAlgn="base"/>
            <a:r>
              <a:rPr lang="pt-BR" sz="2400" dirty="0">
                <a:solidFill>
                  <a:prstClr val="black"/>
                </a:solidFill>
                <a:latin typeface="Hagrid Text"/>
              </a:rPr>
              <a:t>agilizar as entregas, uma empresa de transporte de</a:t>
            </a:r>
          </a:p>
          <a:p>
            <a:pPr fontAlgn="base"/>
            <a:r>
              <a:rPr lang="pt-BR" sz="2400" dirty="0">
                <a:solidFill>
                  <a:prstClr val="black"/>
                </a:solidFill>
                <a:latin typeface="Hagrid Text"/>
              </a:rPr>
              <a:t> cargas deseja oferecer aos motoristas de sua frota </a:t>
            </a:r>
          </a:p>
          <a:p>
            <a:pPr fontAlgn="base"/>
            <a:r>
              <a:rPr lang="pt-BR" sz="2400" dirty="0">
                <a:solidFill>
                  <a:prstClr val="black"/>
                </a:solidFill>
                <a:latin typeface="Hagrid Text"/>
              </a:rPr>
              <a:t>brasileira um mecanismo que os auxilie a selecionar </a:t>
            </a:r>
          </a:p>
          <a:p>
            <a:pPr fontAlgn="base"/>
            <a:r>
              <a:rPr lang="pt-BR" sz="2400" dirty="0">
                <a:solidFill>
                  <a:prstClr val="black"/>
                </a:solidFill>
                <a:latin typeface="Hagrid Text"/>
              </a:rPr>
              <a:t>o  caminho de menor distância entre quaisquer </a:t>
            </a:r>
          </a:p>
          <a:p>
            <a:pPr fontAlgn="base"/>
            <a:r>
              <a:rPr lang="pt-BR" sz="2400" dirty="0">
                <a:solidFill>
                  <a:prstClr val="black"/>
                </a:solidFill>
                <a:latin typeface="Hagrid Text"/>
              </a:rPr>
              <a:t>duas cidades por ela servidas.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BCA13AF-D5F1-679B-E0DE-460B72A66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023" y="2689906"/>
            <a:ext cx="5019675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27348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9BFED0E2-5717-C5D4-0E20-2D5093FC4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D59BC-5816-9D1D-7B67-653B4F1E67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35236"/>
            <a:ext cx="9837420" cy="1188303"/>
          </a:xfrm>
        </p:spPr>
        <p:txBody>
          <a:bodyPr>
            <a:normAutofit/>
          </a:bodyPr>
          <a:lstStyle/>
          <a:p>
            <a:pPr algn="l"/>
            <a:r>
              <a:rPr lang="pt-BR" sz="6600" dirty="0">
                <a:solidFill>
                  <a:schemeClr val="tx2">
                    <a:lumMod val="90000"/>
                    <a:lumOff val="10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Aplicações de Grafos</a:t>
            </a:r>
          </a:p>
        </p:txBody>
      </p:sp>
      <p:pic>
        <p:nvPicPr>
          <p:cNvPr id="6" name="Imagem 5" descr="Ícone&#10;&#10;O conteúdo gerado por IA pode estar incorreto.">
            <a:extLst>
              <a:ext uri="{FF2B5EF4-FFF2-40B4-BE49-F238E27FC236}">
                <a16:creationId xmlns:a16="http://schemas.microsoft.com/office/drawing/2014/main" id="{17418DE9-4512-1329-FA28-902DAFFF6E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Photocopy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9301" y="4493497"/>
            <a:ext cx="2552700" cy="2364504"/>
          </a:xfrm>
          <a:prstGeom prst="rect">
            <a:avLst/>
          </a:prstGeom>
        </p:spPr>
      </p:pic>
      <p:pic>
        <p:nvPicPr>
          <p:cNvPr id="7" name="Imagem 6" descr="Ícone&#10;&#10;O conteúdo gerado por IA pode estar incorreto.">
            <a:extLst>
              <a:ext uri="{FF2B5EF4-FFF2-40B4-BE49-F238E27FC236}">
                <a16:creationId xmlns:a16="http://schemas.microsoft.com/office/drawing/2014/main" id="{86AC1945-AD59-C084-1142-A66EAE1038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3035" y="11128"/>
            <a:ext cx="1270000" cy="1264823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62897F0-FF8E-D60A-2736-627BBFC3C2FB}"/>
              </a:ext>
            </a:extLst>
          </p:cNvPr>
          <p:cNvSpPr txBox="1"/>
          <p:nvPr/>
        </p:nvSpPr>
        <p:spPr>
          <a:xfrm>
            <a:off x="640080" y="2603109"/>
            <a:ext cx="9189720" cy="2131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0" fontAlgn="base"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Achar rotas eficientes</a:t>
            </a: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Análise de redes sociais </a:t>
            </a: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Estudo de moléculas</a:t>
            </a:r>
          </a:p>
          <a:p>
            <a:pPr rtl="0" fontAlgn="base">
              <a:spcBef>
                <a:spcPts val="48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solidFill>
                  <a:prstClr val="black"/>
                </a:solidFill>
                <a:latin typeface="Hagrid Text"/>
              </a:rPr>
              <a:t> Prever a disseminação de doenças</a:t>
            </a:r>
          </a:p>
          <a:p>
            <a:pPr fontAlgn="base">
              <a:buFont typeface="Arial" panose="020B0604020202020204" pitchFamily="34" charset="0"/>
              <a:buChar char="•"/>
            </a:pPr>
            <a:endParaRPr lang="pt-BR" sz="2400" dirty="0">
              <a:solidFill>
                <a:prstClr val="black"/>
              </a:solidFill>
              <a:latin typeface="Hagrid Text"/>
            </a:endParaRPr>
          </a:p>
        </p:txBody>
      </p:sp>
    </p:spTree>
    <p:extLst>
      <p:ext uri="{BB962C8B-B14F-4D97-AF65-F5344CB8AC3E}">
        <p14:creationId xmlns:p14="http://schemas.microsoft.com/office/powerpoint/2010/main" val="48093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1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f76721ff-46a3-4aaa-ade4-7f62acb9440c}" enabled="1" method="Privileged" siteId="{7e2324c6-6925-427e-b56d-4e6eda16752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</TotalTime>
  <Words>811</Words>
  <Application>Microsoft Macintosh PowerPoint</Application>
  <PresentationFormat>Widescreen</PresentationFormat>
  <Paragraphs>65</Paragraphs>
  <Slides>18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18</vt:i4>
      </vt:variant>
    </vt:vector>
  </HeadingPairs>
  <TitlesOfParts>
    <vt:vector size="25" baseType="lpstr">
      <vt:lpstr>Aharoni</vt:lpstr>
      <vt:lpstr>Aptos</vt:lpstr>
      <vt:lpstr>Aptos Display</vt:lpstr>
      <vt:lpstr>Arial</vt:lpstr>
      <vt:lpstr>Hagrid Text</vt:lpstr>
      <vt:lpstr>Quattrocento Sans</vt:lpstr>
      <vt:lpstr>Tema do Office</vt:lpstr>
      <vt:lpstr>TEORIA DOS GRAFOS – Introdução</vt:lpstr>
      <vt:lpstr>Objetivos</vt:lpstr>
      <vt:lpstr>Introdução Histórica a Teoria dos Grafos</vt:lpstr>
      <vt:lpstr>Introdução Histórica a Teoria dos Grafos</vt:lpstr>
      <vt:lpstr>O Problema da Ponte de Konigsberg</vt:lpstr>
      <vt:lpstr>O Problema da Ponte de Konigsberg</vt:lpstr>
      <vt:lpstr>O Problema da Ponte de Konigsberg</vt:lpstr>
      <vt:lpstr>Desenvolvimento da Teoria de Grafos ao longo dos anos</vt:lpstr>
      <vt:lpstr>Desenvolvimento da Teoria dos Grafos: Problemas Famosos</vt:lpstr>
      <vt:lpstr>Problema das 4 cores</vt:lpstr>
      <vt:lpstr>Problema das 4 cores</vt:lpstr>
      <vt:lpstr>Problema das 4 cores</vt:lpstr>
      <vt:lpstr>Problema do Ciclo Hamiltoniano</vt:lpstr>
      <vt:lpstr>Problema do Ciclo Hamiltoniano</vt:lpstr>
      <vt:lpstr>Problema do Ciclo Hamiltoniano</vt:lpstr>
      <vt:lpstr>Problema do Caixeiro Viajante (PCV)</vt:lpstr>
      <vt:lpstr>Aplicações da Teoria de Grafos</vt:lpstr>
      <vt:lpstr>Aplicações de Grafos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TEORIA DOS GRAFOS – Introdução</dc:title>
  <dc:creator>Ana Carolina Silva</dc:creator>
  <cp:lastModifiedBy>Microsoft Office User</cp:lastModifiedBy>
  <cp:revision>5</cp:revision>
  <dcterms:created xsi:type="dcterms:W3CDTF">2025-05-20T02:48:37Z</dcterms:created>
  <dcterms:modified xsi:type="dcterms:W3CDTF">2026-06-22T22:05:45Z</dcterms:modified>
</cp:coreProperties>
</file>