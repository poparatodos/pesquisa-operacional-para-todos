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7" r:id="rId2"/>
    <p:sldId id="276" r:id="rId3"/>
    <p:sldId id="353" r:id="rId4"/>
    <p:sldId id="354" r:id="rId5"/>
    <p:sldId id="360" r:id="rId6"/>
    <p:sldId id="355" r:id="rId7"/>
    <p:sldId id="356" r:id="rId8"/>
    <p:sldId id="339" r:id="rId9"/>
    <p:sldId id="277" r:id="rId10"/>
    <p:sldId id="279" r:id="rId11"/>
    <p:sldId id="280" r:id="rId12"/>
    <p:sldId id="281" r:id="rId13"/>
    <p:sldId id="340" r:id="rId14"/>
    <p:sldId id="341" r:id="rId15"/>
    <p:sldId id="358" r:id="rId16"/>
    <p:sldId id="282" r:id="rId17"/>
    <p:sldId id="359" r:id="rId18"/>
    <p:sldId id="342" r:id="rId19"/>
    <p:sldId id="284" r:id="rId20"/>
    <p:sldId id="285" r:id="rId21"/>
    <p:sldId id="286" r:id="rId22"/>
    <p:sldId id="287" r:id="rId23"/>
    <p:sldId id="288" r:id="rId24"/>
    <p:sldId id="289" r:id="rId25"/>
    <p:sldId id="344" r:id="rId26"/>
    <p:sldId id="290" r:id="rId27"/>
    <p:sldId id="345" r:id="rId28"/>
    <p:sldId id="363" r:id="rId29"/>
    <p:sldId id="361" r:id="rId30"/>
    <p:sldId id="346" r:id="rId31"/>
    <p:sldId id="357" r:id="rId32"/>
    <p:sldId id="347" r:id="rId33"/>
    <p:sldId id="348" r:id="rId34"/>
    <p:sldId id="349" r:id="rId35"/>
    <p:sldId id="350" r:id="rId36"/>
    <p:sldId id="352" r:id="rId37"/>
    <p:sldId id="351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1"/>
    <p:restoredTop sz="94674"/>
  </p:normalViewPr>
  <p:slideViewPr>
    <p:cSldViewPr snapToGrid="0" snapToObjects="1">
      <p:cViewPr varScale="1">
        <p:scale>
          <a:sx n="122" d="100"/>
          <a:sy n="122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E76B0-3A5F-A948-9C97-EF04312FA9B7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7EBBB-C455-F448-8807-6BD0260476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38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02C47-A0E1-40C6-A5CA-0B55F67F7EE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96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30388-5FC3-D94C-A53A-4F31C080B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D36EE1-B842-8041-B12E-52A2A9202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1DEEE6-BEEA-5C47-A17B-8CBB64A0B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C7D94-C035-4642-82D3-E94FC3C9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780634-5893-414E-94AF-3048F4DB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73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E7BB6-E994-FB46-A046-C6221104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F7E8F-0D31-B24A-B445-009FEC051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3BF131-B5CD-5241-AA67-BF595843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EC0DC6-574A-4441-8704-0D76A7D4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CD8A3-6FB6-8D41-8D51-875FA01A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02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B2DE9-EFFA-E141-92B2-0318D063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56708-03AC-F948-97BD-CBB2515F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B9BD1-D554-1B46-A43D-6C19560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9B6A90-3883-5646-A585-484765B5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C321A8-D750-BB41-9EA5-C8C42DB6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34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16C62-AC6F-7C49-B68B-31D03FD3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62469C-88D6-DF4A-A25B-A01C7CD8F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22A6C3-CDD1-114B-BE28-F14C593B1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4A7A60-519D-D046-A018-44C93E29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1F05AF-30A8-854E-A4D0-6B82F742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A01ACB-92BA-794B-B7D1-1A701D4B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19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7E6F6-292B-6440-B838-725643F8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2F6928-8FD2-FC43-B566-81182542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540780-3BFE-E847-83FA-79249F514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01DA73-802B-7442-A9F7-C706EEDB5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5CB51A-CAB8-F945-8A5A-71183869F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49EF85-1F04-754D-8BB7-DBEC2644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FCC844-7D9B-9C47-9E6A-8F6BFE39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42A104-B859-A445-9DC6-6519A024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72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0A7EA-4367-954A-B681-BA2D977E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DA4295-54EA-CB46-BAC4-BB7CC13C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65E496-3F91-4C44-95CA-62805107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F5CF4E-A5ED-9B44-838B-05EF62F7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037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9F5621-6D17-6F4B-92BE-AC3D939A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5526DF-005E-FE4D-9CF7-FF59CB73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508CA5-9D41-0D41-801A-3018652C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46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7CDC1-B458-864E-BACE-070C66BD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DE6918-FE92-E046-A432-14520A211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08CD57-1AA9-7541-A53A-C0B821CB5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D5B17A-58AB-D045-A4A8-24C8F202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D8E6E7-B268-5843-8CEC-F34C890E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C74201-90F9-0845-87A9-FA2A8462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40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9BE2B-5644-1C45-AF85-935C7786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BD2C91-90F1-474D-9AC5-70150CA7C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6AE52D-FF75-8846-A4EA-5BBE3578E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AE7AE0-F5B3-0548-AFFC-6295D044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EEC4F4-C2B0-0D43-8B52-A6440AC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1A9695-943B-9145-9F28-8296B7E6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149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1DC54-8D3C-DA48-B5E2-426DCF63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C1F81D-C5FB-F54D-97E5-579EE41E7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3C21AE-1866-4F4E-B835-1D740EB7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F11DA-13D9-A743-9FB3-484B84EF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39CCB-9542-D94B-809E-0BC87D1B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48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BE05B3-095F-BE4C-B666-6684E8D44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8CE6E1-E6E9-C747-89EB-17262DD98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B59EB4-9D68-EC40-87CB-3740D688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8B94C0-3273-E74C-BC57-5366A067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DB0D2E-DF3E-4E4F-BF4C-43A77050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00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E62A441-A335-2E4E-A389-DD23C2C7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416A7D-BBA7-EE43-889B-16295E4D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2C5830-DEB5-704B-9063-55E7872D5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89527-6118-D142-91EB-614D3D529CAF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254193-4FBE-DA4A-A42D-31E57B333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642C60-55F9-8E48-93C8-296371683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0FDED-E7CC-E449-9056-BCF925B4AF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73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Otimização em Redes de Projetos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Pesquisa Operacional II</a:t>
            </a:r>
          </a:p>
        </p:txBody>
      </p:sp>
    </p:spTree>
    <p:extLst>
      <p:ext uri="{BB962C8B-B14F-4D97-AF65-F5344CB8AC3E}">
        <p14:creationId xmlns:p14="http://schemas.microsoft.com/office/powerpoint/2010/main" val="255118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143000"/>
          </a:xfrm>
        </p:spPr>
        <p:txBody>
          <a:bodyPr/>
          <a:lstStyle/>
          <a:p>
            <a:r>
              <a:rPr lang="pt-BR" dirty="0"/>
              <a:t>PERT e CPM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>
            <a:normAutofit/>
          </a:bodyPr>
          <a:lstStyle/>
          <a:p>
            <a:r>
              <a:rPr lang="pt-BR" b="1" dirty="0"/>
              <a:t>PERT ( </a:t>
            </a:r>
            <a:r>
              <a:rPr lang="pt-BR" b="1" dirty="0" err="1"/>
              <a:t>Program</a:t>
            </a:r>
            <a:r>
              <a:rPr lang="pt-BR" b="1" dirty="0"/>
              <a:t> </a:t>
            </a:r>
            <a:r>
              <a:rPr lang="pt-BR" b="1" dirty="0" err="1"/>
              <a:t>Evaluation</a:t>
            </a:r>
            <a:r>
              <a:rPr lang="pt-BR" b="1" dirty="0"/>
              <a:t> </a:t>
            </a:r>
            <a:r>
              <a:rPr lang="pt-BR" b="1" dirty="0" err="1"/>
              <a:t>and</a:t>
            </a:r>
            <a:r>
              <a:rPr lang="pt-BR" b="1" dirty="0"/>
              <a:t> </a:t>
            </a:r>
            <a:r>
              <a:rPr lang="pt-BR" b="1" dirty="0" err="1"/>
              <a:t>Review</a:t>
            </a:r>
            <a:r>
              <a:rPr lang="pt-BR" b="1" dirty="0"/>
              <a:t> </a:t>
            </a:r>
            <a:r>
              <a:rPr lang="pt-BR" b="1" dirty="0" err="1"/>
              <a:t>Thecnique</a:t>
            </a:r>
            <a:r>
              <a:rPr lang="pt-BR" b="1" dirty="0"/>
              <a:t>) </a:t>
            </a:r>
            <a:r>
              <a:rPr lang="pt-BR" dirty="0"/>
              <a:t>– técnica de revisão e avaliação de programa.</a:t>
            </a:r>
          </a:p>
          <a:p>
            <a:endParaRPr lang="pt-BR" dirty="0"/>
          </a:p>
          <a:p>
            <a:r>
              <a:rPr lang="pt-BR" b="1" dirty="0"/>
              <a:t>CPM (</a:t>
            </a:r>
            <a:r>
              <a:rPr lang="pt-BR" b="1" dirty="0" err="1"/>
              <a:t>Critical</a:t>
            </a:r>
            <a:r>
              <a:rPr lang="pt-BR" b="1" dirty="0"/>
              <a:t> Path </a:t>
            </a:r>
            <a:r>
              <a:rPr lang="pt-BR" b="1" dirty="0" err="1"/>
              <a:t>Method</a:t>
            </a:r>
            <a:r>
              <a:rPr lang="pt-BR" b="1" dirty="0"/>
              <a:t>) </a:t>
            </a:r>
            <a:r>
              <a:rPr lang="pt-BR" dirty="0"/>
              <a:t>– Método do caminho crítico.</a:t>
            </a:r>
          </a:p>
          <a:p>
            <a:endParaRPr lang="pt-BR" dirty="0"/>
          </a:p>
          <a:p>
            <a:r>
              <a:rPr lang="pt-BR" b="1" dirty="0"/>
              <a:t>PERT e CPM </a:t>
            </a:r>
            <a:r>
              <a:rPr lang="pt-BR" dirty="0"/>
              <a:t>– metodologias de gerenciamento de projetos.</a:t>
            </a:r>
          </a:p>
        </p:txBody>
      </p:sp>
    </p:spTree>
    <p:extLst>
      <p:ext uri="{BB962C8B-B14F-4D97-AF65-F5344CB8AC3E}">
        <p14:creationId xmlns:p14="http://schemas.microsoft.com/office/powerpoint/2010/main" val="213440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PERT: </a:t>
            </a:r>
            <a:r>
              <a:rPr lang="pt-BR" dirty="0"/>
              <a:t>elaborado pela Marinha dos EUA por volta de 1958 no projeto dos submarinos nucleares POLARIS.</a:t>
            </a:r>
          </a:p>
          <a:p>
            <a:r>
              <a:rPr lang="pt-BR" dirty="0"/>
              <a:t>Participavam 250 grandes empresas, 9000 subcontratadas; 70.000 novos tipos de peças diferentes.</a:t>
            </a:r>
          </a:p>
          <a:p>
            <a:r>
              <a:rPr lang="pt-BR" dirty="0"/>
              <a:t>Controlar o tempo de duração era o objetivo principal. </a:t>
            </a:r>
          </a:p>
          <a:p>
            <a:r>
              <a:rPr lang="pt-BR" dirty="0"/>
              <a:t>A duração do projeto foi reduzida de 5 para 3 anos.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93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CPM: </a:t>
            </a:r>
            <a:r>
              <a:rPr lang="pt-BR" dirty="0"/>
              <a:t>Criado na mesma época que o método PERT pela RAND CORPORATION, o CPM foi desenvolvido como um sistema de controle de duração e custos do projeto. </a:t>
            </a:r>
          </a:p>
          <a:p>
            <a:endParaRPr lang="pt-BR" dirty="0"/>
          </a:p>
          <a:p>
            <a:r>
              <a:rPr lang="pt-BR" dirty="0"/>
              <a:t>A diferença entre os dois métodos, consiste em que no método PERT, a duração das atividades é determinada de forma probabilística e no CPM de forma determinística.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841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CPM admite que a pessoa que determina a duração de uma atividade a conhece suficientemente bem para dizer com precisão aceitável qual o seu valor.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PERT se baseia em que é difícil determinar com precisão aceitável o valor da duração.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Atualmente os sistemas são integrados sob a denominação PERT/CPM.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481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PERT/CPM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Minimizar problemas como atrasos, estrangulamento da produção, interrupção de serviços.</a:t>
            </a:r>
          </a:p>
          <a:p>
            <a:r>
              <a:rPr lang="pt-BR" dirty="0"/>
              <a:t>Conhecer antecipadamente atividades críticas que são aquelas que interferem no cumprimento do prazo do projeto.</a:t>
            </a:r>
          </a:p>
          <a:p>
            <a:r>
              <a:rPr lang="pt-BR" dirty="0"/>
              <a:t>Manter a administração informada sobre o desenvolvimento de cada atividade do projeto.</a:t>
            </a:r>
          </a:p>
        </p:txBody>
      </p:sp>
    </p:spTree>
    <p:extLst>
      <p:ext uri="{BB962C8B-B14F-4D97-AF65-F5344CB8AC3E}">
        <p14:creationId xmlns:p14="http://schemas.microsoft.com/office/powerpoint/2010/main" val="406270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PERT/CPM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Estabelecer QUANDO cada envolvido deve iniciar ou concluir suas atribuições.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Ser um instrumento de planejamento, coordenação e controle do projeto, empreendimentos e operações.</a:t>
            </a:r>
          </a:p>
        </p:txBody>
      </p:sp>
    </p:spTree>
    <p:extLst>
      <p:ext uri="{BB962C8B-B14F-4D97-AF65-F5344CB8AC3E}">
        <p14:creationId xmlns:p14="http://schemas.microsoft.com/office/powerpoint/2010/main" val="22213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Projeto </a:t>
            </a:r>
            <a:r>
              <a:rPr lang="pt-BR" dirty="0" err="1"/>
              <a:t>Polaris</a:t>
            </a:r>
            <a:endParaRPr lang="pt-BR" dirty="0"/>
          </a:p>
          <a:p>
            <a:r>
              <a:rPr lang="pt-BR" dirty="0"/>
              <a:t>Construção Civil</a:t>
            </a:r>
          </a:p>
          <a:p>
            <a:r>
              <a:rPr lang="pt-BR" dirty="0"/>
              <a:t>Pesquisa e Desenvolvimento de um produto</a:t>
            </a:r>
          </a:p>
          <a:p>
            <a:r>
              <a:rPr lang="pt-BR" dirty="0"/>
              <a:t>Produção de livros, filmes e automobilísticas</a:t>
            </a:r>
          </a:p>
          <a:p>
            <a:r>
              <a:rPr lang="pt-BR" dirty="0"/>
              <a:t>Construção de navios</a:t>
            </a:r>
          </a:p>
          <a:p>
            <a:r>
              <a:rPr lang="pt-BR" dirty="0"/>
              <a:t>Paradas para manutenção de unidades de refinaria de petróleo, como no caso da PETROBRÁS, REDUC, com o fim de reduzir ao mínimo o tempo sem produzir.</a:t>
            </a:r>
          </a:p>
          <a:p>
            <a:r>
              <a:rPr lang="pt-BR" dirty="0"/>
              <a:t>Festivais, como o da Canção Popular.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31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PERT e CPM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Projeto – </a:t>
            </a:r>
            <a:r>
              <a:rPr lang="pt-BR" dirty="0"/>
              <a:t>conjunto de atividades inter-relacionadas, sendo que cada atividade consome tempo e recursos.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que é preciso ter num projeto?</a:t>
            </a:r>
          </a:p>
          <a:p>
            <a:r>
              <a:rPr lang="pt-BR" dirty="0"/>
              <a:t>1. Informações de atividades.</a:t>
            </a:r>
          </a:p>
          <a:p>
            <a:r>
              <a:rPr lang="pt-BR" dirty="0"/>
              <a:t>2. Relações de antecedência. </a:t>
            </a:r>
          </a:p>
          <a:p>
            <a:r>
              <a:rPr lang="pt-BR" dirty="0"/>
              <a:t>3. Informações de tempo (dias, horas, semanas, meses).</a:t>
            </a:r>
          </a:p>
        </p:txBody>
      </p:sp>
    </p:spTree>
    <p:extLst>
      <p:ext uri="{BB962C8B-B14F-4D97-AF65-F5344CB8AC3E}">
        <p14:creationId xmlns:p14="http://schemas.microsoft.com/office/powerpoint/2010/main" val="10416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Construindo a rede de projetos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Rede de projeto atividade-no-arco (ANA) ou modelo americano: </a:t>
            </a:r>
            <a:r>
              <a:rPr lang="pt-BR" dirty="0"/>
              <a:t>cada atividade é representada por um arco. Um nó é usado para separar uma atividade (um arco de saída) de cada um de seus predecessores imediatos (um arco de entrada).</a:t>
            </a:r>
          </a:p>
        </p:txBody>
      </p:sp>
    </p:spTree>
    <p:extLst>
      <p:ext uri="{BB962C8B-B14F-4D97-AF65-F5344CB8AC3E}">
        <p14:creationId xmlns:p14="http://schemas.microsoft.com/office/powerpoint/2010/main" val="745151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Construindo a rede de projetos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Rede de projeto </a:t>
            </a:r>
            <a:r>
              <a:rPr lang="pt-BR" b="1" dirty="0" err="1"/>
              <a:t>atividade-no-nó</a:t>
            </a:r>
            <a:r>
              <a:rPr lang="pt-BR" b="1" dirty="0"/>
              <a:t> (ANN) ou modelo francês: </a:t>
            </a:r>
            <a:r>
              <a:rPr lang="pt-BR" dirty="0"/>
              <a:t>cada atividade é representada por um nó. Os arcos são usados apenas para mostrar as relações de antecedência entre as atividades. </a:t>
            </a:r>
          </a:p>
        </p:txBody>
      </p:sp>
    </p:spTree>
    <p:extLst>
      <p:ext uri="{BB962C8B-B14F-4D97-AF65-F5344CB8AC3E}">
        <p14:creationId xmlns:p14="http://schemas.microsoft.com/office/powerpoint/2010/main" val="232594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empreiteira acaba de ganhar uma concorrência no valor de $ 5,4 milhões para construir uma nova unidade fabril para uma indústria. Esse cliente precisa que essa nova unidade entre em operação em 40 semanas.</a:t>
            </a:r>
          </a:p>
        </p:txBody>
      </p:sp>
    </p:spTree>
    <p:extLst>
      <p:ext uri="{BB962C8B-B14F-4D97-AF65-F5344CB8AC3E}">
        <p14:creationId xmlns:p14="http://schemas.microsoft.com/office/powerpoint/2010/main" val="194112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2557664" y="404664"/>
          <a:ext cx="7282752" cy="583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Descrição da 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Atividades</a:t>
                      </a:r>
                      <a:r>
                        <a:rPr lang="pt-BR" b="1" baseline="0" dirty="0"/>
                        <a:t> precedentes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Duração Estimada</a:t>
                      </a:r>
                      <a:r>
                        <a:rPr lang="pt-BR" b="1" baseline="0" dirty="0"/>
                        <a:t> (semanas)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Escavação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Fundações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Paredes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Tubulação externa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Tubulação interna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Revestimento 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Pintura externa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E,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Instalação elétrica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Revestimento</a:t>
                      </a:r>
                      <a:r>
                        <a:rPr lang="pt-BR" baseline="0" dirty="0"/>
                        <a:t> das paredes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F,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Pintura interna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Acabamento</a:t>
                      </a:r>
                      <a:r>
                        <a:rPr lang="pt-BR" baseline="0" dirty="0"/>
                        <a:t> externo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Acabamento 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K,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978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-243408"/>
            <a:ext cx="8229600" cy="1143000"/>
          </a:xfrm>
        </p:spPr>
        <p:txBody>
          <a:bodyPr/>
          <a:lstStyle/>
          <a:p>
            <a:r>
              <a:rPr lang="pt-BR" dirty="0"/>
              <a:t>Exemplo: rede (ANN)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908721"/>
            <a:ext cx="6696745" cy="5949279"/>
          </a:xfrm>
        </p:spPr>
      </p:pic>
    </p:spTree>
    <p:extLst>
      <p:ext uri="{BB962C8B-B14F-4D97-AF65-F5344CB8AC3E}">
        <p14:creationId xmlns:p14="http://schemas.microsoft.com/office/powerpoint/2010/main" val="975062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7340C-AF97-4E43-B6F6-49C353605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Crítico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FB464-DFD3-E242-BF79-1A1601B1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93839"/>
            <a:ext cx="8229600" cy="4525963"/>
          </a:xfrm>
        </p:spPr>
        <p:txBody>
          <a:bodyPr/>
          <a:lstStyle/>
          <a:p>
            <a:r>
              <a:rPr lang="pt-BR" dirty="0"/>
              <a:t>Define-se como caminho crítico o encadeamento de atividades que, partindo do evento início do projeto e indo, sem interrupção, até o seu evento fim, tem a maior soma de duração das atividades.</a:t>
            </a:r>
          </a:p>
        </p:txBody>
      </p:sp>
    </p:spTree>
    <p:extLst>
      <p:ext uri="{BB962C8B-B14F-4D97-AF65-F5344CB8AC3E}">
        <p14:creationId xmlns:p14="http://schemas.microsoft.com/office/powerpoint/2010/main" val="3948331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CPM – Controle do tempo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Qual a duração (estimada) do projeto?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Resposta: </a:t>
            </a:r>
            <a:r>
              <a:rPr lang="pt-BR" dirty="0"/>
              <a:t>A duração estimada do projeto é igual ao comprimento do caminho mais longo (em tempo de execução) através da rede de projeto, ou seja, o </a:t>
            </a:r>
            <a:r>
              <a:rPr lang="pt-BR" b="1" dirty="0"/>
              <a:t>caminho crítico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278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2E00B-DC26-9047-8D0A-B1AB613F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6F003-5995-0242-B064-C3E083E3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nome caminho crítico deriva do fato de qualquer atraso em uma das suas atividades componentes, provocará atraso na ocorrência do evento fim.</a:t>
            </a:r>
          </a:p>
        </p:txBody>
      </p:sp>
    </p:spTree>
    <p:extLst>
      <p:ext uri="{BB962C8B-B14F-4D97-AF65-F5344CB8AC3E}">
        <p14:creationId xmlns:p14="http://schemas.microsoft.com/office/powerpoint/2010/main" val="345648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CPM – Controle do tempo</a:t>
            </a: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2618883" y="1628800"/>
          <a:ext cx="6861492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6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Caminho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Comprimento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INÍCIO-A-B-C-D-G-H-M-FIM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2+4+10+6+7+9+2 = 40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INÍCIO-A-B-C-D-E-H-M-FIM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2+4+10+4+9+2 = 31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INÍCIO-A-B-C-E-F-J-K-N-FIM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2+4+10+4+5+8+4+6 = 43</a:t>
                      </a:r>
                      <a:r>
                        <a:rPr lang="pt-BR" baseline="0" dirty="0"/>
                        <a:t> semanas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INÍCIO-A-B-C-E-F-J-L-N-FIM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2+4+10+4+5+8+5+6 = 44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INÍCIO-A-B-C-I-J-K-N-FIM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2+4+10+7+8+4+6 = 41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INÍCIO-A-B-C-I-J-L-N-FIM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2+4+10+7+8+5+6=</a:t>
                      </a:r>
                      <a:r>
                        <a:rPr lang="pt-BR" baseline="0" dirty="0"/>
                        <a:t> 42 semanas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279576" y="5013177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CAMINHO CRÍTICO: INÍCIO-A-B-C-E-F-J-L-N-FIM</a:t>
            </a:r>
          </a:p>
          <a:p>
            <a:r>
              <a:rPr lang="pt-BR" dirty="0"/>
              <a:t>DURAÇÃO (ESTIMADA) DO PROJETO = 44 SEMANAS</a:t>
            </a:r>
          </a:p>
        </p:txBody>
      </p:sp>
    </p:spTree>
    <p:extLst>
      <p:ext uri="{BB962C8B-B14F-4D97-AF65-F5344CB8AC3E}">
        <p14:creationId xmlns:p14="http://schemas.microsoft.com/office/powerpoint/2010/main" val="2571624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Método para achar o caminho crítico numa rede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Variáveis</a:t>
            </a:r>
            <a:endParaRPr lang="pt-BR" dirty="0"/>
          </a:p>
          <a:p>
            <a:pPr marL="0" indent="0">
              <a:buNone/>
            </a:pPr>
            <a:r>
              <a:rPr lang="pt-BR" b="1" dirty="0">
                <a:sym typeface="Symbol"/>
              </a:rPr>
              <a:t>ES (</a:t>
            </a:r>
            <a:r>
              <a:rPr lang="pt-BR" b="1" dirty="0" err="1">
                <a:sym typeface="Symbol"/>
              </a:rPr>
              <a:t>earliest</a:t>
            </a:r>
            <a:r>
              <a:rPr lang="pt-BR" b="1" dirty="0">
                <a:sym typeface="Symbol"/>
              </a:rPr>
              <a:t> start) </a:t>
            </a:r>
            <a:r>
              <a:rPr lang="pt-BR" dirty="0">
                <a:sym typeface="Symbol"/>
              </a:rPr>
              <a:t>= data mais cedo possível que uma atividade pode começar.</a:t>
            </a:r>
          </a:p>
          <a:p>
            <a:pPr marL="0" indent="0">
              <a:buNone/>
            </a:pPr>
            <a:r>
              <a:rPr lang="pt-BR" b="1" dirty="0">
                <a:sym typeface="Symbol"/>
              </a:rPr>
              <a:t>EF (</a:t>
            </a:r>
            <a:r>
              <a:rPr lang="pt-BR" b="1" dirty="0" err="1">
                <a:sym typeface="Symbol"/>
              </a:rPr>
              <a:t>earliest</a:t>
            </a:r>
            <a:r>
              <a:rPr lang="pt-BR" b="1" dirty="0">
                <a:sym typeface="Symbol"/>
              </a:rPr>
              <a:t> </a:t>
            </a:r>
            <a:r>
              <a:rPr lang="pt-BR" b="1" dirty="0" err="1">
                <a:sym typeface="Symbol"/>
              </a:rPr>
              <a:t>finish</a:t>
            </a:r>
            <a:r>
              <a:rPr lang="pt-BR" b="1" dirty="0">
                <a:sym typeface="Symbol"/>
              </a:rPr>
              <a:t>) </a:t>
            </a:r>
            <a:r>
              <a:rPr lang="pt-BR" dirty="0">
                <a:sym typeface="Symbol"/>
              </a:rPr>
              <a:t>= data mais cedo que uma atividade pode acabar.</a:t>
            </a:r>
          </a:p>
          <a:p>
            <a:pPr marL="0" indent="0">
              <a:buNone/>
            </a:pPr>
            <a:r>
              <a:rPr lang="pt-BR" b="1" dirty="0">
                <a:sym typeface="Symbol"/>
              </a:rPr>
              <a:t>LS (</a:t>
            </a:r>
            <a:r>
              <a:rPr lang="pt-BR" b="1" dirty="0" err="1">
                <a:sym typeface="Symbol"/>
              </a:rPr>
              <a:t>latest</a:t>
            </a:r>
            <a:r>
              <a:rPr lang="pt-BR" b="1" dirty="0">
                <a:sym typeface="Symbol"/>
              </a:rPr>
              <a:t> start) </a:t>
            </a:r>
            <a:r>
              <a:rPr lang="pt-BR" dirty="0">
                <a:sym typeface="Symbol"/>
              </a:rPr>
              <a:t>=data mais tarde possível que uma atividade pode começar sem comprometer a duração do projeto.</a:t>
            </a:r>
          </a:p>
          <a:p>
            <a:pPr marL="0" indent="0">
              <a:buNone/>
            </a:pPr>
            <a:r>
              <a:rPr lang="pt-BR" b="1" dirty="0">
                <a:sym typeface="Symbol"/>
              </a:rPr>
              <a:t>LF (</a:t>
            </a:r>
            <a:r>
              <a:rPr lang="pt-BR" b="1" dirty="0" err="1">
                <a:sym typeface="Symbol"/>
              </a:rPr>
              <a:t>latest</a:t>
            </a:r>
            <a:r>
              <a:rPr lang="pt-BR" b="1" dirty="0">
                <a:sym typeface="Symbol"/>
              </a:rPr>
              <a:t> </a:t>
            </a:r>
            <a:r>
              <a:rPr lang="pt-BR" b="1" dirty="0" err="1">
                <a:sym typeface="Symbol"/>
              </a:rPr>
              <a:t>finish</a:t>
            </a:r>
            <a:r>
              <a:rPr lang="pt-BR" b="1" dirty="0">
                <a:sym typeface="Symbol"/>
              </a:rPr>
              <a:t>) = </a:t>
            </a:r>
            <a:r>
              <a:rPr lang="pt-BR" dirty="0">
                <a:sym typeface="Symbol"/>
              </a:rPr>
              <a:t>data mais tarde que uma atividade pode acabar sem comprometer a duração do projeto.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628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Achando o caminho crítico numa rede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556793"/>
                <a:ext cx="8435280" cy="4525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pt-BR" dirty="0">
                    <a:sym typeface="Symbol"/>
                  </a:rPr>
                  <a:t>Seja </a:t>
                </a:r>
                <a:r>
                  <a:rPr lang="pt-BR" baseline="-25000" dirty="0">
                    <a:sym typeface="Symbol"/>
                  </a:rPr>
                  <a:t>j</a:t>
                </a:r>
                <a:r>
                  <a:rPr lang="pt-BR" dirty="0">
                    <a:sym typeface="Symbol"/>
                  </a:rPr>
                  <a:t>  o conjunto de atividades antecedentes da atividade j e </a:t>
                </a:r>
                <a:r>
                  <a:rPr lang="pt-BR" dirty="0" err="1">
                    <a:sym typeface="Symbol"/>
                  </a:rPr>
                  <a:t>D</a:t>
                </a:r>
                <a:r>
                  <a:rPr lang="pt-BR" baseline="-25000" dirty="0" err="1">
                    <a:sym typeface="Symbol"/>
                  </a:rPr>
                  <a:t>j</a:t>
                </a:r>
                <a:r>
                  <a:rPr lang="pt-BR" dirty="0">
                    <a:sym typeface="Symbol"/>
                  </a:rPr>
                  <a:t> a duração da atividade j.</a:t>
                </a:r>
              </a:p>
              <a:p>
                <a:pPr marL="0" indent="0" algn="just">
                  <a:buNone/>
                </a:pPr>
                <a:endParaRPr lang="pt-BR" dirty="0">
                  <a:sym typeface="Symbol"/>
                </a:endParaRPr>
              </a:p>
              <a:p>
                <a:pPr marL="0" indent="0" algn="ctr">
                  <a:buNone/>
                </a:pP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ES</a:t>
                </a:r>
                <a:r>
                  <a:rPr lang="pt-BR" baseline="-25000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𝑚𝑎𝑥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𝐸𝐹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, </m:t>
                    </m:r>
                    <m:r>
                      <a:rPr lang="pt-BR" b="0" i="1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𝑖</m:t>
                    </m:r>
                    <m:r>
                      <a:rPr lang="pt-BR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sym typeface="Symbol"/>
                      </a:rPr>
                      <m:t>∈</m:t>
                    </m:r>
                    <m:sSub>
                      <m:sSubPr>
                        <m:ctrlP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𝜋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  <a:sym typeface="Symbol"/>
                      </a:rPr>
                      <m:t>.</m:t>
                    </m:r>
                  </m:oMath>
                </a14:m>
                <a:endParaRPr lang="pt-BR" b="0" dirty="0">
                  <a:solidFill>
                    <a:srgbClr val="FF0000"/>
                  </a:solidFill>
                  <a:ea typeface="Cambria Math"/>
                  <a:sym typeface="Symbol"/>
                </a:endParaRPr>
              </a:p>
              <a:p>
                <a:pPr marL="0" indent="0" algn="ctr">
                  <a:buNone/>
                </a:pP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Se a atividade </a:t>
                </a:r>
                <a:r>
                  <a:rPr lang="pt-BR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 não tem antecedentes </a:t>
                </a:r>
                <a:r>
                  <a:rPr lang="pt-BR" dirty="0" err="1">
                    <a:solidFill>
                      <a:srgbClr val="FF0000"/>
                    </a:solidFill>
                    <a:sym typeface="Symbol"/>
                  </a:rPr>
                  <a:t>ES</a:t>
                </a:r>
                <a:r>
                  <a:rPr lang="pt-BR" baseline="-25000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 = 0</a:t>
                </a:r>
              </a:p>
              <a:p>
                <a:pPr marL="0" indent="0">
                  <a:buNone/>
                </a:pPr>
                <a:endParaRPr lang="pt-BR" u="sng" dirty="0"/>
              </a:p>
              <a:p>
                <a:pPr marL="0" indent="0" algn="ctr">
                  <a:buNone/>
                </a:pPr>
                <a:r>
                  <a:rPr lang="pt-BR" dirty="0" err="1">
                    <a:solidFill>
                      <a:srgbClr val="FF0000"/>
                    </a:solidFill>
                    <a:sym typeface="Symbol"/>
                  </a:rPr>
                  <a:t>EF</a:t>
                </a:r>
                <a:r>
                  <a:rPr lang="pt-BR" baseline="-25000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 = </a:t>
                </a:r>
                <a:r>
                  <a:rPr lang="pt-BR" dirty="0" err="1">
                    <a:solidFill>
                      <a:srgbClr val="FF0000"/>
                    </a:solidFill>
                    <a:sym typeface="Symbol"/>
                  </a:rPr>
                  <a:t>ES</a:t>
                </a:r>
                <a:r>
                  <a:rPr lang="pt-BR" baseline="-25000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 + </a:t>
                </a:r>
                <a:r>
                  <a:rPr lang="pt-BR" dirty="0" err="1">
                    <a:solidFill>
                      <a:srgbClr val="FF0000"/>
                    </a:solidFill>
                    <a:sym typeface="Symbol"/>
                  </a:rPr>
                  <a:t>D</a:t>
                </a:r>
                <a:r>
                  <a:rPr lang="pt-BR" baseline="-25000" dirty="0" err="1">
                    <a:solidFill>
                      <a:srgbClr val="FF0000"/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rgbClr val="FF0000"/>
                    </a:solidFill>
                    <a:sym typeface="Symbol"/>
                  </a:rPr>
                  <a:t>.</a:t>
                </a:r>
              </a:p>
              <a:p>
                <a:pPr marL="0" indent="0">
                  <a:buNone/>
                </a:pPr>
                <a:endParaRPr lang="pt-BR" dirty="0">
                  <a:sym typeface="Symbol"/>
                </a:endParaRP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556793"/>
                <a:ext cx="8435280" cy="4525963"/>
              </a:xfrm>
              <a:blipFill>
                <a:blip r:embed="rId2"/>
                <a:stretch>
                  <a:fillRect l="-1654" t="-2793" r="-15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360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Achando o caminho crítico numa rede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435280" cy="4525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pt-BR" dirty="0">
                    <a:sym typeface="Symbol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/>
                        <a:ea typeface="Cambria Math"/>
                        <a:sym typeface="Symbol"/>
                      </a:rPr>
                      <m:t>eja</m:t>
                    </m:r>
                    <m:r>
                      <a:rPr lang="pt-BR">
                        <a:latin typeface="Cambria Math"/>
                        <a:ea typeface="Cambria Math"/>
                        <a:sym typeface="Symbol"/>
                      </a:rPr>
                      <m:t>  </m:t>
                    </m:r>
                    <m:r>
                      <a:rPr lang="pt-BR" i="1">
                        <a:latin typeface="Cambria Math"/>
                        <a:ea typeface="Cambria Math"/>
                        <a:sym typeface="Symbol"/>
                      </a:rPr>
                      <m:t>∅</m:t>
                    </m:r>
                  </m:oMath>
                </a14:m>
                <a:r>
                  <a:rPr lang="pt-BR" baseline="-25000" dirty="0">
                    <a:sym typeface="Symbol"/>
                  </a:rPr>
                  <a:t>j</a:t>
                </a:r>
                <a:r>
                  <a:rPr lang="pt-BR" dirty="0">
                    <a:sym typeface="Symbol"/>
                  </a:rPr>
                  <a:t> é o conjunto das atividades sucessoras à atividade j.</a:t>
                </a:r>
              </a:p>
              <a:p>
                <a:pPr marL="0" indent="0" algn="ctr">
                  <a:buNone/>
                </a:pPr>
                <a:r>
                  <a:rPr lang="pt-BR" dirty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LS</a:t>
                </a:r>
                <a:r>
                  <a:rPr lang="pt-BR" baseline="-25000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 =</a:t>
                </a:r>
                <a:r>
                  <a:rPr lang="pt-BR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LF</a:t>
                </a:r>
                <a:r>
                  <a:rPr lang="pt-BR" baseline="-25000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 – </a:t>
                </a:r>
                <a:r>
                  <a:rPr lang="pt-BR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D</a:t>
                </a:r>
                <a:r>
                  <a:rPr lang="pt-BR" baseline="-25000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j</a:t>
                </a:r>
                <a:endParaRPr lang="pt-BR" baseline="-25000" dirty="0">
                  <a:solidFill>
                    <a:schemeClr val="accent2">
                      <a:lumMod val="75000"/>
                    </a:schemeClr>
                  </a:solidFill>
                  <a:sym typeface="Symbol"/>
                </a:endParaRPr>
              </a:p>
              <a:p>
                <a:pPr marL="0" indent="0">
                  <a:buNone/>
                </a:pPr>
                <a:endParaRPr lang="pt-BR" b="1" u="sng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pt-BR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LF</a:t>
                </a:r>
                <a:r>
                  <a:rPr lang="pt-BR" baseline="-25000" dirty="0" err="1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j</a:t>
                </a:r>
                <a:r>
                  <a:rPr lang="pt-BR" dirty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Symbol"/>
                          </a:rPr>
                          <m:t>𝑚</m:t>
                        </m:r>
                        <m:r>
                          <a:rPr lang="pt-BR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Symbol"/>
                          </a:rPr>
                          <m:t>𝑖𝑛</m:t>
                        </m:r>
                      </m:e>
                      <m:sub>
                        <m:r>
                          <a:rPr lang="pt-BR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sym typeface="Symbol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pt-BR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/>
                                <a:sym typeface="Symbol"/>
                              </a:rPr>
                              <m:t>𝐿𝑆</m:t>
                            </m:r>
                          </m:e>
                          <m:sub>
                            <m:r>
                              <a:rPr lang="pt-BR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/>
                                <a:sym typeface="Symbol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  <a:sym typeface="Symbol"/>
                      </a:rPr>
                      <m:t>, </m:t>
                    </m:r>
                    <m:r>
                      <a:rPr lang="pt-BR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  <a:sym typeface="Symbol"/>
                      </a:rPr>
                      <m:t>𝑖</m:t>
                    </m:r>
                    <m:r>
                      <a:rPr lang="pt-BR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  <a:ea typeface="Cambria Math"/>
                        <a:sym typeface="Symbol"/>
                      </a:rPr>
                      <m:t>∈</m:t>
                    </m:r>
                    <m:sSub>
                      <m:sSubPr>
                        <m:ctrlPr>
                          <a:rPr lang="pt-BR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pt-BR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∅</m:t>
                        </m:r>
                      </m:e>
                      <m:sub>
                        <m:r>
                          <a:rPr lang="pt-BR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/>
                            <a:sym typeface="Symbol"/>
                          </a:rPr>
                          <m:t>𝑗</m:t>
                        </m:r>
                      </m:sub>
                    </m:sSub>
                    <m:r>
                      <a:rPr lang="pt-BR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/>
                        <a:ea typeface="Cambria Math"/>
                        <a:sym typeface="Symbol"/>
                      </a:rPr>
                      <m:t>.</m:t>
                    </m:r>
                  </m:oMath>
                </a14:m>
                <a:endParaRPr lang="pt-BR" dirty="0">
                  <a:solidFill>
                    <a:schemeClr val="accent2">
                      <a:lumMod val="75000"/>
                    </a:schemeClr>
                  </a:solidFill>
                  <a:sym typeface="Symbol"/>
                </a:endParaRPr>
              </a:p>
              <a:p>
                <a:pPr marL="0" indent="0" algn="ctr">
                  <a:buNone/>
                </a:pPr>
                <a:endParaRPr lang="pt-BR" dirty="0">
                  <a:sym typeface="Symbol"/>
                </a:endParaRPr>
              </a:p>
              <a:p>
                <a:pPr marL="0" indent="0">
                  <a:buNone/>
                </a:pPr>
                <a:r>
                  <a:rPr lang="pt-BR">
                    <a:sym typeface="Symbol"/>
                  </a:rPr>
                  <a:t>Se a </a:t>
                </a:r>
                <a:r>
                  <a:rPr lang="pt-BR" dirty="0">
                    <a:sym typeface="Symbol"/>
                  </a:rPr>
                  <a:t>atividade j não tiver sucessoras então </a:t>
                </a:r>
                <a:r>
                  <a:rPr lang="pt-BR" dirty="0" err="1">
                    <a:sym typeface="Symbol"/>
                  </a:rPr>
                  <a:t>LF</a:t>
                </a:r>
                <a:r>
                  <a:rPr lang="pt-BR" baseline="-25000" dirty="0" err="1">
                    <a:sym typeface="Symbol"/>
                  </a:rPr>
                  <a:t>j</a:t>
                </a:r>
                <a:r>
                  <a:rPr lang="pt-BR" baseline="-25000" dirty="0">
                    <a:sym typeface="Symbol"/>
                  </a:rPr>
                  <a:t> </a:t>
                </a:r>
                <a:r>
                  <a:rPr lang="pt-BR" dirty="0">
                    <a:sym typeface="Symbol"/>
                  </a:rPr>
                  <a:t>= </a:t>
                </a:r>
                <a:r>
                  <a:rPr lang="pt-BR" dirty="0" err="1">
                    <a:sym typeface="Symbol"/>
                  </a:rPr>
                  <a:t>max</a:t>
                </a:r>
                <a:r>
                  <a:rPr lang="pt-BR" dirty="0">
                    <a:sym typeface="Symbol"/>
                  </a:rPr>
                  <a:t> (</a:t>
                </a:r>
                <a:r>
                  <a:rPr lang="pt-BR" dirty="0" err="1">
                    <a:sym typeface="Symbol"/>
                  </a:rPr>
                  <a:t>EF</a:t>
                </a:r>
                <a:r>
                  <a:rPr lang="pt-BR" baseline="-25000" dirty="0" err="1">
                    <a:sym typeface="Symbol"/>
                  </a:rPr>
                  <a:t>i</a:t>
                </a:r>
                <a:r>
                  <a:rPr lang="pt-BR" dirty="0">
                    <a:sym typeface="Symbol"/>
                  </a:rPr>
                  <a:t>), para toda atividade i. 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435280" cy="4525963"/>
              </a:xfrm>
              <a:blipFill>
                <a:blip r:embed="rId2"/>
                <a:stretch>
                  <a:fillRect l="-1654" t="-2241" r="-19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341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cálculo de ES é função dos </a:t>
            </a:r>
            <a:r>
              <a:rPr lang="pt-BR" dirty="0" err="1"/>
              <a:t>EF’s</a:t>
            </a:r>
            <a:r>
              <a:rPr lang="pt-BR" dirty="0"/>
              <a:t> antecedentes, portanto, sua obtenção é realizada calculando os </a:t>
            </a:r>
            <a:r>
              <a:rPr lang="pt-BR" dirty="0" err="1"/>
              <a:t>ES’s</a:t>
            </a:r>
            <a:r>
              <a:rPr lang="pt-BR" dirty="0"/>
              <a:t> e </a:t>
            </a:r>
            <a:r>
              <a:rPr lang="pt-BR" dirty="0" err="1"/>
              <a:t>EF’s</a:t>
            </a:r>
            <a:r>
              <a:rPr lang="pt-BR" dirty="0"/>
              <a:t> no sentido do nó INÍCIO para o nó FIM. (</a:t>
            </a:r>
            <a:r>
              <a:rPr lang="pt-BR" i="1" dirty="0" err="1"/>
              <a:t>forward</a:t>
            </a:r>
            <a:r>
              <a:rPr lang="pt-BR" i="1" dirty="0"/>
              <a:t> </a:t>
            </a:r>
            <a:r>
              <a:rPr lang="pt-BR" i="1" dirty="0" err="1"/>
              <a:t>pass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cálculo de LF é função dos </a:t>
            </a:r>
            <a:r>
              <a:rPr lang="pt-BR" dirty="0" err="1"/>
              <a:t>LS’s</a:t>
            </a:r>
            <a:r>
              <a:rPr lang="pt-BR" dirty="0"/>
              <a:t> sucessores, portanto, sua obtenção é realizada calculando os </a:t>
            </a:r>
            <a:r>
              <a:rPr lang="pt-BR" dirty="0" err="1"/>
              <a:t>LS’s</a:t>
            </a:r>
            <a:r>
              <a:rPr lang="pt-BR" dirty="0"/>
              <a:t> e </a:t>
            </a:r>
            <a:r>
              <a:rPr lang="pt-BR" dirty="0" err="1"/>
              <a:t>LF’s</a:t>
            </a:r>
            <a:r>
              <a:rPr lang="pt-BR" dirty="0"/>
              <a:t> no sentido do nó FIM para o nó INÍCIO. (</a:t>
            </a:r>
            <a:r>
              <a:rPr lang="pt-BR" i="1" dirty="0" err="1"/>
              <a:t>backward</a:t>
            </a:r>
            <a:r>
              <a:rPr lang="pt-BR" i="1" dirty="0"/>
              <a:t> </a:t>
            </a:r>
            <a:r>
              <a:rPr lang="pt-BR" i="1" dirty="0" err="1"/>
              <a:t>pass</a:t>
            </a:r>
            <a:r>
              <a:rPr lang="pt-BR" dirty="0"/>
              <a:t>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070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1981201" y="404664"/>
          <a:ext cx="8229599" cy="591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Atividades</a:t>
                      </a:r>
                      <a:r>
                        <a:rPr lang="pt-BR" b="1" baseline="0" dirty="0"/>
                        <a:t> precedentes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E,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F,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K,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89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Folga </a:t>
            </a:r>
            <a:r>
              <a:rPr lang="pt-BR" dirty="0" err="1"/>
              <a:t>S</a:t>
            </a:r>
            <a:r>
              <a:rPr lang="pt-BR" baseline="-25000" dirty="0" err="1"/>
              <a:t>j</a:t>
            </a:r>
            <a:r>
              <a:rPr lang="pt-BR" dirty="0"/>
              <a:t> para uma atividade j corresponde ao atraso que a atividade j pode sofrer sem comprometer a duração total determinada pelo comprimento do caminho crítico.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 err="1"/>
              <a:t>S</a:t>
            </a:r>
            <a:r>
              <a:rPr lang="pt-BR" baseline="-25000" dirty="0" err="1"/>
              <a:t>j</a:t>
            </a:r>
            <a:r>
              <a:rPr lang="pt-BR" dirty="0"/>
              <a:t> = </a:t>
            </a:r>
            <a:r>
              <a:rPr lang="pt-BR" dirty="0" err="1"/>
              <a:t>LF</a:t>
            </a:r>
            <a:r>
              <a:rPr lang="pt-BR" baseline="-25000" dirty="0" err="1"/>
              <a:t>j</a:t>
            </a:r>
            <a:r>
              <a:rPr lang="pt-BR" dirty="0"/>
              <a:t> – </a:t>
            </a:r>
            <a:r>
              <a:rPr lang="pt-BR" dirty="0" err="1"/>
              <a:t>EF</a:t>
            </a:r>
            <a:r>
              <a:rPr lang="pt-BR" baseline="-25000" dirty="0" err="1"/>
              <a:t>j</a:t>
            </a:r>
            <a:r>
              <a:rPr lang="pt-BR" dirty="0"/>
              <a:t> = </a:t>
            </a:r>
            <a:r>
              <a:rPr lang="pt-BR" dirty="0" err="1"/>
              <a:t>LS</a:t>
            </a:r>
            <a:r>
              <a:rPr lang="pt-BR" baseline="-25000" dirty="0" err="1"/>
              <a:t>j</a:t>
            </a:r>
            <a:r>
              <a:rPr lang="pt-BR" dirty="0"/>
              <a:t> – </a:t>
            </a:r>
            <a:r>
              <a:rPr lang="pt-BR" dirty="0" err="1"/>
              <a:t>ES</a:t>
            </a:r>
            <a:r>
              <a:rPr lang="pt-BR" baseline="-25000" dirty="0" err="1"/>
              <a:t>j</a:t>
            </a:r>
            <a:endParaRPr lang="pt-BR" baseline="-25000" dirty="0"/>
          </a:p>
        </p:txBody>
      </p:sp>
    </p:spTree>
    <p:extLst>
      <p:ext uri="{BB962C8B-B14F-4D97-AF65-F5344CB8AC3E}">
        <p14:creationId xmlns:p14="http://schemas.microsoft.com/office/powerpoint/2010/main" val="2024011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1981201" y="404664"/>
          <a:ext cx="8229599" cy="591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Atividades</a:t>
                      </a:r>
                      <a:r>
                        <a:rPr lang="pt-BR" b="1" baseline="0" dirty="0"/>
                        <a:t> precedentes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E,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F,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K,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857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2135560" y="1916832"/>
            <a:ext cx="7920880" cy="31683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As atividades com folga total igual a zero são as chamadas atividades críticas e</a:t>
            </a:r>
          </a:p>
          <a:p>
            <a:r>
              <a:rPr lang="pt-BR" dirty="0"/>
              <a:t>formam o chamado </a:t>
            </a:r>
            <a:r>
              <a:rPr lang="pt-BR" b="1" dirty="0"/>
              <a:t>caminho crítico</a:t>
            </a:r>
            <a:r>
              <a:rPr lang="pt-BR" dirty="0"/>
              <a:t>.</a:t>
            </a:r>
          </a:p>
          <a:p>
            <a:r>
              <a:rPr lang="pt-BR" dirty="0"/>
              <a:t>Qualquer atraso em uma dessas atividades implicará em atraso na duração do</a:t>
            </a:r>
          </a:p>
          <a:p>
            <a:r>
              <a:rPr lang="pt-BR" dirty="0"/>
              <a:t>projeto.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495600" y="2060848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As atividades com folga igual a zero são as atividades críticas e formam o </a:t>
            </a:r>
            <a:r>
              <a:rPr lang="pt-BR" sz="3200" b="1" dirty="0"/>
              <a:t>caminho crítico</a:t>
            </a:r>
            <a:r>
              <a:rPr lang="pt-BR" sz="3200" dirty="0"/>
              <a:t>.</a:t>
            </a:r>
          </a:p>
          <a:p>
            <a:pPr algn="just"/>
            <a:r>
              <a:rPr lang="pt-BR" sz="3200" dirty="0"/>
              <a:t>Qualquer atraso em uma dessas atividades implicará em atraso na duração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2467697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PERT</a:t>
            </a:r>
            <a:r>
              <a:rPr lang="pt-BR" dirty="0"/>
              <a:t> – modelo probabilístico no qual a duração de cada atividade é uma variável aleatória.</a:t>
            </a:r>
          </a:p>
        </p:txBody>
      </p:sp>
    </p:spTree>
    <p:extLst>
      <p:ext uri="{BB962C8B-B14F-4D97-AF65-F5344CB8AC3E}">
        <p14:creationId xmlns:p14="http://schemas.microsoft.com/office/powerpoint/2010/main" val="3595037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3D57C-8DA8-0F4C-ABCC-F72F2A76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D3F690-25DB-624D-A305-D31511934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Toda atividade nova ou pouco frequente possui um grau elevado de incerteza na avaliação da sua duração e toda atividade que se repete com frequência tem seu grau de incerteza reduzido na proporção da experiência passada.</a:t>
            </a:r>
          </a:p>
          <a:p>
            <a:r>
              <a:rPr lang="pt-BR" dirty="0"/>
              <a:t>O grau de incerteza com que se pode estimar os efeitos das variáveis aleatórios é tanto maior quanto mais longo for o período entre a avaliação e a execução </a:t>
            </a:r>
            <a:r>
              <a:rPr lang="pt-BR"/>
              <a:t>da atividade.</a:t>
            </a:r>
          </a:p>
        </p:txBody>
      </p:sp>
    </p:spTree>
    <p:extLst>
      <p:ext uri="{BB962C8B-B14F-4D97-AF65-F5344CB8AC3E}">
        <p14:creationId xmlns:p14="http://schemas.microsoft.com/office/powerpoint/2010/main" val="3353938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PERT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reduzir o grau de incerteza na avaliação das durações das atividades, o PERT recorreu a um dos processos que a estatística fornece: estimar três tempos de duração e, usando a distribuição beta, determinar o tempo médio esperado e a variância.</a:t>
            </a:r>
          </a:p>
          <a:p>
            <a:endParaRPr lang="pt-BR" dirty="0"/>
          </a:p>
          <a:p>
            <a:r>
              <a:rPr lang="pt-BR" b="1" dirty="0"/>
              <a:t>m </a:t>
            </a:r>
            <a:r>
              <a:rPr lang="pt-BR" dirty="0"/>
              <a:t>= estimativa mais provável da duração de uma atividade.</a:t>
            </a:r>
          </a:p>
          <a:p>
            <a:r>
              <a:rPr lang="pt-BR" b="1" dirty="0"/>
              <a:t>o</a:t>
            </a:r>
            <a:r>
              <a:rPr lang="pt-BR" dirty="0"/>
              <a:t> = estimativa otimista da duração de uma atividade.</a:t>
            </a:r>
          </a:p>
          <a:p>
            <a:r>
              <a:rPr lang="pt-BR" b="1" dirty="0"/>
              <a:t>p</a:t>
            </a:r>
            <a:r>
              <a:rPr lang="pt-BR" dirty="0"/>
              <a:t> = estimativa pessimista da duração de uma atividade.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4089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PERT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A metodologia PERT assume que a forma da distribuição de probabilidade da variável aleatória em questão é a da </a:t>
                </a:r>
                <a:r>
                  <a:rPr lang="pt-BR" b="1" dirty="0"/>
                  <a:t>distribuição beta </a:t>
                </a:r>
                <a:r>
                  <a:rPr lang="pt-BR" dirty="0"/>
                  <a:t>com os seguintes parâmetros:</a:t>
                </a:r>
                <a:r>
                  <a:rPr lang="pt-BR" b="1" dirty="0"/>
                  <a:t> 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b="1" dirty="0"/>
                  <a:t>Média (</a:t>
                </a:r>
                <a:r>
                  <a:rPr lang="pt-BR" b="1" dirty="0">
                    <a:sym typeface="Symbol"/>
                  </a:rPr>
                  <a:t>) = duração esperada </a:t>
                </a:r>
                <a:r>
                  <a:rPr lang="pt-B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</a:rPr>
                          <m:t>𝑜</m:t>
                        </m:r>
                        <m:r>
                          <a:rPr lang="pt-BR" b="0" i="1" smtClean="0">
                            <a:latin typeface="Cambria Math"/>
                          </a:rPr>
                          <m:t>+4</m:t>
                        </m:r>
                        <m:r>
                          <a:rPr lang="pt-BR" b="0" i="1" smtClean="0">
                            <a:latin typeface="Cambria Math"/>
                          </a:rPr>
                          <m:t>𝑚</m:t>
                        </m:r>
                        <m:r>
                          <a:rPr lang="pt-BR" b="0" i="1" smtClean="0">
                            <a:latin typeface="Cambria Math"/>
                          </a:rPr>
                          <m:t>+</m:t>
                        </m:r>
                        <m:r>
                          <a:rPr lang="pt-BR" b="0" i="1" smtClean="0">
                            <a:latin typeface="Cambria Math"/>
                          </a:rPr>
                          <m:t>𝑝</m:t>
                        </m:r>
                      </m:num>
                      <m:den>
                        <m:r>
                          <a:rPr lang="pt-BR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endParaRPr lang="pt-BR" dirty="0"/>
              </a:p>
              <a:p>
                <a:r>
                  <a:rPr lang="pt-BR" b="1" dirty="0"/>
                  <a:t>Variância (</a:t>
                </a:r>
                <a:r>
                  <a:rPr lang="pt-BR" b="1" dirty="0">
                    <a:sym typeface="Symbol"/>
                  </a:rPr>
                  <a:t></a:t>
                </a:r>
                <a:r>
                  <a:rPr lang="pt-BR" b="1" baseline="30000" dirty="0">
                    <a:sym typeface="Symbol"/>
                  </a:rPr>
                  <a:t>2</a:t>
                </a:r>
                <a:r>
                  <a:rPr lang="pt-BR" b="1" dirty="0">
                    <a:sym typeface="Symbol"/>
                  </a:rPr>
                  <a:t>) </a:t>
                </a:r>
                <a:r>
                  <a:rPr lang="pt-BR" dirty="0">
                    <a:sym typeface="Symbol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/>
                                    <a:sym typeface="Symbol"/>
                                  </a:rPr>
                                  <m:t>𝑝</m:t>
                                </m:r>
                                <m:r>
                                  <a:rPr lang="pt-BR" b="0" i="1" smtClean="0">
                                    <a:latin typeface="Cambria Math"/>
                                    <a:sym typeface="Symbol"/>
                                  </a:rPr>
                                  <m:t>−</m:t>
                                </m:r>
                                <m:r>
                                  <a:rPr lang="pt-BR" b="0" i="1" smtClean="0">
                                    <a:latin typeface="Cambria Math"/>
                                    <a:sym typeface="Symbol"/>
                                  </a:rPr>
                                  <m:t>𝑜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/>
                                    <a:sym typeface="Symbol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519" b="-2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521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Onde </a:t>
            </a:r>
            <a:r>
              <a:rPr lang="pt-BR" b="1" dirty="0">
                <a:sym typeface="Symbol"/>
              </a:rPr>
              <a:t> </a:t>
            </a:r>
            <a:r>
              <a:rPr lang="pt-BR" dirty="0"/>
              <a:t>é o tempo estimado médio e a variância </a:t>
            </a:r>
            <a:r>
              <a:rPr lang="pt-BR" b="1" dirty="0"/>
              <a:t>(</a:t>
            </a:r>
            <a:r>
              <a:rPr lang="pt-BR" b="1" dirty="0">
                <a:sym typeface="Symbol"/>
              </a:rPr>
              <a:t></a:t>
            </a:r>
            <a:r>
              <a:rPr lang="pt-BR" b="1" baseline="30000" dirty="0">
                <a:sym typeface="Symbol"/>
              </a:rPr>
              <a:t>2</a:t>
            </a:r>
            <a:r>
              <a:rPr lang="pt-BR" b="1" dirty="0">
                <a:sym typeface="Symbol"/>
              </a:rPr>
              <a:t>)</a:t>
            </a:r>
            <a:r>
              <a:rPr lang="pt-BR" dirty="0"/>
              <a:t> mede o grau de incerteza deste tempo.</a:t>
            </a:r>
          </a:p>
        </p:txBody>
      </p:sp>
    </p:spTree>
    <p:extLst>
      <p:ext uri="{BB962C8B-B14F-4D97-AF65-F5344CB8AC3E}">
        <p14:creationId xmlns:p14="http://schemas.microsoft.com/office/powerpoint/2010/main" val="530563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3465670" y="692696"/>
          <a:ext cx="4934587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0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5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Variância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25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PERT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pt-BR" dirty="0"/>
                  <a:t>Se formos aplicar a técnica PERT junto com o CPM (PERT-CPM), para chegar a duração esperada do projeto (</a:t>
                </a:r>
                <a:r>
                  <a:rPr lang="pt-BR" dirty="0">
                    <a:sym typeface="Symbol"/>
                  </a:rPr>
                  <a:t></a:t>
                </a:r>
                <a:r>
                  <a:rPr lang="pt-BR" baseline="-25000" dirty="0">
                    <a:sym typeface="Symbol"/>
                  </a:rPr>
                  <a:t>p</a:t>
                </a:r>
                <a:r>
                  <a:rPr lang="pt-BR" dirty="0">
                    <a:sym typeface="Symbol"/>
                  </a:rPr>
                  <a:t>) deveremos considerar apenas as atividades do caminho crítico e não todas as atividades.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/>
                            <a:ea typeface="Cambria Math"/>
                            <a:sym typeface="Symbol"/>
                          </a:rPr>
                          <m:t>𝜇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𝑝</m:t>
                        </m:r>
                      </m:sub>
                    </m:sSub>
                    <m:r>
                      <a:rPr lang="pt-BR" b="0" i="1" smtClean="0">
                        <a:latin typeface="Cambria Math"/>
                        <a:sym typeface="Symbol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pt-BR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  <a:ea typeface="Cambria Math"/>
                                <a:sym typeface="Symbol"/>
                              </a:rPr>
                              <m:t>𝜇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>
                    <a:sym typeface="Symbol"/>
                  </a:rPr>
                  <a:t>,</a:t>
                </a:r>
              </a:p>
              <a:p>
                <a:pPr marL="0" indent="0" algn="just">
                  <a:buNone/>
                </a:pPr>
                <a:r>
                  <a:rPr lang="pt-BR" dirty="0">
                    <a:sym typeface="Symbol"/>
                  </a:rPr>
                  <a:t>onde </a:t>
                </a:r>
                <a:r>
                  <a:rPr lang="pt-BR" baseline="-25000" dirty="0">
                    <a:sym typeface="Symbol"/>
                  </a:rPr>
                  <a:t>i</a:t>
                </a:r>
                <a:r>
                  <a:rPr lang="pt-BR" dirty="0">
                    <a:sym typeface="Symbol"/>
                  </a:rPr>
                  <a:t> é a duração média da atividade i sobre o caminho crítico.</a:t>
                </a:r>
              </a:p>
              <a:p>
                <a:pPr marL="0" indent="0" algn="just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417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PERT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pt-BR" dirty="0"/>
                  <a:t>Pelo teorema do Limite Central , uma variável que é a soma de variáveis aleatórias, segue uma Distribuição Normal.</a:t>
                </a:r>
              </a:p>
              <a:p>
                <a:pPr algn="just"/>
                <a:r>
                  <a:rPr lang="pt-BR" dirty="0"/>
                  <a:t>No modelo PERT, a duração do projeto é uma variável aleatória que segue a Distribuição Normal com:</a:t>
                </a:r>
              </a:p>
              <a:p>
                <a:pPr marL="0" indent="0" algn="just">
                  <a:buNone/>
                </a:pPr>
                <a:r>
                  <a:rPr lang="pt-BR" b="1" dirty="0"/>
                  <a:t>Média</a:t>
                </a:r>
                <a:r>
                  <a:rPr lang="pt-BR" dirty="0"/>
                  <a:t> = </a:t>
                </a:r>
                <a:r>
                  <a:rPr lang="pt-BR" dirty="0">
                    <a:sym typeface="Symbol"/>
                  </a:rPr>
                  <a:t></a:t>
                </a:r>
                <a:r>
                  <a:rPr lang="pt-BR" baseline="-25000" dirty="0">
                    <a:sym typeface="Symbol"/>
                  </a:rPr>
                  <a:t>p</a:t>
                </a:r>
              </a:p>
              <a:p>
                <a:pPr marL="0" indent="0" algn="just">
                  <a:buNone/>
                </a:pPr>
                <a:r>
                  <a:rPr lang="pt-BR" b="1" dirty="0">
                    <a:sym typeface="Symbol"/>
                  </a:rPr>
                  <a:t>Desvio padrão </a:t>
                </a:r>
                <a:r>
                  <a:rPr lang="pt-BR" dirty="0">
                    <a:sym typeface="Symbol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/>
                            <a:ea typeface="Cambria Math"/>
                            <a:sym typeface="Symbol"/>
                          </a:rPr>
                          <m:t>𝜎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𝑝</m:t>
                        </m:r>
                      </m:sub>
                    </m:sSub>
                    <m:r>
                      <a:rPr lang="pt-BR" b="0" i="1" smtClean="0">
                        <a:latin typeface="Cambria Math"/>
                        <a:sym typeface="Symbol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  <a:sym typeface="Symbol"/>
                                  </a:rPr>
                                  <m:t>𝑝</m:t>
                                </m:r>
                              </m:sub>
                            </m:sSub>
                          </m:e>
                          <m:sub/>
                          <m:sup>
                            <m:r>
                              <a:rPr lang="pt-BR" b="0" i="1" smtClean="0"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61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exemplo, o caminho crítico é INÍCIO-A-B-C-E-F-J-L-N-FIM, com </a:t>
            </a:r>
            <a:r>
              <a:rPr lang="pt-BR" dirty="0">
                <a:sym typeface="Symbol"/>
              </a:rPr>
              <a:t></a:t>
            </a:r>
            <a:r>
              <a:rPr lang="pt-BR" baseline="-25000" dirty="0">
                <a:sym typeface="Symbol"/>
              </a:rPr>
              <a:t>p</a:t>
            </a:r>
            <a:r>
              <a:rPr lang="pt-BR" dirty="0">
                <a:sym typeface="Symbol"/>
              </a:rPr>
              <a:t> = 44 e </a:t>
            </a:r>
            <a:r>
              <a:rPr lang="pt-BR" baseline="30000" dirty="0">
                <a:sym typeface="Symbol"/>
              </a:rPr>
              <a:t>2</a:t>
            </a:r>
            <a:r>
              <a:rPr lang="pt-BR" baseline="-25000" dirty="0">
                <a:sym typeface="Symbol"/>
              </a:rPr>
              <a:t>p</a:t>
            </a:r>
            <a:r>
              <a:rPr lang="pt-BR" dirty="0">
                <a:sym typeface="Symbol"/>
              </a:rPr>
              <a:t> = 9.</a:t>
            </a:r>
          </a:p>
          <a:p>
            <a:endParaRPr lang="pt-BR" dirty="0">
              <a:sym typeface="Symbol"/>
            </a:endParaRPr>
          </a:p>
          <a:p>
            <a:r>
              <a:rPr lang="pt-BR" dirty="0">
                <a:sym typeface="Symbol"/>
              </a:rPr>
              <a:t>Qual a probabilidade de completar o projeto em 40 semanas?</a:t>
            </a:r>
          </a:p>
          <a:p>
            <a:pPr marL="0" indent="0">
              <a:buNone/>
            </a:pPr>
            <a:endParaRPr lang="pt-BR" dirty="0">
              <a:sym typeface="Symbol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728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Sempre que existir mais de um caminho crítico </a:t>
            </a:r>
            <a:r>
              <a:rPr lang="pt-BR"/>
              <a:t>com  variâncias diferentes</a:t>
            </a:r>
            <a:r>
              <a:rPr lang="pt-BR" dirty="0"/>
              <a:t>, escolhe-se aquele com maior variância.</a:t>
            </a:r>
          </a:p>
        </p:txBody>
      </p:sp>
    </p:spTree>
    <p:extLst>
      <p:ext uri="{BB962C8B-B14F-4D97-AF65-F5344CB8AC3E}">
        <p14:creationId xmlns:p14="http://schemas.microsoft.com/office/powerpoint/2010/main" val="3981882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fórmula da normal padronizada é</a:t>
                </a:r>
              </a:p>
              <a:p>
                <a:pPr marL="0" indent="0">
                  <a:buNone/>
                </a:pPr>
                <a:r>
                  <a:rPr lang="pt-BR" dirty="0">
                    <a:sym typeface="Symbol"/>
                  </a:rPr>
                  <a:t>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𝑋</m:t>
                        </m:r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− 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  <a:sym typeface="Symbol"/>
                          </a:rPr>
                          <m:t>𝜇</m:t>
                        </m:r>
                      </m:num>
                      <m:den>
                        <m:r>
                          <a:rPr lang="pt-BR" i="1" smtClean="0">
                            <a:latin typeface="Cambria Math"/>
                            <a:ea typeface="Cambria Math"/>
                            <a:sym typeface="Symbol"/>
                          </a:rPr>
                          <m:t>𝜎</m:t>
                        </m:r>
                      </m:den>
                    </m:f>
                  </m:oMath>
                </a14:m>
                <a:r>
                  <a:rPr lang="pt-BR" dirty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40−44</m:t>
                        </m:r>
                      </m:num>
                      <m:den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3</m:t>
                        </m:r>
                      </m:den>
                    </m:f>
                    <m:r>
                      <a:rPr lang="pt-BR" b="0" i="0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pt-BR" b="0" i="1" smtClean="0">
                        <a:latin typeface="Cambria Math"/>
                        <a:sym typeface="Symbol"/>
                      </a:rPr>
                      <m:t>−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4</m:t>
                        </m:r>
                      </m:num>
                      <m:den>
                        <m:r>
                          <a:rPr lang="pt-BR" b="0" i="1" smtClean="0">
                            <a:latin typeface="Cambria Math"/>
                            <a:sym typeface="Symbol"/>
                          </a:rPr>
                          <m:t>3</m:t>
                        </m:r>
                      </m:den>
                    </m:f>
                  </m:oMath>
                </a14:m>
                <a:endParaRPr lang="pt-BR" dirty="0">
                  <a:sym typeface="Symbol"/>
                </a:endParaRPr>
              </a:p>
              <a:p>
                <a:pPr marL="0" indent="0">
                  <a:buNone/>
                </a:pPr>
                <a:endParaRPr lang="pt-BR" dirty="0">
                  <a:sym typeface="Symbol"/>
                </a:endParaRPr>
              </a:p>
              <a:p>
                <a:r>
                  <a:rPr lang="pt-BR" dirty="0">
                    <a:sym typeface="Symbol"/>
                  </a:rPr>
                  <a:t>P(D  40) = P(Z 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  <a:sym typeface="Symbol"/>
                      </a:rPr>
                      <m:t>−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  <a:sym typeface="Symbol"/>
                          </a:rPr>
                          <m:t>4</m:t>
                        </m:r>
                      </m:num>
                      <m:den>
                        <m:r>
                          <a:rPr lang="pt-BR" i="1">
                            <a:latin typeface="Cambria Math"/>
                            <a:sym typeface="Symbol"/>
                          </a:rPr>
                          <m:t>3</m:t>
                        </m:r>
                      </m:den>
                    </m:f>
                  </m:oMath>
                </a14:m>
                <a:r>
                  <a:rPr lang="pt-BR" dirty="0">
                    <a:sym typeface="Symbol"/>
                  </a:rPr>
                  <a:t>) = 0,0918 = 9,18%. 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55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1879</Words>
  <Application>Microsoft Macintosh PowerPoint</Application>
  <PresentationFormat>Widescreen</PresentationFormat>
  <Paragraphs>491</Paragraphs>
  <Slides>37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Tema do Office</vt:lpstr>
      <vt:lpstr>Otimização em Redes de Projetos</vt:lpstr>
      <vt:lpstr>PERT e CPM</vt:lpstr>
      <vt:lpstr>Histórico</vt:lpstr>
      <vt:lpstr>Histórico</vt:lpstr>
      <vt:lpstr>Histórico</vt:lpstr>
      <vt:lpstr>Objetivos do PERT/CPM</vt:lpstr>
      <vt:lpstr>Objetivos do PERT/CPM</vt:lpstr>
      <vt:lpstr>Aplicações</vt:lpstr>
      <vt:lpstr>PERT e CPM</vt:lpstr>
      <vt:lpstr>Construindo a rede de projetos</vt:lpstr>
      <vt:lpstr>Construindo a rede de projetos</vt:lpstr>
      <vt:lpstr>Exemplo: </vt:lpstr>
      <vt:lpstr>Apresentação do PowerPoint</vt:lpstr>
      <vt:lpstr>Exemplo: rede (ANN)</vt:lpstr>
      <vt:lpstr>Caminho Crítico</vt:lpstr>
      <vt:lpstr>CPM – Controle do tempo</vt:lpstr>
      <vt:lpstr>Observação</vt:lpstr>
      <vt:lpstr>CPM – Controle do tempo</vt:lpstr>
      <vt:lpstr>Método para achar o caminho crítico numa rede </vt:lpstr>
      <vt:lpstr>Achando o caminho crítico numa rede </vt:lpstr>
      <vt:lpstr>Achando o caminho crítico numa rede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Metodologia PERT</vt:lpstr>
      <vt:lpstr>Apresentação do PowerPoint</vt:lpstr>
      <vt:lpstr>Metodologia PERT</vt:lpstr>
      <vt:lpstr>Metodologia PERT</vt:lpstr>
      <vt:lpstr>Apresentação do PowerPoint</vt:lpstr>
      <vt:lpstr>Apresentação do PowerPoint</vt:lpstr>
      <vt:lpstr>Metodologia PERT</vt:lpstr>
      <vt:lpstr>Metodologia PERT</vt:lpstr>
      <vt:lpstr>Exemplo</vt:lpstr>
      <vt:lpstr>Observação</vt:lpstr>
      <vt:lpstr>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em Redes de Projetos</dc:title>
  <dc:creator>Andréa Bonifácio</dc:creator>
  <cp:lastModifiedBy>Andréa Bonifácio</cp:lastModifiedBy>
  <cp:revision>1</cp:revision>
  <dcterms:created xsi:type="dcterms:W3CDTF">2022-06-08T01:45:59Z</dcterms:created>
  <dcterms:modified xsi:type="dcterms:W3CDTF">2022-06-08T01:47:16Z</dcterms:modified>
</cp:coreProperties>
</file>