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23738" cy="6819900"/>
  <p:notesSz cx="6648450" cy="9782175"/>
  <p:embeddedFontLst>
    <p:embeddedFont>
      <p:font typeface="Aharoni" panose="02010803020104030203" pitchFamily="2" charset="-79"/>
      <p:bold r:id="rId7"/>
    </p:embeddedFont>
    <p:embeddedFont>
      <p:font typeface="Bahnschrift Condensed" panose="020F0502020204030204" pitchFamily="34" charset="0"/>
      <p:regular r:id="rId8"/>
      <p:bold r:id="rId9"/>
    </p:embeddedFont>
    <p:embeddedFont>
      <p:font typeface="Quattrocento Sans" panose="020B0502050000020003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8">
          <p15:clr>
            <a:srgbClr val="A4A3A4"/>
          </p15:clr>
        </p15:guide>
        <p15:guide id="2" pos="38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W4ps+i/l3X7kd8jw+dVqWXlzx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D982CF-4CF1-4419-8B47-68DC011AF0E3}">
  <a:tblStyle styleId="{2BD982CF-4CF1-4419-8B47-68DC011AF0E3}" styleName="Table_0">
    <a:wholeTbl>
      <a:tcTxStyle b="off" i="off">
        <a:font>
          <a:latin typeface="Bahnschrift Condensed"/>
          <a:ea typeface="Bahnschrift Condensed"/>
          <a:cs typeface="Bahnschrift Condense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>
      <p:cViewPr varScale="1">
        <p:scale>
          <a:sx n="107" d="100"/>
          <a:sy n="107" d="100"/>
        </p:scale>
        <p:origin x="760" y="168"/>
      </p:cViewPr>
      <p:guideLst>
        <p:guide orient="horz" pos="2148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" y="733425"/>
            <a:ext cx="6521450" cy="3668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" y="733425"/>
            <a:ext cx="6521450" cy="3668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cf40c880_0_388"/>
          <p:cNvSpPr txBox="1">
            <a:spLocks noGrp="1"/>
          </p:cNvSpPr>
          <p:nvPr>
            <p:ph type="ctrTitle"/>
          </p:nvPr>
        </p:nvSpPr>
        <p:spPr>
          <a:xfrm>
            <a:off x="413284" y="987251"/>
            <a:ext cx="11297100" cy="27216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g3a0cf40c880_0_388"/>
          <p:cNvSpPr txBox="1">
            <a:spLocks noGrp="1"/>
          </p:cNvSpPr>
          <p:nvPr>
            <p:ph type="subTitle" idx="1"/>
          </p:nvPr>
        </p:nvSpPr>
        <p:spPr>
          <a:xfrm>
            <a:off x="413273" y="3757840"/>
            <a:ext cx="11297100" cy="10509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g3a0cf40c880_0_388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0cf40c880_0_392"/>
          <p:cNvSpPr txBox="1">
            <a:spLocks noGrp="1"/>
          </p:cNvSpPr>
          <p:nvPr>
            <p:ph type="title"/>
          </p:nvPr>
        </p:nvSpPr>
        <p:spPr>
          <a:xfrm>
            <a:off x="413273" y="2851868"/>
            <a:ext cx="11297100" cy="11163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g3a0cf40c880_0_392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0cf40c880_0_395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a0cf40c880_0_395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112971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a0cf40c880_0_395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0cf40c880_0_399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a0cf40c880_0_399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53034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3a0cf40c880_0_399"/>
          <p:cNvSpPr txBox="1">
            <a:spLocks noGrp="1"/>
          </p:cNvSpPr>
          <p:nvPr>
            <p:ph type="body" idx="2"/>
          </p:nvPr>
        </p:nvSpPr>
        <p:spPr>
          <a:xfrm>
            <a:off x="6407118" y="1528096"/>
            <a:ext cx="53034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g3a0cf40c880_0_399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0cf40c880_0_404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a0cf40c880_0_404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0cf40c880_0_407"/>
          <p:cNvSpPr txBox="1">
            <a:spLocks noGrp="1"/>
          </p:cNvSpPr>
          <p:nvPr>
            <p:ph type="title"/>
          </p:nvPr>
        </p:nvSpPr>
        <p:spPr>
          <a:xfrm>
            <a:off x="413273" y="736684"/>
            <a:ext cx="3723000" cy="10020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g3a0cf40c880_0_407"/>
          <p:cNvSpPr txBox="1">
            <a:spLocks noGrp="1"/>
          </p:cNvSpPr>
          <p:nvPr>
            <p:ph type="body" idx="1"/>
          </p:nvPr>
        </p:nvSpPr>
        <p:spPr>
          <a:xfrm>
            <a:off x="413273" y="1842507"/>
            <a:ext cx="3723000" cy="42156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3a0cf40c880_0_407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cf40c880_0_411"/>
          <p:cNvSpPr txBox="1">
            <a:spLocks noGrp="1"/>
          </p:cNvSpPr>
          <p:nvPr>
            <p:ph type="title"/>
          </p:nvPr>
        </p:nvSpPr>
        <p:spPr>
          <a:xfrm>
            <a:off x="650006" y="596866"/>
            <a:ext cx="8442900" cy="5424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g3a0cf40c880_0_411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0cf40c880_0_414"/>
          <p:cNvSpPr/>
          <p:nvPr/>
        </p:nvSpPr>
        <p:spPr>
          <a:xfrm>
            <a:off x="6061863" y="-166"/>
            <a:ext cx="6061800" cy="681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225" tIns="121225" rIns="121225" bIns="12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a0cf40c880_0_414"/>
          <p:cNvSpPr txBox="1">
            <a:spLocks noGrp="1"/>
          </p:cNvSpPr>
          <p:nvPr>
            <p:ph type="title"/>
          </p:nvPr>
        </p:nvSpPr>
        <p:spPr>
          <a:xfrm>
            <a:off x="352018" y="1635099"/>
            <a:ext cx="5363400" cy="19653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g3a0cf40c880_0_414"/>
          <p:cNvSpPr txBox="1">
            <a:spLocks noGrp="1"/>
          </p:cNvSpPr>
          <p:nvPr>
            <p:ph type="subTitle" idx="1"/>
          </p:nvPr>
        </p:nvSpPr>
        <p:spPr>
          <a:xfrm>
            <a:off x="352018" y="3716670"/>
            <a:ext cx="5363400" cy="16377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g3a0cf40c880_0_414"/>
          <p:cNvSpPr txBox="1">
            <a:spLocks noGrp="1"/>
          </p:cNvSpPr>
          <p:nvPr>
            <p:ph type="body" idx="2"/>
          </p:nvPr>
        </p:nvSpPr>
        <p:spPr>
          <a:xfrm>
            <a:off x="6549119" y="960070"/>
            <a:ext cx="5087400" cy="48993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a0cf40c880_0_414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0cf40c880_0_420"/>
          <p:cNvSpPr txBox="1">
            <a:spLocks noGrp="1"/>
          </p:cNvSpPr>
          <p:nvPr>
            <p:ph type="body" idx="1"/>
          </p:nvPr>
        </p:nvSpPr>
        <p:spPr>
          <a:xfrm>
            <a:off x="413273" y="5609429"/>
            <a:ext cx="7953600" cy="8022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a0cf40c880_0_420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0cf40c880_0_423"/>
          <p:cNvSpPr txBox="1">
            <a:spLocks noGrp="1"/>
          </p:cNvSpPr>
          <p:nvPr>
            <p:ph type="title" hasCustomPrompt="1"/>
          </p:nvPr>
        </p:nvSpPr>
        <p:spPr>
          <a:xfrm>
            <a:off x="413273" y="1466640"/>
            <a:ext cx="11297100" cy="26034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>
            <a:r>
              <a:t>xx%</a:t>
            </a:r>
          </a:p>
        </p:txBody>
      </p:sp>
      <p:sp>
        <p:nvSpPr>
          <p:cNvPr id="46" name="Google Shape;46;g3a0cf40c880_0_423"/>
          <p:cNvSpPr txBox="1">
            <a:spLocks noGrp="1"/>
          </p:cNvSpPr>
          <p:nvPr>
            <p:ph type="body" idx="1"/>
          </p:nvPr>
        </p:nvSpPr>
        <p:spPr>
          <a:xfrm>
            <a:off x="413273" y="4179617"/>
            <a:ext cx="11297100" cy="17247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a0cf40c880_0_423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cf40c880_0_427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 1">
  <p:cSld name="Slide de títul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cf40c880_0_429"/>
          <p:cNvSpPr txBox="1">
            <a:spLocks noGrp="1"/>
          </p:cNvSpPr>
          <p:nvPr>
            <p:ph type="subTitle" idx="1"/>
          </p:nvPr>
        </p:nvSpPr>
        <p:spPr>
          <a:xfrm>
            <a:off x="909280" y="3485727"/>
            <a:ext cx="84867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98"/>
              </a:spcBef>
              <a:spcAft>
                <a:spcPts val="0"/>
              </a:spcAft>
              <a:buSzPts val="1691"/>
              <a:buNone/>
              <a:defRPr sz="1989">
                <a:solidFill>
                  <a:srgbClr val="55556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522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432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392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193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293"/>
              <a:buNone/>
              <a:defRPr>
                <a:solidFill>
                  <a:srgbClr val="8B8B8D"/>
                </a:solidFill>
              </a:defRPr>
            </a:lvl9pPr>
          </a:lstStyle>
          <a:p>
            <a:endParaRPr/>
          </a:p>
        </p:txBody>
      </p:sp>
      <p:cxnSp>
        <p:nvCxnSpPr>
          <p:cNvPr id="52" name="Google Shape;52;g3a0cf40c880_0_429"/>
          <p:cNvCxnSpPr/>
          <p:nvPr/>
        </p:nvCxnSpPr>
        <p:spPr>
          <a:xfrm>
            <a:off x="909281" y="3379639"/>
            <a:ext cx="104061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g3a0cf40c880_0_429"/>
          <p:cNvSpPr txBox="1">
            <a:spLocks noGrp="1"/>
          </p:cNvSpPr>
          <p:nvPr>
            <p:ph type="title"/>
          </p:nvPr>
        </p:nvSpPr>
        <p:spPr>
          <a:xfrm>
            <a:off x="887321" y="2424853"/>
            <a:ext cx="10428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75"/>
              <a:buFont typeface="Quattrocento Sans"/>
              <a:buNone/>
              <a:defRPr sz="4375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a0cf40c880_0_429"/>
          <p:cNvSpPr/>
          <p:nvPr/>
        </p:nvSpPr>
        <p:spPr>
          <a:xfrm>
            <a:off x="0" y="0"/>
            <a:ext cx="12123600" cy="474000"/>
          </a:xfrm>
          <a:prstGeom prst="rect">
            <a:avLst/>
          </a:prstGeom>
          <a:solidFill>
            <a:srgbClr val="94BB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91" b="0" i="0" u="none" strike="noStrike" cap="none">
                <a:solidFill>
                  <a:srgbClr val="5757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Grafos e Algoritmos - Introdução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cf40c880_0_434"/>
          <p:cNvSpPr txBox="1">
            <a:spLocks noGrp="1"/>
          </p:cNvSpPr>
          <p:nvPr>
            <p:ph type="title"/>
          </p:nvPr>
        </p:nvSpPr>
        <p:spPr>
          <a:xfrm>
            <a:off x="606186" y="273112"/>
            <a:ext cx="10911300" cy="1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a0cf40c880_0_434"/>
          <p:cNvSpPr txBox="1">
            <a:spLocks noGrp="1"/>
          </p:cNvSpPr>
          <p:nvPr>
            <p:ph type="body" idx="1"/>
          </p:nvPr>
        </p:nvSpPr>
        <p:spPr>
          <a:xfrm>
            <a:off x="606186" y="1591310"/>
            <a:ext cx="10911300" cy="4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g3a0cf40c880_0_434"/>
          <p:cNvSpPr txBox="1">
            <a:spLocks noGrp="1"/>
          </p:cNvSpPr>
          <p:nvPr>
            <p:ph type="dt" idx="10"/>
          </p:nvPr>
        </p:nvSpPr>
        <p:spPr>
          <a:xfrm>
            <a:off x="606186" y="6321037"/>
            <a:ext cx="2829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a0cf40c880_0_434"/>
          <p:cNvSpPr txBox="1">
            <a:spLocks noGrp="1"/>
          </p:cNvSpPr>
          <p:nvPr>
            <p:ph type="ftr" idx="11"/>
          </p:nvPr>
        </p:nvSpPr>
        <p:spPr>
          <a:xfrm>
            <a:off x="4142273" y="6321037"/>
            <a:ext cx="38391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a0cf40c880_0_434"/>
          <p:cNvSpPr txBox="1">
            <a:spLocks noGrp="1"/>
          </p:cNvSpPr>
          <p:nvPr>
            <p:ph type="sldNum" idx="12"/>
          </p:nvPr>
        </p:nvSpPr>
        <p:spPr>
          <a:xfrm>
            <a:off x="8688670" y="6321037"/>
            <a:ext cx="2829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0cf40c880_0_384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a0cf40c880_0_384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11297100" cy="4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a0cf40c880_0_384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473500" y="5661575"/>
            <a:ext cx="339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pt-PT" sz="2400">
                <a:solidFill>
                  <a:schemeClr val="dk1"/>
                </a:solidFill>
              </a:rPr>
              <a:t>Profª Andréa Bonifácio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1"/>
          <p:cNvSpPr txBox="1">
            <a:spLocks noGrp="1"/>
          </p:cNvSpPr>
          <p:nvPr>
            <p:ph type="title"/>
          </p:nvPr>
        </p:nvSpPr>
        <p:spPr>
          <a:xfrm>
            <a:off x="473500" y="701775"/>
            <a:ext cx="6268200" cy="46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 Do Caminho Mais Curto -  Algoritmo De Dijkstra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67" name="Google Shape;67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3944" y="1570147"/>
            <a:ext cx="4087367" cy="378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1786360" y="446475"/>
            <a:ext cx="8818301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9090"/>
              <a:buFont typeface="Quattrocento Sans"/>
              <a:buNone/>
            </a:pPr>
            <a:r>
              <a:rPr lang="pt-PT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</a:t>
            </a:r>
            <a:r>
              <a:rPr lang="pt-PT" sz="6600" dirty="0" err="1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Dijkstra</a:t>
            </a:r>
            <a:endParaRPr dirty="0"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536588" y="1811775"/>
            <a:ext cx="4984800" cy="4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1856" lvl="0" indent="-18185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PT" sz="2000" b="1">
                <a:solidFill>
                  <a:schemeClr val="dk1"/>
                </a:solidFill>
              </a:rPr>
              <a:t>Entradas: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b="1" i="1">
                <a:solidFill>
                  <a:schemeClr val="dk1"/>
                </a:solidFill>
              </a:rPr>
              <a:t>V</a:t>
            </a:r>
            <a:r>
              <a:rPr lang="pt-PT" sz="2000">
                <a:solidFill>
                  <a:schemeClr val="dk1"/>
                </a:solidFill>
              </a:rPr>
              <a:t> – conjunto de vértices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b="1" i="1">
                <a:solidFill>
                  <a:schemeClr val="dk1"/>
                </a:solidFill>
              </a:rPr>
              <a:t>E</a:t>
            </a:r>
            <a:r>
              <a:rPr lang="pt-PT" sz="2000">
                <a:solidFill>
                  <a:schemeClr val="dk1"/>
                </a:solidFill>
              </a:rPr>
              <a:t> – conjunto de arestas, em que cada aresta é um par </a:t>
            </a:r>
            <a:r>
              <a:rPr lang="pt-PT" sz="2000" i="1">
                <a:solidFill>
                  <a:schemeClr val="dk1"/>
                </a:solidFill>
              </a:rPr>
              <a:t>(v, w)</a:t>
            </a:r>
            <a:r>
              <a:rPr lang="pt-PT" sz="2000">
                <a:solidFill>
                  <a:schemeClr val="dk1"/>
                </a:solidFill>
              </a:rPr>
              <a:t> de vértices de </a:t>
            </a:r>
            <a:r>
              <a:rPr lang="pt-PT" sz="2000" i="1">
                <a:solidFill>
                  <a:schemeClr val="dk1"/>
                </a:solidFill>
              </a:rPr>
              <a:t>V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>
                <a:solidFill>
                  <a:schemeClr val="dk1"/>
                </a:solidFill>
              </a:rPr>
              <a:t>Para todo vértice </a:t>
            </a:r>
            <a:r>
              <a:rPr lang="pt-PT" sz="2000" i="1">
                <a:solidFill>
                  <a:schemeClr val="dk1"/>
                </a:solidFill>
              </a:rPr>
              <a:t>v∈ V,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	</a:t>
            </a:r>
            <a:r>
              <a:rPr lang="pt-PT" sz="2000" b="1" i="1">
                <a:solidFill>
                  <a:schemeClr val="dk1"/>
                </a:solidFill>
              </a:rPr>
              <a:t>N(v)</a:t>
            </a:r>
            <a:r>
              <a:rPr lang="pt-PT" sz="2000" i="1">
                <a:solidFill>
                  <a:schemeClr val="dk1"/>
                </a:solidFill>
              </a:rPr>
              <a:t> </a:t>
            </a:r>
            <a:r>
              <a:rPr lang="pt-PT" sz="2000">
                <a:solidFill>
                  <a:schemeClr val="dk1"/>
                </a:solidFill>
              </a:rPr>
              <a:t>– conjunto de vértices adjacentes a </a:t>
            </a:r>
            <a:r>
              <a:rPr lang="pt-PT" sz="2000" i="1">
                <a:solidFill>
                  <a:schemeClr val="dk1"/>
                </a:solidFill>
              </a:rPr>
              <a:t>v</a:t>
            </a:r>
            <a:endParaRPr sz="2000"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>
                <a:solidFill>
                  <a:schemeClr val="dk1"/>
                </a:solidFill>
              </a:rPr>
              <a:t>Para toda a aresta </a:t>
            </a:r>
            <a:r>
              <a:rPr lang="pt-PT" sz="2000" i="1">
                <a:solidFill>
                  <a:schemeClr val="dk1"/>
                </a:solidFill>
              </a:rPr>
              <a:t>(v,w)∈ E,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	</a:t>
            </a:r>
            <a:r>
              <a:rPr lang="pt-PT" sz="2000" b="1" i="1">
                <a:solidFill>
                  <a:schemeClr val="dk1"/>
                </a:solidFill>
              </a:rPr>
              <a:t>c</a:t>
            </a:r>
            <a:r>
              <a:rPr lang="pt-PT" sz="2000" b="1" i="1" baseline="-25000">
                <a:solidFill>
                  <a:schemeClr val="dk1"/>
                </a:solidFill>
              </a:rPr>
              <a:t>vw</a:t>
            </a:r>
            <a:r>
              <a:rPr lang="pt-PT" sz="2000" baseline="-25000">
                <a:solidFill>
                  <a:schemeClr val="dk1"/>
                </a:solidFill>
              </a:rPr>
              <a:t> </a:t>
            </a:r>
            <a:r>
              <a:rPr lang="pt-PT" sz="2000">
                <a:solidFill>
                  <a:schemeClr val="dk1"/>
                </a:solidFill>
              </a:rPr>
              <a:t>– custo da aresta </a:t>
            </a:r>
            <a:r>
              <a:rPr lang="pt-PT" sz="2000" i="1">
                <a:solidFill>
                  <a:schemeClr val="dk1"/>
                </a:solidFill>
              </a:rPr>
              <a:t>(v,w)</a:t>
            </a:r>
            <a:r>
              <a:rPr lang="pt-PT" sz="2000">
                <a:solidFill>
                  <a:schemeClr val="dk1"/>
                </a:solidFill>
              </a:rPr>
              <a:t>, necessariamente &gt; 0 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SzPts val="1700"/>
              <a:buFont typeface="Quattrocento Sans"/>
              <a:buNone/>
            </a:pPr>
            <a:r>
              <a:rPr lang="pt-PT" sz="2000" b="1" i="1">
                <a:solidFill>
                  <a:schemeClr val="dk1"/>
                </a:solidFill>
              </a:rPr>
              <a:t>s</a:t>
            </a:r>
            <a:r>
              <a:rPr lang="pt-PT" sz="2000">
                <a:solidFill>
                  <a:schemeClr val="dk1"/>
                </a:solidFill>
              </a:rPr>
              <a:t> – vértice de partida (</a:t>
            </a:r>
            <a:r>
              <a:rPr lang="pt-PT" sz="2000" i="1">
                <a:solidFill>
                  <a:schemeClr val="dk1"/>
                </a:solidFill>
              </a:rPr>
              <a:t>start</a:t>
            </a:r>
            <a:r>
              <a:rPr lang="pt-PT" sz="2000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018226" y="1811775"/>
            <a:ext cx="5570400" cy="40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1856" marR="0" lvl="0" indent="-18185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pt-PT" sz="20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Saídas:</a:t>
            </a:r>
            <a:endParaRPr dirty="0">
              <a:solidFill>
                <a:schemeClr val="dk1"/>
              </a:solidFill>
            </a:endParaRPr>
          </a:p>
          <a:p>
            <a:pPr marL="454639" marR="0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todo o vértice v ∈ V,</a:t>
            </a:r>
            <a:endParaRPr dirty="0">
              <a:solidFill>
                <a:schemeClr val="dk1"/>
              </a:solidFill>
            </a:endParaRPr>
          </a:p>
          <a:p>
            <a:pPr marL="454639" marR="0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</a:t>
            </a:r>
            <a:r>
              <a:rPr lang="pt-PT" sz="20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</a:t>
            </a: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(v) – distância do vértice de partida s ao vértice v pelo caminho mais curto; se não existe nenhum caminho de s para v a distância será infinita.</a:t>
            </a:r>
            <a:endParaRPr sz="20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4639" marR="0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</a:t>
            </a:r>
            <a:r>
              <a:rPr lang="pt-PT" sz="20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</a:t>
            </a: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(v) – vértice anterior a v no caminho mais curto de s para v (para recuperar o caminho mais curto de s para v); não está definido quando </a:t>
            </a:r>
            <a:r>
              <a:rPr lang="pt-PT" sz="20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</a:t>
            </a: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(v) = 0 ou ∞</a:t>
            </a:r>
            <a:endParaRPr sz="20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81856" marR="0" lvl="0" indent="-18185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de trabalho:</a:t>
            </a:r>
            <a:endParaRPr dirty="0">
              <a:solidFill>
                <a:schemeClr val="dk1"/>
              </a:solidFill>
            </a:endParaRPr>
          </a:p>
          <a:p>
            <a:pPr marL="454639" marR="0" lvl="1" indent="-181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– fila de vértices a analisar, com o vértice com valor mínimo de </a:t>
            </a:r>
            <a:r>
              <a:rPr lang="pt-PT" sz="20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</a:t>
            </a:r>
            <a:r>
              <a:rPr lang="pt-PT" sz="20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() à s.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5757876" y="1811775"/>
            <a:ext cx="0" cy="441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694500" y="531825"/>
            <a:ext cx="102888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9090"/>
              <a:buFont typeface="Quattrocento Sans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Dijkstra</a:t>
            </a:r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694504" y="1532637"/>
            <a:ext cx="10288800" cy="507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>
                <a:solidFill>
                  <a:schemeClr val="dk1"/>
                </a:solidFill>
              </a:rPr>
              <a:t>para cada vértice  </a:t>
            </a:r>
            <a:r>
              <a:rPr lang="pt-PT" sz="2000" i="1">
                <a:solidFill>
                  <a:schemeClr val="dk1"/>
                </a:solidFill>
              </a:rPr>
              <a:t>v∈ V, v ≠ s</a:t>
            </a:r>
            <a:r>
              <a:rPr lang="pt-PT" sz="2000">
                <a:solidFill>
                  <a:schemeClr val="dk1"/>
                </a:solidFill>
              </a:rPr>
              <a:t>  fazer  </a:t>
            </a:r>
            <a:r>
              <a:rPr lang="pt-PT" sz="2000" i="1">
                <a:solidFill>
                  <a:schemeClr val="dk1"/>
                </a:solidFill>
              </a:rPr>
              <a:t>dist(v) ← ∞</a:t>
            </a:r>
            <a:endParaRPr sz="2000"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dist(s) ← 0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Q ← {s}</a:t>
            </a:r>
            <a:r>
              <a:rPr lang="pt-PT" sz="20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None/>
            </a:pPr>
            <a:r>
              <a:rPr lang="pt-PT" sz="2000">
                <a:solidFill>
                  <a:schemeClr val="dk1"/>
                </a:solidFill>
              </a:rPr>
              <a:t>enquanto  </a:t>
            </a:r>
            <a:r>
              <a:rPr lang="pt-PT" sz="2000" i="1">
                <a:solidFill>
                  <a:schemeClr val="dk1"/>
                </a:solidFill>
              </a:rPr>
              <a:t>Q ≠ {}</a:t>
            </a:r>
            <a:r>
              <a:rPr lang="pt-PT" sz="2000">
                <a:solidFill>
                  <a:schemeClr val="dk1"/>
                </a:solidFill>
              </a:rPr>
              <a:t>  fazer</a:t>
            </a:r>
            <a:endParaRPr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v  ←</a:t>
            </a:r>
            <a:r>
              <a:rPr lang="pt-PT" sz="2000">
                <a:solidFill>
                  <a:schemeClr val="dk1"/>
                </a:solidFill>
              </a:rPr>
              <a:t> vértice de </a:t>
            </a:r>
            <a:r>
              <a:rPr lang="pt-PT" sz="2000" i="1">
                <a:solidFill>
                  <a:schemeClr val="dk1"/>
                </a:solidFill>
              </a:rPr>
              <a:t>Q</a:t>
            </a:r>
            <a:r>
              <a:rPr lang="pt-PT" sz="2000">
                <a:solidFill>
                  <a:schemeClr val="dk1"/>
                </a:solidFill>
              </a:rPr>
              <a:t>  com valor mínimo de </a:t>
            </a:r>
            <a:r>
              <a:rPr lang="pt-PT" sz="2000" i="1">
                <a:solidFill>
                  <a:schemeClr val="dk1"/>
                </a:solidFill>
              </a:rPr>
              <a:t>dist()</a:t>
            </a:r>
            <a:endParaRPr sz="2000"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None/>
            </a:pPr>
            <a:r>
              <a:rPr lang="pt-PT" sz="2000" i="1">
                <a:solidFill>
                  <a:schemeClr val="dk1"/>
                </a:solidFill>
              </a:rPr>
              <a:t>Q  ← Q \ {v}</a:t>
            </a:r>
            <a:endParaRPr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None/>
            </a:pPr>
            <a:r>
              <a:rPr lang="pt-PT" sz="2000">
                <a:solidFill>
                  <a:schemeClr val="dk1"/>
                </a:solidFill>
              </a:rPr>
              <a:t>para cada vértice  </a:t>
            </a:r>
            <a:r>
              <a:rPr lang="pt-PT" sz="2000" i="1">
                <a:solidFill>
                  <a:schemeClr val="dk1"/>
                </a:solidFill>
              </a:rPr>
              <a:t>w∈ N(v)</a:t>
            </a:r>
            <a:r>
              <a:rPr lang="pt-PT" sz="2000">
                <a:solidFill>
                  <a:schemeClr val="dk1"/>
                </a:solidFill>
              </a:rPr>
              <a:t>   fazer</a:t>
            </a:r>
            <a:endParaRPr>
              <a:solidFill>
                <a:schemeClr val="dk1"/>
              </a:solidFill>
            </a:endParaRPr>
          </a:p>
          <a:p>
            <a:pPr marL="1000207" lvl="3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None/>
            </a:pPr>
            <a:r>
              <a:rPr lang="pt-PT" sz="2400">
                <a:solidFill>
                  <a:schemeClr val="dk1"/>
                </a:solidFill>
              </a:rPr>
              <a:t>se  </a:t>
            </a:r>
            <a:r>
              <a:rPr lang="pt-PT" sz="2400" i="1">
                <a:solidFill>
                  <a:schemeClr val="dk1"/>
                </a:solidFill>
              </a:rPr>
              <a:t>dist(v) + </a:t>
            </a:r>
            <a:r>
              <a:rPr lang="pt-PT" sz="2400" b="1" i="1">
                <a:solidFill>
                  <a:schemeClr val="dk1"/>
                </a:solidFill>
              </a:rPr>
              <a:t>c</a:t>
            </a:r>
            <a:r>
              <a:rPr lang="pt-PT" sz="2400" b="1" i="1" baseline="-25000">
                <a:solidFill>
                  <a:schemeClr val="dk1"/>
                </a:solidFill>
              </a:rPr>
              <a:t>vw  </a:t>
            </a:r>
            <a:r>
              <a:rPr lang="pt-PT" sz="2400" i="1">
                <a:solidFill>
                  <a:schemeClr val="dk1"/>
                </a:solidFill>
              </a:rPr>
              <a:t>&lt; dist(w)  </a:t>
            </a:r>
            <a:r>
              <a:rPr lang="pt-PT" sz="2400">
                <a:solidFill>
                  <a:schemeClr val="dk1"/>
                </a:solidFill>
              </a:rPr>
              <a:t>então </a:t>
            </a:r>
            <a:endParaRPr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None/>
            </a:pPr>
            <a:r>
              <a:rPr lang="pt-PT" sz="1800" i="1">
                <a:solidFill>
                  <a:schemeClr val="dk1"/>
                </a:solidFill>
              </a:rPr>
              <a:t>dist(w) ← dist(v) + </a:t>
            </a:r>
            <a:r>
              <a:rPr lang="pt-PT" sz="1800" b="1" i="1">
                <a:solidFill>
                  <a:schemeClr val="dk1"/>
                </a:solidFill>
              </a:rPr>
              <a:t>c</a:t>
            </a:r>
            <a:r>
              <a:rPr lang="pt-PT" sz="1800" b="1" i="1" baseline="-25000">
                <a:solidFill>
                  <a:schemeClr val="dk1"/>
                </a:solidFill>
              </a:rPr>
              <a:t>vw </a:t>
            </a:r>
            <a:endParaRPr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None/>
            </a:pPr>
            <a:r>
              <a:rPr lang="pt-PT" sz="1800" i="1">
                <a:solidFill>
                  <a:schemeClr val="dk1"/>
                </a:solidFill>
              </a:rPr>
              <a:t>ant(w) ← v</a:t>
            </a:r>
            <a:endParaRPr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buSzPts val="1800"/>
              <a:buFont typeface="Quattrocento Sans"/>
              <a:buNone/>
            </a:pPr>
            <a:r>
              <a:rPr lang="pt-PT" sz="1800" i="1">
                <a:solidFill>
                  <a:schemeClr val="dk1"/>
                </a:solidFill>
              </a:rPr>
              <a:t>Q ←  Q ∪ { w}     </a:t>
            </a:r>
            <a:r>
              <a:rPr lang="pt-PT" sz="1800">
                <a:solidFill>
                  <a:schemeClr val="dk1"/>
                </a:solidFill>
              </a:rPr>
              <a:t>(podia já lá estar antes! Se estiver não colocar novamente.)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192329" y="507880"/>
            <a:ext cx="1054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9090"/>
              <a:buFont typeface="Quattrocento Sans"/>
              <a:buNone/>
            </a:pPr>
            <a:r>
              <a:rPr lang="pt-PT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</a:t>
            </a:r>
            <a:r>
              <a:rPr lang="pt-PT" sz="6600" dirty="0" err="1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Dijkstra</a:t>
            </a:r>
            <a:endParaRPr dirty="0"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684505" y="1211532"/>
            <a:ext cx="5548500" cy="507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Quattrocento Sans"/>
              <a:buNone/>
            </a:pPr>
            <a:r>
              <a:rPr lang="pt-PT" sz="2000" dirty="0">
                <a:solidFill>
                  <a:schemeClr val="dk1"/>
                </a:solidFill>
              </a:rPr>
              <a:t>para cada vértice  </a:t>
            </a:r>
            <a:r>
              <a:rPr lang="pt-PT" sz="2000" i="1" dirty="0">
                <a:solidFill>
                  <a:schemeClr val="dk1"/>
                </a:solidFill>
              </a:rPr>
              <a:t>v∈ V, v ≠ s</a:t>
            </a:r>
            <a:r>
              <a:rPr lang="pt-PT" sz="2000" dirty="0">
                <a:solidFill>
                  <a:schemeClr val="dk1"/>
                </a:solidFill>
              </a:rPr>
              <a:t>  fazer  </a:t>
            </a:r>
            <a:r>
              <a:rPr lang="pt-PT" sz="2000" i="1" dirty="0" err="1">
                <a:solidFill>
                  <a:schemeClr val="dk1"/>
                </a:solidFill>
              </a:rPr>
              <a:t>dist</a:t>
            </a:r>
            <a:r>
              <a:rPr lang="pt-PT" sz="2000" i="1" dirty="0">
                <a:solidFill>
                  <a:schemeClr val="dk1"/>
                </a:solidFill>
              </a:rPr>
              <a:t>(v) ← ∞</a:t>
            </a:r>
            <a:endParaRPr sz="2000" dirty="0"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Quattrocento Sans"/>
              <a:buNone/>
            </a:pPr>
            <a:r>
              <a:rPr lang="pt-PT" sz="2000" i="1" dirty="0" err="1">
                <a:solidFill>
                  <a:schemeClr val="dk1"/>
                </a:solidFill>
              </a:rPr>
              <a:t>dist</a:t>
            </a:r>
            <a:r>
              <a:rPr lang="pt-PT" sz="2000" i="1" dirty="0">
                <a:solidFill>
                  <a:schemeClr val="dk1"/>
                </a:solidFill>
              </a:rPr>
              <a:t>(s) ← 0</a:t>
            </a:r>
            <a:endParaRPr dirty="0"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Quattrocento Sans"/>
              <a:buNone/>
            </a:pPr>
            <a:r>
              <a:rPr lang="pt-PT" sz="2000" i="1" dirty="0">
                <a:solidFill>
                  <a:schemeClr val="dk1"/>
                </a:solidFill>
              </a:rPr>
              <a:t>Q ← {s}</a:t>
            </a:r>
            <a:r>
              <a:rPr lang="pt-PT" sz="2000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454639" lvl="1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Quattrocento Sans"/>
              <a:buNone/>
            </a:pPr>
            <a:r>
              <a:rPr lang="pt-PT" sz="2000" dirty="0">
                <a:solidFill>
                  <a:schemeClr val="dk1"/>
                </a:solidFill>
              </a:rPr>
              <a:t>enquanto  </a:t>
            </a:r>
            <a:r>
              <a:rPr lang="pt-PT" sz="2000" i="1" dirty="0">
                <a:solidFill>
                  <a:schemeClr val="dk1"/>
                </a:solidFill>
              </a:rPr>
              <a:t>Q ≠ {}</a:t>
            </a:r>
            <a:r>
              <a:rPr lang="pt-PT" sz="2000" dirty="0">
                <a:solidFill>
                  <a:schemeClr val="dk1"/>
                </a:solidFill>
              </a:rPr>
              <a:t>  fazer</a:t>
            </a:r>
            <a:endParaRPr dirty="0"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Quattrocento Sans"/>
              <a:buNone/>
            </a:pPr>
            <a:r>
              <a:rPr lang="pt-PT" sz="2000" i="1" dirty="0">
                <a:solidFill>
                  <a:schemeClr val="dk1"/>
                </a:solidFill>
              </a:rPr>
              <a:t>v  ←</a:t>
            </a:r>
            <a:r>
              <a:rPr lang="pt-PT" sz="2000" dirty="0">
                <a:solidFill>
                  <a:schemeClr val="dk1"/>
                </a:solidFill>
              </a:rPr>
              <a:t> vértice de </a:t>
            </a:r>
            <a:r>
              <a:rPr lang="pt-PT" sz="2000" i="1" dirty="0">
                <a:solidFill>
                  <a:schemeClr val="dk1"/>
                </a:solidFill>
              </a:rPr>
              <a:t>Q</a:t>
            </a:r>
            <a:r>
              <a:rPr lang="pt-PT" sz="2000" dirty="0">
                <a:solidFill>
                  <a:schemeClr val="dk1"/>
                </a:solidFill>
              </a:rPr>
              <a:t>  com valor mínimo de </a:t>
            </a:r>
            <a:r>
              <a:rPr lang="pt-PT" sz="2000" i="1" dirty="0" err="1">
                <a:solidFill>
                  <a:schemeClr val="dk1"/>
                </a:solidFill>
              </a:rPr>
              <a:t>dist</a:t>
            </a:r>
            <a:r>
              <a:rPr lang="pt-PT" sz="2000" i="1" dirty="0">
                <a:solidFill>
                  <a:schemeClr val="dk1"/>
                </a:solidFill>
              </a:rPr>
              <a:t>()</a:t>
            </a:r>
            <a:endParaRPr sz="2000" dirty="0"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Quattrocento Sans"/>
              <a:buNone/>
            </a:pPr>
            <a:r>
              <a:rPr lang="pt-PT" sz="2000" i="1" dirty="0">
                <a:solidFill>
                  <a:schemeClr val="dk1"/>
                </a:solidFill>
              </a:rPr>
              <a:t>Q  ← Q \ {v}</a:t>
            </a:r>
            <a:endParaRPr dirty="0">
              <a:solidFill>
                <a:schemeClr val="dk1"/>
              </a:solidFill>
            </a:endParaRPr>
          </a:p>
          <a:p>
            <a:pPr marL="727423" lvl="2" indent="-18185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Quattrocento Sans"/>
              <a:buNone/>
            </a:pPr>
            <a:r>
              <a:rPr lang="pt-PT" sz="2000" dirty="0">
                <a:solidFill>
                  <a:schemeClr val="dk1"/>
                </a:solidFill>
              </a:rPr>
              <a:t>para cada vértice  </a:t>
            </a:r>
            <a:r>
              <a:rPr lang="pt-PT" sz="2000" i="1" dirty="0">
                <a:solidFill>
                  <a:schemeClr val="dk1"/>
                </a:solidFill>
              </a:rPr>
              <a:t>w∈ N(v)</a:t>
            </a:r>
            <a:r>
              <a:rPr lang="pt-PT" sz="2000" dirty="0">
                <a:solidFill>
                  <a:schemeClr val="dk1"/>
                </a:solidFill>
              </a:rPr>
              <a:t>   fazer</a:t>
            </a:r>
            <a:endParaRPr dirty="0">
              <a:solidFill>
                <a:schemeClr val="dk1"/>
              </a:solidFill>
            </a:endParaRPr>
          </a:p>
          <a:p>
            <a:pPr marL="1000207" lvl="3" indent="-18185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Quattrocento Sans"/>
              <a:buNone/>
            </a:pPr>
            <a:r>
              <a:rPr lang="pt-PT" sz="2400" dirty="0">
                <a:solidFill>
                  <a:schemeClr val="dk1"/>
                </a:solidFill>
              </a:rPr>
              <a:t>se  </a:t>
            </a:r>
            <a:r>
              <a:rPr lang="pt-PT" sz="2400" i="1" dirty="0" err="1">
                <a:solidFill>
                  <a:schemeClr val="dk1"/>
                </a:solidFill>
              </a:rPr>
              <a:t>dist</a:t>
            </a:r>
            <a:r>
              <a:rPr lang="pt-PT" sz="2400" i="1" dirty="0">
                <a:solidFill>
                  <a:schemeClr val="dk1"/>
                </a:solidFill>
              </a:rPr>
              <a:t>(v) + </a:t>
            </a:r>
            <a:r>
              <a:rPr lang="pt-PT" sz="2400" b="1" i="1" dirty="0" err="1">
                <a:solidFill>
                  <a:schemeClr val="dk1"/>
                </a:solidFill>
              </a:rPr>
              <a:t>c</a:t>
            </a:r>
            <a:r>
              <a:rPr lang="pt-PT" sz="2400" b="1" i="1" baseline="-25000" dirty="0" err="1">
                <a:solidFill>
                  <a:schemeClr val="dk1"/>
                </a:solidFill>
              </a:rPr>
              <a:t>vw</a:t>
            </a:r>
            <a:r>
              <a:rPr lang="pt-PT" sz="2400" b="1" i="1" baseline="-25000" dirty="0">
                <a:solidFill>
                  <a:schemeClr val="dk1"/>
                </a:solidFill>
              </a:rPr>
              <a:t>  </a:t>
            </a:r>
            <a:r>
              <a:rPr lang="pt-PT" sz="2400" i="1" dirty="0">
                <a:solidFill>
                  <a:schemeClr val="dk1"/>
                </a:solidFill>
              </a:rPr>
              <a:t>&lt; </a:t>
            </a:r>
            <a:r>
              <a:rPr lang="pt-PT" sz="2400" i="1" dirty="0" err="1">
                <a:solidFill>
                  <a:schemeClr val="dk1"/>
                </a:solidFill>
              </a:rPr>
              <a:t>dist</a:t>
            </a:r>
            <a:r>
              <a:rPr lang="pt-PT" sz="2400" i="1" dirty="0">
                <a:solidFill>
                  <a:schemeClr val="dk1"/>
                </a:solidFill>
              </a:rPr>
              <a:t>(w)  </a:t>
            </a:r>
            <a:r>
              <a:rPr lang="pt-PT" sz="2400" dirty="0">
                <a:solidFill>
                  <a:schemeClr val="dk1"/>
                </a:solidFill>
              </a:rPr>
              <a:t>então </a:t>
            </a:r>
            <a:endParaRPr dirty="0"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Quattrocento Sans"/>
              <a:buNone/>
            </a:pPr>
            <a:r>
              <a:rPr lang="pt-PT" sz="1800" i="1" dirty="0" err="1">
                <a:solidFill>
                  <a:schemeClr val="dk1"/>
                </a:solidFill>
              </a:rPr>
              <a:t>dist</a:t>
            </a:r>
            <a:r>
              <a:rPr lang="pt-PT" sz="1800" i="1" dirty="0">
                <a:solidFill>
                  <a:schemeClr val="dk1"/>
                </a:solidFill>
              </a:rPr>
              <a:t>(w) ← </a:t>
            </a:r>
            <a:r>
              <a:rPr lang="pt-PT" sz="1800" i="1" dirty="0" err="1">
                <a:solidFill>
                  <a:schemeClr val="dk1"/>
                </a:solidFill>
              </a:rPr>
              <a:t>dist</a:t>
            </a:r>
            <a:r>
              <a:rPr lang="pt-PT" sz="1800" i="1" dirty="0">
                <a:solidFill>
                  <a:schemeClr val="dk1"/>
                </a:solidFill>
              </a:rPr>
              <a:t>(v) + </a:t>
            </a:r>
            <a:r>
              <a:rPr lang="pt-PT" sz="1800" b="1" i="1" dirty="0" err="1">
                <a:solidFill>
                  <a:schemeClr val="dk1"/>
                </a:solidFill>
              </a:rPr>
              <a:t>c</a:t>
            </a:r>
            <a:r>
              <a:rPr lang="pt-PT" sz="1800" b="1" i="1" baseline="-25000" dirty="0" err="1">
                <a:solidFill>
                  <a:schemeClr val="dk1"/>
                </a:solidFill>
              </a:rPr>
              <a:t>vw</a:t>
            </a:r>
            <a:r>
              <a:rPr lang="pt-PT" sz="1800" b="1" i="1" baseline="-25000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Quattrocento Sans"/>
              <a:buNone/>
            </a:pPr>
            <a:r>
              <a:rPr lang="pt-PT" sz="1800" i="1" dirty="0" err="1">
                <a:solidFill>
                  <a:schemeClr val="dk1"/>
                </a:solidFill>
              </a:rPr>
              <a:t>ant</a:t>
            </a:r>
            <a:r>
              <a:rPr lang="pt-PT" sz="1800" i="1" dirty="0">
                <a:solidFill>
                  <a:schemeClr val="dk1"/>
                </a:solidFill>
              </a:rPr>
              <a:t>(w) ← v</a:t>
            </a:r>
            <a:endParaRPr dirty="0">
              <a:solidFill>
                <a:schemeClr val="dk1"/>
              </a:solidFill>
            </a:endParaRPr>
          </a:p>
          <a:p>
            <a:pPr marL="1182063" lvl="4" indent="-136392" algn="l" rtl="0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Quattrocento Sans"/>
              <a:buNone/>
            </a:pPr>
            <a:r>
              <a:rPr lang="pt-PT" sz="1800" i="1" dirty="0">
                <a:solidFill>
                  <a:schemeClr val="dk1"/>
                </a:solidFill>
              </a:rPr>
              <a:t>Q ←  Q ∪ { w}     </a:t>
            </a:r>
            <a:r>
              <a:rPr lang="pt-PT" sz="1800" dirty="0">
                <a:solidFill>
                  <a:schemeClr val="dk1"/>
                </a:solidFill>
              </a:rPr>
              <a:t>(podia já lá estar antes! Se estiver não colocar novamente.)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89" name="Google Shape;89;p4"/>
          <p:cNvGrpSpPr/>
          <p:nvPr/>
        </p:nvGrpSpPr>
        <p:grpSpPr>
          <a:xfrm>
            <a:off x="7602317" y="443511"/>
            <a:ext cx="3595687" cy="2470150"/>
            <a:chOff x="230" y="670"/>
            <a:chExt cx="2265" cy="1556"/>
          </a:xfrm>
        </p:grpSpPr>
        <p:sp>
          <p:nvSpPr>
            <p:cNvPr id="90" name="Google Shape;90;p4"/>
            <p:cNvSpPr/>
            <p:nvPr/>
          </p:nvSpPr>
          <p:spPr>
            <a:xfrm>
              <a:off x="768" y="816"/>
              <a:ext cx="288" cy="288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v1</a:t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584" y="816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v2</a:t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336" y="1296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v3</a:t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152" y="1344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v4</a:t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2016" y="1344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v5</a:t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768" y="1776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v6</a:t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584" y="1776"/>
              <a:ext cx="288" cy="288"/>
            </a:xfrm>
            <a:prstGeom prst="ellipse">
              <a:avLst/>
            </a:prstGeom>
            <a:noFill/>
            <a:ln w="126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v7</a:t>
              </a:r>
              <a:endParaRPr/>
            </a:p>
          </p:txBody>
        </p:sp>
        <p:cxnSp>
          <p:nvCxnSpPr>
            <p:cNvPr id="97" name="Google Shape;97;p4"/>
            <p:cNvCxnSpPr/>
            <p:nvPr/>
          </p:nvCxnSpPr>
          <p:spPr>
            <a:xfrm rot="10800000" flipH="1">
              <a:off x="528" y="1056"/>
              <a:ext cx="240" cy="2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>
              <a:off x="1055" y="911"/>
              <a:ext cx="52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>
              <a:off x="1824" y="1056"/>
              <a:ext cx="288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>
              <a:off x="960" y="1104"/>
              <a:ext cx="288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 flipH="1">
              <a:off x="1392" y="1104"/>
              <a:ext cx="288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1440" y="1488"/>
              <a:ext cx="57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 flipH="1">
              <a:off x="1008" y="1584"/>
              <a:ext cx="192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1392" y="1584"/>
              <a:ext cx="240" cy="2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480" y="1584"/>
              <a:ext cx="288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 rot="10800000">
              <a:off x="1056" y="1968"/>
              <a:ext cx="52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 flipH="1">
              <a:off x="1872" y="1632"/>
              <a:ext cx="240" cy="2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 rot="10800000">
              <a:off x="624" y="1488"/>
              <a:ext cx="52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9" name="Google Shape;109;p4"/>
            <p:cNvSpPr txBox="1"/>
            <p:nvPr/>
          </p:nvSpPr>
          <p:spPr>
            <a:xfrm>
              <a:off x="422" y="936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4"/>
            <p:cNvSpPr txBox="1"/>
            <p:nvPr/>
          </p:nvSpPr>
          <p:spPr>
            <a:xfrm>
              <a:off x="1200" y="720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1968" y="1008"/>
              <a:ext cx="262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2016" y="1680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4"/>
            <p:cNvSpPr txBox="1"/>
            <p:nvPr/>
          </p:nvSpPr>
          <p:spPr>
            <a:xfrm>
              <a:off x="1200" y="1910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4"/>
            <p:cNvSpPr txBox="1"/>
            <p:nvPr/>
          </p:nvSpPr>
          <p:spPr>
            <a:xfrm>
              <a:off x="432" y="1680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1056" y="1008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1536" y="1152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1680" y="1440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1344" y="1632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912" y="1536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816" y="1296"/>
              <a:ext cx="188" cy="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794" y="746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834" y="670"/>
              <a:ext cx="173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605" y="725"/>
              <a:ext cx="225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2298" y="1425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619" y="2032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806" y="2022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230" y="1518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1218" y="1178"/>
              <a:ext cx="197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/>
            </a:p>
          </p:txBody>
        </p:sp>
      </p:grpSp>
      <p:graphicFrame>
        <p:nvGraphicFramePr>
          <p:cNvPr id="129" name="Google Shape;129;p4"/>
          <p:cNvGraphicFramePr/>
          <p:nvPr/>
        </p:nvGraphicFramePr>
        <p:xfrm>
          <a:off x="7400434" y="2927627"/>
          <a:ext cx="3923700" cy="3114120"/>
        </p:xfrm>
        <a:graphic>
          <a:graphicData uri="http://schemas.openxmlformats.org/drawingml/2006/table">
            <a:tbl>
              <a:tblPr firstRow="1" bandRow="1">
                <a:noFill/>
                <a:tableStyleId>{2BD982CF-4CF1-4419-8B47-68DC011AF0E3}</a:tableStyleId>
              </a:tblPr>
              <a:tblGrid>
                <a:gridCol w="78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 b="1" u="none" strike="noStrike" cap="none"/>
                        <a:t>v</a:t>
                      </a:r>
                      <a:endParaRPr sz="179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 b="1"/>
                        <a:t>N(v)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 b="1"/>
                        <a:t>ant(v)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1 </a:t>
                      </a:r>
                      <a:r>
                        <a:rPr lang="pt-PT" sz="1790"/>
                        <a:t>= s</a:t>
                      </a:r>
                      <a:endParaRPr sz="179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2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90"/>
                        <a:buFont typeface="Arial"/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4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90"/>
                        <a:buFont typeface="Arial"/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1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90"/>
                        <a:buFont typeface="Arial"/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3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5 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6</a:t>
                      </a:r>
                      <a:r>
                        <a:rPr lang="pt-PT" sz="1790"/>
                        <a:t>, v</a:t>
                      </a:r>
                      <a:r>
                        <a:rPr lang="pt-PT" sz="1790" baseline="-25000"/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90"/>
                        <a:buFont typeface="Arial"/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PT" sz="2800" baseline="-25000"/>
                        <a:t>∅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90"/>
                        <a:buFont typeface="Arial"/>
                        <a:buNone/>
                      </a:pPr>
                      <a:r>
                        <a:rPr lang="pt-PT" sz="1790"/>
                        <a:t>v</a:t>
                      </a:r>
                      <a:r>
                        <a:rPr lang="pt-PT" sz="1790" baseline="-25000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9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Google Shape;130;p4"/>
          <p:cNvSpPr txBox="1"/>
          <p:nvPr/>
        </p:nvSpPr>
        <p:spPr>
          <a:xfrm>
            <a:off x="7304690" y="6140702"/>
            <a:ext cx="359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= {v</a:t>
            </a:r>
            <a:r>
              <a:rPr lang="pt-PT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pt-PT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Macintosh PowerPoint</Application>
  <PresentationFormat>Personalizar</PresentationFormat>
  <Paragraphs>86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Bahnschrift Condensed</vt:lpstr>
      <vt:lpstr>Aharoni</vt:lpstr>
      <vt:lpstr>Quattrocento Sans</vt:lpstr>
      <vt:lpstr>Times New Roman</vt:lpstr>
      <vt:lpstr>Simple Light</vt:lpstr>
      <vt:lpstr>Problema Do Caminho Mais Curto -  Algoritmo De Dijkstra</vt:lpstr>
      <vt:lpstr>Algoritmo de Dijkstra</vt:lpstr>
      <vt:lpstr>Algoritmo de Dijkstra</vt:lpstr>
      <vt:lpstr>Algoritmo de Dijkstra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Do Caminho Mais Curto -  Algoritmo De Dijkstra</dc:title>
  <dc:creator>Gabriel David</dc:creator>
  <cp:lastModifiedBy>Microsoft Office User</cp:lastModifiedBy>
  <cp:revision>1</cp:revision>
  <dcterms:created xsi:type="dcterms:W3CDTF">1996-09-05T15:01:52Z</dcterms:created>
  <dcterms:modified xsi:type="dcterms:W3CDTF">2026-06-22T23:11:00Z</dcterms:modified>
</cp:coreProperties>
</file>