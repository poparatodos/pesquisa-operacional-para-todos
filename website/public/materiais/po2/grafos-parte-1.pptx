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Aharoni" panose="02010803020104030203" pitchFamily="2" charset="-79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Quattrocento Sans" panose="020B0502050000020003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jUct5EBE9z6bwXBwKmnnwNIxC2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32"/>
  </p:normalViewPr>
  <p:slideViewPr>
    <p:cSldViewPr snapToGrid="0">
      <p:cViewPr varScale="1">
        <p:scale>
          <a:sx n="106" d="100"/>
          <a:sy n="106" d="100"/>
        </p:scale>
        <p:origin x="79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0d025b2ea_0_58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3a0d025b2ea_0_58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3a0d025b2ea_0_5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0d025b2ea_0_62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3a0d025b2ea_0_6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0d025b2ea_0_6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3a0d025b2ea_0_6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g3a0d025b2ea_0_6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a0d025b2ea_0_6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a0d025b2ea_0_6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g3a0d025b2ea_0_69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3a0d025b2ea_0_6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0d025b2ea_0_7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a0d025b2ea_0_7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0d025b2ea_0_7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g3a0d025b2ea_0_7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g3a0d025b2ea_0_7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0d025b2ea_0_81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g3a0d025b2ea_0_8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0d025b2ea_0_84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g3a0d025b2ea_0_84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g3a0d025b2ea_0_84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g3a0d025b2ea_0_84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3a0d025b2ea_0_8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0d025b2ea_0_9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3a0d025b2ea_0_9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0d025b2ea_0_93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3a0d025b2ea_0_9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g3a0d025b2ea_0_9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0d025b2ea_0_9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 título 1">
  <p:cSld name="Slide de título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0d025b2ea_0_99"/>
          <p:cNvSpPr txBox="1"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1700"/>
              <a:buNone/>
              <a:defRPr sz="2000">
                <a:solidFill>
                  <a:srgbClr val="55556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SzPts val="1530"/>
              <a:buNone/>
              <a:defRPr>
                <a:solidFill>
                  <a:srgbClr val="8B8B8D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SzPts val="1440"/>
              <a:buNone/>
              <a:defRPr>
                <a:solidFill>
                  <a:srgbClr val="8B8B8D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8B8B8D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8B8B8D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300"/>
              <a:buNone/>
              <a:defRPr>
                <a:solidFill>
                  <a:srgbClr val="8B8B8D"/>
                </a:solidFill>
              </a:defRPr>
            </a:lvl9pPr>
          </a:lstStyle>
          <a:p>
            <a:endParaRPr/>
          </a:p>
        </p:txBody>
      </p:sp>
      <p:cxnSp>
        <p:nvCxnSpPr>
          <p:cNvPr id="56" name="Google Shape;56;g3a0d025b2ea_0_99"/>
          <p:cNvCxnSpPr/>
          <p:nvPr/>
        </p:nvCxnSpPr>
        <p:spPr>
          <a:xfrm>
            <a:off x="914400" y="3398520"/>
            <a:ext cx="10464900" cy="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" name="Google Shape;57;g3a0d025b2ea_0_99"/>
          <p:cNvSpPr txBox="1">
            <a:spLocks noGrp="1"/>
          </p:cNvSpPr>
          <p:nvPr>
            <p:ph type="title"/>
          </p:nvPr>
        </p:nvSpPr>
        <p:spPr>
          <a:xfrm>
            <a:off x="892317" y="2438400"/>
            <a:ext cx="104868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Quattrocento Sans"/>
              <a:buNone/>
              <a:defRPr sz="4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a0d025b2ea_0_99"/>
          <p:cNvSpPr/>
          <p:nvPr/>
        </p:nvSpPr>
        <p:spPr>
          <a:xfrm>
            <a:off x="0" y="0"/>
            <a:ext cx="12192000" cy="476700"/>
          </a:xfrm>
          <a:prstGeom prst="rect">
            <a:avLst/>
          </a:prstGeom>
          <a:solidFill>
            <a:srgbClr val="94BB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rgbClr val="5757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Grafos e Algoritmos - Introdução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0d025b2ea_0_104"/>
          <p:cNvSpPr txBox="1">
            <a:spLocks noGrp="1"/>
          </p:cNvSpPr>
          <p:nvPr>
            <p:ph type="title"/>
          </p:nvPr>
        </p:nvSpPr>
        <p:spPr>
          <a:xfrm>
            <a:off x="1631504" y="533400"/>
            <a:ext cx="9951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g3a0d025b2ea_0_104"/>
          <p:cNvSpPr txBox="1">
            <a:spLocks noGrp="1"/>
          </p:cNvSpPr>
          <p:nvPr>
            <p:ph type="body" idx="1"/>
          </p:nvPr>
        </p:nvSpPr>
        <p:spPr>
          <a:xfrm>
            <a:off x="767408" y="1844824"/>
            <a:ext cx="10815000" cy="4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8140" algn="l">
              <a:spcBef>
                <a:spcPts val="480"/>
              </a:spcBef>
              <a:spcAft>
                <a:spcPts val="0"/>
              </a:spcAft>
              <a:buSzPts val="2040"/>
              <a:buChar char="●"/>
              <a:defRPr sz="2400"/>
            </a:lvl1pPr>
            <a:lvl2pPr marL="914400" lvl="1" indent="-336550" algn="l">
              <a:spcBef>
                <a:spcPts val="1600"/>
              </a:spcBef>
              <a:spcAft>
                <a:spcPts val="0"/>
              </a:spcAft>
              <a:buSzPts val="1700"/>
              <a:buChar char="○"/>
              <a:defRPr sz="2000"/>
            </a:lvl2pPr>
            <a:lvl3pPr marL="1371600" lvl="2" indent="-331469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marL="1828800" lvl="3" indent="-330200" algn="l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17500" algn="l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42900" algn="l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62" name="Google Shape;62;g3a0d025b2ea_0_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7408" y="596652"/>
            <a:ext cx="864097" cy="864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0d025b2ea_0_5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3a0d025b2ea_0_5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3a0d025b2ea_0_5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.jpg"/><Relationship Id="rId5" Type="http://schemas.openxmlformats.org/officeDocument/2006/relationships/image" Target="../media/image3.png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.jpg"/><Relationship Id="rId5" Type="http://schemas.openxmlformats.org/officeDocument/2006/relationships/image" Target="../media/image3.png"/><Relationship Id="rId4" Type="http://schemas.openxmlformats.org/officeDocument/2006/relationships/image" Target="../media/image6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>
            <a:spLocks noGrp="1"/>
          </p:cNvSpPr>
          <p:nvPr>
            <p:ph type="title"/>
          </p:nvPr>
        </p:nvSpPr>
        <p:spPr>
          <a:xfrm>
            <a:off x="555149" y="418029"/>
            <a:ext cx="7662419" cy="36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 dirty="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TEORIA</a:t>
            </a:r>
            <a:r>
              <a:rPr lang="pt-BR" sz="6000" b="0" i="0" u="none" strike="noStrike" cap="none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pt-BR" sz="6600" dirty="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DOS GRAFOS - Parte 1</a:t>
            </a:r>
            <a:endParaRPr dirty="0"/>
          </a:p>
        </p:txBody>
      </p:sp>
      <p:sp>
        <p:nvSpPr>
          <p:cNvPr id="68" name="Google Shape;68;p1"/>
          <p:cNvSpPr txBox="1">
            <a:spLocks noGrp="1"/>
          </p:cNvSpPr>
          <p:nvPr>
            <p:ph type="body" idx="1"/>
          </p:nvPr>
        </p:nvSpPr>
        <p:spPr>
          <a:xfrm>
            <a:off x="555149" y="4953279"/>
            <a:ext cx="4229400" cy="8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ct val="85000"/>
              <a:buNone/>
            </a:pPr>
            <a:r>
              <a:rPr lang="pt-BR" sz="2800" dirty="0" err="1">
                <a:solidFill>
                  <a:schemeClr val="dk1"/>
                </a:solidFill>
              </a:rPr>
              <a:t>Profª</a:t>
            </a:r>
            <a:r>
              <a:rPr lang="pt-BR" sz="2800" dirty="0">
                <a:solidFill>
                  <a:schemeClr val="dk1"/>
                </a:solidFill>
              </a:rPr>
              <a:t> Dra. Andréa Bonifácio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69" name="Google Shape;69;p1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3944" y="1570147"/>
            <a:ext cx="4087367" cy="378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Os grafos são usados como modelo para muitos problemas em vários ramos da matemática, da informática (por causa da motivação algorítmica), da engenharia e da indústria.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6" name="Google Shape;76;p2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7652" y="4436988"/>
            <a:ext cx="2430766" cy="2251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>
            <a:spLocks noGrp="1"/>
          </p:cNvSpPr>
          <p:nvPr>
            <p:ph type="title" idx="4294967295"/>
          </p:nvPr>
        </p:nvSpPr>
        <p:spPr>
          <a:xfrm>
            <a:off x="767400" y="533400"/>
            <a:ext cx="10815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Conceitos Básicos e Notações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83" name="Google Shape;83;p3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Um </a:t>
            </a:r>
            <a:r>
              <a:rPr lang="pt-BR" b="1">
                <a:solidFill>
                  <a:schemeClr val="dk1"/>
                </a:solidFill>
              </a:rPr>
              <a:t>grafo simples</a:t>
            </a:r>
            <a:r>
              <a:rPr lang="pt-BR">
                <a:solidFill>
                  <a:schemeClr val="dk1"/>
                </a:solidFill>
              </a:rPr>
              <a:t> ou </a:t>
            </a:r>
            <a:r>
              <a:rPr lang="pt-BR" b="1">
                <a:solidFill>
                  <a:schemeClr val="dk1"/>
                </a:solidFill>
              </a:rPr>
              <a:t>grafo</a:t>
            </a:r>
            <a:r>
              <a:rPr lang="pt-BR">
                <a:solidFill>
                  <a:schemeClr val="dk1"/>
                </a:solidFill>
              </a:rPr>
              <a:t> é um par ordenado G = (V, E) onde V é um conjunto finito, não vazio, de elementos chamados vértices, e E é um conjunto de pares (não repetidos) não ordenados de elementos distintos de V chamados arestas.</a:t>
            </a:r>
            <a:endParaRPr/>
          </a:p>
          <a:p>
            <a:pPr marL="182880" lvl="0" indent="-53339" algn="l" rtl="0">
              <a:spcBef>
                <a:spcPts val="480"/>
              </a:spcBef>
              <a:spcAft>
                <a:spcPts val="1600"/>
              </a:spcAft>
              <a:buSzPts val="2040"/>
              <a:buNone/>
            </a:pPr>
            <a:endParaRPr/>
          </a:p>
        </p:txBody>
      </p:sp>
      <p:pic>
        <p:nvPicPr>
          <p:cNvPr id="84" name="Google Shape;84;p3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7652" y="4436988"/>
            <a:ext cx="2430766" cy="2251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3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>
            <a:spLocks noGrp="1"/>
          </p:cNvSpPr>
          <p:nvPr>
            <p:ph type="body" idx="4294967295"/>
          </p:nvPr>
        </p:nvSpPr>
        <p:spPr>
          <a:xfrm>
            <a:off x="688350" y="1350700"/>
            <a:ext cx="10815300" cy="46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marR="0" lvl="0" indent="-1828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Exemplo: G = (V, E) tal que V = {a, b, c, d, e} e E = {{a, b}, {b, c}, {c, e}, {e, a}, {b, d}, {e, d}}</a:t>
            </a:r>
            <a:endParaRPr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1600"/>
              </a:spcAft>
              <a:buSzPts val="2040"/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5315416" y="3146039"/>
            <a:ext cx="133814" cy="125451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rgbClr val="6B76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332143" y="3908504"/>
            <a:ext cx="133814" cy="125451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rgbClr val="6B76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145931" y="3908504"/>
            <a:ext cx="133814" cy="125451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rgbClr val="6B76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706280" y="2559206"/>
            <a:ext cx="133814" cy="125451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rgbClr val="6B76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145931" y="3146039"/>
            <a:ext cx="133814" cy="125451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rgbClr val="6B76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p4"/>
          <p:cNvCxnSpPr>
            <a:stCxn id="94" idx="6"/>
            <a:endCxn id="91" idx="0"/>
          </p:cNvCxnSpPr>
          <p:nvPr/>
        </p:nvCxnSpPr>
        <p:spPr>
          <a:xfrm>
            <a:off x="4840094" y="2621932"/>
            <a:ext cx="542100" cy="524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" name="Google Shape;97;p4"/>
          <p:cNvCxnSpPr>
            <a:stCxn id="94" idx="0"/>
            <a:endCxn id="95" idx="7"/>
          </p:cNvCxnSpPr>
          <p:nvPr/>
        </p:nvCxnSpPr>
        <p:spPr>
          <a:xfrm flipH="1">
            <a:off x="4260187" y="2559206"/>
            <a:ext cx="513000" cy="60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" name="Google Shape;98;p4"/>
          <p:cNvCxnSpPr>
            <a:stCxn id="95" idx="4"/>
            <a:endCxn id="93" idx="0"/>
          </p:cNvCxnSpPr>
          <p:nvPr/>
        </p:nvCxnSpPr>
        <p:spPr>
          <a:xfrm>
            <a:off x="4212838" y="3271490"/>
            <a:ext cx="0" cy="636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" name="Google Shape;99;p4"/>
          <p:cNvCxnSpPr/>
          <p:nvPr/>
        </p:nvCxnSpPr>
        <p:spPr>
          <a:xfrm flipH="1">
            <a:off x="5396180" y="3208763"/>
            <a:ext cx="2870" cy="71811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" name="Google Shape;100;p4"/>
          <p:cNvCxnSpPr/>
          <p:nvPr/>
        </p:nvCxnSpPr>
        <p:spPr>
          <a:xfrm rot="10800000" flipH="1">
            <a:off x="4261586" y="3257675"/>
            <a:ext cx="1102577" cy="69974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1" name="Google Shape;101;p4"/>
          <p:cNvCxnSpPr>
            <a:stCxn id="95" idx="6"/>
            <a:endCxn id="92" idx="1"/>
          </p:cNvCxnSpPr>
          <p:nvPr/>
        </p:nvCxnSpPr>
        <p:spPr>
          <a:xfrm>
            <a:off x="4279745" y="3208765"/>
            <a:ext cx="1071900" cy="71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" name="Google Shape;102;p4"/>
          <p:cNvSpPr txBox="1"/>
          <p:nvPr/>
        </p:nvSpPr>
        <p:spPr>
          <a:xfrm>
            <a:off x="4706281" y="2282206"/>
            <a:ext cx="59454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03" name="Google Shape;103;p4"/>
          <p:cNvSpPr txBox="1"/>
          <p:nvPr/>
        </p:nvSpPr>
        <p:spPr>
          <a:xfrm>
            <a:off x="5465957" y="3014445"/>
            <a:ext cx="30043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5465956" y="3957415"/>
            <a:ext cx="40410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4097902" y="3989600"/>
            <a:ext cx="28084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3900377" y="3014445"/>
            <a:ext cx="24555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pic>
        <p:nvPicPr>
          <p:cNvPr id="107" name="Google Shape;107;p4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7652" y="4436988"/>
            <a:ext cx="2430766" cy="2251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4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body" idx="4294967295"/>
          </p:nvPr>
        </p:nvSpPr>
        <p:spPr>
          <a:xfrm>
            <a:off x="947550" y="670550"/>
            <a:ext cx="10296900" cy="48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marR="0" lvl="0" indent="-1828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A ordem de G é o número de vértices de G. Denota-se por |V(G)|.</a:t>
            </a:r>
            <a:endParaRPr>
              <a:solidFill>
                <a:schemeClr val="dk1"/>
              </a:solidFill>
            </a:endParaRPr>
          </a:p>
          <a:p>
            <a:pPr marL="609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182880" marR="0" lvl="0" indent="-1828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Grafo trivial é aquele com |V(G)| = 1.</a:t>
            </a:r>
            <a:endParaRPr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1600"/>
              </a:spcAft>
              <a:buSzPts val="2040"/>
              <a:buNone/>
            </a:pP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5315416" y="3146039"/>
            <a:ext cx="133814" cy="125451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rgbClr val="6B76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332143" y="3908504"/>
            <a:ext cx="133814" cy="125451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rgbClr val="6B76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145931" y="3908504"/>
            <a:ext cx="133814" cy="125451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rgbClr val="6B76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706280" y="2559206"/>
            <a:ext cx="133814" cy="125451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rgbClr val="6B76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145931" y="3146039"/>
            <a:ext cx="133814" cy="125451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rgbClr val="6B76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19" name="Google Shape;119;p5"/>
          <p:cNvCxnSpPr>
            <a:stCxn id="117" idx="6"/>
            <a:endCxn id="114" idx="0"/>
          </p:cNvCxnSpPr>
          <p:nvPr/>
        </p:nvCxnSpPr>
        <p:spPr>
          <a:xfrm>
            <a:off x="4840094" y="2621932"/>
            <a:ext cx="542100" cy="524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0" name="Google Shape;120;p5"/>
          <p:cNvCxnSpPr>
            <a:stCxn id="117" idx="0"/>
            <a:endCxn id="118" idx="7"/>
          </p:cNvCxnSpPr>
          <p:nvPr/>
        </p:nvCxnSpPr>
        <p:spPr>
          <a:xfrm flipH="1">
            <a:off x="4260187" y="2559206"/>
            <a:ext cx="513000" cy="60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1" name="Google Shape;121;p5"/>
          <p:cNvCxnSpPr>
            <a:stCxn id="118" idx="4"/>
            <a:endCxn id="116" idx="0"/>
          </p:cNvCxnSpPr>
          <p:nvPr/>
        </p:nvCxnSpPr>
        <p:spPr>
          <a:xfrm>
            <a:off x="4212838" y="3271490"/>
            <a:ext cx="0" cy="636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" name="Google Shape;122;p5"/>
          <p:cNvCxnSpPr/>
          <p:nvPr/>
        </p:nvCxnSpPr>
        <p:spPr>
          <a:xfrm flipH="1">
            <a:off x="5396180" y="3208763"/>
            <a:ext cx="2870" cy="71811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" name="Google Shape;123;p5"/>
          <p:cNvCxnSpPr/>
          <p:nvPr/>
        </p:nvCxnSpPr>
        <p:spPr>
          <a:xfrm rot="10800000" flipH="1">
            <a:off x="4261586" y="3257675"/>
            <a:ext cx="1102577" cy="69974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4" name="Google Shape;124;p5"/>
          <p:cNvCxnSpPr>
            <a:stCxn id="118" idx="6"/>
            <a:endCxn id="115" idx="1"/>
          </p:cNvCxnSpPr>
          <p:nvPr/>
        </p:nvCxnSpPr>
        <p:spPr>
          <a:xfrm>
            <a:off x="4279745" y="3208765"/>
            <a:ext cx="1071900" cy="71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5" name="Google Shape;125;p5"/>
          <p:cNvSpPr txBox="1"/>
          <p:nvPr/>
        </p:nvSpPr>
        <p:spPr>
          <a:xfrm>
            <a:off x="4706281" y="2282206"/>
            <a:ext cx="59454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5465957" y="3014445"/>
            <a:ext cx="30043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</a:t>
            </a:r>
            <a:endParaRPr sz="135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5465956" y="3957415"/>
            <a:ext cx="40410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</a:t>
            </a:r>
            <a:endParaRPr sz="135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4097902" y="3989600"/>
            <a:ext cx="28886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sz="135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3900377" y="3014445"/>
            <a:ext cx="24555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/>
          </a:p>
        </p:txBody>
      </p:sp>
      <p:sp>
        <p:nvSpPr>
          <p:cNvPr id="130" name="Google Shape;130;p5"/>
          <p:cNvSpPr txBox="1"/>
          <p:nvPr/>
        </p:nvSpPr>
        <p:spPr>
          <a:xfrm>
            <a:off x="4270336" y="4725144"/>
            <a:ext cx="19696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|V(G)| = 5</a:t>
            </a:r>
            <a:endParaRPr/>
          </a:p>
        </p:txBody>
      </p:sp>
      <p:pic>
        <p:nvPicPr>
          <p:cNvPr id="131" name="Google Shape;131;p5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7652" y="4436988"/>
            <a:ext cx="2430766" cy="2251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>
            <a:spLocks noGrp="1"/>
          </p:cNvSpPr>
          <p:nvPr>
            <p:ph type="title" idx="4294967295"/>
          </p:nvPr>
        </p:nvSpPr>
        <p:spPr>
          <a:xfrm>
            <a:off x="1066575" y="786066"/>
            <a:ext cx="105159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 dirty="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Relaxações da definição de grafo</a:t>
            </a:r>
            <a:endParaRPr sz="6600" dirty="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38" name="Google Shape;138;p6"/>
          <p:cNvSpPr txBox="1">
            <a:spLocks noGrp="1"/>
          </p:cNvSpPr>
          <p:nvPr>
            <p:ph type="body" idx="4294967295"/>
          </p:nvPr>
        </p:nvSpPr>
        <p:spPr>
          <a:xfrm>
            <a:off x="1226050" y="2061850"/>
            <a:ext cx="10107600" cy="15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lvl="0" indent="-24561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63"/>
              <a:buChar char="●"/>
            </a:pPr>
            <a:r>
              <a:rPr lang="pt-BR" sz="2380">
                <a:solidFill>
                  <a:schemeClr val="dk1"/>
                </a:solidFill>
              </a:rPr>
              <a:t>1) multigrafo: admite a existência de arestas múltiplas.</a:t>
            </a:r>
            <a:endParaRPr sz="2380">
              <a:solidFill>
                <a:schemeClr val="dk1"/>
              </a:solidFill>
            </a:endParaRPr>
          </a:p>
          <a:p>
            <a:pPr marL="182880" lvl="0" indent="-101917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SzPts val="663"/>
              <a:buNone/>
            </a:pPr>
            <a:endParaRPr sz="2380">
              <a:solidFill>
                <a:schemeClr val="dk1"/>
              </a:solidFill>
            </a:endParaRPr>
          </a:p>
          <a:p>
            <a:pPr marL="182880" lvl="0" indent="-245618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SzPts val="2263"/>
              <a:buChar char="●"/>
            </a:pPr>
            <a:r>
              <a:rPr lang="pt-BR" sz="2380">
                <a:solidFill>
                  <a:schemeClr val="dk1"/>
                </a:solidFill>
              </a:rPr>
              <a:t>2) laço ou loop: é uma aresta unindo um vértice a si mesmo.</a:t>
            </a:r>
            <a:endParaRPr sz="238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SzPts val="663"/>
              <a:buNone/>
            </a:pPr>
            <a:endParaRPr sz="2380">
              <a:solidFill>
                <a:schemeClr val="dk1"/>
              </a:solidFill>
            </a:endParaRPr>
          </a:p>
          <a:p>
            <a:pPr marL="182880" lvl="0" indent="-101917" algn="l" rtl="0">
              <a:lnSpc>
                <a:spcPct val="95000"/>
              </a:lnSpc>
              <a:spcBef>
                <a:spcPts val="300"/>
              </a:spcBef>
              <a:spcAft>
                <a:spcPts val="1600"/>
              </a:spcAft>
              <a:buSzPts val="663"/>
              <a:buNone/>
            </a:pPr>
            <a:endParaRPr sz="2380">
              <a:solidFill>
                <a:schemeClr val="dk1"/>
              </a:solidFill>
            </a:endParaRPr>
          </a:p>
        </p:txBody>
      </p:sp>
      <p:pic>
        <p:nvPicPr>
          <p:cNvPr id="139" name="Google Shape;13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72950" y="3429000"/>
            <a:ext cx="5349075" cy="273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/>
        </p:nvSpPr>
        <p:spPr>
          <a:xfrm>
            <a:off x="3141439" y="6363970"/>
            <a:ext cx="216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Grafo com laços</a:t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6241328" y="6294203"/>
            <a:ext cx="273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multigrafo</a:t>
            </a:r>
            <a:endParaRPr sz="18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42" name="Google Shape;142;p6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97652" y="4436988"/>
            <a:ext cx="2430766" cy="2251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6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03504" y="11126"/>
            <a:ext cx="779525" cy="7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>
            <a:spLocks noGrp="1"/>
          </p:cNvSpPr>
          <p:nvPr>
            <p:ph type="title" idx="4294967295"/>
          </p:nvPr>
        </p:nvSpPr>
        <p:spPr>
          <a:xfrm>
            <a:off x="1631504" y="533400"/>
            <a:ext cx="9950896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Digrafo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49" name="Google Shape;149;p7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marR="0" lvl="0" indent="-1828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dirty="0">
                <a:solidFill>
                  <a:schemeClr val="dk1"/>
                </a:solidFill>
              </a:rPr>
              <a:t>Um </a:t>
            </a:r>
            <a:r>
              <a:rPr lang="pt-BR" b="1" dirty="0" err="1">
                <a:solidFill>
                  <a:schemeClr val="dk1"/>
                </a:solidFill>
              </a:rPr>
              <a:t>digrafo</a:t>
            </a:r>
            <a:r>
              <a:rPr lang="pt-BR" dirty="0">
                <a:solidFill>
                  <a:schemeClr val="dk1"/>
                </a:solidFill>
              </a:rPr>
              <a:t> é um grafo onde as arestas são orientadas.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80"/>
              </a:spcBef>
              <a:spcAft>
                <a:spcPts val="1600"/>
              </a:spcAft>
              <a:buSzPts val="2040"/>
              <a:buNone/>
            </a:pPr>
            <a:endParaRPr dirty="0"/>
          </a:p>
        </p:txBody>
      </p:sp>
      <p:sp>
        <p:nvSpPr>
          <p:cNvPr id="150" name="Google Shape;150;p7"/>
          <p:cNvSpPr/>
          <p:nvPr/>
        </p:nvSpPr>
        <p:spPr>
          <a:xfrm>
            <a:off x="4367808" y="3175372"/>
            <a:ext cx="368300" cy="368300"/>
          </a:xfrm>
          <a:prstGeom prst="ellipse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977408" y="3708772"/>
            <a:ext cx="368300" cy="368300"/>
          </a:xfrm>
          <a:prstGeom prst="ellipse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272808" y="3708772"/>
            <a:ext cx="368300" cy="368300"/>
          </a:xfrm>
          <a:prstGeom prst="ellipse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272808" y="2641972"/>
            <a:ext cx="368300" cy="368300"/>
          </a:xfrm>
          <a:prstGeom prst="ellipse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977408" y="2641972"/>
            <a:ext cx="368300" cy="368300"/>
          </a:xfrm>
          <a:prstGeom prst="ellipse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958608" y="3175372"/>
            <a:ext cx="368300" cy="368300"/>
          </a:xfrm>
          <a:prstGeom prst="ellipse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663208" y="3175372"/>
            <a:ext cx="368300" cy="368300"/>
          </a:xfrm>
          <a:prstGeom prst="ellipse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5352058" y="2826122"/>
            <a:ext cx="914400" cy="0"/>
          </a:xfrm>
          <a:prstGeom prst="straightConnector1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58" name="Google Shape;158;p7"/>
          <p:cNvSpPr/>
          <p:nvPr/>
        </p:nvSpPr>
        <p:spPr>
          <a:xfrm>
            <a:off x="5047258" y="2686422"/>
            <a:ext cx="241300" cy="28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6342658" y="2686422"/>
            <a:ext cx="241300" cy="28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4437658" y="3219822"/>
            <a:ext cx="241300" cy="28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5733058" y="3232522"/>
            <a:ext cx="241300" cy="28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7028458" y="3219822"/>
            <a:ext cx="241300" cy="28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5047258" y="3753222"/>
            <a:ext cx="241300" cy="28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6355358" y="3765922"/>
            <a:ext cx="241300" cy="28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cxnSp>
        <p:nvCxnSpPr>
          <p:cNvPr id="165" name="Google Shape;165;p7"/>
          <p:cNvCxnSpPr/>
          <p:nvPr/>
        </p:nvCxnSpPr>
        <p:spPr>
          <a:xfrm flipH="1">
            <a:off x="4742458" y="2940422"/>
            <a:ext cx="304800" cy="304800"/>
          </a:xfrm>
          <a:prstGeom prst="straightConnector1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6" name="Google Shape;166;p7"/>
          <p:cNvCxnSpPr/>
          <p:nvPr/>
        </p:nvCxnSpPr>
        <p:spPr>
          <a:xfrm flipH="1">
            <a:off x="5352058" y="3473822"/>
            <a:ext cx="304800" cy="304800"/>
          </a:xfrm>
          <a:prstGeom prst="straightConnector1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7" name="Google Shape;167;p7"/>
          <p:cNvCxnSpPr/>
          <p:nvPr/>
        </p:nvCxnSpPr>
        <p:spPr>
          <a:xfrm flipH="1">
            <a:off x="5961658" y="2940422"/>
            <a:ext cx="304800" cy="304800"/>
          </a:xfrm>
          <a:prstGeom prst="straightConnector1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8" name="Google Shape;168;p7"/>
          <p:cNvCxnSpPr/>
          <p:nvPr/>
        </p:nvCxnSpPr>
        <p:spPr>
          <a:xfrm flipH="1">
            <a:off x="6647458" y="3473822"/>
            <a:ext cx="304800" cy="304800"/>
          </a:xfrm>
          <a:prstGeom prst="straightConnector1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9" name="Google Shape;169;p7"/>
          <p:cNvCxnSpPr/>
          <p:nvPr/>
        </p:nvCxnSpPr>
        <p:spPr>
          <a:xfrm>
            <a:off x="5352058" y="2940422"/>
            <a:ext cx="330200" cy="330200"/>
          </a:xfrm>
          <a:prstGeom prst="straightConnector1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0" name="Google Shape;170;p7"/>
          <p:cNvCxnSpPr/>
          <p:nvPr/>
        </p:nvCxnSpPr>
        <p:spPr>
          <a:xfrm>
            <a:off x="4742458" y="3473822"/>
            <a:ext cx="330200" cy="330200"/>
          </a:xfrm>
          <a:prstGeom prst="straightConnector1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1" name="Google Shape;171;p7"/>
          <p:cNvCxnSpPr/>
          <p:nvPr/>
        </p:nvCxnSpPr>
        <p:spPr>
          <a:xfrm>
            <a:off x="5961658" y="3550022"/>
            <a:ext cx="330200" cy="330200"/>
          </a:xfrm>
          <a:prstGeom prst="straightConnector1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2" name="Google Shape;172;p7"/>
          <p:cNvCxnSpPr/>
          <p:nvPr/>
        </p:nvCxnSpPr>
        <p:spPr>
          <a:xfrm>
            <a:off x="6647458" y="2940422"/>
            <a:ext cx="342900" cy="342900"/>
          </a:xfrm>
          <a:prstGeom prst="straightConnector1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3" name="Google Shape;173;p7"/>
          <p:cNvCxnSpPr/>
          <p:nvPr/>
        </p:nvCxnSpPr>
        <p:spPr>
          <a:xfrm rot="10800000">
            <a:off x="6063258" y="3384922"/>
            <a:ext cx="889000" cy="0"/>
          </a:xfrm>
          <a:prstGeom prst="straightConnector1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4" name="Google Shape;174;p7"/>
          <p:cNvCxnSpPr/>
          <p:nvPr/>
        </p:nvCxnSpPr>
        <p:spPr>
          <a:xfrm rot="10800000">
            <a:off x="4755158" y="3372222"/>
            <a:ext cx="889000" cy="0"/>
          </a:xfrm>
          <a:prstGeom prst="straightConnector1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5" name="Google Shape;175;p7"/>
          <p:cNvCxnSpPr/>
          <p:nvPr/>
        </p:nvCxnSpPr>
        <p:spPr>
          <a:xfrm rot="10800000">
            <a:off x="5377458" y="3918322"/>
            <a:ext cx="889000" cy="0"/>
          </a:xfrm>
          <a:prstGeom prst="straightConnector1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176" name="Google Shape;176;p7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7652" y="4436988"/>
            <a:ext cx="2430766" cy="2251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7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 txBox="1">
            <a:spLocks noGrp="1"/>
          </p:cNvSpPr>
          <p:nvPr>
            <p:ph type="body" idx="4294967295"/>
          </p:nvPr>
        </p:nvSpPr>
        <p:spPr>
          <a:xfrm>
            <a:off x="1151850" y="1192350"/>
            <a:ext cx="9888300" cy="4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marR="0" lvl="0" indent="-1828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dirty="0">
                <a:solidFill>
                  <a:schemeClr val="dk1"/>
                </a:solidFill>
              </a:rPr>
              <a:t>Um vértice </a:t>
            </a:r>
            <a:r>
              <a:rPr lang="pt-BR" dirty="0" err="1">
                <a:solidFill>
                  <a:schemeClr val="dk1"/>
                </a:solidFill>
              </a:rPr>
              <a:t>v</a:t>
            </a:r>
            <a:r>
              <a:rPr lang="pt-BR" dirty="0">
                <a:solidFill>
                  <a:schemeClr val="dk1"/>
                </a:solidFill>
              </a:rPr>
              <a:t> é adjacente a um vértice </a:t>
            </a:r>
            <a:r>
              <a:rPr lang="pt-BR" dirty="0" err="1">
                <a:solidFill>
                  <a:schemeClr val="dk1"/>
                </a:solidFill>
              </a:rPr>
              <a:t>w</a:t>
            </a:r>
            <a:r>
              <a:rPr lang="pt-BR" dirty="0">
                <a:solidFill>
                  <a:schemeClr val="dk1"/>
                </a:solidFill>
              </a:rPr>
              <a:t> em </a:t>
            </a:r>
            <a:r>
              <a:rPr lang="pt-BR" dirty="0" err="1">
                <a:solidFill>
                  <a:schemeClr val="dk1"/>
                </a:solidFill>
              </a:rPr>
              <a:t>G</a:t>
            </a:r>
            <a:r>
              <a:rPr lang="pt-BR" dirty="0">
                <a:solidFill>
                  <a:schemeClr val="dk1"/>
                </a:solidFill>
              </a:rPr>
              <a:t> se (</a:t>
            </a:r>
            <a:r>
              <a:rPr lang="pt-BR" dirty="0" err="1">
                <a:solidFill>
                  <a:schemeClr val="dk1"/>
                </a:solidFill>
              </a:rPr>
              <a:t>v</a:t>
            </a:r>
            <a:r>
              <a:rPr lang="pt-BR" dirty="0">
                <a:solidFill>
                  <a:schemeClr val="dk1"/>
                </a:solidFill>
              </a:rPr>
              <a:t>, </a:t>
            </a:r>
            <a:r>
              <a:rPr lang="pt-BR" dirty="0" err="1">
                <a:solidFill>
                  <a:schemeClr val="dk1"/>
                </a:solidFill>
              </a:rPr>
              <a:t>w</a:t>
            </a:r>
            <a:r>
              <a:rPr lang="pt-BR" dirty="0">
                <a:solidFill>
                  <a:schemeClr val="dk1"/>
                </a:solidFill>
              </a:rPr>
              <a:t>) ∈ E(</a:t>
            </a:r>
            <a:r>
              <a:rPr lang="pt-BR" dirty="0" err="1">
                <a:solidFill>
                  <a:schemeClr val="dk1"/>
                </a:solidFill>
              </a:rPr>
              <a:t>G</a:t>
            </a:r>
            <a:r>
              <a:rPr lang="pt-BR" dirty="0">
                <a:solidFill>
                  <a:schemeClr val="dk1"/>
                </a:solidFill>
              </a:rPr>
              <a:t>). Dizemos que </a:t>
            </a:r>
            <a:r>
              <a:rPr lang="pt-BR" dirty="0" err="1">
                <a:solidFill>
                  <a:schemeClr val="dk1"/>
                </a:solidFill>
              </a:rPr>
              <a:t>v</a:t>
            </a:r>
            <a:r>
              <a:rPr lang="pt-BR" dirty="0">
                <a:solidFill>
                  <a:schemeClr val="dk1"/>
                </a:solidFill>
              </a:rPr>
              <a:t> e </a:t>
            </a:r>
            <a:r>
              <a:rPr lang="pt-BR" dirty="0" err="1">
                <a:solidFill>
                  <a:schemeClr val="dk1"/>
                </a:solidFill>
              </a:rPr>
              <a:t>w</a:t>
            </a:r>
            <a:r>
              <a:rPr lang="pt-BR" dirty="0">
                <a:solidFill>
                  <a:schemeClr val="dk1"/>
                </a:solidFill>
              </a:rPr>
              <a:t> são </a:t>
            </a:r>
            <a:r>
              <a:rPr lang="pt-BR" b="1" dirty="0">
                <a:solidFill>
                  <a:schemeClr val="dk1"/>
                </a:solidFill>
              </a:rPr>
              <a:t>vizinhos</a:t>
            </a:r>
            <a:r>
              <a:rPr lang="pt-BR" dirty="0">
                <a:solidFill>
                  <a:schemeClr val="dk1"/>
                </a:solidFill>
              </a:rPr>
              <a:t> ou </a:t>
            </a:r>
            <a:r>
              <a:rPr lang="pt-BR" b="1" dirty="0">
                <a:solidFill>
                  <a:schemeClr val="dk1"/>
                </a:solidFill>
              </a:rPr>
              <a:t>adjacentes</a:t>
            </a:r>
            <a:r>
              <a:rPr lang="pt-BR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marL="609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182880" marR="0" lvl="0" indent="-1828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dirty="0">
                <a:solidFill>
                  <a:schemeClr val="dk1"/>
                </a:solidFill>
              </a:rPr>
              <a:t>Um </a:t>
            </a:r>
            <a:r>
              <a:rPr lang="pt-BR" b="1" dirty="0">
                <a:solidFill>
                  <a:schemeClr val="dk1"/>
                </a:solidFill>
              </a:rPr>
              <a:t>vértice isolado </a:t>
            </a:r>
            <a:r>
              <a:rPr lang="pt-BR" dirty="0">
                <a:solidFill>
                  <a:schemeClr val="dk1"/>
                </a:solidFill>
              </a:rPr>
              <a:t>é um vértice que não tem vizinhos.</a:t>
            </a:r>
            <a:endParaRPr dirty="0">
              <a:solidFill>
                <a:schemeClr val="dk1"/>
              </a:solidFill>
            </a:endParaRPr>
          </a:p>
          <a:p>
            <a:pPr marL="609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182880" marR="0" lvl="0" indent="-1828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dirty="0">
                <a:solidFill>
                  <a:schemeClr val="dk1"/>
                </a:solidFill>
              </a:rPr>
              <a:t>Um </a:t>
            </a:r>
            <a:r>
              <a:rPr lang="pt-BR" b="1" dirty="0">
                <a:solidFill>
                  <a:schemeClr val="dk1"/>
                </a:solidFill>
              </a:rPr>
              <a:t>vértice universal </a:t>
            </a:r>
            <a:r>
              <a:rPr lang="pt-BR" dirty="0">
                <a:solidFill>
                  <a:schemeClr val="dk1"/>
                </a:solidFill>
              </a:rPr>
              <a:t>é um vértice adjacente a todos os vértices do grafo.</a:t>
            </a:r>
            <a:endParaRPr dirty="0">
              <a:solidFill>
                <a:schemeClr val="dk1"/>
              </a:solidFill>
            </a:endParaRPr>
          </a:p>
          <a:p>
            <a:pPr marL="609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182880" marR="0" lvl="0" indent="-1828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b="1" dirty="0">
                <a:solidFill>
                  <a:schemeClr val="dk1"/>
                </a:solidFill>
              </a:rPr>
              <a:t>Grafo ponderado </a:t>
            </a:r>
            <a:r>
              <a:rPr lang="pt-BR" dirty="0">
                <a:solidFill>
                  <a:schemeClr val="dk1"/>
                </a:solidFill>
              </a:rPr>
              <a:t>é um grafo onde cada aresta tem um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pt-BR" dirty="0">
                <a:solidFill>
                  <a:schemeClr val="dk1"/>
                </a:solidFill>
              </a:rPr>
              <a:t> valor (peso) associado a ela.</a:t>
            </a:r>
            <a:endParaRPr dirty="0"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 dirty="0"/>
          </a:p>
          <a:p>
            <a:pPr marL="182880" lvl="0" indent="-53339" algn="l" rtl="0">
              <a:spcBef>
                <a:spcPts val="480"/>
              </a:spcBef>
              <a:spcAft>
                <a:spcPts val="1600"/>
              </a:spcAft>
              <a:buSzPts val="2040"/>
              <a:buNone/>
            </a:pPr>
            <a:endParaRPr dirty="0"/>
          </a:p>
        </p:txBody>
      </p:sp>
      <p:pic>
        <p:nvPicPr>
          <p:cNvPr id="183" name="Google Shape;183;p8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7652" y="4436988"/>
            <a:ext cx="2430766" cy="2251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8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>
            <a:spLocks noGrp="1"/>
          </p:cNvSpPr>
          <p:nvPr>
            <p:ph type="body" idx="4294967295"/>
          </p:nvPr>
        </p:nvSpPr>
        <p:spPr>
          <a:xfrm>
            <a:off x="784450" y="2874200"/>
            <a:ext cx="10599000" cy="3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marR="0" lvl="0" indent="-1828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Para o grafo dado acima temos, por exemplo:</a:t>
            </a:r>
            <a:endParaRPr>
              <a:solidFill>
                <a:schemeClr val="dk1"/>
              </a:solidFill>
            </a:endParaRPr>
          </a:p>
          <a:p>
            <a:pPr marL="609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182880" marR="0" lvl="0" indent="-1828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1. O vértice a é adjacente aos vértices b e e, apenas. Além disso, o vértice a não é adjacente aos vértices c, d, f e g.</a:t>
            </a:r>
            <a:endParaRPr>
              <a:solidFill>
                <a:schemeClr val="dk1"/>
              </a:solidFill>
            </a:endParaRPr>
          </a:p>
          <a:p>
            <a:pPr marL="609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182880" marR="0" lvl="0" indent="-1828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2. Os vértices f e g são vértices isolados.</a:t>
            </a:r>
            <a:endParaRPr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/>
          </a:p>
          <a:p>
            <a:pPr marL="182880" lvl="0" indent="-53339" algn="l" rtl="0">
              <a:spcBef>
                <a:spcPts val="480"/>
              </a:spcBef>
              <a:spcAft>
                <a:spcPts val="1600"/>
              </a:spcAft>
              <a:buSzPts val="2040"/>
              <a:buNone/>
            </a:pP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6045414" y="1349253"/>
            <a:ext cx="133814" cy="125451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rgbClr val="6B76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062141" y="2111718"/>
            <a:ext cx="133814" cy="125451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rgbClr val="6B76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875929" y="2111718"/>
            <a:ext cx="133814" cy="125451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rgbClr val="6B76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436278" y="762420"/>
            <a:ext cx="133814" cy="125451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rgbClr val="6B76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875929" y="1349253"/>
            <a:ext cx="133814" cy="125451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rgbClr val="6B76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95" name="Google Shape;195;p9"/>
          <p:cNvCxnSpPr>
            <a:stCxn id="193" idx="6"/>
            <a:endCxn id="190" idx="0"/>
          </p:cNvCxnSpPr>
          <p:nvPr/>
        </p:nvCxnSpPr>
        <p:spPr>
          <a:xfrm>
            <a:off x="5570092" y="825146"/>
            <a:ext cx="542100" cy="524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6" name="Google Shape;196;p9"/>
          <p:cNvCxnSpPr>
            <a:stCxn id="193" idx="0"/>
            <a:endCxn id="194" idx="7"/>
          </p:cNvCxnSpPr>
          <p:nvPr/>
        </p:nvCxnSpPr>
        <p:spPr>
          <a:xfrm flipH="1">
            <a:off x="4990185" y="762420"/>
            <a:ext cx="513000" cy="605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7" name="Google Shape;197;p9"/>
          <p:cNvCxnSpPr>
            <a:stCxn id="194" idx="4"/>
            <a:endCxn id="192" idx="0"/>
          </p:cNvCxnSpPr>
          <p:nvPr/>
        </p:nvCxnSpPr>
        <p:spPr>
          <a:xfrm>
            <a:off x="4942836" y="1474704"/>
            <a:ext cx="0" cy="636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8" name="Google Shape;198;p9"/>
          <p:cNvCxnSpPr/>
          <p:nvPr/>
        </p:nvCxnSpPr>
        <p:spPr>
          <a:xfrm flipH="1">
            <a:off x="6126178" y="1411977"/>
            <a:ext cx="2870" cy="718112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9" name="Google Shape;199;p9"/>
          <p:cNvCxnSpPr/>
          <p:nvPr/>
        </p:nvCxnSpPr>
        <p:spPr>
          <a:xfrm rot="10800000" flipH="1">
            <a:off x="4991584" y="1460889"/>
            <a:ext cx="1102577" cy="69974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0" name="Google Shape;200;p9"/>
          <p:cNvCxnSpPr/>
          <p:nvPr/>
        </p:nvCxnSpPr>
        <p:spPr>
          <a:xfrm>
            <a:off x="4974856" y="1468211"/>
            <a:ext cx="1071995" cy="718112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1" name="Google Shape;201;p9"/>
          <p:cNvSpPr txBox="1"/>
          <p:nvPr/>
        </p:nvSpPr>
        <p:spPr>
          <a:xfrm>
            <a:off x="5436279" y="485420"/>
            <a:ext cx="59454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endParaRPr/>
          </a:p>
        </p:txBody>
      </p:sp>
      <p:sp>
        <p:nvSpPr>
          <p:cNvPr id="202" name="Google Shape;202;p9"/>
          <p:cNvSpPr txBox="1"/>
          <p:nvPr/>
        </p:nvSpPr>
        <p:spPr>
          <a:xfrm>
            <a:off x="6195955" y="1217659"/>
            <a:ext cx="30043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</a:t>
            </a:r>
            <a:endParaRPr sz="135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6195954" y="2160629"/>
            <a:ext cx="40410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</a:t>
            </a:r>
            <a:endParaRPr sz="135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4827900" y="2192814"/>
            <a:ext cx="28886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sz="135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4630375" y="1217659"/>
            <a:ext cx="24555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/>
          </a:p>
        </p:txBody>
      </p:sp>
      <p:cxnSp>
        <p:nvCxnSpPr>
          <p:cNvPr id="206" name="Google Shape;206;p9"/>
          <p:cNvCxnSpPr>
            <a:stCxn id="194" idx="6"/>
            <a:endCxn id="190" idx="6"/>
          </p:cNvCxnSpPr>
          <p:nvPr/>
        </p:nvCxnSpPr>
        <p:spPr>
          <a:xfrm>
            <a:off x="5009743" y="1411979"/>
            <a:ext cx="116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7" name="Google Shape;207;p9"/>
          <p:cNvSpPr/>
          <p:nvPr/>
        </p:nvSpPr>
        <p:spPr>
          <a:xfrm>
            <a:off x="7114314" y="1412777"/>
            <a:ext cx="133814" cy="125451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rgbClr val="6B76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7104112" y="2151422"/>
            <a:ext cx="133814" cy="125451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rgbClr val="6B76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7320136" y="1349252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7248128" y="2111717"/>
            <a:ext cx="288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11" name="Google Shape;211;p9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7652" y="4436988"/>
            <a:ext cx="2430766" cy="2251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9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"/>
          <p:cNvSpPr txBox="1">
            <a:spLocks noGrp="1"/>
          </p:cNvSpPr>
          <p:nvPr>
            <p:ph type="body" idx="4294967295"/>
          </p:nvPr>
        </p:nvSpPr>
        <p:spPr>
          <a:xfrm>
            <a:off x="1560550" y="1026700"/>
            <a:ext cx="9350100" cy="4273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313" t="-1851" r="-28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1600"/>
              </a:spcAft>
              <a:buSzPts val="2040"/>
              <a:buFont typeface="Times New Roman"/>
              <a:buChar char="●"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8" name="Google Shape;21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09906" y="3754674"/>
            <a:ext cx="6372201" cy="2239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0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97652" y="4436988"/>
            <a:ext cx="2430766" cy="2251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0" descr="Ícone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/>
          <p:cNvSpPr txBox="1">
            <a:spLocks noGrp="1"/>
          </p:cNvSpPr>
          <p:nvPr>
            <p:ph type="body" idx="4294967295"/>
          </p:nvPr>
        </p:nvSpPr>
        <p:spPr>
          <a:xfrm>
            <a:off x="678300" y="1236050"/>
            <a:ext cx="10835400" cy="42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40"/>
              <a:buNone/>
            </a:pPr>
            <a:endParaRPr dirty="0"/>
          </a:p>
          <a:p>
            <a:pPr marL="182880" marR="0" lvl="0" indent="-1828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dirty="0">
                <a:solidFill>
                  <a:schemeClr val="dk1"/>
                </a:solidFill>
              </a:rPr>
              <a:t>Um grafo H é </a:t>
            </a:r>
            <a:r>
              <a:rPr lang="pt-BR" b="1" dirty="0" err="1">
                <a:solidFill>
                  <a:schemeClr val="dk1"/>
                </a:solidFill>
              </a:rPr>
              <a:t>subgrafo</a:t>
            </a:r>
            <a:r>
              <a:rPr lang="pt-BR" dirty="0">
                <a:solidFill>
                  <a:schemeClr val="dk1"/>
                </a:solidFill>
              </a:rPr>
              <a:t> de um grafo </a:t>
            </a:r>
            <a:r>
              <a:rPr lang="pt-BR" dirty="0" err="1">
                <a:solidFill>
                  <a:schemeClr val="dk1"/>
                </a:solidFill>
              </a:rPr>
              <a:t>G</a:t>
            </a:r>
            <a:r>
              <a:rPr lang="pt-BR" dirty="0">
                <a:solidFill>
                  <a:schemeClr val="dk1"/>
                </a:solidFill>
              </a:rPr>
              <a:t> se V(H) ⊆ V(</a:t>
            </a:r>
            <a:r>
              <a:rPr lang="pt-BR" dirty="0" err="1">
                <a:solidFill>
                  <a:schemeClr val="dk1"/>
                </a:solidFill>
              </a:rPr>
              <a:t>G</a:t>
            </a:r>
            <a:r>
              <a:rPr lang="pt-BR" dirty="0">
                <a:solidFill>
                  <a:schemeClr val="dk1"/>
                </a:solidFill>
              </a:rPr>
              <a:t>) e E(H) ⊆ E(</a:t>
            </a:r>
            <a:r>
              <a:rPr lang="pt-BR" dirty="0" err="1">
                <a:solidFill>
                  <a:schemeClr val="dk1"/>
                </a:solidFill>
              </a:rPr>
              <a:t>G</a:t>
            </a:r>
            <a:r>
              <a:rPr lang="pt-BR" dirty="0">
                <a:solidFill>
                  <a:schemeClr val="dk1"/>
                </a:solidFill>
              </a:rPr>
              <a:t>). </a:t>
            </a:r>
            <a:endParaRPr dirty="0">
              <a:solidFill>
                <a:schemeClr val="dk1"/>
              </a:solidFill>
            </a:endParaRPr>
          </a:p>
          <a:p>
            <a:pPr marL="609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182880" marR="0" lvl="0" indent="-1828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dirty="0">
                <a:solidFill>
                  <a:schemeClr val="dk1"/>
                </a:solidFill>
              </a:rPr>
              <a:t>Um </a:t>
            </a:r>
            <a:r>
              <a:rPr lang="pt-BR" dirty="0" err="1">
                <a:solidFill>
                  <a:schemeClr val="dk1"/>
                </a:solidFill>
              </a:rPr>
              <a:t>subgrafo</a:t>
            </a:r>
            <a:r>
              <a:rPr lang="pt-BR" dirty="0">
                <a:solidFill>
                  <a:schemeClr val="dk1"/>
                </a:solidFill>
              </a:rPr>
              <a:t> H de </a:t>
            </a:r>
            <a:r>
              <a:rPr lang="pt-BR" dirty="0" err="1">
                <a:solidFill>
                  <a:schemeClr val="dk1"/>
                </a:solidFill>
              </a:rPr>
              <a:t>G</a:t>
            </a:r>
            <a:r>
              <a:rPr lang="pt-BR" dirty="0">
                <a:solidFill>
                  <a:schemeClr val="dk1"/>
                </a:solidFill>
              </a:rPr>
              <a:t> é dito </a:t>
            </a:r>
            <a:r>
              <a:rPr lang="pt-BR" b="1" dirty="0" err="1">
                <a:solidFill>
                  <a:schemeClr val="dk1"/>
                </a:solidFill>
              </a:rPr>
              <a:t>subgrafo</a:t>
            </a:r>
            <a:r>
              <a:rPr lang="pt-BR" b="1" dirty="0">
                <a:solidFill>
                  <a:schemeClr val="dk1"/>
                </a:solidFill>
              </a:rPr>
              <a:t> induzido </a:t>
            </a:r>
            <a:r>
              <a:rPr lang="pt-BR" dirty="0">
                <a:solidFill>
                  <a:schemeClr val="dk1"/>
                </a:solidFill>
              </a:rPr>
              <a:t>de </a:t>
            </a:r>
            <a:r>
              <a:rPr lang="pt-BR" dirty="0" err="1">
                <a:solidFill>
                  <a:schemeClr val="dk1"/>
                </a:solidFill>
              </a:rPr>
              <a:t>G</a:t>
            </a:r>
            <a:r>
              <a:rPr lang="pt-BR" dirty="0">
                <a:solidFill>
                  <a:schemeClr val="dk1"/>
                </a:solidFill>
              </a:rPr>
              <a:t> se para todo </a:t>
            </a:r>
            <a:r>
              <a:rPr lang="pt-BR" dirty="0" err="1">
                <a:solidFill>
                  <a:schemeClr val="dk1"/>
                </a:solidFill>
              </a:rPr>
              <a:t>v</a:t>
            </a:r>
            <a:r>
              <a:rPr lang="pt-BR" dirty="0">
                <a:solidFill>
                  <a:schemeClr val="dk1"/>
                </a:solidFill>
              </a:rPr>
              <a:t>, </a:t>
            </a:r>
            <a:r>
              <a:rPr lang="pt-BR" dirty="0" err="1">
                <a:solidFill>
                  <a:schemeClr val="dk1"/>
                </a:solidFill>
              </a:rPr>
              <a:t>w</a:t>
            </a:r>
            <a:r>
              <a:rPr lang="pt-BR" dirty="0">
                <a:solidFill>
                  <a:schemeClr val="dk1"/>
                </a:solidFill>
              </a:rPr>
              <a:t> ∈ V(H), se (</a:t>
            </a:r>
            <a:r>
              <a:rPr lang="pt-BR" dirty="0" err="1">
                <a:solidFill>
                  <a:schemeClr val="dk1"/>
                </a:solidFill>
              </a:rPr>
              <a:t>v</a:t>
            </a:r>
            <a:r>
              <a:rPr lang="pt-BR" dirty="0">
                <a:solidFill>
                  <a:schemeClr val="dk1"/>
                </a:solidFill>
              </a:rPr>
              <a:t>, </a:t>
            </a:r>
            <a:r>
              <a:rPr lang="pt-BR" dirty="0" err="1">
                <a:solidFill>
                  <a:schemeClr val="dk1"/>
                </a:solidFill>
              </a:rPr>
              <a:t>w</a:t>
            </a:r>
            <a:r>
              <a:rPr lang="pt-BR" dirty="0">
                <a:solidFill>
                  <a:schemeClr val="dk1"/>
                </a:solidFill>
              </a:rPr>
              <a:t>) ∈ E(</a:t>
            </a:r>
            <a:r>
              <a:rPr lang="pt-BR" dirty="0" err="1">
                <a:solidFill>
                  <a:schemeClr val="dk1"/>
                </a:solidFill>
              </a:rPr>
              <a:t>G</a:t>
            </a:r>
            <a:r>
              <a:rPr lang="pt-BR" dirty="0">
                <a:solidFill>
                  <a:schemeClr val="dk1"/>
                </a:solidFill>
              </a:rPr>
              <a:t>) então (</a:t>
            </a:r>
            <a:r>
              <a:rPr lang="pt-BR" dirty="0" err="1">
                <a:solidFill>
                  <a:schemeClr val="dk1"/>
                </a:solidFill>
              </a:rPr>
              <a:t>v</a:t>
            </a:r>
            <a:r>
              <a:rPr lang="pt-BR" dirty="0">
                <a:solidFill>
                  <a:schemeClr val="dk1"/>
                </a:solidFill>
              </a:rPr>
              <a:t>, </a:t>
            </a:r>
            <a:r>
              <a:rPr lang="pt-BR" dirty="0" err="1">
                <a:solidFill>
                  <a:schemeClr val="dk1"/>
                </a:solidFill>
              </a:rPr>
              <a:t>w</a:t>
            </a:r>
            <a:r>
              <a:rPr lang="pt-BR" dirty="0">
                <a:solidFill>
                  <a:schemeClr val="dk1"/>
                </a:solidFill>
              </a:rPr>
              <a:t>) ∈ E(H).</a:t>
            </a:r>
            <a:endParaRPr dirty="0">
              <a:solidFill>
                <a:schemeClr val="dk1"/>
              </a:solidFill>
            </a:endParaRPr>
          </a:p>
          <a:p>
            <a:pPr marL="609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182880" marR="0" lvl="0" indent="-1828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dirty="0">
                <a:solidFill>
                  <a:schemeClr val="dk1"/>
                </a:solidFill>
              </a:rPr>
              <a:t>Um </a:t>
            </a:r>
            <a:r>
              <a:rPr lang="pt-BR" b="1" dirty="0" err="1">
                <a:solidFill>
                  <a:schemeClr val="dk1"/>
                </a:solidFill>
              </a:rPr>
              <a:t>subgrafo</a:t>
            </a:r>
            <a:r>
              <a:rPr lang="pt-BR" b="1" dirty="0">
                <a:solidFill>
                  <a:schemeClr val="dk1"/>
                </a:solidFill>
              </a:rPr>
              <a:t> gerador </a:t>
            </a:r>
            <a:r>
              <a:rPr lang="pt-BR" dirty="0">
                <a:solidFill>
                  <a:schemeClr val="dk1"/>
                </a:solidFill>
              </a:rPr>
              <a:t>é um </a:t>
            </a:r>
            <a:r>
              <a:rPr lang="pt-BR" dirty="0" err="1">
                <a:solidFill>
                  <a:schemeClr val="dk1"/>
                </a:solidFill>
              </a:rPr>
              <a:t>subgrafo</a:t>
            </a:r>
            <a:r>
              <a:rPr lang="pt-BR" dirty="0">
                <a:solidFill>
                  <a:schemeClr val="dk1"/>
                </a:solidFill>
              </a:rPr>
              <a:t> H de </a:t>
            </a:r>
            <a:r>
              <a:rPr lang="pt-BR" dirty="0" err="1">
                <a:solidFill>
                  <a:schemeClr val="dk1"/>
                </a:solidFill>
              </a:rPr>
              <a:t>G</a:t>
            </a:r>
            <a:r>
              <a:rPr lang="pt-BR" dirty="0">
                <a:solidFill>
                  <a:schemeClr val="dk1"/>
                </a:solidFill>
              </a:rPr>
              <a:t> tal que V(H) = V(</a:t>
            </a:r>
            <a:r>
              <a:rPr lang="pt-BR" dirty="0" err="1">
                <a:solidFill>
                  <a:schemeClr val="dk1"/>
                </a:solidFill>
              </a:rPr>
              <a:t>G</a:t>
            </a:r>
            <a:r>
              <a:rPr lang="pt-BR" dirty="0">
                <a:solidFill>
                  <a:schemeClr val="dk1"/>
                </a:solidFill>
              </a:rPr>
              <a:t>).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226" name="Google Shape;226;p11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7652" y="4436988"/>
            <a:ext cx="2430766" cy="2251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1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"/>
          <p:cNvSpPr txBox="1">
            <a:spLocks noGrp="1"/>
          </p:cNvSpPr>
          <p:nvPr>
            <p:ph type="body" idx="4294967295"/>
          </p:nvPr>
        </p:nvSpPr>
        <p:spPr>
          <a:xfrm>
            <a:off x="1460850" y="3702600"/>
            <a:ext cx="9270300" cy="29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marR="0" lvl="0" indent="-1828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Os grafos H e I são subgrafos do grafo G. </a:t>
            </a:r>
            <a:endParaRPr>
              <a:solidFill>
                <a:schemeClr val="dk1"/>
              </a:solidFill>
            </a:endParaRPr>
          </a:p>
          <a:p>
            <a:pPr marL="609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182880" marR="0" lvl="0" indent="-1828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Apenas o grafo I é um subgrafo gerador de G.</a:t>
            </a:r>
            <a:endParaRPr>
              <a:solidFill>
                <a:schemeClr val="dk1"/>
              </a:solidFill>
            </a:endParaRPr>
          </a:p>
          <a:p>
            <a:pPr marL="609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182880" marR="0" lvl="0" indent="-1828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Apenas o grafo H é um subgrafo induzido de G.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33" name="Google Shape;23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6063" y="837317"/>
            <a:ext cx="7759874" cy="2612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2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97652" y="4436988"/>
            <a:ext cx="2430766" cy="2251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2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"/>
          <p:cNvSpPr txBox="1">
            <a:spLocks noGrp="1"/>
          </p:cNvSpPr>
          <p:nvPr>
            <p:ph type="body" idx="4294967295"/>
          </p:nvPr>
        </p:nvSpPr>
        <p:spPr>
          <a:xfrm>
            <a:off x="877800" y="1162250"/>
            <a:ext cx="104364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8849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34"/>
              <a:buChar char="●"/>
            </a:pPr>
            <a:r>
              <a:rPr lang="pt-BR" sz="2440" dirty="0">
                <a:solidFill>
                  <a:schemeClr val="dk1"/>
                </a:solidFill>
              </a:rPr>
              <a:t>O </a:t>
            </a:r>
            <a:r>
              <a:rPr lang="pt-BR" sz="2440" b="1" dirty="0">
                <a:solidFill>
                  <a:schemeClr val="dk1"/>
                </a:solidFill>
              </a:rPr>
              <a:t>grau</a:t>
            </a:r>
            <a:r>
              <a:rPr lang="pt-BR" sz="2440" dirty="0">
                <a:solidFill>
                  <a:schemeClr val="dk1"/>
                </a:solidFill>
              </a:rPr>
              <a:t> de um vértice </a:t>
            </a:r>
            <a:r>
              <a:rPr lang="pt-BR" sz="2440" dirty="0" err="1">
                <a:solidFill>
                  <a:schemeClr val="dk1"/>
                </a:solidFill>
              </a:rPr>
              <a:t>v</a:t>
            </a:r>
            <a:r>
              <a:rPr lang="pt-BR" sz="2440" dirty="0">
                <a:solidFill>
                  <a:schemeClr val="dk1"/>
                </a:solidFill>
              </a:rPr>
              <a:t> de </a:t>
            </a:r>
            <a:r>
              <a:rPr lang="pt-BR" sz="2440" dirty="0" err="1">
                <a:solidFill>
                  <a:schemeClr val="dk1"/>
                </a:solidFill>
              </a:rPr>
              <a:t>G</a:t>
            </a:r>
            <a:r>
              <a:rPr lang="pt-BR" sz="2440" dirty="0">
                <a:solidFill>
                  <a:schemeClr val="dk1"/>
                </a:solidFill>
              </a:rPr>
              <a:t> é o número de vizinhos de v. Notação: </a:t>
            </a:r>
            <a:r>
              <a:rPr lang="pt-BR" sz="2440" dirty="0" err="1">
                <a:solidFill>
                  <a:schemeClr val="dk1"/>
                </a:solidFill>
              </a:rPr>
              <a:t>d</a:t>
            </a:r>
            <a:r>
              <a:rPr lang="pt-BR" sz="2440" dirty="0">
                <a:solidFill>
                  <a:schemeClr val="dk1"/>
                </a:solidFill>
              </a:rPr>
              <a:t>(</a:t>
            </a:r>
            <a:r>
              <a:rPr lang="pt-BR" sz="2440" dirty="0" err="1">
                <a:solidFill>
                  <a:schemeClr val="dk1"/>
                </a:solidFill>
              </a:rPr>
              <a:t>v</a:t>
            </a:r>
            <a:r>
              <a:rPr lang="pt-BR" sz="2440" dirty="0">
                <a:solidFill>
                  <a:schemeClr val="dk1"/>
                </a:solidFill>
              </a:rPr>
              <a:t>).</a:t>
            </a:r>
            <a:endParaRPr sz="2440" dirty="0">
              <a:solidFill>
                <a:schemeClr val="dk1"/>
              </a:solidFill>
            </a:endParaRPr>
          </a:p>
          <a:p>
            <a:pPr marL="6096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40" dirty="0">
              <a:solidFill>
                <a:schemeClr val="dk1"/>
              </a:solidFill>
            </a:endParaRPr>
          </a:p>
          <a:p>
            <a:pPr marL="182880" marR="0" lvl="0" indent="-188849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34"/>
              <a:buChar char="●"/>
            </a:pPr>
            <a:r>
              <a:rPr lang="pt-BR" sz="2440" dirty="0">
                <a:solidFill>
                  <a:schemeClr val="dk1"/>
                </a:solidFill>
              </a:rPr>
              <a:t>Num grafo </a:t>
            </a:r>
            <a:r>
              <a:rPr lang="pt-BR" sz="2440" dirty="0" err="1">
                <a:solidFill>
                  <a:schemeClr val="dk1"/>
                </a:solidFill>
              </a:rPr>
              <a:t>G</a:t>
            </a:r>
            <a:r>
              <a:rPr lang="pt-BR" sz="2440" dirty="0">
                <a:solidFill>
                  <a:schemeClr val="dk1"/>
                </a:solidFill>
              </a:rPr>
              <a:t>, denotamos o grau máximo de </a:t>
            </a:r>
            <a:r>
              <a:rPr lang="pt-BR" sz="2440" dirty="0" err="1">
                <a:solidFill>
                  <a:schemeClr val="dk1"/>
                </a:solidFill>
              </a:rPr>
              <a:t>G</a:t>
            </a:r>
            <a:r>
              <a:rPr lang="pt-BR" sz="2440" dirty="0">
                <a:solidFill>
                  <a:schemeClr val="dk1"/>
                </a:solidFill>
              </a:rPr>
              <a:t> por </a:t>
            </a:r>
            <a:r>
              <a:rPr lang="pt-BR" sz="2440" dirty="0" err="1">
                <a:solidFill>
                  <a:schemeClr val="dk1"/>
                </a:solidFill>
              </a:rPr>
              <a:t>Δ</a:t>
            </a:r>
            <a:r>
              <a:rPr lang="pt-BR" sz="2440" dirty="0">
                <a:solidFill>
                  <a:schemeClr val="dk1"/>
                </a:solidFill>
              </a:rPr>
              <a:t>(</a:t>
            </a:r>
            <a:r>
              <a:rPr lang="pt-BR" sz="2440" dirty="0" err="1">
                <a:solidFill>
                  <a:schemeClr val="dk1"/>
                </a:solidFill>
              </a:rPr>
              <a:t>G</a:t>
            </a:r>
            <a:r>
              <a:rPr lang="pt-BR" sz="2440" dirty="0">
                <a:solidFill>
                  <a:schemeClr val="dk1"/>
                </a:solidFill>
              </a:rPr>
              <a:t>) e o grau mínimo por </a:t>
            </a:r>
            <a:r>
              <a:rPr lang="pt-BR" sz="2440" dirty="0" err="1">
                <a:solidFill>
                  <a:schemeClr val="dk1"/>
                </a:solidFill>
              </a:rPr>
              <a:t>δ</a:t>
            </a:r>
            <a:r>
              <a:rPr lang="pt-BR" sz="2440" dirty="0">
                <a:solidFill>
                  <a:schemeClr val="dk1"/>
                </a:solidFill>
              </a:rPr>
              <a:t>(</a:t>
            </a:r>
            <a:r>
              <a:rPr lang="pt-BR" sz="2440" dirty="0" err="1">
                <a:solidFill>
                  <a:schemeClr val="dk1"/>
                </a:solidFill>
              </a:rPr>
              <a:t>G</a:t>
            </a:r>
            <a:r>
              <a:rPr lang="pt-BR" sz="2440" dirty="0">
                <a:solidFill>
                  <a:schemeClr val="dk1"/>
                </a:solidFill>
              </a:rPr>
              <a:t>).</a:t>
            </a:r>
            <a:endParaRPr sz="2440" dirty="0">
              <a:solidFill>
                <a:schemeClr val="dk1"/>
              </a:solidFill>
            </a:endParaRPr>
          </a:p>
          <a:p>
            <a:pPr marL="6096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40" dirty="0">
              <a:solidFill>
                <a:schemeClr val="dk1"/>
              </a:solidFill>
            </a:endParaRPr>
          </a:p>
          <a:p>
            <a:pPr marL="182880" marR="0" lvl="0" indent="-188849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34"/>
              <a:buChar char="●"/>
            </a:pPr>
            <a:r>
              <a:rPr lang="pt-BR" sz="2440" dirty="0">
                <a:solidFill>
                  <a:schemeClr val="dk1"/>
                </a:solidFill>
              </a:rPr>
              <a:t>Um grafo é </a:t>
            </a:r>
            <a:r>
              <a:rPr lang="pt-BR" sz="2440" b="1" dirty="0">
                <a:solidFill>
                  <a:schemeClr val="dk1"/>
                </a:solidFill>
              </a:rPr>
              <a:t>regular</a:t>
            </a:r>
            <a:r>
              <a:rPr lang="pt-BR" sz="2440" dirty="0">
                <a:solidFill>
                  <a:schemeClr val="dk1"/>
                </a:solidFill>
              </a:rPr>
              <a:t> quando todos os vértices têm o mesmo grau. </a:t>
            </a:r>
            <a:endParaRPr sz="2440" dirty="0">
              <a:solidFill>
                <a:schemeClr val="dk1"/>
              </a:solidFill>
            </a:endParaRPr>
          </a:p>
          <a:p>
            <a:pPr marL="6096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40" dirty="0">
              <a:solidFill>
                <a:schemeClr val="dk1"/>
              </a:solidFill>
            </a:endParaRPr>
          </a:p>
          <a:p>
            <a:pPr marL="182880" marR="0" lvl="0" indent="-188849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34"/>
              <a:buChar char="●"/>
            </a:pPr>
            <a:r>
              <a:rPr lang="pt-BR" sz="2440" dirty="0" err="1">
                <a:solidFill>
                  <a:schemeClr val="dk1"/>
                </a:solidFill>
              </a:rPr>
              <a:t>G</a:t>
            </a:r>
            <a:r>
              <a:rPr lang="pt-BR" sz="2440" dirty="0">
                <a:solidFill>
                  <a:schemeClr val="dk1"/>
                </a:solidFill>
              </a:rPr>
              <a:t> é </a:t>
            </a:r>
            <a:r>
              <a:rPr lang="pt-BR" sz="2440" b="1" dirty="0">
                <a:solidFill>
                  <a:schemeClr val="dk1"/>
                </a:solidFill>
              </a:rPr>
              <a:t>completo</a:t>
            </a:r>
            <a:r>
              <a:rPr lang="pt-BR" sz="2440" dirty="0">
                <a:solidFill>
                  <a:schemeClr val="dk1"/>
                </a:solidFill>
              </a:rPr>
              <a:t> se existem arestas ligando todos os pares de vértices.</a:t>
            </a:r>
            <a:endParaRPr sz="2440" dirty="0">
              <a:solidFill>
                <a:schemeClr val="dk1"/>
              </a:solidFill>
            </a:endParaRPr>
          </a:p>
          <a:p>
            <a:pPr marL="6096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40" dirty="0">
              <a:solidFill>
                <a:schemeClr val="dk1"/>
              </a:solidFill>
            </a:endParaRPr>
          </a:p>
          <a:p>
            <a:pPr marL="182880" marR="0" lvl="0" indent="-188849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34"/>
              <a:buChar char="●"/>
            </a:pPr>
            <a:r>
              <a:rPr lang="pt-BR" sz="2440" dirty="0">
                <a:solidFill>
                  <a:schemeClr val="dk1"/>
                </a:solidFill>
              </a:rPr>
              <a:t>Notação: </a:t>
            </a:r>
            <a:r>
              <a:rPr lang="pt-BR" sz="2440" dirty="0" err="1">
                <a:solidFill>
                  <a:schemeClr val="dk1"/>
                </a:solidFill>
              </a:rPr>
              <a:t>K</a:t>
            </a:r>
            <a:r>
              <a:rPr lang="pt-BR" sz="2440" baseline="-25000" dirty="0" err="1">
                <a:solidFill>
                  <a:schemeClr val="dk1"/>
                </a:solidFill>
              </a:rPr>
              <a:t>n</a:t>
            </a:r>
            <a:r>
              <a:rPr lang="pt-BR" sz="2440" dirty="0">
                <a:solidFill>
                  <a:schemeClr val="dk1"/>
                </a:solidFill>
              </a:rPr>
              <a:t> é o grafo completo com </a:t>
            </a:r>
            <a:r>
              <a:rPr lang="pt-BR" sz="2440" dirty="0" err="1">
                <a:solidFill>
                  <a:schemeClr val="dk1"/>
                </a:solidFill>
              </a:rPr>
              <a:t>n</a:t>
            </a:r>
            <a:r>
              <a:rPr lang="pt-BR" sz="2440" dirty="0">
                <a:solidFill>
                  <a:schemeClr val="dk1"/>
                </a:solidFill>
              </a:rPr>
              <a:t> vértices. </a:t>
            </a:r>
            <a:endParaRPr sz="2440" dirty="0">
              <a:solidFill>
                <a:schemeClr val="dk1"/>
              </a:solidFill>
            </a:endParaRPr>
          </a:p>
          <a:p>
            <a:pPr marL="6096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4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444"/>
              </a:spcBef>
              <a:spcAft>
                <a:spcPts val="1600"/>
              </a:spcAft>
              <a:buSzPts val="1734"/>
              <a:buNone/>
            </a:pPr>
            <a:endParaRPr sz="2040" dirty="0"/>
          </a:p>
        </p:txBody>
      </p:sp>
      <p:pic>
        <p:nvPicPr>
          <p:cNvPr id="241" name="Google Shape;241;p13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7652" y="4436988"/>
            <a:ext cx="2430766" cy="2251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3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9051" y="2562898"/>
            <a:ext cx="7073900" cy="222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4"/>
          <p:cNvSpPr txBox="1"/>
          <p:nvPr/>
        </p:nvSpPr>
        <p:spPr>
          <a:xfrm>
            <a:off x="2821801" y="5350950"/>
            <a:ext cx="65484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40">
                <a:solidFill>
                  <a:schemeClr val="dk1"/>
                </a:solidFill>
              </a:rPr>
              <a:t>Grafos Completos com até 5 vértices</a:t>
            </a:r>
            <a:endParaRPr sz="2440">
              <a:solidFill>
                <a:schemeClr val="dk1"/>
              </a:solidFill>
            </a:endParaRPr>
          </a:p>
        </p:txBody>
      </p:sp>
      <p:pic>
        <p:nvPicPr>
          <p:cNvPr id="250" name="Google Shape;250;p14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97652" y="4436988"/>
            <a:ext cx="2430766" cy="2251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4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"/>
          <p:cNvSpPr txBox="1">
            <a:spLocks noGrp="1"/>
          </p:cNvSpPr>
          <p:nvPr>
            <p:ph type="body" idx="4294967295"/>
          </p:nvPr>
        </p:nvSpPr>
        <p:spPr>
          <a:xfrm>
            <a:off x="1574950" y="1192175"/>
            <a:ext cx="9081000" cy="42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182880" lvl="0" indent="-173164" algn="l" rtl="0">
              <a:spcBef>
                <a:spcPts val="0"/>
              </a:spcBef>
              <a:spcAft>
                <a:spcPts val="0"/>
              </a:spcAft>
              <a:buSzPct val="83606"/>
              <a:buChar char="●"/>
            </a:pPr>
            <a:r>
              <a:rPr lang="pt-BR" sz="2440" dirty="0">
                <a:solidFill>
                  <a:schemeClr val="dk1"/>
                </a:solidFill>
              </a:rPr>
              <a:t>Um </a:t>
            </a:r>
            <a:r>
              <a:rPr lang="pt-BR" sz="2440" b="1" dirty="0">
                <a:solidFill>
                  <a:schemeClr val="dk1"/>
                </a:solidFill>
              </a:rPr>
              <a:t>passeio</a:t>
            </a:r>
            <a:r>
              <a:rPr lang="pt-BR" sz="2440" dirty="0">
                <a:solidFill>
                  <a:schemeClr val="dk1"/>
                </a:solidFill>
              </a:rPr>
              <a:t> em </a:t>
            </a:r>
            <a:r>
              <a:rPr lang="pt-BR" sz="2440" dirty="0" err="1">
                <a:solidFill>
                  <a:schemeClr val="dk1"/>
                </a:solidFill>
              </a:rPr>
              <a:t>G</a:t>
            </a:r>
            <a:r>
              <a:rPr lang="pt-BR" sz="2440" dirty="0">
                <a:solidFill>
                  <a:schemeClr val="dk1"/>
                </a:solidFill>
              </a:rPr>
              <a:t> é uma sequência de vértices v</a:t>
            </a:r>
            <a:r>
              <a:rPr lang="pt-BR" sz="2440" baseline="-25000" dirty="0">
                <a:solidFill>
                  <a:schemeClr val="dk1"/>
                </a:solidFill>
              </a:rPr>
              <a:t>1</a:t>
            </a:r>
            <a:r>
              <a:rPr lang="pt-BR" sz="2440" dirty="0">
                <a:solidFill>
                  <a:schemeClr val="dk1"/>
                </a:solidFill>
              </a:rPr>
              <a:t>, v</a:t>
            </a:r>
            <a:r>
              <a:rPr lang="pt-BR" sz="2440" baseline="-25000" dirty="0">
                <a:solidFill>
                  <a:schemeClr val="dk1"/>
                </a:solidFill>
              </a:rPr>
              <a:t>2</a:t>
            </a:r>
            <a:r>
              <a:rPr lang="pt-BR" sz="2440" dirty="0">
                <a:solidFill>
                  <a:schemeClr val="dk1"/>
                </a:solidFill>
              </a:rPr>
              <a:t>, ..., </a:t>
            </a:r>
            <a:r>
              <a:rPr lang="pt-BR" sz="2440" dirty="0" err="1">
                <a:solidFill>
                  <a:schemeClr val="dk1"/>
                </a:solidFill>
              </a:rPr>
              <a:t>v</a:t>
            </a:r>
            <a:r>
              <a:rPr lang="pt-BR" sz="2440" baseline="-25000" dirty="0" err="1">
                <a:solidFill>
                  <a:schemeClr val="dk1"/>
                </a:solidFill>
              </a:rPr>
              <a:t>k</a:t>
            </a:r>
            <a:r>
              <a:rPr lang="pt-BR" sz="2440" dirty="0">
                <a:solidFill>
                  <a:schemeClr val="dk1"/>
                </a:solidFill>
              </a:rPr>
              <a:t> de </a:t>
            </a:r>
            <a:r>
              <a:rPr lang="pt-BR" sz="2440" dirty="0" err="1">
                <a:solidFill>
                  <a:schemeClr val="dk1"/>
                </a:solidFill>
              </a:rPr>
              <a:t>G</a:t>
            </a:r>
            <a:r>
              <a:rPr lang="pt-BR" sz="2440" dirty="0">
                <a:solidFill>
                  <a:schemeClr val="dk1"/>
                </a:solidFill>
              </a:rPr>
              <a:t> tal que (v</a:t>
            </a:r>
            <a:r>
              <a:rPr lang="pt-BR" sz="2440" baseline="-25000" dirty="0">
                <a:solidFill>
                  <a:schemeClr val="dk1"/>
                </a:solidFill>
              </a:rPr>
              <a:t>i</a:t>
            </a:r>
            <a:r>
              <a:rPr lang="pt-BR" sz="2440" dirty="0">
                <a:solidFill>
                  <a:schemeClr val="dk1"/>
                </a:solidFill>
              </a:rPr>
              <a:t>, v</a:t>
            </a:r>
            <a:r>
              <a:rPr lang="pt-BR" sz="2440" baseline="-25000" dirty="0">
                <a:solidFill>
                  <a:schemeClr val="dk1"/>
                </a:solidFill>
              </a:rPr>
              <a:t>i+1</a:t>
            </a:r>
            <a:r>
              <a:rPr lang="pt-BR" sz="2440" dirty="0">
                <a:solidFill>
                  <a:schemeClr val="dk1"/>
                </a:solidFill>
              </a:rPr>
              <a:t>) ∈ E(</a:t>
            </a:r>
            <a:r>
              <a:rPr lang="pt-BR" sz="2440" dirty="0" err="1">
                <a:solidFill>
                  <a:schemeClr val="dk1"/>
                </a:solidFill>
              </a:rPr>
              <a:t>G</a:t>
            </a:r>
            <a:r>
              <a:rPr lang="pt-BR" sz="2440" dirty="0">
                <a:solidFill>
                  <a:schemeClr val="dk1"/>
                </a:solidFill>
              </a:rPr>
              <a:t>), 1 ≤ </a:t>
            </a:r>
            <a:r>
              <a:rPr lang="pt-BR" sz="2440" dirty="0" err="1">
                <a:solidFill>
                  <a:schemeClr val="dk1"/>
                </a:solidFill>
              </a:rPr>
              <a:t>i</a:t>
            </a:r>
            <a:r>
              <a:rPr lang="pt-BR" sz="2440" dirty="0">
                <a:solidFill>
                  <a:schemeClr val="dk1"/>
                </a:solidFill>
              </a:rPr>
              <a:t> &lt; </a:t>
            </a:r>
            <a:r>
              <a:rPr lang="pt-BR" sz="2440" dirty="0" err="1">
                <a:solidFill>
                  <a:schemeClr val="dk1"/>
                </a:solidFill>
              </a:rPr>
              <a:t>k</a:t>
            </a:r>
            <a:r>
              <a:rPr lang="pt-BR" sz="2440" dirty="0">
                <a:solidFill>
                  <a:schemeClr val="dk1"/>
                </a:solidFill>
              </a:rPr>
              <a:t>.</a:t>
            </a:r>
            <a:endParaRPr sz="2440" dirty="0"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ct val="83606"/>
              <a:buNone/>
            </a:pPr>
            <a:endParaRPr sz="2440" dirty="0">
              <a:solidFill>
                <a:schemeClr val="dk1"/>
              </a:solidFill>
            </a:endParaRPr>
          </a:p>
          <a:p>
            <a:pPr marL="182880" lvl="0" indent="-173164" algn="l" rtl="0">
              <a:spcBef>
                <a:spcPts val="480"/>
              </a:spcBef>
              <a:spcAft>
                <a:spcPts val="0"/>
              </a:spcAft>
              <a:buSzPct val="83606"/>
              <a:buChar char="●"/>
            </a:pPr>
            <a:r>
              <a:rPr lang="pt-BR" sz="2440" dirty="0">
                <a:solidFill>
                  <a:schemeClr val="dk1"/>
                </a:solidFill>
              </a:rPr>
              <a:t>Se os vértices do passeio forem distintos então o passeio chama-se </a:t>
            </a:r>
            <a:r>
              <a:rPr lang="pt-BR" sz="2440" b="1" dirty="0">
                <a:solidFill>
                  <a:schemeClr val="dk1"/>
                </a:solidFill>
              </a:rPr>
              <a:t>caminho</a:t>
            </a:r>
            <a:r>
              <a:rPr lang="pt-BR" sz="2440" dirty="0">
                <a:solidFill>
                  <a:schemeClr val="dk1"/>
                </a:solidFill>
              </a:rPr>
              <a:t>.</a:t>
            </a:r>
            <a:endParaRPr sz="2440" dirty="0"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ct val="83606"/>
              <a:buNone/>
            </a:pPr>
            <a:endParaRPr sz="2440" dirty="0">
              <a:solidFill>
                <a:schemeClr val="dk1"/>
              </a:solidFill>
            </a:endParaRPr>
          </a:p>
          <a:p>
            <a:pPr marL="182880" lvl="0" indent="-173164" algn="l" rtl="0">
              <a:spcBef>
                <a:spcPts val="480"/>
              </a:spcBef>
              <a:spcAft>
                <a:spcPts val="0"/>
              </a:spcAft>
              <a:buSzPct val="83606"/>
              <a:buChar char="●"/>
            </a:pPr>
            <a:r>
              <a:rPr lang="pt-BR" sz="2440" dirty="0">
                <a:solidFill>
                  <a:schemeClr val="dk1"/>
                </a:solidFill>
              </a:rPr>
              <a:t>Um </a:t>
            </a:r>
            <a:r>
              <a:rPr lang="pt-BR" sz="2440" b="1" dirty="0">
                <a:solidFill>
                  <a:schemeClr val="dk1"/>
                </a:solidFill>
              </a:rPr>
              <a:t>passeio fechado </a:t>
            </a:r>
            <a:r>
              <a:rPr lang="pt-BR" sz="2440" dirty="0">
                <a:solidFill>
                  <a:schemeClr val="dk1"/>
                </a:solidFill>
              </a:rPr>
              <a:t>é aquele em que v</a:t>
            </a:r>
            <a:r>
              <a:rPr lang="pt-BR" sz="2440" baseline="-25000" dirty="0">
                <a:solidFill>
                  <a:schemeClr val="dk1"/>
                </a:solidFill>
              </a:rPr>
              <a:t>1</a:t>
            </a:r>
            <a:r>
              <a:rPr lang="pt-BR" sz="2440" dirty="0">
                <a:solidFill>
                  <a:schemeClr val="dk1"/>
                </a:solidFill>
              </a:rPr>
              <a:t> = </a:t>
            </a:r>
            <a:r>
              <a:rPr lang="pt-BR" sz="2440" dirty="0" err="1">
                <a:solidFill>
                  <a:schemeClr val="dk1"/>
                </a:solidFill>
              </a:rPr>
              <a:t>v</a:t>
            </a:r>
            <a:r>
              <a:rPr lang="pt-BR" sz="2440" baseline="-25000" dirty="0" err="1">
                <a:solidFill>
                  <a:schemeClr val="dk1"/>
                </a:solidFill>
              </a:rPr>
              <a:t>k</a:t>
            </a:r>
            <a:r>
              <a:rPr lang="pt-BR" sz="2440" dirty="0">
                <a:solidFill>
                  <a:schemeClr val="dk1"/>
                </a:solidFill>
              </a:rPr>
              <a:t>.</a:t>
            </a:r>
            <a:endParaRPr sz="2440" dirty="0"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ct val="83606"/>
              <a:buNone/>
            </a:pPr>
            <a:endParaRPr sz="2440" dirty="0">
              <a:solidFill>
                <a:schemeClr val="dk1"/>
              </a:solidFill>
            </a:endParaRPr>
          </a:p>
          <a:p>
            <a:pPr marL="182880" lvl="0" indent="-173164" algn="l" rtl="0">
              <a:spcBef>
                <a:spcPts val="480"/>
              </a:spcBef>
              <a:spcAft>
                <a:spcPts val="0"/>
              </a:spcAft>
              <a:buSzPct val="83606"/>
              <a:buChar char="●"/>
            </a:pPr>
            <a:r>
              <a:rPr lang="pt-BR" sz="2440" dirty="0">
                <a:solidFill>
                  <a:schemeClr val="dk1"/>
                </a:solidFill>
              </a:rPr>
              <a:t>Um </a:t>
            </a:r>
            <a:r>
              <a:rPr lang="pt-BR" sz="2440" b="1" dirty="0">
                <a:solidFill>
                  <a:schemeClr val="dk1"/>
                </a:solidFill>
              </a:rPr>
              <a:t>ciclo</a:t>
            </a:r>
            <a:r>
              <a:rPr lang="pt-BR" sz="2440" dirty="0">
                <a:solidFill>
                  <a:schemeClr val="dk1"/>
                </a:solidFill>
              </a:rPr>
              <a:t> é um passeio fechado v</a:t>
            </a:r>
            <a:r>
              <a:rPr lang="pt-BR" sz="2440" baseline="-25000" dirty="0">
                <a:solidFill>
                  <a:schemeClr val="dk1"/>
                </a:solidFill>
              </a:rPr>
              <a:t>1</a:t>
            </a:r>
            <a:r>
              <a:rPr lang="pt-BR" sz="2440" dirty="0">
                <a:solidFill>
                  <a:schemeClr val="dk1"/>
                </a:solidFill>
              </a:rPr>
              <a:t>, ..., </a:t>
            </a:r>
            <a:r>
              <a:rPr lang="pt-BR" sz="2440" dirty="0" err="1">
                <a:solidFill>
                  <a:schemeClr val="dk1"/>
                </a:solidFill>
              </a:rPr>
              <a:t>v</a:t>
            </a:r>
            <a:r>
              <a:rPr lang="pt-BR" sz="2440" baseline="-25000" dirty="0" err="1">
                <a:solidFill>
                  <a:schemeClr val="dk1"/>
                </a:solidFill>
              </a:rPr>
              <a:t>k</a:t>
            </a:r>
            <a:r>
              <a:rPr lang="pt-BR" sz="2440" dirty="0">
                <a:solidFill>
                  <a:schemeClr val="dk1"/>
                </a:solidFill>
              </a:rPr>
              <a:t> tal que </a:t>
            </a:r>
            <a:r>
              <a:rPr lang="pt-BR" sz="2440" dirty="0" err="1">
                <a:solidFill>
                  <a:schemeClr val="dk1"/>
                </a:solidFill>
              </a:rPr>
              <a:t>k</a:t>
            </a:r>
            <a:r>
              <a:rPr lang="pt-BR" sz="2440" dirty="0">
                <a:solidFill>
                  <a:schemeClr val="dk1"/>
                </a:solidFill>
              </a:rPr>
              <a:t> ≥ 3 e v</a:t>
            </a:r>
            <a:r>
              <a:rPr lang="pt-BR" sz="2440" baseline="-25000" dirty="0">
                <a:solidFill>
                  <a:schemeClr val="dk1"/>
                </a:solidFill>
              </a:rPr>
              <a:t>1</a:t>
            </a:r>
            <a:r>
              <a:rPr lang="pt-BR" sz="2440" dirty="0">
                <a:solidFill>
                  <a:schemeClr val="dk1"/>
                </a:solidFill>
              </a:rPr>
              <a:t>, ..., v</a:t>
            </a:r>
            <a:r>
              <a:rPr lang="pt-BR" sz="2440" baseline="-25000" dirty="0">
                <a:solidFill>
                  <a:schemeClr val="dk1"/>
                </a:solidFill>
              </a:rPr>
              <a:t>k-1</a:t>
            </a:r>
            <a:r>
              <a:rPr lang="pt-BR" sz="2440" dirty="0">
                <a:solidFill>
                  <a:schemeClr val="dk1"/>
                </a:solidFill>
              </a:rPr>
              <a:t> é um caminho.</a:t>
            </a:r>
            <a:endParaRPr sz="244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80"/>
              </a:spcBef>
              <a:spcAft>
                <a:spcPts val="1600"/>
              </a:spcAft>
              <a:buSzPct val="85000"/>
              <a:buNone/>
            </a:pPr>
            <a:r>
              <a:rPr lang="pt-BR" dirty="0"/>
              <a:t> </a:t>
            </a:r>
            <a:endParaRPr dirty="0"/>
          </a:p>
        </p:txBody>
      </p:sp>
      <p:pic>
        <p:nvPicPr>
          <p:cNvPr id="257" name="Google Shape;257;p15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26799" y="4834499"/>
            <a:ext cx="2001625" cy="18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5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"/>
          <p:cNvSpPr txBox="1">
            <a:spLocks noGrp="1"/>
          </p:cNvSpPr>
          <p:nvPr>
            <p:ph type="body" idx="4294967295"/>
          </p:nvPr>
        </p:nvSpPr>
        <p:spPr>
          <a:xfrm>
            <a:off x="2152650" y="692696"/>
            <a:ext cx="7886700" cy="32403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81" t="-117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1600"/>
              </a:spcAft>
              <a:buSzPts val="2040"/>
              <a:buChar char="●"/>
            </a:pPr>
            <a:r>
              <a:rPr lang="pt-BR"/>
              <a:t> </a:t>
            </a:r>
            <a:endParaRPr/>
          </a:p>
        </p:txBody>
      </p:sp>
      <p:pic>
        <p:nvPicPr>
          <p:cNvPr id="264" name="Google Shape;264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1664" y="3933056"/>
            <a:ext cx="6372200" cy="2239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6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7599" y="4807449"/>
            <a:ext cx="2030824" cy="18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6" descr="Ícone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"/>
          <p:cNvSpPr txBox="1">
            <a:spLocks noGrp="1"/>
          </p:cNvSpPr>
          <p:nvPr>
            <p:ph type="title" idx="4294967295"/>
          </p:nvPr>
        </p:nvSpPr>
        <p:spPr>
          <a:xfrm>
            <a:off x="1531675" y="822164"/>
            <a:ext cx="96225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 dirty="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Teorema do aperto de mãos</a:t>
            </a:r>
            <a:endParaRPr sz="6600" dirty="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72" name="Google Shape;272;p17"/>
          <p:cNvSpPr txBox="1">
            <a:spLocks noGrp="1"/>
          </p:cNvSpPr>
          <p:nvPr>
            <p:ph type="body" idx="4294967295"/>
          </p:nvPr>
        </p:nvSpPr>
        <p:spPr>
          <a:xfrm>
            <a:off x="1784275" y="1994350"/>
            <a:ext cx="9369900" cy="4248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34" t="-103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1600"/>
              </a:spcAft>
              <a:buSzPts val="2040"/>
              <a:buChar char="●"/>
            </a:pPr>
            <a:r>
              <a:rPr lang="pt-BR" sz="2440">
                <a:solidFill>
                  <a:schemeClr val="dk1"/>
                </a:solidFill>
              </a:rPr>
              <a:t> </a:t>
            </a:r>
            <a:endParaRPr sz="2440">
              <a:solidFill>
                <a:schemeClr val="dk1"/>
              </a:solidFill>
            </a:endParaRPr>
          </a:p>
        </p:txBody>
      </p:sp>
      <p:pic>
        <p:nvPicPr>
          <p:cNvPr id="273" name="Google Shape;273;p17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88198" y="4983999"/>
            <a:ext cx="1840224" cy="17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7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"/>
          <p:cNvSpPr txBox="1">
            <a:spLocks noGrp="1"/>
          </p:cNvSpPr>
          <p:nvPr>
            <p:ph type="title" idx="4294967295"/>
          </p:nvPr>
        </p:nvSpPr>
        <p:spPr>
          <a:xfrm>
            <a:off x="1631404" y="1041775"/>
            <a:ext cx="9951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Demonstração do Teorema do aperto de mãos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80" name="Google Shape;280;p18"/>
          <p:cNvSpPr txBox="1">
            <a:spLocks noGrp="1"/>
          </p:cNvSpPr>
          <p:nvPr>
            <p:ph type="body" idx="4294967295"/>
          </p:nvPr>
        </p:nvSpPr>
        <p:spPr>
          <a:xfrm>
            <a:off x="767408" y="2253499"/>
            <a:ext cx="10815000" cy="4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53339" algn="l" rtl="0">
              <a:spcBef>
                <a:spcPts val="0"/>
              </a:spcBef>
              <a:spcAft>
                <a:spcPts val="0"/>
              </a:spcAft>
              <a:buSzPts val="2040"/>
              <a:buNone/>
            </a:pPr>
            <a:endParaRPr b="1"/>
          </a:p>
          <a:p>
            <a:pPr marL="182880" lvl="0" indent="-182880" algn="l" rtl="0">
              <a:spcBef>
                <a:spcPts val="480"/>
              </a:spcBef>
              <a:spcAft>
                <a:spcPts val="1600"/>
              </a:spcAft>
              <a:buSzPts val="2040"/>
              <a:buChar char="●"/>
            </a:pPr>
            <a:r>
              <a:rPr lang="pt-BR" sz="2440" b="1">
                <a:solidFill>
                  <a:schemeClr val="dk1"/>
                </a:solidFill>
              </a:rPr>
              <a:t>Prova: </a:t>
            </a:r>
            <a:r>
              <a:rPr lang="pt-BR" sz="2440">
                <a:solidFill>
                  <a:schemeClr val="dk1"/>
                </a:solidFill>
              </a:rPr>
              <a:t>Considerando que cada uma das arestas apresentam dois vértices, e com isso contando a quantidade de arestas por vértice, teremos que toda aresta será contada duas vezes, deste modo, a soma dos graus será o dobro da quantidade de arestas.◊</a:t>
            </a:r>
            <a:endParaRPr sz="2440">
              <a:solidFill>
                <a:schemeClr val="dk1"/>
              </a:solidFill>
            </a:endParaRPr>
          </a:p>
        </p:txBody>
      </p:sp>
      <p:pic>
        <p:nvPicPr>
          <p:cNvPr id="281" name="Google Shape;281;p18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62224" y="4774674"/>
            <a:ext cx="2066200" cy="191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8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83799" y="11125"/>
            <a:ext cx="899225" cy="895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"/>
          <p:cNvSpPr txBox="1">
            <a:spLocks noGrp="1"/>
          </p:cNvSpPr>
          <p:nvPr>
            <p:ph type="title" idx="4294967295"/>
          </p:nvPr>
        </p:nvSpPr>
        <p:spPr>
          <a:xfrm>
            <a:off x="634125" y="623125"/>
            <a:ext cx="10506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 dirty="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Demonstração do Corolário</a:t>
            </a:r>
            <a:endParaRPr sz="6600" dirty="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88" name="Google Shape;288;p19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53339" algn="l" rtl="0">
              <a:spcBef>
                <a:spcPts val="0"/>
              </a:spcBef>
              <a:spcAft>
                <a:spcPts val="0"/>
              </a:spcAft>
              <a:buSzPts val="2040"/>
              <a:buNone/>
            </a:pPr>
            <a:endParaRPr b="1"/>
          </a:p>
          <a:p>
            <a:pPr marL="182880" lvl="0" indent="-182880" algn="l" rtl="0">
              <a:spcBef>
                <a:spcPts val="480"/>
              </a:spcBef>
              <a:spcAft>
                <a:spcPts val="0"/>
              </a:spcAft>
              <a:buSzPts val="2040"/>
              <a:buChar char="●"/>
            </a:pPr>
            <a:r>
              <a:rPr lang="pt-BR" sz="2440" b="1">
                <a:solidFill>
                  <a:schemeClr val="dk1"/>
                </a:solidFill>
              </a:rPr>
              <a:t>Prova: </a:t>
            </a:r>
            <a:r>
              <a:rPr lang="pt-BR" sz="2440">
                <a:solidFill>
                  <a:schemeClr val="dk1"/>
                </a:solidFill>
              </a:rPr>
              <a:t>Suponhamos que um grafo tenha um número ímpar de vértices de grau ímpar. Desse modo, a soma desses graus seria ímpar. Por outro lado, a soma dos graus dos vértices de grau par é sempre par. Sendo assim, a soma dos graus dos vértices desse grafo seria ímpar contradizendo o Teorema do Aperto de Mãos.◊</a:t>
            </a:r>
            <a:endParaRPr sz="2440"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1600"/>
              </a:spcAft>
              <a:buSzPts val="2040"/>
              <a:buNone/>
            </a:pPr>
            <a:endParaRPr/>
          </a:p>
        </p:txBody>
      </p:sp>
      <p:pic>
        <p:nvPicPr>
          <p:cNvPr id="289" name="Google Shape;289;p19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7652" y="4436988"/>
            <a:ext cx="2430766" cy="2251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9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828</Words>
  <Application>Microsoft Macintosh PowerPoint</Application>
  <PresentationFormat>Widescreen</PresentationFormat>
  <Paragraphs>94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Arial</vt:lpstr>
      <vt:lpstr>Aharoni</vt:lpstr>
      <vt:lpstr>Quattrocento Sans</vt:lpstr>
      <vt:lpstr>Times New Roman</vt:lpstr>
      <vt:lpstr>Calibri</vt:lpstr>
      <vt:lpstr>Simple Light</vt:lpstr>
      <vt:lpstr>TEORIA DOS GRAFOS - Parte 1</vt:lpstr>
      <vt:lpstr>Apresentação do PowerPoint</vt:lpstr>
      <vt:lpstr>Conceitos Básicos e Notações</vt:lpstr>
      <vt:lpstr>Apresentação do PowerPoint</vt:lpstr>
      <vt:lpstr>Apresentação do PowerPoint</vt:lpstr>
      <vt:lpstr>Relaxações da definição de grafo</vt:lpstr>
      <vt:lpstr>Digrafo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Teorema do aperto de mãos</vt:lpstr>
      <vt:lpstr>Demonstração do Teorema do aperto de mãos</vt:lpstr>
      <vt:lpstr>Demonstração do Corolário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TEORIA DOS GRAFOS - Parte 1</dc:title>
  <dc:creator>Andrea</dc:creator>
  <cp:lastModifiedBy>Microsoft Office User</cp:lastModifiedBy>
  <cp:revision>6</cp:revision>
  <dcterms:created xsi:type="dcterms:W3CDTF">2011-02-20T15:45:28Z</dcterms:created>
  <dcterms:modified xsi:type="dcterms:W3CDTF">2026-06-22T22:27:15Z</dcterms:modified>
</cp:coreProperties>
</file>