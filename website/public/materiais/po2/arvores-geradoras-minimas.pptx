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8BhADO+41yIj40ZTJpJvffc0C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34FB5F-45D4-4650-B953-9F3F7093DA15}">
  <a:tblStyle styleId="{2A34FB5F-45D4-4650-B953-9F3F7093DA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887F307-4C08-437B-B3F3-C493F4246E1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napToGrid="0">
      <p:cViewPr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762375"/>
            <a:ext cx="4343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Árvores Geradoras Mínimas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685800" y="5361850"/>
            <a:ext cx="5441400" cy="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Disciplina: Pesquisa Operacional II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Profª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Dra. Andréa Bonifácio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5735" y="3"/>
            <a:ext cx="1269999" cy="126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9876" y="1763650"/>
            <a:ext cx="3743425" cy="346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3662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Situação</a:t>
            </a: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2122250"/>
            <a:ext cx="8229600" cy="3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98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Imagine que um prefeito deseja asfaltar as ruas de um lugarejo. No entanto, devido à falta de verba, deseja que algumas regras sejam obedecidas: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just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500"/>
              <a:buChar char="•"/>
            </a:pPr>
            <a:r>
              <a:rPr lang="pt-BR" sz="2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Todos os pares de edificações devem ser ligados por ao menos um percurso de ruas asfaltadas;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just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500"/>
              <a:buChar char="•"/>
            </a:pPr>
            <a:r>
              <a:rPr lang="pt-BR" sz="2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Usar o mínimo possível de ruas asfaltadas; e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just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500"/>
              <a:buChar char="•"/>
            </a:pPr>
            <a:r>
              <a:rPr lang="pt-BR" sz="2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 custo de asfaltar as ruas seja mínimo.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500"/>
          </a:p>
        </p:txBody>
      </p:sp>
      <p:pic>
        <p:nvPicPr>
          <p:cNvPr id="98" name="Google Shape;98;p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7648" y="5092199"/>
            <a:ext cx="1906349" cy="17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Situação</a:t>
            </a:r>
            <a:endParaRPr/>
          </a:p>
        </p:txBody>
      </p:sp>
      <p:pic>
        <p:nvPicPr>
          <p:cNvPr id="105" name="Google Shape;105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52164" y="1600200"/>
            <a:ext cx="6639671" cy="452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457200" y="6240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Modelagem de </a:t>
            </a:r>
            <a:b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grafos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1369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Como podemos modelar a situação anterior?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5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13690" algn="just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 b="1" u="sng" dirty="0">
                <a:latin typeface="Arial"/>
                <a:ea typeface="Arial"/>
                <a:cs typeface="Arial"/>
                <a:sym typeface="Arial"/>
              </a:rPr>
              <a:t>Resposta:</a:t>
            </a: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 O problema pode ser modelado através de um grafo ponderado onde: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13690" algn="just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 os </a:t>
            </a:r>
            <a:r>
              <a:rPr lang="pt-BR" sz="25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vértices</a:t>
            </a: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 são as </a:t>
            </a:r>
            <a:r>
              <a:rPr lang="pt-BR" sz="25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edificações</a:t>
            </a: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, 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13690" algn="just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lang="pt-BR" sz="25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arestas</a:t>
            </a: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 correspondem as </a:t>
            </a:r>
            <a:r>
              <a:rPr lang="pt-BR" sz="25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ruas</a:t>
            </a: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 de modo que todas as edificações sejam interligadas por pelo menos um percurso via ruas, e 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13690" algn="just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lang="pt-BR" sz="2500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pesos</a:t>
            </a: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 das arestas são os </a:t>
            </a:r>
            <a:r>
              <a:rPr lang="pt-BR" sz="2500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custos</a:t>
            </a: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 de asfaltar cada rua.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4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5799" y="5488775"/>
            <a:ext cx="1478201" cy="13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457200" y="8700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Modelagem</a:t>
            </a:r>
            <a:r>
              <a:rPr lang="pt-BR" dirty="0"/>
              <a:t> </a:t>
            </a: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de grafos</a:t>
            </a:r>
            <a:endParaRPr dirty="0"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457200" y="2067275"/>
            <a:ext cx="8229600" cy="23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Pela Teoria de Grafos, o que pretende-se determinar?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 b="1" u="sng">
                <a:latin typeface="Arial"/>
                <a:ea typeface="Arial"/>
                <a:cs typeface="Arial"/>
                <a:sym typeface="Arial"/>
              </a:rPr>
              <a:t>Resposta: </a:t>
            </a:r>
            <a:r>
              <a:rPr lang="pt-BR" sz="2500">
                <a:latin typeface="Arial"/>
                <a:ea typeface="Arial"/>
                <a:cs typeface="Arial"/>
                <a:sym typeface="Arial"/>
              </a:rPr>
              <a:t>Uma árvore geradora de custo mínimo.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5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7648" y="5092199"/>
            <a:ext cx="1906349" cy="17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70375" y="0"/>
            <a:ext cx="873625" cy="8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Definições</a:t>
            </a:r>
            <a:endParaRPr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457200" y="1618525"/>
            <a:ext cx="8229600" cy="452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851" t="-13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pt-BR" sz="2500" dirty="0">
                <a:latin typeface="Arial"/>
                <a:ea typeface="Arial"/>
                <a:cs typeface="Arial"/>
                <a:sym typeface="Arial"/>
              </a:rPr>
              <a:t> 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6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7648" y="5092199"/>
            <a:ext cx="1906349" cy="17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2192539" y="3172335"/>
            <a:ext cx="2160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180224" y="2596284"/>
            <a:ext cx="2160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180224" y="3964436"/>
            <a:ext cx="2160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874881" y="3172348"/>
            <a:ext cx="2160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315041" y="2596284"/>
            <a:ext cx="2160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315041" y="3964436"/>
            <a:ext cx="2160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7"/>
          <p:cNvCxnSpPr>
            <a:stCxn id="136" idx="6"/>
            <a:endCxn id="139" idx="6"/>
          </p:cNvCxnSpPr>
          <p:nvPr/>
        </p:nvCxnSpPr>
        <p:spPr>
          <a:xfrm>
            <a:off x="3396225" y="2704284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p7"/>
          <p:cNvCxnSpPr/>
          <p:nvPr/>
        </p:nvCxnSpPr>
        <p:spPr>
          <a:xfrm rot="10800000" flipH="1">
            <a:off x="2282592" y="2668409"/>
            <a:ext cx="1041600" cy="586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7"/>
          <p:cNvCxnSpPr/>
          <p:nvPr/>
        </p:nvCxnSpPr>
        <p:spPr>
          <a:xfrm>
            <a:off x="6427421" y="2704296"/>
            <a:ext cx="31500" cy="1444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" name="Google Shape;144;p7"/>
          <p:cNvCxnSpPr/>
          <p:nvPr/>
        </p:nvCxnSpPr>
        <p:spPr>
          <a:xfrm>
            <a:off x="3415485" y="410845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7"/>
          <p:cNvCxnSpPr/>
          <p:nvPr/>
        </p:nvCxnSpPr>
        <p:spPr>
          <a:xfrm>
            <a:off x="2278224" y="3316364"/>
            <a:ext cx="278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" name="Google Shape;146;p7"/>
          <p:cNvCxnSpPr>
            <a:stCxn id="135" idx="4"/>
            <a:endCxn id="137" idx="2"/>
          </p:cNvCxnSpPr>
          <p:nvPr/>
        </p:nvCxnSpPr>
        <p:spPr>
          <a:xfrm>
            <a:off x="2300539" y="3388336"/>
            <a:ext cx="879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7"/>
          <p:cNvCxnSpPr/>
          <p:nvPr/>
        </p:nvCxnSpPr>
        <p:spPr>
          <a:xfrm>
            <a:off x="3290705" y="2704296"/>
            <a:ext cx="0" cy="136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" name="Google Shape;148;p7"/>
          <p:cNvCxnSpPr>
            <a:stCxn id="136" idx="6"/>
            <a:endCxn id="138" idx="1"/>
          </p:cNvCxnSpPr>
          <p:nvPr/>
        </p:nvCxnSpPr>
        <p:spPr>
          <a:xfrm>
            <a:off x="3396225" y="2704284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" name="Google Shape;149;p7"/>
          <p:cNvCxnSpPr>
            <a:stCxn id="137" idx="6"/>
            <a:endCxn id="138" idx="3"/>
          </p:cNvCxnSpPr>
          <p:nvPr/>
        </p:nvCxnSpPr>
        <p:spPr>
          <a:xfrm rot="10800000" flipH="1">
            <a:off x="3396225" y="3356636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7"/>
          <p:cNvCxnSpPr>
            <a:stCxn id="138" idx="5"/>
            <a:endCxn id="140" idx="1"/>
          </p:cNvCxnSpPr>
          <p:nvPr/>
        </p:nvCxnSpPr>
        <p:spPr>
          <a:xfrm>
            <a:off x="5059248" y="3356716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7"/>
          <p:cNvCxnSpPr>
            <a:stCxn id="138" idx="6"/>
            <a:endCxn id="139" idx="3"/>
          </p:cNvCxnSpPr>
          <p:nvPr/>
        </p:nvCxnSpPr>
        <p:spPr>
          <a:xfrm rot="10800000" flipH="1">
            <a:off x="5090881" y="2780548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7"/>
          <p:cNvSpPr txBox="1"/>
          <p:nvPr/>
        </p:nvSpPr>
        <p:spPr>
          <a:xfrm>
            <a:off x="4658857" y="2433802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6531064" y="3280360"/>
            <a:ext cx="28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4370825" y="4180460"/>
            <a:ext cx="72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2354601" y="2636934"/>
            <a:ext cx="44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3668746" y="3030516"/>
            <a:ext cx="34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2462613" y="3730410"/>
            <a:ext cx="34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5234921" y="2884316"/>
            <a:ext cx="36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5507135" y="3388372"/>
            <a:ext cx="30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3074681" y="3465026"/>
            <a:ext cx="21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3650745" y="3604396"/>
            <a:ext cx="34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4370825" y="2780672"/>
            <a:ext cx="36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1958557" y="3019040"/>
            <a:ext cx="68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3074681" y="2308252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3074681" y="4180460"/>
            <a:ext cx="43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6315041" y="2308252"/>
            <a:ext cx="50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4874881" y="2821600"/>
            <a:ext cx="36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6315041" y="4171168"/>
            <a:ext cx="43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169" name="Google Shape;169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70" name="Google Shape;170;p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7648" y="5092199"/>
            <a:ext cx="1906349" cy="17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1912571" y="2060849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916752" y="1484783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916752" y="2852939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739456" y="2060849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288434" y="1484783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288434" y="2852939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8"/>
          <p:cNvCxnSpPr>
            <a:stCxn id="177" idx="6"/>
            <a:endCxn id="180" idx="6"/>
          </p:cNvCxnSpPr>
          <p:nvPr/>
        </p:nvCxnSpPr>
        <p:spPr>
          <a:xfrm>
            <a:off x="3148952" y="1592783"/>
            <a:ext cx="337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p8"/>
          <p:cNvCxnSpPr/>
          <p:nvPr/>
        </p:nvCxnSpPr>
        <p:spPr>
          <a:xfrm rot="10800000" flipH="1">
            <a:off x="1951295" y="1556910"/>
            <a:ext cx="1120500" cy="586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" name="Google Shape;184;p8"/>
          <p:cNvCxnSpPr/>
          <p:nvPr/>
        </p:nvCxnSpPr>
        <p:spPr>
          <a:xfrm>
            <a:off x="6409306" y="1592795"/>
            <a:ext cx="33900" cy="1444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8"/>
          <p:cNvCxnSpPr/>
          <p:nvPr/>
        </p:nvCxnSpPr>
        <p:spPr>
          <a:xfrm>
            <a:off x="3169788" y="2996955"/>
            <a:ext cx="337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8"/>
          <p:cNvCxnSpPr/>
          <p:nvPr/>
        </p:nvCxnSpPr>
        <p:spPr>
          <a:xfrm>
            <a:off x="1946597" y="2204865"/>
            <a:ext cx="2991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8"/>
          <p:cNvCxnSpPr>
            <a:stCxn id="176" idx="4"/>
            <a:endCxn id="178" idx="2"/>
          </p:cNvCxnSpPr>
          <p:nvPr/>
        </p:nvCxnSpPr>
        <p:spPr>
          <a:xfrm>
            <a:off x="2028671" y="2276849"/>
            <a:ext cx="8880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8" name="Google Shape;188;p8"/>
          <p:cNvCxnSpPr/>
          <p:nvPr/>
        </p:nvCxnSpPr>
        <p:spPr>
          <a:xfrm>
            <a:off x="3035580" y="1592795"/>
            <a:ext cx="0" cy="136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9" name="Google Shape;189;p8"/>
          <p:cNvCxnSpPr>
            <a:stCxn id="177" idx="6"/>
            <a:endCxn id="179" idx="1"/>
          </p:cNvCxnSpPr>
          <p:nvPr/>
        </p:nvCxnSpPr>
        <p:spPr>
          <a:xfrm>
            <a:off x="3148952" y="1592783"/>
            <a:ext cx="16245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0" name="Google Shape;190;p8"/>
          <p:cNvCxnSpPr>
            <a:stCxn id="178" idx="6"/>
            <a:endCxn id="179" idx="3"/>
          </p:cNvCxnSpPr>
          <p:nvPr/>
        </p:nvCxnSpPr>
        <p:spPr>
          <a:xfrm rot="10800000" flipH="1">
            <a:off x="3148952" y="2245139"/>
            <a:ext cx="16245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1" name="Google Shape;191;p8"/>
          <p:cNvCxnSpPr>
            <a:stCxn id="179" idx="5"/>
            <a:endCxn id="181" idx="1"/>
          </p:cNvCxnSpPr>
          <p:nvPr/>
        </p:nvCxnSpPr>
        <p:spPr>
          <a:xfrm>
            <a:off x="4937651" y="2245216"/>
            <a:ext cx="13848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8"/>
          <p:cNvCxnSpPr>
            <a:stCxn id="179" idx="6"/>
            <a:endCxn id="180" idx="3"/>
          </p:cNvCxnSpPr>
          <p:nvPr/>
        </p:nvCxnSpPr>
        <p:spPr>
          <a:xfrm rot="10800000" flipH="1">
            <a:off x="4971656" y="1669049"/>
            <a:ext cx="13509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8"/>
          <p:cNvSpPr txBox="1"/>
          <p:nvPr/>
        </p:nvSpPr>
        <p:spPr>
          <a:xfrm>
            <a:off x="4507109" y="1322300"/>
            <a:ext cx="61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6520781" y="2168861"/>
            <a:ext cx="30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4197314" y="3068964"/>
            <a:ext cx="7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2028744" y="1525433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3442187" y="1919016"/>
            <a:ext cx="36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2144918" y="2618912"/>
            <a:ext cx="36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5126701" y="1772816"/>
            <a:ext cx="38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5419483" y="2276873"/>
            <a:ext cx="32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2803233" y="2353527"/>
            <a:ext cx="23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3422825" y="2492898"/>
            <a:ext cx="36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4197314" y="1669171"/>
            <a:ext cx="38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1602775" y="1907540"/>
            <a:ext cx="73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2803233" y="1196750"/>
            <a:ext cx="61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2803233" y="3068964"/>
            <a:ext cx="46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7" name="Google Shape;207;p8"/>
          <p:cNvSpPr txBox="1"/>
          <p:nvPr/>
        </p:nvSpPr>
        <p:spPr>
          <a:xfrm>
            <a:off x="6288434" y="1196750"/>
            <a:ext cx="5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08" name="Google Shape;208;p8"/>
          <p:cNvSpPr txBox="1"/>
          <p:nvPr/>
        </p:nvSpPr>
        <p:spPr>
          <a:xfrm>
            <a:off x="4739456" y="1710100"/>
            <a:ext cx="38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6288434" y="3059672"/>
            <a:ext cx="46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210" name="Google Shape;210;p8"/>
          <p:cNvSpPr txBox="1">
            <a:spLocks noGrp="1"/>
          </p:cNvSpPr>
          <p:nvPr>
            <p:ph type="title"/>
          </p:nvPr>
        </p:nvSpPr>
        <p:spPr>
          <a:xfrm>
            <a:off x="469825" y="72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873847" y="4504482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2878028" y="3928416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878028" y="5296572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700732" y="4504482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249710" y="3928416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249710" y="5296572"/>
            <a:ext cx="232200" cy="2160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8"/>
          <p:cNvCxnSpPr>
            <a:stCxn id="212" idx="6"/>
            <a:endCxn id="215" idx="2"/>
          </p:cNvCxnSpPr>
          <p:nvPr/>
        </p:nvCxnSpPr>
        <p:spPr>
          <a:xfrm>
            <a:off x="3110228" y="4036416"/>
            <a:ext cx="31395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8"/>
          <p:cNvCxnSpPr>
            <a:stCxn id="211" idx="7"/>
            <a:endCxn id="212" idx="3"/>
          </p:cNvCxnSpPr>
          <p:nvPr/>
        </p:nvCxnSpPr>
        <p:spPr>
          <a:xfrm rot="10800000" flipH="1">
            <a:off x="2072042" y="4112814"/>
            <a:ext cx="840000" cy="423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8"/>
          <p:cNvCxnSpPr>
            <a:endCxn id="216" idx="2"/>
          </p:cNvCxnSpPr>
          <p:nvPr/>
        </p:nvCxnSpPr>
        <p:spPr>
          <a:xfrm>
            <a:off x="3131210" y="5400072"/>
            <a:ext cx="3118500" cy="4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8"/>
          <p:cNvCxnSpPr>
            <a:stCxn id="211" idx="6"/>
            <a:endCxn id="214" idx="2"/>
          </p:cNvCxnSpPr>
          <p:nvPr/>
        </p:nvCxnSpPr>
        <p:spPr>
          <a:xfrm>
            <a:off x="2106047" y="4612482"/>
            <a:ext cx="25947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8"/>
          <p:cNvCxnSpPr>
            <a:stCxn id="211" idx="4"/>
            <a:endCxn id="213" idx="2"/>
          </p:cNvCxnSpPr>
          <p:nvPr/>
        </p:nvCxnSpPr>
        <p:spPr>
          <a:xfrm>
            <a:off x="1989947" y="4720482"/>
            <a:ext cx="888000" cy="68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8"/>
          <p:cNvSpPr txBox="1"/>
          <p:nvPr/>
        </p:nvSpPr>
        <p:spPr>
          <a:xfrm>
            <a:off x="4468385" y="3765934"/>
            <a:ext cx="61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4158589" y="5512597"/>
            <a:ext cx="7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1990020" y="3969066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3403462" y="4362649"/>
            <a:ext cx="36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2106193" y="5062546"/>
            <a:ext cx="36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1718949" y="6372049"/>
            <a:ext cx="565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Árvore geradora com peso = 6 +  8 + 4 + 6 + 8 = 32.</a:t>
            </a:r>
            <a:endParaRPr/>
          </a:p>
        </p:txBody>
      </p:sp>
      <p:pic>
        <p:nvPicPr>
          <p:cNvPr id="228" name="Google Shape;228;p8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7648" y="5092199"/>
            <a:ext cx="1906349" cy="17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Problema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35" name="Google Shape;2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629" t="-17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 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9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7648" y="5092199"/>
            <a:ext cx="1906349" cy="17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9" descr="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>
            <a:spLocks noGrp="1"/>
          </p:cNvSpPr>
          <p:nvPr>
            <p:ph type="title"/>
          </p:nvPr>
        </p:nvSpPr>
        <p:spPr>
          <a:xfrm>
            <a:off x="457200" y="714276"/>
            <a:ext cx="8229600" cy="12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5940"/>
              <a:buFont typeface="Aharoni"/>
              <a:buNone/>
            </a:pPr>
            <a:r>
              <a:rPr lang="pt-BR" sz="454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Solução ao problema de encontrar uma árvore geradora mínima</a:t>
            </a:r>
            <a:endParaRPr sz="454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43" name="Google Shape;243;p10"/>
          <p:cNvSpPr txBox="1">
            <a:spLocks noGrp="1"/>
          </p:cNvSpPr>
          <p:nvPr>
            <p:ph type="body" idx="1"/>
          </p:nvPr>
        </p:nvSpPr>
        <p:spPr>
          <a:xfrm>
            <a:off x="457200" y="2506900"/>
            <a:ext cx="8229600" cy="3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Algoritmo de Kruskal: incluir a aresta de menor valor, sem formar ciclo, até que todos os vértices estejam interligados.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 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Algoritmo de Prim: formar uma árvore com apenas um vértice e a cada passo incluir a aresta de menor peso que ligue um vértice fora da árvore a ela.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0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9742" y="5575800"/>
            <a:ext cx="1384258" cy="128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0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 txBox="1">
            <a:spLocks noGrp="1"/>
          </p:cNvSpPr>
          <p:nvPr>
            <p:ph type="title"/>
          </p:nvPr>
        </p:nvSpPr>
        <p:spPr>
          <a:xfrm>
            <a:off x="14808" y="2669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Algoritmo de </a:t>
            </a:r>
            <a:r>
              <a:rPr lang="pt-BR" sz="6600" dirty="0" err="1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Kruskal</a:t>
            </a:r>
            <a:endParaRPr b="1" dirty="0"/>
          </a:p>
        </p:txBody>
      </p:sp>
      <p:sp>
        <p:nvSpPr>
          <p:cNvPr id="251" name="Google Shape;251;p11"/>
          <p:cNvSpPr/>
          <p:nvPr/>
        </p:nvSpPr>
        <p:spPr>
          <a:xfrm>
            <a:off x="899592" y="1555131"/>
            <a:ext cx="7344816" cy="453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Criar uma lista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com as arestas ordenadas em ordem não-decrescente de pesos.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Criar |V| subárvores contendo cada uma um vértice isolado.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∅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0           [t: contador de arestas da árvore]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Enquanto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|V|-1 e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≠ ∅ </a:t>
            </a: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faça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Seja {u,v} a próxima aresta de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– {{u,v}}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Se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u e v não estão na mesma subárvore </a:t>
            </a: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então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∪ {{u,v}}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Unir as subárvores que contêm u e v.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+ 1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fim-se</a:t>
            </a:r>
            <a:endParaRPr sz="18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fim-enquanto</a:t>
            </a:r>
            <a:endParaRPr/>
          </a:p>
        </p:txBody>
      </p:sp>
      <p:pic>
        <p:nvPicPr>
          <p:cNvPr id="252" name="Google Shape;252;p1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3500" y="5431075"/>
            <a:ext cx="1540500" cy="14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 txBox="1">
            <a:spLocks noGrp="1"/>
          </p:cNvSpPr>
          <p:nvPr>
            <p:ph type="title"/>
          </p:nvPr>
        </p:nvSpPr>
        <p:spPr>
          <a:xfrm>
            <a:off x="457200" y="135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2"/>
          <p:cNvCxnSpPr>
            <a:stCxn id="260" idx="6"/>
            <a:endCxn id="263" idx="6"/>
          </p:cNvCxnSpPr>
          <p:nvPr/>
        </p:nvCxnSpPr>
        <p:spPr>
          <a:xfrm>
            <a:off x="1545196" y="1592796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p12"/>
          <p:cNvCxnSpPr/>
          <p:nvPr/>
        </p:nvCxnSpPr>
        <p:spPr>
          <a:xfrm rot="10800000" flipH="1">
            <a:off x="431540" y="1556792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12"/>
          <p:cNvCxnSpPr/>
          <p:nvPr/>
        </p:nvCxnSpPr>
        <p:spPr>
          <a:xfrm>
            <a:off x="4576368" y="1592796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12"/>
          <p:cNvCxnSpPr/>
          <p:nvPr/>
        </p:nvCxnSpPr>
        <p:spPr>
          <a:xfrm>
            <a:off x="1564432" y="2996952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12"/>
          <p:cNvCxnSpPr/>
          <p:nvPr/>
        </p:nvCxnSpPr>
        <p:spPr>
          <a:xfrm>
            <a:off x="427172" y="2204864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12"/>
          <p:cNvCxnSpPr>
            <a:stCxn id="259" idx="4"/>
            <a:endCxn id="261" idx="2"/>
          </p:cNvCxnSpPr>
          <p:nvPr/>
        </p:nvCxnSpPr>
        <p:spPr>
          <a:xfrm>
            <a:off x="503548" y="2276872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12"/>
          <p:cNvCxnSpPr/>
          <p:nvPr/>
        </p:nvCxnSpPr>
        <p:spPr>
          <a:xfrm>
            <a:off x="1439652" y="1592796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12"/>
          <p:cNvCxnSpPr>
            <a:stCxn id="260" idx="6"/>
            <a:endCxn id="262" idx="1"/>
          </p:cNvCxnSpPr>
          <p:nvPr/>
        </p:nvCxnSpPr>
        <p:spPr>
          <a:xfrm>
            <a:off x="1545196" y="1592796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12"/>
          <p:cNvCxnSpPr>
            <a:stCxn id="261" idx="6"/>
            <a:endCxn id="262" idx="3"/>
          </p:cNvCxnSpPr>
          <p:nvPr/>
        </p:nvCxnSpPr>
        <p:spPr>
          <a:xfrm rot="10800000" flipH="1">
            <a:off x="1545196" y="2245148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12"/>
          <p:cNvCxnSpPr>
            <a:stCxn id="262" idx="5"/>
            <a:endCxn id="264" idx="1"/>
          </p:cNvCxnSpPr>
          <p:nvPr/>
        </p:nvCxnSpPr>
        <p:spPr>
          <a:xfrm>
            <a:off x="3208216" y="2245236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12"/>
          <p:cNvCxnSpPr>
            <a:stCxn id="262" idx="6"/>
            <a:endCxn id="263" idx="3"/>
          </p:cNvCxnSpPr>
          <p:nvPr/>
        </p:nvCxnSpPr>
        <p:spPr>
          <a:xfrm rot="10800000" flipH="1">
            <a:off x="3239852" y="1669060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6" name="Google Shape;276;p12"/>
          <p:cNvSpPr txBox="1"/>
          <p:nvPr/>
        </p:nvSpPr>
        <p:spPr>
          <a:xfrm>
            <a:off x="2807804" y="1322302"/>
            <a:ext cx="57606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4680012" y="2168860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2519772" y="3068960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503548" y="1525434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1817694" y="1919016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611560" y="2618910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3383868" y="177281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3656082" y="2276872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1223628" y="2353526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1799692" y="2492896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2519772" y="166917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90" name="Google Shape;290;p12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293" name="Google Shape;293;p12"/>
          <p:cNvGraphicFramePr/>
          <p:nvPr/>
        </p:nvGraphicFramePr>
        <p:xfrm>
          <a:off x="5232412" y="1842644"/>
          <a:ext cx="2147900" cy="44667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c}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c}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b} 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{e,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94" name="Google Shape;294;p12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{{a}, {b}, {c}, {d}, {e}, {f}}</a:t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179512" y="4569019"/>
            <a:ext cx="457200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∅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0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1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 txBox="1">
            <a:spLocks noGrp="1"/>
          </p:cNvSpPr>
          <p:nvPr>
            <p:ph type="title"/>
          </p:nvPr>
        </p:nvSpPr>
        <p:spPr>
          <a:xfrm>
            <a:off x="457200" y="1189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11" name="Google Shape;311;p13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13" name="Google Shape;313;p13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314" name="Google Shape;314;p13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316" name="Google Shape;316;p13"/>
          <p:cNvGraphicFramePr/>
          <p:nvPr/>
        </p:nvGraphicFramePr>
        <p:xfrm>
          <a:off x="5232412" y="18426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c}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c}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b} 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{e,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17" name="Google Shape;317;p13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{{a}, {b}, {c}, {d}, {e}, {f}}</a:t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179512" y="4569019"/>
            <a:ext cx="457200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∅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0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13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 txBox="1">
            <a:spLocks noGrp="1"/>
          </p:cNvSpPr>
          <p:nvPr>
            <p:ph type="title"/>
          </p:nvPr>
        </p:nvSpPr>
        <p:spPr>
          <a:xfrm>
            <a:off x="457200" y="165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4"/>
          <p:cNvCxnSpPr/>
          <p:nvPr/>
        </p:nvCxnSpPr>
        <p:spPr>
          <a:xfrm>
            <a:off x="1439652" y="1592796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" name="Google Shape;334;p14"/>
          <p:cNvSpPr txBox="1"/>
          <p:nvPr/>
        </p:nvSpPr>
        <p:spPr>
          <a:xfrm>
            <a:off x="1223628" y="2353526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5" name="Google Shape;335;p14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339" name="Google Shape;339;p14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40" name="Google Shape;340;p14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341" name="Google Shape;341;p14"/>
          <p:cNvGraphicFramePr/>
          <p:nvPr/>
        </p:nvGraphicFramePr>
        <p:xfrm>
          <a:off x="5232412" y="18426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c}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b} 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{e,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42" name="Google Shape;342;p14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343" name="Google Shape;343;p14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{{a}, {b, c}, {d}, {e}, {f}}</a:t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179512" y="4569019"/>
            <a:ext cx="457200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{{b,c}}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1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14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title"/>
          </p:nvPr>
        </p:nvSpPr>
        <p:spPr>
          <a:xfrm>
            <a:off x="457200" y="91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5"/>
          <p:cNvCxnSpPr>
            <a:stCxn id="352" idx="4"/>
            <a:endCxn id="354" idx="2"/>
          </p:cNvCxnSpPr>
          <p:nvPr/>
        </p:nvCxnSpPr>
        <p:spPr>
          <a:xfrm>
            <a:off x="503548" y="2276872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9" name="Google Shape;359;p15"/>
          <p:cNvCxnSpPr/>
          <p:nvPr/>
        </p:nvCxnSpPr>
        <p:spPr>
          <a:xfrm>
            <a:off x="1439652" y="1592796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" name="Google Shape;360;p15"/>
          <p:cNvSpPr txBox="1"/>
          <p:nvPr/>
        </p:nvSpPr>
        <p:spPr>
          <a:xfrm>
            <a:off x="611560" y="2618910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1223628" y="2353526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64" name="Google Shape;364;p15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67" name="Google Shape;367;p15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368" name="Google Shape;368;p15"/>
          <p:cNvGraphicFramePr/>
          <p:nvPr/>
        </p:nvGraphicFramePr>
        <p:xfrm>
          <a:off x="5232412" y="18426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b} </a:t>
                      </a: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{e,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69" name="Google Shape;369;p15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{{a, b, c}, {d}, {e}, {f}}</a:t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179512" y="4569019"/>
            <a:ext cx="457200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{{b,c}, {a,c}}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2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5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 txBox="1">
            <a:spLocks noGrp="1"/>
          </p:cNvSpPr>
          <p:nvPr>
            <p:ph type="title"/>
          </p:nvPr>
        </p:nvSpPr>
        <p:spPr>
          <a:xfrm>
            <a:off x="457200" y="1006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16"/>
          <p:cNvCxnSpPr>
            <a:stCxn id="379" idx="4"/>
            <a:endCxn id="381" idx="2"/>
          </p:cNvCxnSpPr>
          <p:nvPr/>
        </p:nvCxnSpPr>
        <p:spPr>
          <a:xfrm>
            <a:off x="503548" y="2276872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6" name="Google Shape;386;p16"/>
          <p:cNvCxnSpPr/>
          <p:nvPr/>
        </p:nvCxnSpPr>
        <p:spPr>
          <a:xfrm>
            <a:off x="1439652" y="1592796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7" name="Google Shape;387;p16"/>
          <p:cNvSpPr txBox="1"/>
          <p:nvPr/>
        </p:nvSpPr>
        <p:spPr>
          <a:xfrm>
            <a:off x="611560" y="2618910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1223628" y="2353526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9" name="Google Shape;389;p16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90" name="Google Shape;390;p16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91" name="Google Shape;391;p16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92" name="Google Shape;392;p16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393" name="Google Shape;393;p16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94" name="Google Shape;394;p16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395" name="Google Shape;395;p16"/>
          <p:cNvGraphicFramePr/>
          <p:nvPr/>
        </p:nvGraphicFramePr>
        <p:xfrm>
          <a:off x="5232412" y="18426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{e,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96" name="Google Shape;396;p16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397" name="Google Shape;397;p16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{{a, b, c}, {d}, {e}, {f}}</a:t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179512" y="4569019"/>
            <a:ext cx="457200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{{b,c}, {a,c}}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2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16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6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 txBox="1">
            <a:spLocks noGrp="1"/>
          </p:cNvSpPr>
          <p:nvPr>
            <p:ph type="title"/>
          </p:nvPr>
        </p:nvSpPr>
        <p:spPr>
          <a:xfrm>
            <a:off x="457200" y="914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17"/>
          <p:cNvCxnSpPr>
            <a:stCxn id="406" idx="4"/>
            <a:endCxn id="408" idx="2"/>
          </p:cNvCxnSpPr>
          <p:nvPr/>
        </p:nvCxnSpPr>
        <p:spPr>
          <a:xfrm>
            <a:off x="503548" y="2276872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" name="Google Shape;413;p17"/>
          <p:cNvCxnSpPr/>
          <p:nvPr/>
        </p:nvCxnSpPr>
        <p:spPr>
          <a:xfrm>
            <a:off x="1439652" y="1592796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4" name="Google Shape;414;p17"/>
          <p:cNvCxnSpPr>
            <a:stCxn id="409" idx="5"/>
            <a:endCxn id="411" idx="1"/>
          </p:cNvCxnSpPr>
          <p:nvPr/>
        </p:nvCxnSpPr>
        <p:spPr>
          <a:xfrm>
            <a:off x="3208216" y="2245236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5" name="Google Shape;415;p17"/>
          <p:cNvSpPr txBox="1"/>
          <p:nvPr/>
        </p:nvSpPr>
        <p:spPr>
          <a:xfrm>
            <a:off x="611560" y="2618910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6" name="Google Shape;416;p17"/>
          <p:cNvSpPr txBox="1"/>
          <p:nvPr/>
        </p:nvSpPr>
        <p:spPr>
          <a:xfrm>
            <a:off x="3656082" y="2276872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7" name="Google Shape;417;p17"/>
          <p:cNvSpPr txBox="1"/>
          <p:nvPr/>
        </p:nvSpPr>
        <p:spPr>
          <a:xfrm>
            <a:off x="1223628" y="2353526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20" name="Google Shape;420;p17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21" name="Google Shape;421;p17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422" name="Google Shape;422;p17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23" name="Google Shape;423;p17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424" name="Google Shape;424;p17"/>
          <p:cNvGraphicFramePr/>
          <p:nvPr/>
        </p:nvGraphicFramePr>
        <p:xfrm>
          <a:off x="5232412" y="18426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{e,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25" name="Google Shape;425;p17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426" name="Google Shape;426;p17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{{a, b, c}, {d, f}, {e}}</a:t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179512" y="4569019"/>
            <a:ext cx="457200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{{b,c},{a,c},{d,f}}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3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1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8"/>
          <p:cNvSpPr txBox="1">
            <a:spLocks noGrp="1"/>
          </p:cNvSpPr>
          <p:nvPr>
            <p:ph type="title"/>
          </p:nvPr>
        </p:nvSpPr>
        <p:spPr>
          <a:xfrm>
            <a:off x="457200" y="907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18"/>
          <p:cNvCxnSpPr/>
          <p:nvPr/>
        </p:nvCxnSpPr>
        <p:spPr>
          <a:xfrm>
            <a:off x="4576368" y="1592796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2" name="Google Shape;442;p18"/>
          <p:cNvCxnSpPr>
            <a:stCxn id="435" idx="4"/>
            <a:endCxn id="437" idx="2"/>
          </p:cNvCxnSpPr>
          <p:nvPr/>
        </p:nvCxnSpPr>
        <p:spPr>
          <a:xfrm>
            <a:off x="503548" y="2276872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3" name="Google Shape;443;p18"/>
          <p:cNvCxnSpPr/>
          <p:nvPr/>
        </p:nvCxnSpPr>
        <p:spPr>
          <a:xfrm>
            <a:off x="1439652" y="1592796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4" name="Google Shape;444;p18"/>
          <p:cNvCxnSpPr>
            <a:stCxn id="438" idx="5"/>
            <a:endCxn id="440" idx="1"/>
          </p:cNvCxnSpPr>
          <p:nvPr/>
        </p:nvCxnSpPr>
        <p:spPr>
          <a:xfrm>
            <a:off x="3208216" y="2245236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5" name="Google Shape;445;p18"/>
          <p:cNvSpPr txBox="1"/>
          <p:nvPr/>
        </p:nvSpPr>
        <p:spPr>
          <a:xfrm>
            <a:off x="4680012" y="2168860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46" name="Google Shape;446;p18"/>
          <p:cNvSpPr txBox="1"/>
          <p:nvPr/>
        </p:nvSpPr>
        <p:spPr>
          <a:xfrm>
            <a:off x="611560" y="2618910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47" name="Google Shape;447;p18"/>
          <p:cNvSpPr txBox="1"/>
          <p:nvPr/>
        </p:nvSpPr>
        <p:spPr>
          <a:xfrm>
            <a:off x="3656082" y="2276872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48" name="Google Shape;448;p18"/>
          <p:cNvSpPr txBox="1"/>
          <p:nvPr/>
        </p:nvSpPr>
        <p:spPr>
          <a:xfrm>
            <a:off x="1223628" y="2353526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9" name="Google Shape;449;p18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51" name="Google Shape;451;p18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52" name="Google Shape;452;p18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453" name="Google Shape;453;p18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54" name="Google Shape;454;p18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455" name="Google Shape;455;p18"/>
          <p:cNvGraphicFramePr/>
          <p:nvPr/>
        </p:nvGraphicFramePr>
        <p:xfrm>
          <a:off x="5232412" y="18426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{d,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56" name="Google Shape;456;p18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457" name="Google Shape;457;p18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{{a, b, c}, {d, e, f }}</a:t>
            </a:r>
            <a:endParaRPr/>
          </a:p>
        </p:txBody>
      </p:sp>
      <p:sp>
        <p:nvSpPr>
          <p:cNvPr id="458" name="Google Shape;458;p18"/>
          <p:cNvSpPr/>
          <p:nvPr/>
        </p:nvSpPr>
        <p:spPr>
          <a:xfrm>
            <a:off x="179512" y="4569019"/>
            <a:ext cx="4572000" cy="66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{b,c},{a,c},{d,f},{e,f}}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4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18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9"/>
          <p:cNvCxnSpPr/>
          <p:nvPr/>
        </p:nvCxnSpPr>
        <p:spPr>
          <a:xfrm>
            <a:off x="4576368" y="1592796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3" name="Google Shape;473;p19"/>
          <p:cNvCxnSpPr>
            <a:stCxn id="466" idx="4"/>
            <a:endCxn id="468" idx="2"/>
          </p:cNvCxnSpPr>
          <p:nvPr/>
        </p:nvCxnSpPr>
        <p:spPr>
          <a:xfrm>
            <a:off x="503548" y="2276872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4" name="Google Shape;474;p19"/>
          <p:cNvCxnSpPr/>
          <p:nvPr/>
        </p:nvCxnSpPr>
        <p:spPr>
          <a:xfrm>
            <a:off x="1439652" y="1592796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5" name="Google Shape;475;p19"/>
          <p:cNvCxnSpPr>
            <a:stCxn id="469" idx="5"/>
            <a:endCxn id="471" idx="1"/>
          </p:cNvCxnSpPr>
          <p:nvPr/>
        </p:nvCxnSpPr>
        <p:spPr>
          <a:xfrm>
            <a:off x="3208216" y="2245236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6" name="Google Shape;476;p19"/>
          <p:cNvSpPr txBox="1"/>
          <p:nvPr/>
        </p:nvSpPr>
        <p:spPr>
          <a:xfrm>
            <a:off x="4680012" y="2168860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7" name="Google Shape;477;p19"/>
          <p:cNvSpPr txBox="1"/>
          <p:nvPr/>
        </p:nvSpPr>
        <p:spPr>
          <a:xfrm>
            <a:off x="611560" y="2618910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78" name="Google Shape;478;p19"/>
          <p:cNvSpPr txBox="1"/>
          <p:nvPr/>
        </p:nvSpPr>
        <p:spPr>
          <a:xfrm>
            <a:off x="3656082" y="2276872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9" name="Google Shape;479;p19"/>
          <p:cNvSpPr txBox="1"/>
          <p:nvPr/>
        </p:nvSpPr>
        <p:spPr>
          <a:xfrm>
            <a:off x="1223628" y="2353526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80" name="Google Shape;480;p19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81" name="Google Shape;481;p19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82" name="Google Shape;482;p19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83" name="Google Shape;483;p19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484" name="Google Shape;484;p19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85" name="Google Shape;485;p19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486" name="Google Shape;486;p19"/>
          <p:cNvGraphicFramePr/>
          <p:nvPr/>
        </p:nvGraphicFramePr>
        <p:xfrm>
          <a:off x="5232412" y="18426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87" name="Google Shape;487;p19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488" name="Google Shape;488;p19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{{a, b, c}, {d, e, f }}</a:t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179512" y="4569019"/>
            <a:ext cx="4572000" cy="66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{b,c},{a,c},{d,f},{e,f}}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4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p19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19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0"/>
          <p:cNvSpPr txBox="1">
            <a:spLocks noGrp="1"/>
          </p:cNvSpPr>
          <p:nvPr>
            <p:ph type="title"/>
          </p:nvPr>
        </p:nvSpPr>
        <p:spPr>
          <a:xfrm>
            <a:off x="457200" y="165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395536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1329172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1329172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3023828" y="206084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4463988" y="148478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4463988" y="285293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20"/>
          <p:cNvCxnSpPr/>
          <p:nvPr/>
        </p:nvCxnSpPr>
        <p:spPr>
          <a:xfrm>
            <a:off x="4576368" y="1592796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4" name="Google Shape;504;p20"/>
          <p:cNvCxnSpPr>
            <a:stCxn id="497" idx="4"/>
            <a:endCxn id="499" idx="2"/>
          </p:cNvCxnSpPr>
          <p:nvPr/>
        </p:nvCxnSpPr>
        <p:spPr>
          <a:xfrm>
            <a:off x="503548" y="2276872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5" name="Google Shape;505;p20"/>
          <p:cNvCxnSpPr/>
          <p:nvPr/>
        </p:nvCxnSpPr>
        <p:spPr>
          <a:xfrm>
            <a:off x="1439652" y="1592796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6" name="Google Shape;506;p20"/>
          <p:cNvCxnSpPr>
            <a:stCxn id="499" idx="6"/>
            <a:endCxn id="500" idx="3"/>
          </p:cNvCxnSpPr>
          <p:nvPr/>
        </p:nvCxnSpPr>
        <p:spPr>
          <a:xfrm rot="10800000" flipH="1">
            <a:off x="1545196" y="2245148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7" name="Google Shape;507;p20"/>
          <p:cNvCxnSpPr>
            <a:stCxn id="500" idx="5"/>
            <a:endCxn id="502" idx="1"/>
          </p:cNvCxnSpPr>
          <p:nvPr/>
        </p:nvCxnSpPr>
        <p:spPr>
          <a:xfrm>
            <a:off x="3208216" y="2245236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8" name="Google Shape;508;p20"/>
          <p:cNvSpPr txBox="1"/>
          <p:nvPr/>
        </p:nvSpPr>
        <p:spPr>
          <a:xfrm>
            <a:off x="4680012" y="2168860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09" name="Google Shape;509;p20"/>
          <p:cNvSpPr txBox="1"/>
          <p:nvPr/>
        </p:nvSpPr>
        <p:spPr>
          <a:xfrm>
            <a:off x="611560" y="2618910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10" name="Google Shape;510;p20"/>
          <p:cNvSpPr txBox="1"/>
          <p:nvPr/>
        </p:nvSpPr>
        <p:spPr>
          <a:xfrm>
            <a:off x="3656082" y="2276872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11" name="Google Shape;511;p20"/>
          <p:cNvSpPr txBox="1"/>
          <p:nvPr/>
        </p:nvSpPr>
        <p:spPr>
          <a:xfrm>
            <a:off x="1223628" y="2353526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12" name="Google Shape;512;p20"/>
          <p:cNvSpPr txBox="1"/>
          <p:nvPr/>
        </p:nvSpPr>
        <p:spPr>
          <a:xfrm>
            <a:off x="1799692" y="2492896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13" name="Google Shape;513;p20"/>
          <p:cNvSpPr txBox="1"/>
          <p:nvPr/>
        </p:nvSpPr>
        <p:spPr>
          <a:xfrm>
            <a:off x="107504" y="1907540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514" name="Google Shape;514;p20"/>
          <p:cNvSpPr txBox="1"/>
          <p:nvPr/>
        </p:nvSpPr>
        <p:spPr>
          <a:xfrm>
            <a:off x="1223628" y="119675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15" name="Google Shape;515;p20"/>
          <p:cNvSpPr txBox="1"/>
          <p:nvPr/>
        </p:nvSpPr>
        <p:spPr>
          <a:xfrm>
            <a:off x="1223628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516" name="Google Shape;516;p20"/>
          <p:cNvSpPr txBox="1"/>
          <p:nvPr/>
        </p:nvSpPr>
        <p:spPr>
          <a:xfrm>
            <a:off x="4463988" y="1196752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517" name="Google Shape;517;p20"/>
          <p:cNvSpPr txBox="1"/>
          <p:nvPr/>
        </p:nvSpPr>
        <p:spPr>
          <a:xfrm>
            <a:off x="3023828" y="1710100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518" name="Google Shape;518;p20"/>
          <p:cNvSpPr txBox="1"/>
          <p:nvPr/>
        </p:nvSpPr>
        <p:spPr>
          <a:xfrm>
            <a:off x="4463988" y="30596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519" name="Google Shape;519;p20"/>
          <p:cNvGraphicFramePr/>
          <p:nvPr/>
        </p:nvGraphicFramePr>
        <p:xfrm>
          <a:off x="5232412" y="18426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{2A34FB5F-45D4-4650-B953-9F3F7093DA15}</a:tableStyleId>
              </a:tblPr>
              <a:tblGrid>
                <a:gridCol w="107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c(e)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e}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{a,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{c, f}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{b, d}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20" name="Google Shape;520;p20"/>
          <p:cNvSpPr txBox="1"/>
          <p:nvPr/>
        </p:nvSpPr>
        <p:spPr>
          <a:xfrm>
            <a:off x="5292080" y="139106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L</a:t>
            </a:r>
            <a:endParaRPr/>
          </a:p>
        </p:txBody>
      </p:sp>
      <p:sp>
        <p:nvSpPr>
          <p:cNvPr id="521" name="Google Shape;521;p20"/>
          <p:cNvSpPr txBox="1"/>
          <p:nvPr/>
        </p:nvSpPr>
        <p:spPr>
          <a:xfrm>
            <a:off x="107504" y="4077072"/>
            <a:ext cx="4860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Subárvores: {{a, b, c, d, e, f }}</a:t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179512" y="4569019"/>
            <a:ext cx="4572000" cy="92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{b,c},{a,c},{d,f},{e,f}, {c, d}}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5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p20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0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530" name="Google Shape;530;p21"/>
          <p:cNvSpPr txBox="1"/>
          <p:nvPr/>
        </p:nvSpPr>
        <p:spPr>
          <a:xfrm>
            <a:off x="2303748" y="1988840"/>
            <a:ext cx="10081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3281772" y="242088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3281772" y="378904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 txBox="1"/>
          <p:nvPr/>
        </p:nvSpPr>
        <p:spPr>
          <a:xfrm>
            <a:off x="3176228" y="2132856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34" name="Google Shape;534;p21"/>
          <p:cNvSpPr txBox="1"/>
          <p:nvPr/>
        </p:nvSpPr>
        <p:spPr>
          <a:xfrm>
            <a:off x="3176228" y="400506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535" name="Google Shape;535;p21"/>
          <p:cNvCxnSpPr>
            <a:stCxn id="531" idx="4"/>
            <a:endCxn id="532" idx="0"/>
          </p:cNvCxnSpPr>
          <p:nvPr/>
        </p:nvCxnSpPr>
        <p:spPr>
          <a:xfrm>
            <a:off x="3389784" y="2636912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p21"/>
          <p:cNvSpPr/>
          <p:nvPr/>
        </p:nvSpPr>
        <p:spPr>
          <a:xfrm>
            <a:off x="2195736" y="31409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 txBox="1"/>
          <p:nvPr/>
        </p:nvSpPr>
        <p:spPr>
          <a:xfrm>
            <a:off x="1740498" y="2774895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538" name="Google Shape;538;p21"/>
          <p:cNvCxnSpPr/>
          <p:nvPr/>
        </p:nvCxnSpPr>
        <p:spPr>
          <a:xfrm>
            <a:off x="2411760" y="3325356"/>
            <a:ext cx="973656" cy="46368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9" name="Google Shape;539;p21"/>
          <p:cNvSpPr/>
          <p:nvPr/>
        </p:nvSpPr>
        <p:spPr>
          <a:xfrm>
            <a:off x="4788024" y="29969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6228184" y="378904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 txBox="1"/>
          <p:nvPr/>
        </p:nvSpPr>
        <p:spPr>
          <a:xfrm>
            <a:off x="4788024" y="2646204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542" name="Google Shape;542;p21"/>
          <p:cNvSpPr txBox="1"/>
          <p:nvPr/>
        </p:nvSpPr>
        <p:spPr>
          <a:xfrm>
            <a:off x="6228184" y="399577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cxnSp>
        <p:nvCxnSpPr>
          <p:cNvPr id="543" name="Google Shape;543;p21"/>
          <p:cNvCxnSpPr>
            <a:stCxn id="539" idx="6"/>
            <a:endCxn id="540" idx="1"/>
          </p:cNvCxnSpPr>
          <p:nvPr/>
        </p:nvCxnSpPr>
        <p:spPr>
          <a:xfrm>
            <a:off x="5004048" y="3104964"/>
            <a:ext cx="12558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4" name="Google Shape;544;p21"/>
          <p:cNvSpPr/>
          <p:nvPr/>
        </p:nvSpPr>
        <p:spPr>
          <a:xfrm>
            <a:off x="6228184" y="23488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 txBox="1"/>
          <p:nvPr/>
        </p:nvSpPr>
        <p:spPr>
          <a:xfrm>
            <a:off x="6228184" y="206084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cxnSp>
        <p:nvCxnSpPr>
          <p:cNvPr id="546" name="Google Shape;546;p21"/>
          <p:cNvCxnSpPr>
            <a:stCxn id="544" idx="4"/>
            <a:endCxn id="540" idx="0"/>
          </p:cNvCxnSpPr>
          <p:nvPr/>
        </p:nvCxnSpPr>
        <p:spPr>
          <a:xfrm>
            <a:off x="6336196" y="2564904"/>
            <a:ext cx="0" cy="12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7" name="Google Shape;547;p21"/>
          <p:cNvCxnSpPr>
            <a:stCxn id="532" idx="7"/>
            <a:endCxn id="539" idx="2"/>
          </p:cNvCxnSpPr>
          <p:nvPr/>
        </p:nvCxnSpPr>
        <p:spPr>
          <a:xfrm rot="10800000" flipH="1">
            <a:off x="3466160" y="3104876"/>
            <a:ext cx="13218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8" name="Google Shape;548;p21"/>
          <p:cNvSpPr txBox="1"/>
          <p:nvPr/>
        </p:nvSpPr>
        <p:spPr>
          <a:xfrm>
            <a:off x="2645012" y="3429000"/>
            <a:ext cx="4868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49" name="Google Shape;549;p21"/>
          <p:cNvSpPr txBox="1"/>
          <p:nvPr/>
        </p:nvSpPr>
        <p:spPr>
          <a:xfrm>
            <a:off x="3130292" y="2912170"/>
            <a:ext cx="361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50" name="Google Shape;550;p21"/>
          <p:cNvSpPr txBox="1"/>
          <p:nvPr/>
        </p:nvSpPr>
        <p:spPr>
          <a:xfrm>
            <a:off x="4100530" y="3356992"/>
            <a:ext cx="327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51" name="Google Shape;551;p21"/>
          <p:cNvSpPr txBox="1"/>
          <p:nvPr/>
        </p:nvSpPr>
        <p:spPr>
          <a:xfrm>
            <a:off x="5364088" y="3356992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52" name="Google Shape;552;p21"/>
          <p:cNvSpPr txBox="1"/>
          <p:nvPr/>
        </p:nvSpPr>
        <p:spPr>
          <a:xfrm>
            <a:off x="6300192" y="3028310"/>
            <a:ext cx="324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53" name="Google Shape;553;p21"/>
          <p:cNvSpPr txBox="1"/>
          <p:nvPr/>
        </p:nvSpPr>
        <p:spPr>
          <a:xfrm>
            <a:off x="2051720" y="5013176"/>
            <a:ext cx="56886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Árvore geradora mínima com peso = 3 + 1 + 5 + 4 + 4 = 17</a:t>
            </a:r>
            <a:endParaRPr/>
          </a:p>
        </p:txBody>
      </p:sp>
      <p:pic>
        <p:nvPicPr>
          <p:cNvPr id="554" name="Google Shape;554;p2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Algoritmo Guloso 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561" name="Google Shape;561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O algoritmo de Kruskal é um algoritmo que chamamos de guloso, porque escolhe sempre a aresta mais barata, antes de submetê-la a condição de não formação de ciclo.</a:t>
            </a:r>
            <a:endParaRPr/>
          </a:p>
        </p:txBody>
      </p:sp>
      <p:pic>
        <p:nvPicPr>
          <p:cNvPr id="562" name="Google Shape;562;p2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3651" y="5107025"/>
            <a:ext cx="1890350" cy="175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2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Algoritmo de Prim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569" name="Google Shape;56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Passo 1: escolher um vértice arbitrário v0 de V.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Passo 2: Em cada iteração expandimos a árvore atual T juntando a ela um vértice que ainda não está na árvore conectado a um vértice na árvore por uma aresta de menor peso. 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Atribuímos peso ∞ aos vértices não adjacentes.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23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5200" y="5293700"/>
            <a:ext cx="1688799" cy="156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Algoritmo de Prim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899592" y="1555131"/>
            <a:ext cx="7992888" cy="301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{v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  [o conjunto de vértices da árvore pode    ser inicializado por um vértice qualquer do grafo]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∅ 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Para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1 a |V|-1 </a:t>
            </a: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faça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ache uma aresta de peso mínimo e = {u, v} dentre                          todas as arestas do grafo tal que v ∈ V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 u ∈ V - V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V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∪ {u}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← </a:t>
            </a:r>
            <a:r>
              <a:rPr lang="pt-BR" sz="18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∪ {e}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 ← i + 1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Retorne </a:t>
            </a:r>
            <a:r>
              <a:rPr lang="pt-BR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</a:t>
            </a:r>
            <a:r>
              <a:rPr lang="pt-BR"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18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78" name="Google Shape;578;p24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2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5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25"/>
          <p:cNvCxnSpPr>
            <a:stCxn id="586" idx="6"/>
            <a:endCxn id="589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2" name="Google Shape;592;p25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3" name="Google Shape;593;p25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4" name="Google Shape;594;p25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5" name="Google Shape;595;p25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6" name="Google Shape;596;p25"/>
          <p:cNvCxnSpPr>
            <a:stCxn id="585" idx="4"/>
            <a:endCxn id="587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p25"/>
          <p:cNvCxnSpPr/>
          <p:nvPr/>
        </p:nvCxnSpPr>
        <p:spPr>
          <a:xfrm>
            <a:off x="1439652" y="1655512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8" name="Google Shape;598;p25"/>
          <p:cNvCxnSpPr>
            <a:stCxn id="586" idx="6"/>
            <a:endCxn id="588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9" name="Google Shape;599;p25"/>
          <p:cNvCxnSpPr>
            <a:stCxn id="587" idx="6"/>
            <a:endCxn id="588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0" name="Google Shape;600;p25"/>
          <p:cNvCxnSpPr>
            <a:stCxn id="588" idx="5"/>
            <a:endCxn id="590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1" name="Google Shape;601;p25"/>
          <p:cNvCxnSpPr>
            <a:stCxn id="588" idx="6"/>
            <a:endCxn id="589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2" name="Google Shape;602;p25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03" name="Google Shape;603;p25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04" name="Google Shape;604;p25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05" name="Google Shape;605;p25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06" name="Google Shape;606;p25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07" name="Google Shape;607;p25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08" name="Google Shape;608;p25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09" name="Google Shape;609;p25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10" name="Google Shape;610;p25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1" name="Google Shape;611;p25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12" name="Google Shape;612;p25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13" name="Google Shape;613;p25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14" name="Google Shape;614;p25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15" name="Google Shape;615;p25"/>
          <p:cNvSpPr txBox="1"/>
          <p:nvPr/>
        </p:nvSpPr>
        <p:spPr>
          <a:xfrm>
            <a:off x="1223628" y="313167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616" name="Google Shape;616;p25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617" name="Google Shape;617;p25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618" name="Google Shape;618;p25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619" name="Google Shape;619;p25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20" name="Google Shape;620;p25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1</a:t>
            </a:r>
            <a:endParaRPr/>
          </a:p>
        </p:txBody>
      </p:sp>
      <p:sp>
        <p:nvSpPr>
          <p:cNvPr id="621" name="Google Shape;621;p25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22" name="Google Shape;622;p25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3" name="Google Shape;623;p25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2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6" name="Google Shape;636;p26"/>
          <p:cNvCxnSpPr>
            <a:stCxn id="631" idx="6"/>
            <a:endCxn id="634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7" name="Google Shape;637;p26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8" name="Google Shape;638;p26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9" name="Google Shape;639;p26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0" name="Google Shape;640;p26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1" name="Google Shape;641;p26"/>
          <p:cNvCxnSpPr>
            <a:stCxn id="630" idx="4"/>
            <a:endCxn id="632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2" name="Google Shape;642;p26"/>
          <p:cNvCxnSpPr/>
          <p:nvPr/>
        </p:nvCxnSpPr>
        <p:spPr>
          <a:xfrm>
            <a:off x="1439652" y="1655512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3" name="Google Shape;643;p26"/>
          <p:cNvCxnSpPr>
            <a:stCxn id="631" idx="6"/>
            <a:endCxn id="633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4" name="Google Shape;644;p26"/>
          <p:cNvCxnSpPr>
            <a:stCxn id="632" idx="6"/>
            <a:endCxn id="633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5" name="Google Shape;645;p26"/>
          <p:cNvCxnSpPr>
            <a:stCxn id="633" idx="5"/>
            <a:endCxn id="635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6" name="Google Shape;646;p26"/>
          <p:cNvCxnSpPr>
            <a:stCxn id="633" idx="6"/>
            <a:endCxn id="634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7" name="Google Shape;647;p26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48" name="Google Shape;648;p26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49" name="Google Shape;649;p26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50" name="Google Shape;650;p26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51" name="Google Shape;651;p26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52" name="Google Shape;652;p26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53" name="Google Shape;653;p26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54" name="Google Shape;654;p26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55" name="Google Shape;655;p26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56" name="Google Shape;656;p26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57" name="Google Shape;657;p26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58" name="Google Shape;658;p26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59" name="Google Shape;659;p26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60" name="Google Shape;660;p26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661" name="Google Shape;661;p26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662" name="Google Shape;662;p26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663" name="Google Shape;663;p26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664" name="Google Shape;664;p26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5" name="Google Shape;665;p26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1</a:t>
            </a:r>
            <a:endParaRPr/>
          </a:p>
        </p:txBody>
      </p:sp>
      <p:sp>
        <p:nvSpPr>
          <p:cNvPr id="666" name="Google Shape;666;p26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8" name="Google Shape;668;p26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26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1" name="Google Shape;681;p27"/>
          <p:cNvCxnSpPr>
            <a:stCxn id="676" idx="6"/>
            <a:endCxn id="679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2" name="Google Shape;682;p27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3" name="Google Shape;683;p27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4" name="Google Shape;684;p27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5" name="Google Shape;685;p27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6" name="Google Shape;686;p27"/>
          <p:cNvCxnSpPr>
            <a:stCxn id="675" idx="4"/>
            <a:endCxn id="677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7" name="Google Shape;687;p27"/>
          <p:cNvCxnSpPr/>
          <p:nvPr/>
        </p:nvCxnSpPr>
        <p:spPr>
          <a:xfrm>
            <a:off x="1439652" y="1655512"/>
            <a:ext cx="0" cy="13681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8" name="Google Shape;688;p27"/>
          <p:cNvCxnSpPr>
            <a:stCxn id="676" idx="6"/>
            <a:endCxn id="678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9" name="Google Shape;689;p27"/>
          <p:cNvCxnSpPr>
            <a:stCxn id="677" idx="6"/>
            <a:endCxn id="678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0" name="Google Shape;690;p27"/>
          <p:cNvCxnSpPr>
            <a:stCxn id="678" idx="5"/>
            <a:endCxn id="680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1" name="Google Shape;691;p27"/>
          <p:cNvCxnSpPr>
            <a:stCxn id="678" idx="6"/>
            <a:endCxn id="679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2" name="Google Shape;692;p27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93" name="Google Shape;693;p27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94" name="Google Shape;694;p27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95" name="Google Shape;695;p27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96" name="Google Shape;696;p27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97" name="Google Shape;697;p27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98" name="Google Shape;698;p27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99" name="Google Shape;699;p27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00" name="Google Shape;700;p27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01" name="Google Shape;701;p27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02" name="Google Shape;702;p27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03" name="Google Shape;703;p27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704" name="Google Shape;704;p27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705" name="Google Shape;705;p27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706" name="Google Shape;706;p27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707" name="Google Shape;707;p27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708" name="Google Shape;708;p27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709" name="Google Shape;709;p27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0" name="Google Shape;710;p27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1</a:t>
            </a:r>
            <a:endParaRPr/>
          </a:p>
        </p:txBody>
      </p:sp>
      <p:sp>
        <p:nvSpPr>
          <p:cNvPr id="711" name="Google Shape;711;p27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712" name="Google Shape;712;p27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7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7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715" name="Google Shape;715;p27"/>
          <p:cNvCxnSpPr>
            <a:stCxn id="712" idx="4"/>
            <a:endCxn id="713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16" name="Google Shape;716;p2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2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8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8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9" name="Google Shape;729;p28"/>
          <p:cNvCxnSpPr>
            <a:stCxn id="724" idx="6"/>
            <a:endCxn id="727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0" name="Google Shape;730;p28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1" name="Google Shape;731;p28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2" name="Google Shape;732;p28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3" name="Google Shape;733;p28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4" name="Google Shape;734;p28"/>
          <p:cNvCxnSpPr>
            <a:stCxn id="723" idx="4"/>
            <a:endCxn id="725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5" name="Google Shape;735;p28"/>
          <p:cNvCxnSpPr>
            <a:stCxn id="724" idx="4"/>
            <a:endCxn id="725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6" name="Google Shape;736;p28"/>
          <p:cNvCxnSpPr>
            <a:stCxn id="724" idx="6"/>
            <a:endCxn id="726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7" name="Google Shape;737;p28"/>
          <p:cNvCxnSpPr>
            <a:stCxn id="725" idx="6"/>
            <a:endCxn id="726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8" name="Google Shape;738;p28"/>
          <p:cNvCxnSpPr>
            <a:stCxn id="726" idx="5"/>
            <a:endCxn id="728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9" name="Google Shape;739;p28"/>
          <p:cNvCxnSpPr>
            <a:stCxn id="726" idx="6"/>
            <a:endCxn id="727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0" name="Google Shape;740;p28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41" name="Google Shape;741;p28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42" name="Google Shape;742;p28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43" name="Google Shape;743;p28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44" name="Google Shape;744;p28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45" name="Google Shape;745;p28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46" name="Google Shape;746;p28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47" name="Google Shape;747;p28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48" name="Google Shape;748;p28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49" name="Google Shape;749;p28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50" name="Google Shape;750;p28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51" name="Google Shape;751;p28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752" name="Google Shape;752;p28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753" name="Google Shape;753;p28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754" name="Google Shape;754;p28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755" name="Google Shape;755;p28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756" name="Google Shape;756;p28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757" name="Google Shape;757;p28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8" name="Google Shape;758;p28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2</a:t>
            </a:r>
            <a:endParaRPr/>
          </a:p>
        </p:txBody>
      </p:sp>
      <p:sp>
        <p:nvSpPr>
          <p:cNvPr id="759" name="Google Shape;759;p28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760" name="Google Shape;760;p28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8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8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763" name="Google Shape;763;p28"/>
          <p:cNvCxnSpPr>
            <a:stCxn id="760" idx="4"/>
            <a:endCxn id="761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4" name="Google Shape;764;p28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pic>
        <p:nvPicPr>
          <p:cNvPr id="765" name="Google Shape;765;p28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2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9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9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8" name="Google Shape;778;p29"/>
          <p:cNvCxnSpPr>
            <a:stCxn id="773" idx="6"/>
            <a:endCxn id="776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9" name="Google Shape;779;p29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0" name="Google Shape;780;p29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1" name="Google Shape;781;p29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2" name="Google Shape;782;p29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3" name="Google Shape;783;p29"/>
          <p:cNvCxnSpPr>
            <a:stCxn id="772" idx="4"/>
            <a:endCxn id="774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4" name="Google Shape;784;p29"/>
          <p:cNvCxnSpPr>
            <a:stCxn id="773" idx="4"/>
            <a:endCxn id="774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5" name="Google Shape;785;p29"/>
          <p:cNvCxnSpPr>
            <a:stCxn id="773" idx="6"/>
            <a:endCxn id="775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6" name="Google Shape;786;p29"/>
          <p:cNvCxnSpPr>
            <a:stCxn id="774" idx="6"/>
            <a:endCxn id="775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7" name="Google Shape;787;p29"/>
          <p:cNvCxnSpPr>
            <a:stCxn id="775" idx="5"/>
            <a:endCxn id="777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8" name="Google Shape;788;p29"/>
          <p:cNvCxnSpPr>
            <a:stCxn id="775" idx="6"/>
            <a:endCxn id="776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9" name="Google Shape;789;p29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90" name="Google Shape;790;p29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91" name="Google Shape;791;p29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92" name="Google Shape;792;p29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93" name="Google Shape;793;p29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94" name="Google Shape;794;p29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95" name="Google Shape;795;p29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96" name="Google Shape;796;p29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97" name="Google Shape;797;p29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8" name="Google Shape;798;p29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99" name="Google Shape;799;p29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00" name="Google Shape;800;p29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01" name="Google Shape;801;p29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802" name="Google Shape;802;p29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803" name="Google Shape;803;p29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804" name="Google Shape;804;p29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805" name="Google Shape;805;p29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806" name="Google Shape;806;p29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7" name="Google Shape;807;p29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2</a:t>
            </a:r>
            <a:endParaRPr/>
          </a:p>
        </p:txBody>
      </p:sp>
      <p:sp>
        <p:nvSpPr>
          <p:cNvPr id="808" name="Google Shape;808;p29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09" name="Google Shape;809;p29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9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812" name="Google Shape;812;p29"/>
          <p:cNvCxnSpPr>
            <a:stCxn id="809" idx="4"/>
            <a:endCxn id="810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3" name="Google Shape;813;p29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14" name="Google Shape;814;p29"/>
          <p:cNvSpPr/>
          <p:nvPr/>
        </p:nvSpPr>
        <p:spPr>
          <a:xfrm>
            <a:off x="1331640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9"/>
          <p:cNvSpPr txBox="1"/>
          <p:nvPr/>
        </p:nvSpPr>
        <p:spPr>
          <a:xfrm>
            <a:off x="1259632" y="4643844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816" name="Google Shape;816;p29"/>
          <p:cNvCxnSpPr>
            <a:stCxn id="810" idx="0"/>
            <a:endCxn id="814" idx="3"/>
          </p:cNvCxnSpPr>
          <p:nvPr/>
        </p:nvCxnSpPr>
        <p:spPr>
          <a:xfrm rot="10800000">
            <a:off x="1363144" y="5125480"/>
            <a:ext cx="4500" cy="8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7" name="Google Shape;817;p29"/>
          <p:cNvSpPr txBox="1"/>
          <p:nvPr/>
        </p:nvSpPr>
        <p:spPr>
          <a:xfrm>
            <a:off x="1511660" y="5445224"/>
            <a:ext cx="3060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818" name="Google Shape;818;p29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29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825" name="Google Shape;825;p30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0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0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0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0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0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1" name="Google Shape;831;p30"/>
          <p:cNvCxnSpPr>
            <a:stCxn id="826" idx="6"/>
            <a:endCxn id="829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2" name="Google Shape;832;p30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3" name="Google Shape;833;p30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4" name="Google Shape;834;p30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5" name="Google Shape;835;p30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6" name="Google Shape;836;p30"/>
          <p:cNvCxnSpPr>
            <a:stCxn id="825" idx="4"/>
            <a:endCxn id="827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7" name="Google Shape;837;p30"/>
          <p:cNvCxnSpPr>
            <a:stCxn id="826" idx="4"/>
            <a:endCxn id="827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8" name="Google Shape;838;p30"/>
          <p:cNvCxnSpPr>
            <a:stCxn id="826" idx="6"/>
            <a:endCxn id="828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9" name="Google Shape;839;p30"/>
          <p:cNvCxnSpPr>
            <a:stCxn id="827" idx="6"/>
            <a:endCxn id="828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0" name="Google Shape;840;p30"/>
          <p:cNvCxnSpPr>
            <a:stCxn id="828" idx="5"/>
            <a:endCxn id="830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1" name="Google Shape;841;p30"/>
          <p:cNvCxnSpPr>
            <a:stCxn id="828" idx="6"/>
            <a:endCxn id="829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2" name="Google Shape;842;p30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43" name="Google Shape;843;p30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44" name="Google Shape;844;p30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45" name="Google Shape;845;p30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46" name="Google Shape;846;p30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47" name="Google Shape;847;p30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48" name="Google Shape;848;p30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49" name="Google Shape;849;p30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50" name="Google Shape;850;p30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1" name="Google Shape;851;p30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52" name="Google Shape;852;p30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53" name="Google Shape;853;p30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54" name="Google Shape;854;p30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855" name="Google Shape;855;p30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856" name="Google Shape;856;p30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857" name="Google Shape;857;p30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858" name="Google Shape;858;p30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859" name="Google Shape;859;p30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60" name="Google Shape;860;p30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3</a:t>
            </a:r>
            <a:endParaRPr/>
          </a:p>
        </p:txBody>
      </p:sp>
      <p:sp>
        <p:nvSpPr>
          <p:cNvPr id="861" name="Google Shape;861;p30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62" name="Google Shape;862;p30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0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0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865" name="Google Shape;865;p30"/>
          <p:cNvCxnSpPr>
            <a:stCxn id="862" idx="4"/>
            <a:endCxn id="863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6" name="Google Shape;866;p30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67" name="Google Shape;867;p30"/>
          <p:cNvSpPr/>
          <p:nvPr/>
        </p:nvSpPr>
        <p:spPr>
          <a:xfrm>
            <a:off x="1331640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0"/>
          <p:cNvSpPr txBox="1"/>
          <p:nvPr/>
        </p:nvSpPr>
        <p:spPr>
          <a:xfrm>
            <a:off x="1259632" y="4643844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869" name="Google Shape;869;p30"/>
          <p:cNvCxnSpPr/>
          <p:nvPr/>
        </p:nvCxnSpPr>
        <p:spPr>
          <a:xfrm rot="10800000">
            <a:off x="1363276" y="5157192"/>
            <a:ext cx="4368" cy="8237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0" name="Google Shape;870;p30"/>
          <p:cNvSpPr txBox="1"/>
          <p:nvPr/>
        </p:nvSpPr>
        <p:spPr>
          <a:xfrm>
            <a:off x="1511660" y="5445224"/>
            <a:ext cx="3060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871" name="Google Shape;871;p30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30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878" name="Google Shape;878;p31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1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1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1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1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1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4" name="Google Shape;884;p31"/>
          <p:cNvCxnSpPr>
            <a:stCxn id="879" idx="6"/>
            <a:endCxn id="882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5" name="Google Shape;885;p31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6" name="Google Shape;886;p31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7" name="Google Shape;887;p31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8" name="Google Shape;888;p31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9" name="Google Shape;889;p31"/>
          <p:cNvCxnSpPr>
            <a:stCxn id="878" idx="4"/>
            <a:endCxn id="880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0" name="Google Shape;890;p31"/>
          <p:cNvCxnSpPr>
            <a:stCxn id="879" idx="4"/>
            <a:endCxn id="880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1" name="Google Shape;891;p31"/>
          <p:cNvCxnSpPr>
            <a:stCxn id="879" idx="6"/>
            <a:endCxn id="881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2" name="Google Shape;892;p31"/>
          <p:cNvCxnSpPr>
            <a:stCxn id="880" idx="6"/>
            <a:endCxn id="881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3" name="Google Shape;893;p31"/>
          <p:cNvCxnSpPr>
            <a:stCxn id="881" idx="5"/>
            <a:endCxn id="883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4" name="Google Shape;894;p31"/>
          <p:cNvCxnSpPr>
            <a:stCxn id="881" idx="6"/>
            <a:endCxn id="882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5" name="Google Shape;895;p31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96" name="Google Shape;896;p31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97" name="Google Shape;897;p31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98" name="Google Shape;898;p31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99" name="Google Shape;899;p31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00" name="Google Shape;900;p31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01" name="Google Shape;901;p31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02" name="Google Shape;902;p31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03" name="Google Shape;903;p31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04" name="Google Shape;904;p31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05" name="Google Shape;905;p31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06" name="Google Shape;906;p31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07" name="Google Shape;907;p31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08" name="Google Shape;908;p31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09" name="Google Shape;909;p31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910" name="Google Shape;910;p31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911" name="Google Shape;911;p31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912" name="Google Shape;912;p31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3" name="Google Shape;913;p31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3</a:t>
            </a:r>
            <a:endParaRPr/>
          </a:p>
        </p:txBody>
      </p:sp>
      <p:sp>
        <p:nvSpPr>
          <p:cNvPr id="914" name="Google Shape;914;p31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15" name="Google Shape;915;p31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1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1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918" name="Google Shape;918;p31"/>
          <p:cNvCxnSpPr>
            <a:stCxn id="915" idx="4"/>
            <a:endCxn id="916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9" name="Google Shape;919;p31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20" name="Google Shape;920;p31"/>
          <p:cNvSpPr/>
          <p:nvPr/>
        </p:nvSpPr>
        <p:spPr>
          <a:xfrm>
            <a:off x="1331640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1"/>
          <p:cNvSpPr txBox="1"/>
          <p:nvPr/>
        </p:nvSpPr>
        <p:spPr>
          <a:xfrm>
            <a:off x="1259632" y="4643844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922" name="Google Shape;922;p31"/>
          <p:cNvCxnSpPr>
            <a:stCxn id="916" idx="0"/>
            <a:endCxn id="920" idx="3"/>
          </p:cNvCxnSpPr>
          <p:nvPr/>
        </p:nvCxnSpPr>
        <p:spPr>
          <a:xfrm rot="10800000">
            <a:off x="1363144" y="5125480"/>
            <a:ext cx="4500" cy="8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3" name="Google Shape;923;p31"/>
          <p:cNvSpPr/>
          <p:nvPr/>
        </p:nvSpPr>
        <p:spPr>
          <a:xfrm>
            <a:off x="2483768" y="551723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4" name="Google Shape;924;p31"/>
          <p:cNvCxnSpPr>
            <a:stCxn id="916" idx="7"/>
          </p:cNvCxnSpPr>
          <p:nvPr/>
        </p:nvCxnSpPr>
        <p:spPr>
          <a:xfrm rot="10800000" flipH="1">
            <a:off x="1444020" y="5625116"/>
            <a:ext cx="1039800" cy="35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5" name="Google Shape;925;p31"/>
          <p:cNvSpPr txBox="1"/>
          <p:nvPr/>
        </p:nvSpPr>
        <p:spPr>
          <a:xfrm>
            <a:off x="2411760" y="5751258"/>
            <a:ext cx="324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926" name="Google Shape;926;p31"/>
          <p:cNvSpPr txBox="1"/>
          <p:nvPr/>
        </p:nvSpPr>
        <p:spPr>
          <a:xfrm>
            <a:off x="1114382" y="5260558"/>
            <a:ext cx="2532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27" name="Google Shape;927;p31"/>
          <p:cNvSpPr txBox="1"/>
          <p:nvPr/>
        </p:nvSpPr>
        <p:spPr>
          <a:xfrm>
            <a:off x="1799692" y="5935924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pic>
        <p:nvPicPr>
          <p:cNvPr id="928" name="Google Shape;928;p3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3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35" name="Google Shape;935;p32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2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1" name="Google Shape;941;p32"/>
          <p:cNvCxnSpPr>
            <a:stCxn id="936" idx="6"/>
            <a:endCxn id="939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2" name="Google Shape;942;p32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3" name="Google Shape;943;p32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4" name="Google Shape;944;p32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5" name="Google Shape;945;p32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6" name="Google Shape;946;p32"/>
          <p:cNvCxnSpPr>
            <a:stCxn id="935" idx="4"/>
            <a:endCxn id="937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7" name="Google Shape;947;p32"/>
          <p:cNvCxnSpPr>
            <a:stCxn id="936" idx="4"/>
            <a:endCxn id="937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8" name="Google Shape;948;p32"/>
          <p:cNvCxnSpPr>
            <a:stCxn id="936" idx="6"/>
            <a:endCxn id="938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9" name="Google Shape;949;p32"/>
          <p:cNvCxnSpPr>
            <a:stCxn id="937" idx="6"/>
            <a:endCxn id="938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0" name="Google Shape;950;p32"/>
          <p:cNvCxnSpPr>
            <a:stCxn id="938" idx="5"/>
            <a:endCxn id="940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1" name="Google Shape;951;p32"/>
          <p:cNvCxnSpPr>
            <a:stCxn id="938" idx="6"/>
            <a:endCxn id="939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2" name="Google Shape;952;p32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53" name="Google Shape;953;p32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54" name="Google Shape;954;p32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55" name="Google Shape;955;p32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56" name="Google Shape;956;p32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57" name="Google Shape;957;p32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58" name="Google Shape;958;p32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59" name="Google Shape;959;p32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60" name="Google Shape;960;p32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61" name="Google Shape;961;p32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62" name="Google Shape;962;p32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63" name="Google Shape;963;p32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64" name="Google Shape;964;p32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65" name="Google Shape;965;p32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66" name="Google Shape;966;p32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967" name="Google Shape;967;p32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968" name="Google Shape;968;p32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969" name="Google Shape;969;p32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70" name="Google Shape;970;p32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4</a:t>
            </a:r>
            <a:endParaRPr/>
          </a:p>
        </p:txBody>
      </p:sp>
      <p:sp>
        <p:nvSpPr>
          <p:cNvPr id="971" name="Google Shape;971;p32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72" name="Google Shape;972;p32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2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2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975" name="Google Shape;975;p32"/>
          <p:cNvCxnSpPr>
            <a:stCxn id="972" idx="4"/>
            <a:endCxn id="973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6" name="Google Shape;976;p32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77" name="Google Shape;977;p32"/>
          <p:cNvSpPr/>
          <p:nvPr/>
        </p:nvSpPr>
        <p:spPr>
          <a:xfrm>
            <a:off x="1331640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2"/>
          <p:cNvSpPr txBox="1"/>
          <p:nvPr/>
        </p:nvSpPr>
        <p:spPr>
          <a:xfrm>
            <a:off x="1259632" y="4643844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979" name="Google Shape;979;p32"/>
          <p:cNvCxnSpPr>
            <a:stCxn id="973" idx="0"/>
            <a:endCxn id="977" idx="3"/>
          </p:cNvCxnSpPr>
          <p:nvPr/>
        </p:nvCxnSpPr>
        <p:spPr>
          <a:xfrm rot="10800000">
            <a:off x="1363144" y="5125480"/>
            <a:ext cx="4500" cy="8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0" name="Google Shape;980;p32"/>
          <p:cNvSpPr/>
          <p:nvPr/>
        </p:nvSpPr>
        <p:spPr>
          <a:xfrm>
            <a:off x="2483768" y="551723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1" name="Google Shape;981;p32"/>
          <p:cNvCxnSpPr>
            <a:stCxn id="973" idx="7"/>
          </p:cNvCxnSpPr>
          <p:nvPr/>
        </p:nvCxnSpPr>
        <p:spPr>
          <a:xfrm rot="10800000" flipH="1">
            <a:off x="1444020" y="5625116"/>
            <a:ext cx="1039800" cy="35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2" name="Google Shape;982;p32"/>
          <p:cNvSpPr txBox="1"/>
          <p:nvPr/>
        </p:nvSpPr>
        <p:spPr>
          <a:xfrm>
            <a:off x="2411760" y="5751258"/>
            <a:ext cx="324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983" name="Google Shape;983;p32"/>
          <p:cNvSpPr txBox="1"/>
          <p:nvPr/>
        </p:nvSpPr>
        <p:spPr>
          <a:xfrm>
            <a:off x="1114382" y="5260558"/>
            <a:ext cx="2532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4" name="Google Shape;984;p32"/>
          <p:cNvSpPr txBox="1"/>
          <p:nvPr/>
        </p:nvSpPr>
        <p:spPr>
          <a:xfrm>
            <a:off x="1799692" y="5935924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pic>
        <p:nvPicPr>
          <p:cNvPr id="985" name="Google Shape;985;p3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3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92" name="Google Shape;992;p33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3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3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3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3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3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8" name="Google Shape;998;p33"/>
          <p:cNvCxnSpPr>
            <a:stCxn id="993" idx="6"/>
            <a:endCxn id="996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9" name="Google Shape;999;p33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0" name="Google Shape;1000;p33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1" name="Google Shape;1001;p33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2" name="Google Shape;1002;p33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3" name="Google Shape;1003;p33"/>
          <p:cNvCxnSpPr>
            <a:stCxn id="992" idx="4"/>
            <a:endCxn id="994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4" name="Google Shape;1004;p33"/>
          <p:cNvCxnSpPr>
            <a:stCxn id="993" idx="4"/>
            <a:endCxn id="994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5" name="Google Shape;1005;p33"/>
          <p:cNvCxnSpPr>
            <a:stCxn id="993" idx="6"/>
            <a:endCxn id="995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6" name="Google Shape;1006;p33"/>
          <p:cNvCxnSpPr>
            <a:stCxn id="994" idx="6"/>
            <a:endCxn id="995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7" name="Google Shape;1007;p33"/>
          <p:cNvCxnSpPr>
            <a:stCxn id="995" idx="5"/>
            <a:endCxn id="997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8" name="Google Shape;1008;p33"/>
          <p:cNvCxnSpPr>
            <a:stCxn id="995" idx="6"/>
            <a:endCxn id="996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9" name="Google Shape;1009;p33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10" name="Google Shape;1010;p33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11" name="Google Shape;1011;p33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12" name="Google Shape;1012;p33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13" name="Google Shape;1013;p33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14" name="Google Shape;1014;p33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15" name="Google Shape;1015;p33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16" name="Google Shape;1016;p33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17" name="Google Shape;1017;p33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8" name="Google Shape;1018;p33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19" name="Google Shape;1019;p33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20" name="Google Shape;1020;p33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021" name="Google Shape;1021;p33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022" name="Google Shape;1022;p33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023" name="Google Shape;1023;p33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024" name="Google Shape;1024;p33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025" name="Google Shape;1025;p33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1026" name="Google Shape;1026;p33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7" name="Google Shape;1027;p33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4</a:t>
            </a:r>
            <a:endParaRPr/>
          </a:p>
        </p:txBody>
      </p:sp>
      <p:sp>
        <p:nvSpPr>
          <p:cNvPr id="1028" name="Google Shape;1028;p33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029" name="Google Shape;1029;p33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3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3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1032" name="Google Shape;1032;p33"/>
          <p:cNvCxnSpPr>
            <a:stCxn id="1029" idx="4"/>
            <a:endCxn id="1030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3" name="Google Shape;1033;p33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34" name="Google Shape;1034;p33"/>
          <p:cNvSpPr/>
          <p:nvPr/>
        </p:nvSpPr>
        <p:spPr>
          <a:xfrm>
            <a:off x="1331640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3"/>
          <p:cNvSpPr txBox="1"/>
          <p:nvPr/>
        </p:nvSpPr>
        <p:spPr>
          <a:xfrm>
            <a:off x="1259632" y="4643844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1036" name="Google Shape;1036;p33"/>
          <p:cNvCxnSpPr>
            <a:stCxn id="1030" idx="0"/>
            <a:endCxn id="1034" idx="3"/>
          </p:cNvCxnSpPr>
          <p:nvPr/>
        </p:nvCxnSpPr>
        <p:spPr>
          <a:xfrm rot="10800000">
            <a:off x="1363144" y="5125480"/>
            <a:ext cx="4500" cy="8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7" name="Google Shape;1037;p33"/>
          <p:cNvSpPr/>
          <p:nvPr/>
        </p:nvSpPr>
        <p:spPr>
          <a:xfrm>
            <a:off x="2483768" y="551723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8" name="Google Shape;1038;p33"/>
          <p:cNvCxnSpPr>
            <a:stCxn id="1030" idx="7"/>
          </p:cNvCxnSpPr>
          <p:nvPr/>
        </p:nvCxnSpPr>
        <p:spPr>
          <a:xfrm rot="10800000" flipH="1">
            <a:off x="1444020" y="5625116"/>
            <a:ext cx="1039800" cy="35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9" name="Google Shape;1039;p33"/>
          <p:cNvSpPr txBox="1"/>
          <p:nvPr/>
        </p:nvSpPr>
        <p:spPr>
          <a:xfrm>
            <a:off x="2411760" y="5751258"/>
            <a:ext cx="324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040" name="Google Shape;1040;p33"/>
          <p:cNvSpPr txBox="1"/>
          <p:nvPr/>
        </p:nvSpPr>
        <p:spPr>
          <a:xfrm>
            <a:off x="1114382" y="5260558"/>
            <a:ext cx="2532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41" name="Google Shape;1041;p33"/>
          <p:cNvSpPr txBox="1"/>
          <p:nvPr/>
        </p:nvSpPr>
        <p:spPr>
          <a:xfrm>
            <a:off x="1799692" y="5935924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42" name="Google Shape;1042;p33"/>
          <p:cNvSpPr/>
          <p:nvPr/>
        </p:nvSpPr>
        <p:spPr>
          <a:xfrm>
            <a:off x="3707904" y="609329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3" name="Google Shape;1043;p33"/>
          <p:cNvCxnSpPr>
            <a:stCxn id="1037" idx="6"/>
            <a:endCxn id="1042" idx="0"/>
          </p:cNvCxnSpPr>
          <p:nvPr/>
        </p:nvCxnSpPr>
        <p:spPr>
          <a:xfrm>
            <a:off x="2699792" y="5625244"/>
            <a:ext cx="1116000" cy="4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4" name="Google Shape;1044;p33"/>
          <p:cNvSpPr txBox="1"/>
          <p:nvPr/>
        </p:nvSpPr>
        <p:spPr>
          <a:xfrm>
            <a:off x="3707904" y="630932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1045" name="Google Shape;1045;p33"/>
          <p:cNvSpPr txBox="1"/>
          <p:nvPr/>
        </p:nvSpPr>
        <p:spPr>
          <a:xfrm>
            <a:off x="3023828" y="5859270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1046" name="Google Shape;1046;p33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3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53" name="Google Shape;1053;p34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4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4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4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4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4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9" name="Google Shape;1059;p34"/>
          <p:cNvCxnSpPr>
            <a:stCxn id="1054" idx="6"/>
            <a:endCxn id="1057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0" name="Google Shape;1060;p34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1" name="Google Shape;1061;p34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2" name="Google Shape;1062;p34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3" name="Google Shape;1063;p34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4" name="Google Shape;1064;p34"/>
          <p:cNvCxnSpPr>
            <a:stCxn id="1053" idx="4"/>
            <a:endCxn id="1055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5" name="Google Shape;1065;p34"/>
          <p:cNvCxnSpPr>
            <a:stCxn id="1054" idx="4"/>
            <a:endCxn id="1055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6" name="Google Shape;1066;p34"/>
          <p:cNvCxnSpPr>
            <a:stCxn id="1054" idx="6"/>
            <a:endCxn id="1056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7" name="Google Shape;1067;p34"/>
          <p:cNvCxnSpPr>
            <a:stCxn id="1055" idx="6"/>
            <a:endCxn id="1056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8" name="Google Shape;1068;p34"/>
          <p:cNvCxnSpPr>
            <a:stCxn id="1056" idx="5"/>
            <a:endCxn id="1058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9" name="Google Shape;1069;p34"/>
          <p:cNvCxnSpPr>
            <a:stCxn id="1056" idx="6"/>
            <a:endCxn id="1057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0" name="Google Shape;1070;p34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71" name="Google Shape;1071;p34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72" name="Google Shape;1072;p34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73" name="Google Shape;1073;p34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74" name="Google Shape;1074;p34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75" name="Google Shape;1075;p34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76" name="Google Shape;1076;p34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77" name="Google Shape;1077;p34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78" name="Google Shape;1078;p34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79" name="Google Shape;1079;p34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80" name="Google Shape;1080;p34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81" name="Google Shape;1081;p34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082" name="Google Shape;1082;p34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083" name="Google Shape;1083;p34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084" name="Google Shape;1084;p34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085" name="Google Shape;1085;p34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086" name="Google Shape;1086;p34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1087" name="Google Shape;1087;p34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88" name="Google Shape;1088;p34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5</a:t>
            </a:r>
            <a:endParaRPr/>
          </a:p>
        </p:txBody>
      </p:sp>
      <p:sp>
        <p:nvSpPr>
          <p:cNvPr id="1089" name="Google Shape;1089;p34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090" name="Google Shape;1090;p34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4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4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1093" name="Google Shape;1093;p34"/>
          <p:cNvCxnSpPr>
            <a:stCxn id="1090" idx="4"/>
            <a:endCxn id="1091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4" name="Google Shape;1094;p34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95" name="Google Shape;1095;p34"/>
          <p:cNvSpPr/>
          <p:nvPr/>
        </p:nvSpPr>
        <p:spPr>
          <a:xfrm>
            <a:off x="1331640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4"/>
          <p:cNvSpPr txBox="1"/>
          <p:nvPr/>
        </p:nvSpPr>
        <p:spPr>
          <a:xfrm>
            <a:off x="1259632" y="4643844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1097" name="Google Shape;1097;p34"/>
          <p:cNvCxnSpPr>
            <a:stCxn id="1091" idx="0"/>
            <a:endCxn id="1095" idx="3"/>
          </p:cNvCxnSpPr>
          <p:nvPr/>
        </p:nvCxnSpPr>
        <p:spPr>
          <a:xfrm rot="10800000">
            <a:off x="1363144" y="5125480"/>
            <a:ext cx="4500" cy="8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8" name="Google Shape;1098;p34"/>
          <p:cNvSpPr/>
          <p:nvPr/>
        </p:nvSpPr>
        <p:spPr>
          <a:xfrm>
            <a:off x="2483768" y="551723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9" name="Google Shape;1099;p34"/>
          <p:cNvCxnSpPr>
            <a:stCxn id="1091" idx="7"/>
          </p:cNvCxnSpPr>
          <p:nvPr/>
        </p:nvCxnSpPr>
        <p:spPr>
          <a:xfrm rot="10800000" flipH="1">
            <a:off x="1444020" y="5625116"/>
            <a:ext cx="1039800" cy="35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0" name="Google Shape;1100;p34"/>
          <p:cNvSpPr/>
          <p:nvPr/>
        </p:nvSpPr>
        <p:spPr>
          <a:xfrm>
            <a:off x="3699995" y="61016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1" name="Google Shape;1101;p34"/>
          <p:cNvCxnSpPr/>
          <p:nvPr/>
        </p:nvCxnSpPr>
        <p:spPr>
          <a:xfrm>
            <a:off x="2668156" y="5661248"/>
            <a:ext cx="1063475" cy="43169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p34"/>
          <p:cNvSpPr txBox="1"/>
          <p:nvPr/>
        </p:nvSpPr>
        <p:spPr>
          <a:xfrm>
            <a:off x="2483768" y="5805264"/>
            <a:ext cx="324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103" name="Google Shape;1103;p34"/>
          <p:cNvSpPr txBox="1"/>
          <p:nvPr/>
        </p:nvSpPr>
        <p:spPr>
          <a:xfrm>
            <a:off x="3808007" y="6277962"/>
            <a:ext cx="3319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1104" name="Google Shape;1104;p34"/>
          <p:cNvSpPr txBox="1"/>
          <p:nvPr/>
        </p:nvSpPr>
        <p:spPr>
          <a:xfrm>
            <a:off x="1114382" y="5229200"/>
            <a:ext cx="2488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5" name="Google Shape;1105;p34"/>
          <p:cNvSpPr txBox="1"/>
          <p:nvPr/>
        </p:nvSpPr>
        <p:spPr>
          <a:xfrm>
            <a:off x="1835696" y="5867980"/>
            <a:ext cx="1958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06" name="Google Shape;1106;p34"/>
          <p:cNvSpPr txBox="1"/>
          <p:nvPr/>
        </p:nvSpPr>
        <p:spPr>
          <a:xfrm>
            <a:off x="3023828" y="587709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1107" name="Google Shape;1107;p34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3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14" name="Google Shape;1114;p35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5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5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5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5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5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0" name="Google Shape;1120;p35"/>
          <p:cNvCxnSpPr>
            <a:stCxn id="1115" idx="6"/>
            <a:endCxn id="1118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1" name="Google Shape;1121;p35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2" name="Google Shape;1122;p35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3" name="Google Shape;1123;p35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4" name="Google Shape;1124;p35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5" name="Google Shape;1125;p35"/>
          <p:cNvCxnSpPr>
            <a:stCxn id="1114" idx="4"/>
            <a:endCxn id="1116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6" name="Google Shape;1126;p35"/>
          <p:cNvCxnSpPr>
            <a:stCxn id="1115" idx="4"/>
            <a:endCxn id="1116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7" name="Google Shape;1127;p35"/>
          <p:cNvCxnSpPr>
            <a:stCxn id="1115" idx="6"/>
            <a:endCxn id="1117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8" name="Google Shape;1128;p35"/>
          <p:cNvCxnSpPr>
            <a:stCxn id="1116" idx="6"/>
            <a:endCxn id="1117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9" name="Google Shape;1129;p35"/>
          <p:cNvCxnSpPr>
            <a:stCxn id="1117" idx="5"/>
            <a:endCxn id="1119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0" name="Google Shape;1130;p35"/>
          <p:cNvCxnSpPr>
            <a:stCxn id="1117" idx="6"/>
            <a:endCxn id="1118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1" name="Google Shape;1131;p35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32" name="Google Shape;1132;p35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33" name="Google Shape;1133;p35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34" name="Google Shape;1134;p35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35" name="Google Shape;1135;p35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36" name="Google Shape;1136;p35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37" name="Google Shape;1137;p35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38" name="Google Shape;1138;p35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39" name="Google Shape;1139;p35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40" name="Google Shape;1140;p35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41" name="Google Shape;1141;p35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42" name="Google Shape;1142;p35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43" name="Google Shape;1143;p35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44" name="Google Shape;1144;p35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145" name="Google Shape;1145;p35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146" name="Google Shape;1146;p35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147" name="Google Shape;1147;p35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1148" name="Google Shape;1148;p35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9" name="Google Shape;1149;p35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5</a:t>
            </a:r>
            <a:endParaRPr/>
          </a:p>
        </p:txBody>
      </p:sp>
      <p:sp>
        <p:nvSpPr>
          <p:cNvPr id="1150" name="Google Shape;1150;p35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51" name="Google Shape;1151;p35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5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5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1154" name="Google Shape;1154;p35"/>
          <p:cNvCxnSpPr>
            <a:stCxn id="1151" idx="4"/>
            <a:endCxn id="1152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5" name="Google Shape;1155;p35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56" name="Google Shape;1156;p35"/>
          <p:cNvSpPr/>
          <p:nvPr/>
        </p:nvSpPr>
        <p:spPr>
          <a:xfrm>
            <a:off x="1331640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5"/>
          <p:cNvSpPr txBox="1"/>
          <p:nvPr/>
        </p:nvSpPr>
        <p:spPr>
          <a:xfrm>
            <a:off x="1259632" y="4643844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1158" name="Google Shape;1158;p35"/>
          <p:cNvCxnSpPr>
            <a:stCxn id="1152" idx="0"/>
            <a:endCxn id="1156" idx="3"/>
          </p:cNvCxnSpPr>
          <p:nvPr/>
        </p:nvCxnSpPr>
        <p:spPr>
          <a:xfrm rot="10800000">
            <a:off x="1363144" y="5125480"/>
            <a:ext cx="4500" cy="8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9" name="Google Shape;1159;p35"/>
          <p:cNvSpPr/>
          <p:nvPr/>
        </p:nvSpPr>
        <p:spPr>
          <a:xfrm>
            <a:off x="2483768" y="551723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0" name="Google Shape;1160;p35"/>
          <p:cNvCxnSpPr>
            <a:stCxn id="1152" idx="7"/>
          </p:cNvCxnSpPr>
          <p:nvPr/>
        </p:nvCxnSpPr>
        <p:spPr>
          <a:xfrm rot="10800000" flipH="1">
            <a:off x="1444020" y="5625116"/>
            <a:ext cx="1039800" cy="35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1" name="Google Shape;1161;p35"/>
          <p:cNvSpPr/>
          <p:nvPr/>
        </p:nvSpPr>
        <p:spPr>
          <a:xfrm>
            <a:off x="3699995" y="61016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2" name="Google Shape;1162;p35"/>
          <p:cNvCxnSpPr/>
          <p:nvPr/>
        </p:nvCxnSpPr>
        <p:spPr>
          <a:xfrm>
            <a:off x="2668156" y="5661248"/>
            <a:ext cx="1063475" cy="43169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3" name="Google Shape;1163;p35"/>
          <p:cNvSpPr/>
          <p:nvPr/>
        </p:nvSpPr>
        <p:spPr>
          <a:xfrm>
            <a:off x="3707904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4" name="Google Shape;1164;p35"/>
          <p:cNvCxnSpPr>
            <a:stCxn id="1163" idx="4"/>
            <a:endCxn id="1161" idx="0"/>
          </p:cNvCxnSpPr>
          <p:nvPr/>
        </p:nvCxnSpPr>
        <p:spPr>
          <a:xfrm flipH="1">
            <a:off x="3808116" y="5157192"/>
            <a:ext cx="7800" cy="94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5" name="Google Shape;1165;p35"/>
          <p:cNvSpPr txBox="1"/>
          <p:nvPr/>
        </p:nvSpPr>
        <p:spPr>
          <a:xfrm>
            <a:off x="3743908" y="4643844"/>
            <a:ext cx="6120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166" name="Google Shape;1166;p35"/>
          <p:cNvSpPr txBox="1"/>
          <p:nvPr/>
        </p:nvSpPr>
        <p:spPr>
          <a:xfrm>
            <a:off x="2483768" y="5805264"/>
            <a:ext cx="324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167" name="Google Shape;1167;p35"/>
          <p:cNvSpPr txBox="1"/>
          <p:nvPr/>
        </p:nvSpPr>
        <p:spPr>
          <a:xfrm>
            <a:off x="3808007" y="6277962"/>
            <a:ext cx="3319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1168" name="Google Shape;1168;p35"/>
          <p:cNvSpPr txBox="1"/>
          <p:nvPr/>
        </p:nvSpPr>
        <p:spPr>
          <a:xfrm>
            <a:off x="1114382" y="5229200"/>
            <a:ext cx="2488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69" name="Google Shape;1169;p35"/>
          <p:cNvSpPr txBox="1"/>
          <p:nvPr/>
        </p:nvSpPr>
        <p:spPr>
          <a:xfrm>
            <a:off x="1835696" y="5867980"/>
            <a:ext cx="1958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70" name="Google Shape;1170;p35"/>
          <p:cNvSpPr txBox="1"/>
          <p:nvPr/>
        </p:nvSpPr>
        <p:spPr>
          <a:xfrm>
            <a:off x="3023828" y="587709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71" name="Google Shape;1171;p35"/>
          <p:cNvSpPr txBox="1"/>
          <p:nvPr/>
        </p:nvSpPr>
        <p:spPr>
          <a:xfrm>
            <a:off x="3916019" y="5445224"/>
            <a:ext cx="2239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1172" name="Google Shape;1172;p35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3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79" name="Google Shape;1179;p36"/>
          <p:cNvSpPr/>
          <p:nvPr/>
        </p:nvSpPr>
        <p:spPr>
          <a:xfrm>
            <a:off x="395536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36"/>
          <p:cNvSpPr/>
          <p:nvPr/>
        </p:nvSpPr>
        <p:spPr>
          <a:xfrm>
            <a:off x="1329172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6"/>
          <p:cNvSpPr/>
          <p:nvPr/>
        </p:nvSpPr>
        <p:spPr>
          <a:xfrm>
            <a:off x="1329172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6"/>
          <p:cNvSpPr/>
          <p:nvPr/>
        </p:nvSpPr>
        <p:spPr>
          <a:xfrm>
            <a:off x="3023828" y="2123564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36"/>
          <p:cNvSpPr/>
          <p:nvPr/>
        </p:nvSpPr>
        <p:spPr>
          <a:xfrm>
            <a:off x="4463988" y="15475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6"/>
          <p:cNvSpPr/>
          <p:nvPr/>
        </p:nvSpPr>
        <p:spPr>
          <a:xfrm>
            <a:off x="4463988" y="291565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5" name="Google Shape;1185;p36"/>
          <p:cNvCxnSpPr>
            <a:stCxn id="1180" idx="6"/>
            <a:endCxn id="1183" idx="6"/>
          </p:cNvCxnSpPr>
          <p:nvPr/>
        </p:nvCxnSpPr>
        <p:spPr>
          <a:xfrm>
            <a:off x="1545196" y="1655512"/>
            <a:ext cx="31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6" name="Google Shape;1186;p36"/>
          <p:cNvCxnSpPr/>
          <p:nvPr/>
        </p:nvCxnSpPr>
        <p:spPr>
          <a:xfrm rot="10800000" flipH="1">
            <a:off x="431540" y="1619508"/>
            <a:ext cx="1041648" cy="5866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7" name="Google Shape;1187;p36"/>
          <p:cNvCxnSpPr/>
          <p:nvPr/>
        </p:nvCxnSpPr>
        <p:spPr>
          <a:xfrm>
            <a:off x="4576368" y="1693978"/>
            <a:ext cx="31636" cy="14445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8" name="Google Shape;1188;p36"/>
          <p:cNvCxnSpPr/>
          <p:nvPr/>
        </p:nvCxnSpPr>
        <p:spPr>
          <a:xfrm>
            <a:off x="1564432" y="3059668"/>
            <a:ext cx="313481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9" name="Google Shape;1189;p36"/>
          <p:cNvCxnSpPr/>
          <p:nvPr/>
        </p:nvCxnSpPr>
        <p:spPr>
          <a:xfrm>
            <a:off x="427172" y="2267580"/>
            <a:ext cx="278104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0" name="Google Shape;1190;p36"/>
          <p:cNvCxnSpPr>
            <a:stCxn id="1179" idx="4"/>
            <a:endCxn id="1181" idx="2"/>
          </p:cNvCxnSpPr>
          <p:nvPr/>
        </p:nvCxnSpPr>
        <p:spPr>
          <a:xfrm>
            <a:off x="503548" y="2339588"/>
            <a:ext cx="825600" cy="6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1" name="Google Shape;1191;p36"/>
          <p:cNvCxnSpPr>
            <a:stCxn id="1180" idx="4"/>
            <a:endCxn id="1181" idx="0"/>
          </p:cNvCxnSpPr>
          <p:nvPr/>
        </p:nvCxnSpPr>
        <p:spPr>
          <a:xfrm>
            <a:off x="1437184" y="1763524"/>
            <a:ext cx="0" cy="115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2" name="Google Shape;1192;p36"/>
          <p:cNvCxnSpPr>
            <a:stCxn id="1180" idx="6"/>
            <a:endCxn id="1182" idx="1"/>
          </p:cNvCxnSpPr>
          <p:nvPr/>
        </p:nvCxnSpPr>
        <p:spPr>
          <a:xfrm>
            <a:off x="1545196" y="1655512"/>
            <a:ext cx="15102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3" name="Google Shape;1193;p36"/>
          <p:cNvCxnSpPr>
            <a:stCxn id="1181" idx="6"/>
            <a:endCxn id="1182" idx="3"/>
          </p:cNvCxnSpPr>
          <p:nvPr/>
        </p:nvCxnSpPr>
        <p:spPr>
          <a:xfrm rot="10800000" flipH="1">
            <a:off x="1545196" y="2307864"/>
            <a:ext cx="1510200" cy="71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4" name="Google Shape;1194;p36"/>
          <p:cNvCxnSpPr>
            <a:stCxn id="1182" idx="5"/>
            <a:endCxn id="1184" idx="1"/>
          </p:cNvCxnSpPr>
          <p:nvPr/>
        </p:nvCxnSpPr>
        <p:spPr>
          <a:xfrm>
            <a:off x="3208216" y="2307952"/>
            <a:ext cx="1287300" cy="63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5" name="Google Shape;1195;p36"/>
          <p:cNvCxnSpPr>
            <a:stCxn id="1182" idx="6"/>
            <a:endCxn id="1183" idx="3"/>
          </p:cNvCxnSpPr>
          <p:nvPr/>
        </p:nvCxnSpPr>
        <p:spPr>
          <a:xfrm rot="10800000" flipH="1">
            <a:off x="3239852" y="1731776"/>
            <a:ext cx="1255800" cy="4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6" name="Google Shape;1196;p36"/>
          <p:cNvSpPr txBox="1"/>
          <p:nvPr/>
        </p:nvSpPr>
        <p:spPr>
          <a:xfrm>
            <a:off x="2807804" y="138501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97" name="Google Shape;1197;p36"/>
          <p:cNvSpPr txBox="1"/>
          <p:nvPr/>
        </p:nvSpPr>
        <p:spPr>
          <a:xfrm>
            <a:off x="4680012" y="2231576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98" name="Google Shape;1198;p36"/>
          <p:cNvSpPr txBox="1"/>
          <p:nvPr/>
        </p:nvSpPr>
        <p:spPr>
          <a:xfrm>
            <a:off x="2519772" y="3131676"/>
            <a:ext cx="720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99" name="Google Shape;1199;p36"/>
          <p:cNvSpPr txBox="1"/>
          <p:nvPr/>
        </p:nvSpPr>
        <p:spPr>
          <a:xfrm>
            <a:off x="503548" y="1588150"/>
            <a:ext cx="448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00" name="Google Shape;1200;p36"/>
          <p:cNvSpPr txBox="1"/>
          <p:nvPr/>
        </p:nvSpPr>
        <p:spPr>
          <a:xfrm>
            <a:off x="1817694" y="198173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01" name="Google Shape;1201;p36"/>
          <p:cNvSpPr txBox="1"/>
          <p:nvPr/>
        </p:nvSpPr>
        <p:spPr>
          <a:xfrm>
            <a:off x="611560" y="2681626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02" name="Google Shape;1202;p36"/>
          <p:cNvSpPr txBox="1"/>
          <p:nvPr/>
        </p:nvSpPr>
        <p:spPr>
          <a:xfrm>
            <a:off x="3383868" y="1835532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03" name="Google Shape;1203;p36"/>
          <p:cNvSpPr txBox="1"/>
          <p:nvPr/>
        </p:nvSpPr>
        <p:spPr>
          <a:xfrm>
            <a:off x="3656082" y="2339588"/>
            <a:ext cx="303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04" name="Google Shape;1204;p36"/>
          <p:cNvSpPr txBox="1"/>
          <p:nvPr/>
        </p:nvSpPr>
        <p:spPr>
          <a:xfrm>
            <a:off x="1223628" y="241624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05" name="Google Shape;1205;p36"/>
          <p:cNvSpPr txBox="1"/>
          <p:nvPr/>
        </p:nvSpPr>
        <p:spPr>
          <a:xfrm>
            <a:off x="1799692" y="2555612"/>
            <a:ext cx="342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06" name="Google Shape;1206;p36"/>
          <p:cNvSpPr txBox="1"/>
          <p:nvPr/>
        </p:nvSpPr>
        <p:spPr>
          <a:xfrm>
            <a:off x="2519772" y="1731888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07" name="Google Shape;1207;p36"/>
          <p:cNvSpPr txBox="1"/>
          <p:nvPr/>
        </p:nvSpPr>
        <p:spPr>
          <a:xfrm>
            <a:off x="107504" y="1970256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08" name="Google Shape;1208;p36"/>
          <p:cNvSpPr txBox="1"/>
          <p:nvPr/>
        </p:nvSpPr>
        <p:spPr>
          <a:xfrm>
            <a:off x="1223628" y="125946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209" name="Google Shape;1209;p36"/>
          <p:cNvSpPr txBox="1"/>
          <p:nvPr/>
        </p:nvSpPr>
        <p:spPr>
          <a:xfrm>
            <a:off x="1187624" y="306896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210" name="Google Shape;1210;p36"/>
          <p:cNvSpPr txBox="1"/>
          <p:nvPr/>
        </p:nvSpPr>
        <p:spPr>
          <a:xfrm>
            <a:off x="4463988" y="12594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211" name="Google Shape;1211;p36"/>
          <p:cNvSpPr txBox="1"/>
          <p:nvPr/>
        </p:nvSpPr>
        <p:spPr>
          <a:xfrm>
            <a:off x="3023828" y="1772816"/>
            <a:ext cx="360040" cy="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212" name="Google Shape;1212;p36"/>
          <p:cNvSpPr txBox="1"/>
          <p:nvPr/>
        </p:nvSpPr>
        <p:spPr>
          <a:xfrm>
            <a:off x="4463988" y="312238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graphicFrame>
        <p:nvGraphicFramePr>
          <p:cNvPr id="1213" name="Google Shape;1213;p36"/>
          <p:cNvGraphicFramePr/>
          <p:nvPr/>
        </p:nvGraphicFramePr>
        <p:xfrm>
          <a:off x="5171381" y="155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{C887F307-4C08-437B-B3F3-C493F4246E18}</a:tableStyleId>
              </a:tblPr>
              <a:tblGrid>
                <a:gridCol w="5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∞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14" name="Google Shape;1214;p36"/>
          <p:cNvSpPr txBox="1"/>
          <p:nvPr/>
        </p:nvSpPr>
        <p:spPr>
          <a:xfrm>
            <a:off x="791580" y="4221088"/>
            <a:ext cx="645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5</a:t>
            </a:r>
            <a:endParaRPr/>
          </a:p>
        </p:txBody>
      </p:sp>
      <p:sp>
        <p:nvSpPr>
          <p:cNvPr id="1215" name="Google Shape;1215;p36"/>
          <p:cNvSpPr txBox="1"/>
          <p:nvPr/>
        </p:nvSpPr>
        <p:spPr>
          <a:xfrm>
            <a:off x="259904" y="5075892"/>
            <a:ext cx="6840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16" name="Google Shape;1216;p36"/>
          <p:cNvSpPr/>
          <p:nvPr/>
        </p:nvSpPr>
        <p:spPr>
          <a:xfrm>
            <a:off x="539552" y="522920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6"/>
          <p:cNvSpPr/>
          <p:nvPr/>
        </p:nvSpPr>
        <p:spPr>
          <a:xfrm>
            <a:off x="1259632" y="59492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6"/>
          <p:cNvSpPr txBox="1"/>
          <p:nvPr/>
        </p:nvSpPr>
        <p:spPr>
          <a:xfrm>
            <a:off x="1187624" y="609329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cxnSp>
        <p:nvCxnSpPr>
          <p:cNvPr id="1219" name="Google Shape;1219;p36"/>
          <p:cNvCxnSpPr>
            <a:stCxn id="1216" idx="4"/>
            <a:endCxn id="1217" idx="2"/>
          </p:cNvCxnSpPr>
          <p:nvPr/>
        </p:nvCxnSpPr>
        <p:spPr>
          <a:xfrm>
            <a:off x="647564" y="5445224"/>
            <a:ext cx="612000" cy="61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0" name="Google Shape;1220;p36"/>
          <p:cNvSpPr txBox="1"/>
          <p:nvPr/>
        </p:nvSpPr>
        <p:spPr>
          <a:xfrm>
            <a:off x="763960" y="5805264"/>
            <a:ext cx="3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21" name="Google Shape;1221;p36"/>
          <p:cNvSpPr/>
          <p:nvPr/>
        </p:nvSpPr>
        <p:spPr>
          <a:xfrm>
            <a:off x="1331640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6"/>
          <p:cNvSpPr txBox="1"/>
          <p:nvPr/>
        </p:nvSpPr>
        <p:spPr>
          <a:xfrm>
            <a:off x="1259632" y="4643844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1223" name="Google Shape;1223;p36"/>
          <p:cNvCxnSpPr>
            <a:stCxn id="1217" idx="0"/>
            <a:endCxn id="1221" idx="3"/>
          </p:cNvCxnSpPr>
          <p:nvPr/>
        </p:nvCxnSpPr>
        <p:spPr>
          <a:xfrm rot="10800000">
            <a:off x="1363144" y="5125480"/>
            <a:ext cx="4500" cy="8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4" name="Google Shape;1224;p36"/>
          <p:cNvSpPr/>
          <p:nvPr/>
        </p:nvSpPr>
        <p:spPr>
          <a:xfrm>
            <a:off x="2483768" y="551723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5" name="Google Shape;1225;p36"/>
          <p:cNvCxnSpPr>
            <a:stCxn id="1217" idx="7"/>
          </p:cNvCxnSpPr>
          <p:nvPr/>
        </p:nvCxnSpPr>
        <p:spPr>
          <a:xfrm rot="10800000" flipH="1">
            <a:off x="1444020" y="5625116"/>
            <a:ext cx="1039800" cy="35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6" name="Google Shape;1226;p36"/>
          <p:cNvSpPr/>
          <p:nvPr/>
        </p:nvSpPr>
        <p:spPr>
          <a:xfrm>
            <a:off x="3699995" y="6101680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7" name="Google Shape;1227;p36"/>
          <p:cNvCxnSpPr/>
          <p:nvPr/>
        </p:nvCxnSpPr>
        <p:spPr>
          <a:xfrm>
            <a:off x="2668156" y="5661248"/>
            <a:ext cx="1063475" cy="43169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8" name="Google Shape;1228;p36"/>
          <p:cNvSpPr/>
          <p:nvPr/>
        </p:nvSpPr>
        <p:spPr>
          <a:xfrm>
            <a:off x="3707904" y="494116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9" name="Google Shape;1229;p36"/>
          <p:cNvCxnSpPr>
            <a:stCxn id="1228" idx="4"/>
            <a:endCxn id="1226" idx="0"/>
          </p:cNvCxnSpPr>
          <p:nvPr/>
        </p:nvCxnSpPr>
        <p:spPr>
          <a:xfrm flipH="1">
            <a:off x="3808116" y="5157192"/>
            <a:ext cx="7800" cy="94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0" name="Google Shape;1230;p36"/>
          <p:cNvSpPr txBox="1"/>
          <p:nvPr/>
        </p:nvSpPr>
        <p:spPr>
          <a:xfrm>
            <a:off x="3743908" y="4643844"/>
            <a:ext cx="6120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231" name="Google Shape;1231;p36"/>
          <p:cNvSpPr txBox="1"/>
          <p:nvPr/>
        </p:nvSpPr>
        <p:spPr>
          <a:xfrm>
            <a:off x="2483768" y="5805264"/>
            <a:ext cx="324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232" name="Google Shape;1232;p36"/>
          <p:cNvSpPr txBox="1"/>
          <p:nvPr/>
        </p:nvSpPr>
        <p:spPr>
          <a:xfrm>
            <a:off x="3808007" y="6277962"/>
            <a:ext cx="3319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1233" name="Google Shape;1233;p36"/>
          <p:cNvSpPr txBox="1"/>
          <p:nvPr/>
        </p:nvSpPr>
        <p:spPr>
          <a:xfrm>
            <a:off x="1114382" y="5229200"/>
            <a:ext cx="2488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34" name="Google Shape;1234;p36"/>
          <p:cNvSpPr txBox="1"/>
          <p:nvPr/>
        </p:nvSpPr>
        <p:spPr>
          <a:xfrm>
            <a:off x="1783874" y="5867980"/>
            <a:ext cx="1958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35" name="Google Shape;1235;p36"/>
          <p:cNvSpPr txBox="1"/>
          <p:nvPr/>
        </p:nvSpPr>
        <p:spPr>
          <a:xfrm>
            <a:off x="3023828" y="587709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36" name="Google Shape;1236;p36"/>
          <p:cNvSpPr txBox="1"/>
          <p:nvPr/>
        </p:nvSpPr>
        <p:spPr>
          <a:xfrm>
            <a:off x="3916019" y="5445224"/>
            <a:ext cx="2239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37" name="Google Shape;1237;p36"/>
          <p:cNvSpPr txBox="1"/>
          <p:nvPr/>
        </p:nvSpPr>
        <p:spPr>
          <a:xfrm>
            <a:off x="6012160" y="4077072"/>
            <a:ext cx="2448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 = 3+1+5+4+4=17</a:t>
            </a:r>
            <a:endParaRPr/>
          </a:p>
        </p:txBody>
      </p:sp>
      <p:pic>
        <p:nvPicPr>
          <p:cNvPr id="1238" name="Google Shape;1238;p36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36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BR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Exercício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245" name="Google Shape;1245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2959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pt-BR" sz="2500">
                <a:latin typeface="Arial"/>
                <a:ea typeface="Arial"/>
                <a:cs typeface="Arial"/>
                <a:sym typeface="Arial"/>
              </a:rPr>
              <a:t>Considere um loteamento com 9 casas e uma rede de distribuição de energia elétrica. Haverá áreas pelos quais os fios não deverão passar, por exemplo, áreas de lazer, ou acidentes naturais). No grafo a seguir os vértices correspondem às casas, as arestas aos trechos de cabo elétrico e os números sobre as arestas são os seus comprimentos, em centenas de metros. Determine uma instalação de custo mínimo de modo que todas as casas sejam ligadas por um caminho e usando o mínimo possível de ligações.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6" name="Google Shape;1246;p3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3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38"/>
          <p:cNvSpPr/>
          <p:nvPr/>
        </p:nvSpPr>
        <p:spPr>
          <a:xfrm>
            <a:off x="755576" y="278092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8"/>
          <p:cNvSpPr/>
          <p:nvPr/>
        </p:nvSpPr>
        <p:spPr>
          <a:xfrm>
            <a:off x="1938772" y="141277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8"/>
          <p:cNvSpPr/>
          <p:nvPr/>
        </p:nvSpPr>
        <p:spPr>
          <a:xfrm>
            <a:off x="1741984" y="437658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8"/>
          <p:cNvSpPr/>
          <p:nvPr/>
        </p:nvSpPr>
        <p:spPr>
          <a:xfrm>
            <a:off x="3347864" y="335699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8"/>
          <p:cNvSpPr/>
          <p:nvPr/>
        </p:nvSpPr>
        <p:spPr>
          <a:xfrm>
            <a:off x="3354242" y="141277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8"/>
          <p:cNvSpPr/>
          <p:nvPr/>
        </p:nvSpPr>
        <p:spPr>
          <a:xfrm>
            <a:off x="4839570" y="141277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8"/>
          <p:cNvSpPr/>
          <p:nvPr/>
        </p:nvSpPr>
        <p:spPr>
          <a:xfrm>
            <a:off x="3338385" y="5157192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8"/>
          <p:cNvSpPr/>
          <p:nvPr/>
        </p:nvSpPr>
        <p:spPr>
          <a:xfrm>
            <a:off x="4932040" y="4293096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8"/>
          <p:cNvSpPr/>
          <p:nvPr/>
        </p:nvSpPr>
        <p:spPr>
          <a:xfrm>
            <a:off x="4860032" y="2420888"/>
            <a:ext cx="216024" cy="216024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1" name="Google Shape;1261;p38"/>
          <p:cNvCxnSpPr>
            <a:stCxn id="1253" idx="6"/>
            <a:endCxn id="1256" idx="2"/>
          </p:cNvCxnSpPr>
          <p:nvPr/>
        </p:nvCxnSpPr>
        <p:spPr>
          <a:xfrm>
            <a:off x="2154796" y="1520788"/>
            <a:ext cx="119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2" name="Google Shape;1262;p38"/>
          <p:cNvCxnSpPr>
            <a:stCxn id="1254" idx="6"/>
            <a:endCxn id="1260" idx="1"/>
          </p:cNvCxnSpPr>
          <p:nvPr/>
        </p:nvCxnSpPr>
        <p:spPr>
          <a:xfrm rot="10800000" flipH="1">
            <a:off x="1958008" y="2452394"/>
            <a:ext cx="2933700" cy="203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3" name="Google Shape;1263;p38"/>
          <p:cNvCxnSpPr>
            <a:stCxn id="1253" idx="4"/>
            <a:endCxn id="1254" idx="6"/>
          </p:cNvCxnSpPr>
          <p:nvPr/>
        </p:nvCxnSpPr>
        <p:spPr>
          <a:xfrm flipH="1">
            <a:off x="1957984" y="1628800"/>
            <a:ext cx="88800" cy="285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4" name="Google Shape;1264;p38"/>
          <p:cNvCxnSpPr/>
          <p:nvPr/>
        </p:nvCxnSpPr>
        <p:spPr>
          <a:xfrm flipH="1">
            <a:off x="3453866" y="1444412"/>
            <a:ext cx="38014" cy="202059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5" name="Google Shape;1265;p38"/>
          <p:cNvCxnSpPr/>
          <p:nvPr/>
        </p:nvCxnSpPr>
        <p:spPr>
          <a:xfrm flipH="1">
            <a:off x="5004048" y="1520788"/>
            <a:ext cx="15542" cy="296380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6" name="Google Shape;1266;p38"/>
          <p:cNvCxnSpPr>
            <a:stCxn id="1256" idx="6"/>
            <a:endCxn id="1257" idx="2"/>
          </p:cNvCxnSpPr>
          <p:nvPr/>
        </p:nvCxnSpPr>
        <p:spPr>
          <a:xfrm>
            <a:off x="3570266" y="1520788"/>
            <a:ext cx="126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7" name="Google Shape;1267;p38"/>
          <p:cNvCxnSpPr>
            <a:stCxn id="1254" idx="5"/>
            <a:endCxn id="1258" idx="1"/>
          </p:cNvCxnSpPr>
          <p:nvPr/>
        </p:nvCxnSpPr>
        <p:spPr>
          <a:xfrm>
            <a:off x="1926372" y="4560970"/>
            <a:ext cx="1443600" cy="62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8" name="Google Shape;1268;p38"/>
          <p:cNvCxnSpPr>
            <a:stCxn id="1258" idx="6"/>
            <a:endCxn id="1259" idx="3"/>
          </p:cNvCxnSpPr>
          <p:nvPr/>
        </p:nvCxnSpPr>
        <p:spPr>
          <a:xfrm rot="10800000" flipH="1">
            <a:off x="3554409" y="4477404"/>
            <a:ext cx="1409400" cy="78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9" name="Google Shape;1269;p38"/>
          <p:cNvCxnSpPr>
            <a:stCxn id="1255" idx="6"/>
            <a:endCxn id="1259" idx="2"/>
          </p:cNvCxnSpPr>
          <p:nvPr/>
        </p:nvCxnSpPr>
        <p:spPr>
          <a:xfrm>
            <a:off x="3563888" y="3465004"/>
            <a:ext cx="1368300" cy="93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0" name="Google Shape;1270;p38"/>
          <p:cNvCxnSpPr>
            <a:stCxn id="1252" idx="1"/>
            <a:endCxn id="1253" idx="3"/>
          </p:cNvCxnSpPr>
          <p:nvPr/>
        </p:nvCxnSpPr>
        <p:spPr>
          <a:xfrm rot="10800000" flipH="1">
            <a:off x="787212" y="1597264"/>
            <a:ext cx="1183200" cy="12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1" name="Google Shape;1271;p38"/>
          <p:cNvCxnSpPr>
            <a:stCxn id="1252" idx="4"/>
            <a:endCxn id="1254" idx="4"/>
          </p:cNvCxnSpPr>
          <p:nvPr/>
        </p:nvCxnSpPr>
        <p:spPr>
          <a:xfrm>
            <a:off x="863588" y="2996952"/>
            <a:ext cx="986400" cy="159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2" name="Google Shape;1272;p38"/>
          <p:cNvSpPr txBox="1"/>
          <p:nvPr/>
        </p:nvSpPr>
        <p:spPr>
          <a:xfrm>
            <a:off x="2555776" y="1124744"/>
            <a:ext cx="7826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73" name="Google Shape;1273;p38"/>
          <p:cNvSpPr txBox="1"/>
          <p:nvPr/>
        </p:nvSpPr>
        <p:spPr>
          <a:xfrm>
            <a:off x="3923928" y="1124744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74" name="Google Shape;1274;p38"/>
          <p:cNvSpPr txBox="1"/>
          <p:nvPr/>
        </p:nvSpPr>
        <p:spPr>
          <a:xfrm>
            <a:off x="971600" y="1988840"/>
            <a:ext cx="4072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75" name="Google Shape;1275;p38"/>
          <p:cNvSpPr txBox="1"/>
          <p:nvPr/>
        </p:nvSpPr>
        <p:spPr>
          <a:xfrm>
            <a:off x="863588" y="3356992"/>
            <a:ext cx="3116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76" name="Google Shape;1276;p38"/>
          <p:cNvSpPr txBox="1"/>
          <p:nvPr/>
        </p:nvSpPr>
        <p:spPr>
          <a:xfrm>
            <a:off x="1741984" y="2780928"/>
            <a:ext cx="2604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77" name="Google Shape;1277;p38"/>
          <p:cNvSpPr txBox="1"/>
          <p:nvPr/>
        </p:nvSpPr>
        <p:spPr>
          <a:xfrm>
            <a:off x="3131840" y="2358172"/>
            <a:ext cx="3220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78" name="Google Shape;1278;p38"/>
          <p:cNvSpPr txBox="1"/>
          <p:nvPr/>
        </p:nvSpPr>
        <p:spPr>
          <a:xfrm>
            <a:off x="2754519" y="3933056"/>
            <a:ext cx="3773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79" name="Google Shape;1279;p38"/>
          <p:cNvSpPr txBox="1"/>
          <p:nvPr/>
        </p:nvSpPr>
        <p:spPr>
          <a:xfrm>
            <a:off x="2154796" y="4871344"/>
            <a:ext cx="493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80" name="Google Shape;1280;p38"/>
          <p:cNvSpPr txBox="1"/>
          <p:nvPr/>
        </p:nvSpPr>
        <p:spPr>
          <a:xfrm>
            <a:off x="4204918" y="4869160"/>
            <a:ext cx="2950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81" name="Google Shape;1281;p38"/>
          <p:cNvSpPr txBox="1"/>
          <p:nvPr/>
        </p:nvSpPr>
        <p:spPr>
          <a:xfrm>
            <a:off x="3923928" y="3794779"/>
            <a:ext cx="3240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82" name="Google Shape;1282;p38"/>
          <p:cNvSpPr txBox="1"/>
          <p:nvPr/>
        </p:nvSpPr>
        <p:spPr>
          <a:xfrm>
            <a:off x="4139952" y="2542838"/>
            <a:ext cx="576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83" name="Google Shape;1283;p38"/>
          <p:cNvSpPr txBox="1"/>
          <p:nvPr/>
        </p:nvSpPr>
        <p:spPr>
          <a:xfrm>
            <a:off x="5055594" y="1772816"/>
            <a:ext cx="2364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84" name="Google Shape;1284;p38"/>
          <p:cNvSpPr txBox="1"/>
          <p:nvPr/>
        </p:nvSpPr>
        <p:spPr>
          <a:xfrm>
            <a:off x="5055594" y="3056697"/>
            <a:ext cx="2364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1285" name="Google Shape;1285;p38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8199" y="5694786"/>
            <a:ext cx="1255800" cy="116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3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10" y="3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2267</Words>
  <Application>Microsoft Macintosh PowerPoint</Application>
  <PresentationFormat>Apresentação na tela (4:3)</PresentationFormat>
  <Paragraphs>1043</Paragraphs>
  <Slides>38</Slides>
  <Notes>38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Aharoni</vt:lpstr>
      <vt:lpstr>Arial</vt:lpstr>
      <vt:lpstr>Calibri</vt:lpstr>
      <vt:lpstr>Courier New</vt:lpstr>
      <vt:lpstr>Tema do Office</vt:lpstr>
      <vt:lpstr>Árvores Geradoras Mínimas</vt:lpstr>
      <vt:lpstr>Situação</vt:lpstr>
      <vt:lpstr>Situação</vt:lpstr>
      <vt:lpstr>Modelagem de  grafos</vt:lpstr>
      <vt:lpstr>Modelagem de grafos</vt:lpstr>
      <vt:lpstr>Definições</vt:lpstr>
      <vt:lpstr>Exemplo</vt:lpstr>
      <vt:lpstr>Exemplo</vt:lpstr>
      <vt:lpstr>Problema</vt:lpstr>
      <vt:lpstr>Solução ao problema de encontrar uma árvore geradora mínima</vt:lpstr>
      <vt:lpstr>Algoritmo de Kruskal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Algoritmo Guloso </vt:lpstr>
      <vt:lpstr>Algoritmo de Prim</vt:lpstr>
      <vt:lpstr>Algoritmo de Prim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Exercício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Árvores Geradoras Mínimas</dc:title>
  <dc:creator>Andrea</dc:creator>
  <cp:lastModifiedBy>Microsoft Office User</cp:lastModifiedBy>
  <cp:revision>1</cp:revision>
  <dcterms:created xsi:type="dcterms:W3CDTF">2010-10-31T19:02:03Z</dcterms:created>
  <dcterms:modified xsi:type="dcterms:W3CDTF">2026-06-22T22:57:59Z</dcterms:modified>
</cp:coreProperties>
</file>