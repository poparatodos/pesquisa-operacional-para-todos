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83" r:id="rId22"/>
  </p:sldIdLst>
  <p:sldSz cx="12192000" cy="6858000"/>
  <p:notesSz cx="6858000" cy="9144000"/>
  <p:embeddedFontLst>
    <p:embeddedFont>
      <p:font typeface="Aharoni" panose="02010803020104030203" pitchFamily="2" charset="-79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Quattrocento Sans" panose="020B05020500000200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P7mqwFIjTyIvojlH7yUGvHVuR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0cf0b10bf_0_17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a0cf0b10bf_0_17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a0cf0b10bf_0_17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0cf0b10bf_0_17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3a0cf0b10bf_0_17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0cf0b10bf_0_18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a0cf0b10bf_0_18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a0cf0b10bf_0_18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0cf0b10bf_0_1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a0cf0b10bf_0_1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a0cf0b10bf_0_18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a0cf0b10bf_0_18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0cf0b10bf_0_19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a0cf0b10bf_0_19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cf0b10bf_0_19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a0cf0b10bf_0_19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a0cf0b10bf_0_19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0cf0b10bf_0_19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a0cf0b10bf_0_19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0cf0b10bf_0_20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a0cf0b10bf_0_20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a0cf0b10bf_0_20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a0cf0b10bf_0_20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a0cf0b10bf_0_20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0cf0b10bf_0_20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a0cf0b10bf_0_20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0cf0b10bf_0_20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a0cf0b10bf_0_20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a0cf0b10bf_0_20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0cf0b10bf_0_2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 1">
  <p:cSld name="Slide de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0cf0b10bf_0_215"/>
          <p:cNvSpPr txBox="1"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>
                <a:solidFill>
                  <a:srgbClr val="55556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530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440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300"/>
              <a:buNone/>
              <a:defRPr>
                <a:solidFill>
                  <a:srgbClr val="8B8B8D"/>
                </a:solidFill>
              </a:defRPr>
            </a:lvl9pPr>
          </a:lstStyle>
          <a:p>
            <a:endParaRPr/>
          </a:p>
        </p:txBody>
      </p:sp>
      <p:cxnSp>
        <p:nvCxnSpPr>
          <p:cNvPr id="56" name="Google Shape;56;g3a0cf0b10bf_0_215"/>
          <p:cNvCxnSpPr/>
          <p:nvPr/>
        </p:nvCxnSpPr>
        <p:spPr>
          <a:xfrm>
            <a:off x="914400" y="3398520"/>
            <a:ext cx="104649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g3a0cf0b10bf_0_215"/>
          <p:cNvSpPr txBox="1">
            <a:spLocks noGrp="1"/>
          </p:cNvSpPr>
          <p:nvPr>
            <p:ph type="title"/>
          </p:nvPr>
        </p:nvSpPr>
        <p:spPr>
          <a:xfrm>
            <a:off x="892317" y="2438400"/>
            <a:ext cx="10486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attrocento Sans"/>
              <a:buNone/>
              <a:defRPr sz="4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a0cf0b10bf_0_215"/>
          <p:cNvSpPr/>
          <p:nvPr/>
        </p:nvSpPr>
        <p:spPr>
          <a:xfrm>
            <a:off x="0" y="0"/>
            <a:ext cx="12192000" cy="476700"/>
          </a:xfrm>
          <a:prstGeom prst="rect">
            <a:avLst/>
          </a:prstGeom>
          <a:solidFill>
            <a:srgbClr val="94BB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5757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Grafos e Algoritmos - Introdução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0cf0b10bf_0_220"/>
          <p:cNvSpPr txBox="1">
            <a:spLocks noGrp="1"/>
          </p:cNvSpPr>
          <p:nvPr>
            <p:ph type="title"/>
          </p:nvPr>
        </p:nvSpPr>
        <p:spPr>
          <a:xfrm>
            <a:off x="1631504" y="533400"/>
            <a:ext cx="9951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3a0cf0b10bf_0_220"/>
          <p:cNvSpPr txBox="1">
            <a:spLocks noGrp="1"/>
          </p:cNvSpPr>
          <p:nvPr>
            <p:ph type="body" idx="1"/>
          </p:nvPr>
        </p:nvSpPr>
        <p:spPr>
          <a:xfrm>
            <a:off x="767408" y="1844824"/>
            <a:ext cx="10815000" cy="4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8140" algn="l">
              <a:spcBef>
                <a:spcPts val="480"/>
              </a:spcBef>
              <a:spcAft>
                <a:spcPts val="0"/>
              </a:spcAft>
              <a:buSzPts val="2040"/>
              <a:buChar char="●"/>
              <a:defRPr sz="2400"/>
            </a:lvl1pPr>
            <a:lvl2pPr marL="914400" lvl="1" indent="-336550" algn="l">
              <a:spcBef>
                <a:spcPts val="1600"/>
              </a:spcBef>
              <a:spcAft>
                <a:spcPts val="0"/>
              </a:spcAft>
              <a:buSzPts val="1700"/>
              <a:buChar char="○"/>
              <a:defRPr sz="2000"/>
            </a:lvl2pPr>
            <a:lvl3pPr marL="1371600" lvl="2" indent="-331469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marL="1828800" lvl="3" indent="-330200" algn="l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42900" algn="l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2" name="Google Shape;62;g3a0cf0b10bf_0_2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408" y="596652"/>
            <a:ext cx="864097" cy="86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cf0b10bf_0_17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a0cf0b10bf_0_17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a0cf0b10bf_0_17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title"/>
          </p:nvPr>
        </p:nvSpPr>
        <p:spPr>
          <a:xfrm>
            <a:off x="415650" y="1669550"/>
            <a:ext cx="5224500" cy="26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TEORIA DOS GRAFOS – Parte 2</a:t>
            </a:r>
            <a:r>
              <a:rPr lang="pt-BR" sz="60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</p:txBody>
      </p:sp>
      <p:sp>
        <p:nvSpPr>
          <p:cNvPr id="68" name="Google Shape;68;p1"/>
          <p:cNvSpPr txBox="1">
            <a:spLocks noGrp="1"/>
          </p:cNvSpPr>
          <p:nvPr>
            <p:ph type="body" idx="1"/>
          </p:nvPr>
        </p:nvSpPr>
        <p:spPr>
          <a:xfrm>
            <a:off x="415650" y="4683075"/>
            <a:ext cx="38547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85000"/>
              <a:buNone/>
            </a:pPr>
            <a:r>
              <a:rPr lang="pt-BR" sz="2800">
                <a:solidFill>
                  <a:schemeClr val="dk1"/>
                </a:solidFill>
              </a:rPr>
              <a:t>Pro</a:t>
            </a:r>
            <a:r>
              <a:rPr lang="pt-BR" sz="2600">
                <a:solidFill>
                  <a:schemeClr val="dk1"/>
                </a:solidFill>
              </a:rPr>
              <a:t>fª Dra. Andréa Bonifácio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69" name="Google Shape;69;p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3944" y="1570147"/>
            <a:ext cx="4087367" cy="378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Grafos bipartidos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6" name="Google Shape;76;p2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Um grafo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é </a:t>
            </a:r>
            <a:r>
              <a:rPr lang="pt-BR" b="1" i="1" dirty="0">
                <a:solidFill>
                  <a:schemeClr val="dk1"/>
                </a:solidFill>
              </a:rPr>
              <a:t>bipartido </a:t>
            </a:r>
            <a:r>
              <a:rPr lang="pt-BR" dirty="0">
                <a:solidFill>
                  <a:schemeClr val="dk1"/>
                </a:solidFill>
              </a:rPr>
              <a:t>quando seu conjunto de vértices V pode ser particionado em dois subconjuntos V</a:t>
            </a:r>
            <a:r>
              <a:rPr lang="pt-BR" baseline="-25000" dirty="0">
                <a:solidFill>
                  <a:schemeClr val="dk1"/>
                </a:solidFill>
              </a:rPr>
              <a:t>1</a:t>
            </a:r>
            <a:r>
              <a:rPr lang="pt-BR" dirty="0">
                <a:solidFill>
                  <a:schemeClr val="dk1"/>
                </a:solidFill>
              </a:rPr>
              <a:t> e V</a:t>
            </a:r>
            <a:r>
              <a:rPr lang="pt-BR" baseline="-25000" dirty="0">
                <a:solidFill>
                  <a:schemeClr val="dk1"/>
                </a:solidFill>
              </a:rPr>
              <a:t>2</a:t>
            </a:r>
            <a:r>
              <a:rPr lang="pt-BR" dirty="0">
                <a:solidFill>
                  <a:schemeClr val="dk1"/>
                </a:solidFill>
              </a:rPr>
              <a:t>, tal que </a:t>
            </a:r>
            <a:endParaRPr dirty="0"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1) V</a:t>
            </a:r>
            <a:r>
              <a:rPr lang="pt-BR" baseline="-25000" dirty="0">
                <a:solidFill>
                  <a:schemeClr val="dk1"/>
                </a:solidFill>
              </a:rPr>
              <a:t>1</a:t>
            </a:r>
            <a:r>
              <a:rPr lang="pt-BR" dirty="0">
                <a:solidFill>
                  <a:schemeClr val="dk1"/>
                </a:solidFill>
              </a:rPr>
              <a:t> ∩ V</a:t>
            </a:r>
            <a:r>
              <a:rPr lang="pt-BR" baseline="-25000" dirty="0">
                <a:solidFill>
                  <a:schemeClr val="dk1"/>
                </a:solidFill>
              </a:rPr>
              <a:t>2</a:t>
            </a:r>
            <a:r>
              <a:rPr lang="pt-BR" dirty="0">
                <a:solidFill>
                  <a:schemeClr val="dk1"/>
                </a:solidFill>
              </a:rPr>
              <a:t> = ∅</a:t>
            </a:r>
            <a:endParaRPr dirty="0"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2) V</a:t>
            </a:r>
            <a:r>
              <a:rPr lang="pt-BR" baseline="-25000" dirty="0">
                <a:solidFill>
                  <a:schemeClr val="dk1"/>
                </a:solidFill>
              </a:rPr>
              <a:t>1</a:t>
            </a:r>
            <a:r>
              <a:rPr lang="pt-BR" dirty="0">
                <a:solidFill>
                  <a:schemeClr val="dk1"/>
                </a:solidFill>
              </a:rPr>
              <a:t> ∪ V</a:t>
            </a:r>
            <a:r>
              <a:rPr lang="pt-BR" baseline="-25000" dirty="0">
                <a:solidFill>
                  <a:schemeClr val="dk1"/>
                </a:solidFill>
              </a:rPr>
              <a:t>2</a:t>
            </a:r>
            <a:r>
              <a:rPr lang="pt-BR" dirty="0">
                <a:solidFill>
                  <a:schemeClr val="dk1"/>
                </a:solidFill>
              </a:rPr>
              <a:t> = V</a:t>
            </a:r>
            <a:endParaRPr dirty="0"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dirty="0">
                <a:solidFill>
                  <a:schemeClr val="dk1"/>
                </a:solidFill>
              </a:rPr>
              <a:t>3) Toda aresta de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tem um extremo em V</a:t>
            </a:r>
            <a:r>
              <a:rPr lang="pt-BR" baseline="-25000" dirty="0">
                <a:solidFill>
                  <a:schemeClr val="dk1"/>
                </a:solidFill>
              </a:rPr>
              <a:t>1</a:t>
            </a:r>
            <a:r>
              <a:rPr lang="pt-BR" dirty="0">
                <a:solidFill>
                  <a:schemeClr val="dk1"/>
                </a:solidFill>
              </a:rPr>
              <a:t> e outro V</a:t>
            </a:r>
            <a:r>
              <a:rPr lang="pt-BR" baseline="-25000" dirty="0">
                <a:solidFill>
                  <a:schemeClr val="dk1"/>
                </a:solidFill>
              </a:rPr>
              <a:t>2</a:t>
            </a:r>
            <a:r>
              <a:rPr lang="pt-BR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b="1" dirty="0">
                <a:solidFill>
                  <a:schemeClr val="dk1"/>
                </a:solidFill>
              </a:rPr>
              <a:t>Teorema: </a:t>
            </a:r>
            <a:r>
              <a:rPr lang="pt-BR" dirty="0">
                <a:solidFill>
                  <a:schemeClr val="dk1"/>
                </a:solidFill>
              </a:rPr>
              <a:t>Um grafo é bipartido se e somente se não possui ciclos 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r>
              <a:rPr lang="pt-BR" dirty="0">
                <a:solidFill>
                  <a:schemeClr val="dk1"/>
                </a:solidFill>
              </a:rPr>
              <a:t>ímpares.</a:t>
            </a: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 dirty="0"/>
          </a:p>
        </p:txBody>
      </p:sp>
      <p:pic>
        <p:nvPicPr>
          <p:cNvPr id="77" name="Google Shape;77;p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Grafo bipartido completo</a:t>
            </a:r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é um grafo bipartido completo quando todo vértice de uma partição V</a:t>
            </a:r>
            <a:r>
              <a:rPr lang="pt-BR" baseline="-25000" dirty="0">
                <a:solidFill>
                  <a:schemeClr val="dk1"/>
                </a:solidFill>
              </a:rPr>
              <a:t>1</a:t>
            </a:r>
            <a:r>
              <a:rPr lang="pt-BR" dirty="0">
                <a:solidFill>
                  <a:schemeClr val="dk1"/>
                </a:solidFill>
              </a:rPr>
              <a:t> é adjacente a todo vértice da outra partição V</a:t>
            </a:r>
            <a:r>
              <a:rPr lang="pt-BR" baseline="-25000" dirty="0">
                <a:solidFill>
                  <a:schemeClr val="dk1"/>
                </a:solidFill>
              </a:rPr>
              <a:t>2</a:t>
            </a:r>
            <a:r>
              <a:rPr lang="pt-BR" dirty="0">
                <a:solidFill>
                  <a:schemeClr val="dk1"/>
                </a:solidFill>
              </a:rPr>
              <a:t>. Denota-se por </a:t>
            </a:r>
            <a:r>
              <a:rPr lang="pt-BR" dirty="0" err="1">
                <a:solidFill>
                  <a:schemeClr val="dk1"/>
                </a:solidFill>
              </a:rPr>
              <a:t>G</a:t>
            </a:r>
            <a:r>
              <a:rPr lang="pt-BR" dirty="0">
                <a:solidFill>
                  <a:schemeClr val="dk1"/>
                </a:solidFill>
              </a:rPr>
              <a:t> =  </a:t>
            </a:r>
            <a:r>
              <a:rPr lang="pt-BR" dirty="0" err="1">
                <a:solidFill>
                  <a:schemeClr val="dk1"/>
                </a:solidFill>
              </a:rPr>
              <a:t>K</a:t>
            </a:r>
            <a:r>
              <a:rPr lang="pt-BR" baseline="-25000" dirty="0" err="1">
                <a:solidFill>
                  <a:schemeClr val="dk1"/>
                </a:solidFill>
              </a:rPr>
              <a:t>p,q</a:t>
            </a:r>
            <a:r>
              <a:rPr lang="pt-BR" baseline="-25000" dirty="0">
                <a:solidFill>
                  <a:schemeClr val="dk1"/>
                </a:solidFill>
              </a:rPr>
              <a:t> </a:t>
            </a:r>
            <a:r>
              <a:rPr lang="pt-BR" dirty="0">
                <a:solidFill>
                  <a:schemeClr val="dk1"/>
                </a:solidFill>
              </a:rPr>
              <a:t>onde </a:t>
            </a:r>
            <a:r>
              <a:rPr lang="pt-BR" dirty="0" err="1">
                <a:solidFill>
                  <a:schemeClr val="dk1"/>
                </a:solidFill>
              </a:rPr>
              <a:t>p</a:t>
            </a:r>
            <a:r>
              <a:rPr lang="pt-BR" dirty="0">
                <a:solidFill>
                  <a:schemeClr val="dk1"/>
                </a:solidFill>
              </a:rPr>
              <a:t> = | V</a:t>
            </a:r>
            <a:r>
              <a:rPr lang="pt-BR" baseline="-25000" dirty="0">
                <a:solidFill>
                  <a:schemeClr val="dk1"/>
                </a:solidFill>
              </a:rPr>
              <a:t>1</a:t>
            </a:r>
            <a:r>
              <a:rPr lang="pt-BR" dirty="0">
                <a:solidFill>
                  <a:schemeClr val="dk1"/>
                </a:solidFill>
              </a:rPr>
              <a:t> | e </a:t>
            </a:r>
            <a:r>
              <a:rPr lang="pt-BR" dirty="0" err="1">
                <a:solidFill>
                  <a:schemeClr val="dk1"/>
                </a:solidFill>
              </a:rPr>
              <a:t>q</a:t>
            </a:r>
            <a:r>
              <a:rPr lang="pt-BR" dirty="0">
                <a:solidFill>
                  <a:schemeClr val="dk1"/>
                </a:solidFill>
              </a:rPr>
              <a:t> = | V</a:t>
            </a:r>
            <a:r>
              <a:rPr lang="pt-BR" baseline="-25000" dirty="0">
                <a:solidFill>
                  <a:schemeClr val="dk1"/>
                </a:solidFill>
              </a:rPr>
              <a:t>2</a:t>
            </a:r>
            <a:r>
              <a:rPr lang="pt-BR" dirty="0">
                <a:solidFill>
                  <a:schemeClr val="dk1"/>
                </a:solidFill>
              </a:rPr>
              <a:t>|. </a:t>
            </a: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dirty="0"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7650" y="3645024"/>
            <a:ext cx="40767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Isomorfismo de grafos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Dois grafos G</a:t>
            </a:r>
            <a:r>
              <a:rPr lang="pt-BR" baseline="-25000">
                <a:solidFill>
                  <a:schemeClr val="dk1"/>
                </a:solidFill>
              </a:rPr>
              <a:t>1</a:t>
            </a:r>
            <a:r>
              <a:rPr lang="pt-BR">
                <a:solidFill>
                  <a:schemeClr val="dk1"/>
                </a:solidFill>
              </a:rPr>
              <a:t>(V</a:t>
            </a:r>
            <a:r>
              <a:rPr lang="pt-BR" baseline="-25000">
                <a:solidFill>
                  <a:schemeClr val="dk1"/>
                </a:solidFill>
              </a:rPr>
              <a:t>1</a:t>
            </a:r>
            <a:r>
              <a:rPr lang="pt-BR">
                <a:solidFill>
                  <a:schemeClr val="dk1"/>
                </a:solidFill>
              </a:rPr>
              <a:t>, E</a:t>
            </a:r>
            <a:r>
              <a:rPr lang="pt-BR" baseline="-25000">
                <a:solidFill>
                  <a:schemeClr val="dk1"/>
                </a:solidFill>
              </a:rPr>
              <a:t>1</a:t>
            </a:r>
            <a:r>
              <a:rPr lang="pt-BR">
                <a:solidFill>
                  <a:schemeClr val="dk1"/>
                </a:solidFill>
              </a:rPr>
              <a:t>) e G</a:t>
            </a:r>
            <a:r>
              <a:rPr lang="pt-BR" baseline="-25000">
                <a:solidFill>
                  <a:schemeClr val="dk1"/>
                </a:solidFill>
              </a:rPr>
              <a:t>2</a:t>
            </a:r>
            <a:r>
              <a:rPr lang="pt-BR">
                <a:solidFill>
                  <a:schemeClr val="dk1"/>
                </a:solidFill>
              </a:rPr>
              <a:t>(V</a:t>
            </a:r>
            <a:r>
              <a:rPr lang="pt-BR" baseline="-25000">
                <a:solidFill>
                  <a:schemeClr val="dk1"/>
                </a:solidFill>
              </a:rPr>
              <a:t>2</a:t>
            </a:r>
            <a:r>
              <a:rPr lang="pt-BR">
                <a:solidFill>
                  <a:schemeClr val="dk1"/>
                </a:solidFill>
              </a:rPr>
              <a:t>, E</a:t>
            </a:r>
            <a:r>
              <a:rPr lang="pt-BR" baseline="-25000">
                <a:solidFill>
                  <a:schemeClr val="dk1"/>
                </a:solidFill>
              </a:rPr>
              <a:t>2</a:t>
            </a:r>
            <a:r>
              <a:rPr lang="pt-BR">
                <a:solidFill>
                  <a:schemeClr val="dk1"/>
                </a:solidFill>
              </a:rPr>
              <a:t>) são </a:t>
            </a:r>
            <a:r>
              <a:rPr lang="pt-BR" b="1">
                <a:solidFill>
                  <a:schemeClr val="dk1"/>
                </a:solidFill>
              </a:rPr>
              <a:t>isomorfos</a:t>
            </a:r>
            <a:r>
              <a:rPr lang="pt-BR">
                <a:solidFill>
                  <a:schemeClr val="dk1"/>
                </a:solidFill>
              </a:rPr>
              <a:t> quando existe uma função bijetora f: V</a:t>
            </a:r>
            <a:r>
              <a:rPr lang="pt-BR" baseline="-25000">
                <a:solidFill>
                  <a:schemeClr val="dk1"/>
                </a:solidFill>
              </a:rPr>
              <a:t>1</a:t>
            </a:r>
            <a:r>
              <a:rPr lang="pt-BR">
                <a:solidFill>
                  <a:schemeClr val="dk1"/>
                </a:solidFill>
              </a:rPr>
              <a:t> ⧴ V</a:t>
            </a:r>
            <a:r>
              <a:rPr lang="pt-BR" baseline="-25000">
                <a:solidFill>
                  <a:schemeClr val="dk1"/>
                </a:solidFill>
              </a:rPr>
              <a:t>2</a:t>
            </a:r>
            <a:r>
              <a:rPr lang="pt-BR">
                <a:solidFill>
                  <a:schemeClr val="dk1"/>
                </a:solidFill>
              </a:rPr>
              <a:t> tal que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pt-BR" b="1">
                <a:solidFill>
                  <a:schemeClr val="dk1"/>
                </a:solidFill>
              </a:rPr>
              <a:t>   {v, w} ∈ E(G</a:t>
            </a:r>
            <a:r>
              <a:rPr lang="pt-BR" b="1" baseline="-25000">
                <a:solidFill>
                  <a:schemeClr val="dk1"/>
                </a:solidFill>
              </a:rPr>
              <a:t>1</a:t>
            </a:r>
            <a:r>
              <a:rPr lang="pt-BR" b="1">
                <a:solidFill>
                  <a:schemeClr val="dk1"/>
                </a:solidFill>
              </a:rPr>
              <a:t>) se, e somente se, {f(v), f(w)} ∈ E(G</a:t>
            </a:r>
            <a:r>
              <a:rPr lang="pt-BR" b="1" baseline="-25000">
                <a:solidFill>
                  <a:schemeClr val="dk1"/>
                </a:solidFill>
              </a:rPr>
              <a:t>2</a:t>
            </a:r>
            <a:r>
              <a:rPr lang="pt-BR" b="1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r="26411"/>
          <a:stretch/>
        </p:blipFill>
        <p:spPr>
          <a:xfrm>
            <a:off x="2238788" y="4048800"/>
            <a:ext cx="7872225" cy="23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Grafo planar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2" name="Google Shape;102;p5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Um grafo é </a:t>
            </a:r>
            <a:r>
              <a:rPr lang="pt-BR" b="1">
                <a:solidFill>
                  <a:schemeClr val="dk1"/>
                </a:solidFill>
              </a:rPr>
              <a:t>planar </a:t>
            </a:r>
            <a:r>
              <a:rPr lang="pt-BR">
                <a:solidFill>
                  <a:schemeClr val="dk1"/>
                </a:solidFill>
              </a:rPr>
              <a:t>se puder ser desenhado no plano sem arestas se cruzando.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1664" y="2755900"/>
            <a:ext cx="6477000" cy="25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 idx="4294967295"/>
          </p:nvPr>
        </p:nvSpPr>
        <p:spPr>
          <a:xfrm>
            <a:off x="733034" y="780651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Aplicações de Grafos Planares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1" name="Google Shape;111;p6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Estão por toda parte como, por exemplo, no projeto de: 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–  circuitos integrados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–  circuitos impressos (placas onde componentes eletrônicos são montados) 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–  linhas de transmissão de energia elétrica 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–  linha de produção em uma indústria 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12" name="Google Shape;112;p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Fórmula de Euler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9" name="Google Shape;119;p7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Representação planar de um grafo divide o plano em regiões (uma é ilimitada). 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Euler mostrou que a representação planar do grafo divide o plano no mesmo número de regiões, provando o seguinte teorema: 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b="1">
                <a:solidFill>
                  <a:schemeClr val="dk1"/>
                </a:solidFill>
              </a:rPr>
              <a:t>Teorema</a:t>
            </a:r>
            <a:r>
              <a:rPr lang="pt-BR">
                <a:solidFill>
                  <a:schemeClr val="dk1"/>
                </a:solidFill>
              </a:rPr>
              <a:t>. Seja G um grafo planar simples conexo com m arestas e n vértices. Seja r o número de regiões na representação planar de G. Temos que </a:t>
            </a:r>
            <a:endParaRPr>
              <a:solidFill>
                <a:schemeClr val="dk1"/>
              </a:solidFill>
            </a:endParaRPr>
          </a:p>
          <a:p>
            <a:pPr marL="182880" lvl="0" indent="-182880" algn="ctr" rtl="0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040"/>
              <a:buChar char="●"/>
            </a:pPr>
            <a:r>
              <a:rPr lang="pt-BR" b="1">
                <a:solidFill>
                  <a:schemeClr val="dk1"/>
                </a:solidFill>
              </a:rPr>
              <a:t>r = m – n + 2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p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0850" y="5347700"/>
            <a:ext cx="1447575" cy="134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82880" lvl="0" indent="-15373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Corolário1: </a:t>
            </a:r>
            <a:r>
              <a:rPr lang="pt-BR">
                <a:solidFill>
                  <a:schemeClr val="dk1"/>
                </a:solidFill>
              </a:rPr>
              <a:t>Se G é um grafo simples conexo e planar com m arestas e n vértices, sendo n ≥ 3, então m ≤ 3n − 6. 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53733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Observação: </a:t>
            </a:r>
            <a:r>
              <a:rPr lang="pt-BR">
                <a:solidFill>
                  <a:schemeClr val="dk1"/>
                </a:solidFill>
              </a:rPr>
              <a:t>Note que se a inequação do Corolário 1 for satisfeita não significa que o grafo é planar. O Corolário 1 pode ser usado para mostrar que o grafo não é planar, mas não vale para mostrar que é planar. 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53733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Corolário 2: </a:t>
            </a:r>
            <a:r>
              <a:rPr lang="pt-BR">
                <a:solidFill>
                  <a:schemeClr val="dk1"/>
                </a:solidFill>
              </a:rPr>
              <a:t>Se G é um grafo simples conexo e planar com m arestas e n vértices, sendo que n ≥ 3 e nenhum ciclo de comprimento três, então m ≤ 2n − 4.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160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5940"/>
              <a:buFont typeface="Aharoni"/>
              <a:buNone/>
            </a:pPr>
            <a:r>
              <a:rPr lang="pt-BR" sz="534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Representação de grafo no computador</a:t>
            </a:r>
            <a:endParaRPr sz="534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Um grafo pode ser representado por matrizes. Dentre as diversas matrizes associadas a um grafo a mais conhecida é a </a:t>
            </a:r>
            <a:r>
              <a:rPr lang="pt-BR" b="1">
                <a:solidFill>
                  <a:schemeClr val="dk1"/>
                </a:solidFill>
              </a:rPr>
              <a:t>matriz de adjacências </a:t>
            </a:r>
            <a:r>
              <a:rPr lang="pt-BR">
                <a:solidFill>
                  <a:schemeClr val="dk1"/>
                </a:solidFill>
              </a:rPr>
              <a:t>A(G).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Dado um grafo G(V,E) com n vértices, sua matriz de adjacência A = (a</a:t>
            </a:r>
            <a:r>
              <a:rPr lang="pt-BR" baseline="-25000">
                <a:solidFill>
                  <a:schemeClr val="dk1"/>
                </a:solidFill>
              </a:rPr>
              <a:t>ij</a:t>
            </a:r>
            <a:r>
              <a:rPr lang="pt-BR">
                <a:solidFill>
                  <a:schemeClr val="dk1"/>
                </a:solidFill>
              </a:rPr>
              <a:t>), é uma matriz quadrada de ordem n tal que 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a</a:t>
            </a:r>
            <a:r>
              <a:rPr lang="pt-BR" baseline="-25000">
                <a:solidFill>
                  <a:schemeClr val="dk1"/>
                </a:solidFill>
              </a:rPr>
              <a:t>ij</a:t>
            </a:r>
            <a:r>
              <a:rPr lang="pt-BR">
                <a:solidFill>
                  <a:schemeClr val="dk1"/>
                </a:solidFill>
              </a:rPr>
              <a:t> = 1, se v</a:t>
            </a:r>
            <a:r>
              <a:rPr lang="pt-BR" baseline="-25000">
                <a:solidFill>
                  <a:schemeClr val="dk1"/>
                </a:solidFill>
              </a:rPr>
              <a:t>i</a:t>
            </a:r>
            <a:r>
              <a:rPr lang="pt-BR">
                <a:solidFill>
                  <a:schemeClr val="dk1"/>
                </a:solidFill>
              </a:rPr>
              <a:t> e v</a:t>
            </a:r>
            <a:r>
              <a:rPr lang="pt-BR" baseline="-25000">
                <a:solidFill>
                  <a:schemeClr val="dk1"/>
                </a:solidFill>
              </a:rPr>
              <a:t>j</a:t>
            </a:r>
            <a:r>
              <a:rPr lang="pt-BR">
                <a:solidFill>
                  <a:schemeClr val="dk1"/>
                </a:solidFill>
              </a:rPr>
              <a:t> são adjacentes e a</a:t>
            </a:r>
            <a:r>
              <a:rPr lang="pt-BR" baseline="-25000">
                <a:solidFill>
                  <a:schemeClr val="dk1"/>
                </a:solidFill>
              </a:rPr>
              <a:t>ij</a:t>
            </a:r>
            <a:r>
              <a:rPr lang="pt-BR">
                <a:solidFill>
                  <a:schemeClr val="dk1"/>
                </a:solidFill>
              </a:rPr>
              <a:t>  = 0, caso contrário. 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160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35" name="Google Shape;135;p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48052" y="11126"/>
            <a:ext cx="934976" cy="93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0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15551" y="1433259"/>
            <a:ext cx="7560900" cy="426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0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Propriedades da Matriz A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9" name="Google Shape;149;p11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Diagonal principal é nula;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A é simétrica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A cardinalidade do número 1 na matriz é igual a 2m, onde m é o número de arestas do grafo.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0" name="Google Shape;150;p1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body" idx="4294967295"/>
          </p:nvPr>
        </p:nvSpPr>
        <p:spPr>
          <a:xfrm>
            <a:off x="2152650" y="1247996"/>
            <a:ext cx="7886700" cy="42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82880" lvl="0" indent="-16344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>
                <a:solidFill>
                  <a:schemeClr val="dk1"/>
                </a:solidFill>
              </a:rPr>
              <a:t>Uma </a:t>
            </a:r>
            <a:r>
              <a:rPr lang="pt-BR" b="1">
                <a:solidFill>
                  <a:schemeClr val="dk1"/>
                </a:solidFill>
              </a:rPr>
              <a:t>árvore</a:t>
            </a:r>
            <a:r>
              <a:rPr lang="pt-BR">
                <a:solidFill>
                  <a:schemeClr val="dk1"/>
                </a:solidFill>
              </a:rPr>
              <a:t> é um grafo conexo e sem ciclos.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44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63448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>
                <a:solidFill>
                  <a:schemeClr val="dk1"/>
                </a:solidFill>
              </a:rPr>
              <a:t>Uma </a:t>
            </a:r>
            <a:r>
              <a:rPr lang="pt-BR" b="1">
                <a:solidFill>
                  <a:schemeClr val="dk1"/>
                </a:solidFill>
              </a:rPr>
              <a:t>floresta</a:t>
            </a:r>
            <a:r>
              <a:rPr lang="pt-BR">
                <a:solidFill>
                  <a:schemeClr val="dk1"/>
                </a:solidFill>
              </a:rPr>
              <a:t> é um grafo cujas componentes conexas são árvores.</a:t>
            </a:r>
            <a:endParaRPr>
              <a:solidFill>
                <a:schemeClr val="dk1"/>
              </a:solidFill>
            </a:endParaRPr>
          </a:p>
          <a:p>
            <a:pPr marL="182880" lvl="0" indent="-63055" algn="l" rtl="0">
              <a:spcBef>
                <a:spcPts val="444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63448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Teorema 1: </a:t>
            </a:r>
            <a:r>
              <a:rPr lang="pt-BR">
                <a:solidFill>
                  <a:schemeClr val="dk1"/>
                </a:solidFill>
              </a:rPr>
              <a:t>Um grafo G é uma árvore se, e somente se existe um único caminho entre cada par de vértices de G.</a:t>
            </a:r>
            <a:endParaRPr>
              <a:solidFill>
                <a:schemeClr val="dk1"/>
              </a:solidFill>
            </a:endParaRPr>
          </a:p>
          <a:p>
            <a:pPr marL="182880" lvl="0" indent="-63055" algn="l" rtl="0">
              <a:spcBef>
                <a:spcPts val="444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63448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Teorema 2: </a:t>
            </a:r>
            <a:r>
              <a:rPr lang="pt-BR">
                <a:solidFill>
                  <a:schemeClr val="dk1"/>
                </a:solidFill>
              </a:rPr>
              <a:t>Um grafo conexo com n vértices é uma árvore se e só tem n – 1 arestas. </a:t>
            </a:r>
            <a:endParaRPr>
              <a:solidFill>
                <a:schemeClr val="dk1"/>
              </a:solidFill>
            </a:endParaRPr>
          </a:p>
          <a:p>
            <a:pPr marL="182880" lvl="0" indent="-63055" algn="l" rtl="0">
              <a:spcBef>
                <a:spcPts val="444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63448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>
                <a:solidFill>
                  <a:schemeClr val="dk1"/>
                </a:solidFill>
              </a:rPr>
              <a:t>Uma </a:t>
            </a:r>
            <a:r>
              <a:rPr lang="pt-BR" b="1">
                <a:solidFill>
                  <a:schemeClr val="dk1"/>
                </a:solidFill>
              </a:rPr>
              <a:t>árvore geradora </a:t>
            </a:r>
            <a:r>
              <a:rPr lang="pt-BR">
                <a:solidFill>
                  <a:schemeClr val="dk1"/>
                </a:solidFill>
              </a:rPr>
              <a:t>de um grafo conexo G é um subgrafo gerador de G conexo e sem ciclos.</a:t>
            </a:r>
            <a:endParaRPr>
              <a:solidFill>
                <a:schemeClr val="dk1"/>
              </a:solidFill>
            </a:endParaRPr>
          </a:p>
          <a:p>
            <a:pPr marL="182880" lvl="0" indent="-63055" algn="l" rtl="0">
              <a:spcBef>
                <a:spcPts val="444"/>
              </a:spcBef>
              <a:spcAft>
                <a:spcPts val="160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57" name="Google Shape;157;p1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Demonstração do Teorema 1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82880" lvl="0" indent="-1731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Teorema: </a:t>
            </a:r>
            <a:r>
              <a:rPr lang="pt-BR">
                <a:solidFill>
                  <a:schemeClr val="dk1"/>
                </a:solidFill>
              </a:rPr>
              <a:t>Um grafo G é uma árvore se, e somente se existe um único caminho entre cada par de vértices de G.</a:t>
            </a:r>
            <a:endParaRPr>
              <a:solidFill>
                <a:schemeClr val="dk1"/>
              </a:solidFill>
            </a:endParaRPr>
          </a:p>
          <a:p>
            <a:pPr marL="182880" lvl="0" indent="-53339" algn="l" rtl="0">
              <a:spcBef>
                <a:spcPts val="480"/>
              </a:spcBef>
              <a:spcAft>
                <a:spcPts val="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 b="1">
                <a:solidFill>
                  <a:schemeClr val="dk1"/>
                </a:solidFill>
              </a:rPr>
              <a:t>Prova: </a:t>
            </a:r>
            <a:r>
              <a:rPr lang="pt-BR">
                <a:solidFill>
                  <a:schemeClr val="dk1"/>
                </a:solidFill>
              </a:rPr>
              <a:t>(⇒) Se G é uma árvore então por definição G é conexo e sem ciclos. Como G é conexo, então existe um caminho entre cada par de vértices de G.</a:t>
            </a:r>
            <a:endParaRPr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>
                <a:solidFill>
                  <a:schemeClr val="dk1"/>
                </a:solidFill>
              </a:rPr>
              <a:t>Precisamos mostrar que o caminho é único.</a:t>
            </a:r>
            <a:endParaRPr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>
                <a:solidFill>
                  <a:schemeClr val="dk1"/>
                </a:solidFill>
              </a:rPr>
              <a:t> Vamos supor que existem dois caminhos distintos entre um par de vértices u e v. Ora, se existem dois caminhos distintos entre u e v então a união destes contém um ciclo. Isto é uma contradição pois por hipótese G é uma árvore. </a:t>
            </a:r>
            <a:endParaRPr>
              <a:solidFill>
                <a:schemeClr val="dk1"/>
              </a:solidFill>
            </a:endParaRPr>
          </a:p>
          <a:p>
            <a:pPr marL="182880" lvl="0" indent="-173164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BR">
                <a:solidFill>
                  <a:schemeClr val="dk1"/>
                </a:solidFill>
              </a:rPr>
              <a:t>Portanto, existe apenas um caminho entre cada par de vértices.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1600"/>
              </a:spcAft>
              <a:buSzPct val="850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65" name="Google Shape;165;p1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5940"/>
              <a:buFont typeface="Aharoni"/>
              <a:buNone/>
            </a:pPr>
            <a:r>
              <a:rPr lang="pt-BR" sz="464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Continuação da Demonstração do Teorema 1</a:t>
            </a:r>
            <a:endParaRPr sz="464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72" name="Google Shape;172;p14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 b="1">
                <a:solidFill>
                  <a:schemeClr val="dk1"/>
                </a:solidFill>
              </a:rPr>
              <a:t>Prova: </a:t>
            </a:r>
            <a:r>
              <a:rPr lang="pt-BR">
                <a:solidFill>
                  <a:schemeClr val="dk1"/>
                </a:solidFill>
              </a:rPr>
              <a:t>(⇐) Como existe um caminho entre cada par de vértices, temos que G é conexo.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Vamos supor que G tem um ciclo C. Seja {u, v} uma aresta de G que está no ciclo C. 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Isto implica que existe mais de um caminho entre u e v, o que é uma contradição. </a:t>
            </a: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Por definição um grafo conexo e sem ciclos é uma árvore. ◊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3" name="Google Shape;173;p1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13053" y="11126"/>
            <a:ext cx="869976" cy="8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Coloração de Vértices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80" name="Google Shape;180;p15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06" t="-10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SzPts val="2040"/>
              <a:buChar char="●"/>
            </a:pPr>
            <a:r>
              <a:rPr lang="pt-BR"/>
              <a:t> </a:t>
            </a:r>
            <a:endParaRPr/>
          </a:p>
        </p:txBody>
      </p:sp>
      <p:pic>
        <p:nvPicPr>
          <p:cNvPr id="181" name="Google Shape;181;p1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8425" y="5512182"/>
            <a:ext cx="1269999" cy="1176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>
            <a:spLocks noGrp="1"/>
          </p:cNvSpPr>
          <p:nvPr>
            <p:ph type="title" idx="4294967295"/>
          </p:nvPr>
        </p:nvSpPr>
        <p:spPr>
          <a:xfrm>
            <a:off x="886034" y="780651"/>
            <a:ext cx="10662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Grafo de Peterson é 3-colorível 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88" name="Google Shape;188;p16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29000" y="1849250"/>
            <a:ext cx="4134000" cy="39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Coloração de Vértices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G é 1-colorível se e somente se G é o grafo nulo.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>
              <a:solidFill>
                <a:schemeClr val="dk1"/>
              </a:solidFill>
            </a:endParaRPr>
          </a:p>
          <a:p>
            <a:pPr marL="182880" lvl="0" indent="-182880" algn="l" rtl="0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2040"/>
              <a:buChar char="●"/>
            </a:pPr>
            <a:r>
              <a:rPr lang="pt-BR">
                <a:solidFill>
                  <a:schemeClr val="dk1"/>
                </a:solidFill>
              </a:rPr>
              <a:t>G é 2-colorível se e somente se G é bipartido.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7" name="Google Shape;197;p1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Número Cromático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7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SzPts val="2040"/>
              <a:buChar char="●"/>
            </a:pPr>
            <a:r>
              <a:rPr lang="pt-BR"/>
              <a:t> </a:t>
            </a:r>
            <a:endParaRPr/>
          </a:p>
        </p:txBody>
      </p:sp>
      <p:pic>
        <p:nvPicPr>
          <p:cNvPr id="205" name="Google Shape;205;p1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>
            <a:spLocks noGrp="1"/>
          </p:cNvSpPr>
          <p:nvPr>
            <p:ph type="title" idx="4294967295"/>
          </p:nvPr>
        </p:nvSpPr>
        <p:spPr>
          <a:xfrm>
            <a:off x="767400" y="533400"/>
            <a:ext cx="10815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Coloração de Arestas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12" name="Google Shape;212;p19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06" t="-1003" r="-22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spcBef>
                <a:spcPts val="0"/>
              </a:spcBef>
              <a:spcAft>
                <a:spcPts val="1600"/>
              </a:spcAft>
              <a:buSzPts val="2040"/>
              <a:buChar char="●"/>
            </a:pPr>
            <a:r>
              <a:rPr lang="pt-BR"/>
              <a:t> </a:t>
            </a:r>
            <a:endParaRPr/>
          </a:p>
        </p:txBody>
      </p:sp>
      <p:pic>
        <p:nvPicPr>
          <p:cNvPr id="213" name="Google Shape;213;p1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8425" y="5512184"/>
            <a:ext cx="1269999" cy="117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3071664" y="1916832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5003304" y="1907985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7019528" y="1916832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3079140" y="3365376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5015880" y="4797152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3079140" y="4797152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5015880" y="3335271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7032104" y="3356992"/>
            <a:ext cx="228600" cy="216024"/>
          </a:xfrm>
          <a:prstGeom prst="ellipse">
            <a:avLst/>
          </a:prstGeom>
          <a:solidFill>
            <a:schemeClr val="dk1"/>
          </a:solidFill>
          <a:ln w="264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24" name="Google Shape;424;p27"/>
          <p:cNvCxnSpPr>
            <a:stCxn id="416" idx="6"/>
            <a:endCxn id="417" idx="2"/>
          </p:cNvCxnSpPr>
          <p:nvPr/>
        </p:nvCxnSpPr>
        <p:spPr>
          <a:xfrm rot="10800000" flipH="1">
            <a:off x="3300264" y="2016144"/>
            <a:ext cx="1703100" cy="8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27"/>
          <p:cNvCxnSpPr>
            <a:stCxn id="416" idx="4"/>
            <a:endCxn id="419" idx="0"/>
          </p:cNvCxnSpPr>
          <p:nvPr/>
        </p:nvCxnSpPr>
        <p:spPr>
          <a:xfrm>
            <a:off x="3185964" y="2132856"/>
            <a:ext cx="7500" cy="12324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27"/>
          <p:cNvCxnSpPr>
            <a:stCxn id="417" idx="4"/>
            <a:endCxn id="422" idx="0"/>
          </p:cNvCxnSpPr>
          <p:nvPr/>
        </p:nvCxnSpPr>
        <p:spPr>
          <a:xfrm>
            <a:off x="5117604" y="2124009"/>
            <a:ext cx="12600" cy="12114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27"/>
          <p:cNvCxnSpPr>
            <a:stCxn id="419" idx="7"/>
            <a:endCxn id="417" idx="3"/>
          </p:cNvCxnSpPr>
          <p:nvPr/>
        </p:nvCxnSpPr>
        <p:spPr>
          <a:xfrm rot="10800000" flipH="1">
            <a:off x="3274262" y="2092312"/>
            <a:ext cx="1762500" cy="13047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" name="Google Shape;428;p27"/>
          <p:cNvCxnSpPr>
            <a:stCxn id="417" idx="6"/>
            <a:endCxn id="418" idx="2"/>
          </p:cNvCxnSpPr>
          <p:nvPr/>
        </p:nvCxnSpPr>
        <p:spPr>
          <a:xfrm>
            <a:off x="5231904" y="2015997"/>
            <a:ext cx="1787700" cy="8700"/>
          </a:xfrm>
          <a:prstGeom prst="straightConnector1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" name="Google Shape;429;p27"/>
          <p:cNvCxnSpPr>
            <a:stCxn id="419" idx="6"/>
            <a:endCxn id="422" idx="2"/>
          </p:cNvCxnSpPr>
          <p:nvPr/>
        </p:nvCxnSpPr>
        <p:spPr>
          <a:xfrm rot="10800000" flipH="1">
            <a:off x="3307740" y="3443388"/>
            <a:ext cx="1708200" cy="30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" name="Google Shape;430;p27"/>
          <p:cNvCxnSpPr>
            <a:stCxn id="422" idx="6"/>
            <a:endCxn id="423" idx="2"/>
          </p:cNvCxnSpPr>
          <p:nvPr/>
        </p:nvCxnSpPr>
        <p:spPr>
          <a:xfrm>
            <a:off x="5244480" y="3443283"/>
            <a:ext cx="1787700" cy="21600"/>
          </a:xfrm>
          <a:prstGeom prst="straightConnector1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1" name="Google Shape;431;p27"/>
          <p:cNvCxnSpPr>
            <a:stCxn id="422" idx="4"/>
            <a:endCxn id="420" idx="0"/>
          </p:cNvCxnSpPr>
          <p:nvPr/>
        </p:nvCxnSpPr>
        <p:spPr>
          <a:xfrm>
            <a:off x="5130180" y="3551295"/>
            <a:ext cx="0" cy="12459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" name="Google Shape;432;p27"/>
          <p:cNvCxnSpPr>
            <a:stCxn id="418" idx="4"/>
            <a:endCxn id="423" idx="0"/>
          </p:cNvCxnSpPr>
          <p:nvPr/>
        </p:nvCxnSpPr>
        <p:spPr>
          <a:xfrm>
            <a:off x="7133828" y="2132856"/>
            <a:ext cx="12600" cy="12240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27"/>
          <p:cNvCxnSpPr>
            <a:stCxn id="419" idx="4"/>
            <a:endCxn id="421" idx="0"/>
          </p:cNvCxnSpPr>
          <p:nvPr/>
        </p:nvCxnSpPr>
        <p:spPr>
          <a:xfrm>
            <a:off x="3193440" y="3581400"/>
            <a:ext cx="0" cy="1215900"/>
          </a:xfrm>
          <a:prstGeom prst="straightConnector1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27"/>
          <p:cNvCxnSpPr/>
          <p:nvPr/>
        </p:nvCxnSpPr>
        <p:spPr>
          <a:xfrm>
            <a:off x="3274262" y="4941168"/>
            <a:ext cx="1775096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27"/>
          <p:cNvCxnSpPr>
            <a:stCxn id="420" idx="7"/>
            <a:endCxn id="423" idx="3"/>
          </p:cNvCxnSpPr>
          <p:nvPr/>
        </p:nvCxnSpPr>
        <p:spPr>
          <a:xfrm rot="10800000" flipH="1">
            <a:off x="5211002" y="3541488"/>
            <a:ext cx="1854600" cy="12873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6" name="Google Shape;436;p27"/>
          <p:cNvSpPr txBox="1">
            <a:spLocks noGrp="1"/>
          </p:cNvSpPr>
          <p:nvPr>
            <p:ph type="title" idx="4294967295"/>
          </p:nvPr>
        </p:nvSpPr>
        <p:spPr>
          <a:xfrm>
            <a:off x="545550" y="848326"/>
            <a:ext cx="11100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 de coloração de arestas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437" name="Google Shape;437;p2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2373" y="4923024"/>
            <a:ext cx="1906050" cy="17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9602" y="11125"/>
            <a:ext cx="1063424" cy="105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8"/>
          <p:cNvSpPr txBox="1">
            <a:spLocks noGrp="1"/>
          </p:cNvSpPr>
          <p:nvPr>
            <p:ph type="body" idx="4294967295"/>
          </p:nvPr>
        </p:nvSpPr>
        <p:spPr>
          <a:xfrm>
            <a:off x="767408" y="1844824"/>
            <a:ext cx="10814992" cy="424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/>
          </a:p>
          <a:p>
            <a:pPr marL="0" lvl="0" indent="0" algn="ctr" rtl="0">
              <a:spcBef>
                <a:spcPts val="1000"/>
              </a:spcBef>
              <a:spcAft>
                <a:spcPts val="1600"/>
              </a:spcAft>
              <a:buSzPts val="4250"/>
              <a:buNone/>
            </a:pPr>
            <a:r>
              <a:rPr lang="pt-BR" sz="5000" b="1">
                <a:solidFill>
                  <a:srgbClr val="FF0000"/>
                </a:solidFill>
              </a:rPr>
              <a:t>FIM!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925</Words>
  <Application>Microsoft Macintosh PowerPoint</Application>
  <PresentationFormat>Widescreen</PresentationFormat>
  <Paragraphs>85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Aharoni</vt:lpstr>
      <vt:lpstr>Quattrocento Sans</vt:lpstr>
      <vt:lpstr>Calibri</vt:lpstr>
      <vt:lpstr>Simple Light</vt:lpstr>
      <vt:lpstr>TEORIA DOS GRAFOS – Parte 2 </vt:lpstr>
      <vt:lpstr>Grafos bipartidos</vt:lpstr>
      <vt:lpstr>Grafo bipartido completo</vt:lpstr>
      <vt:lpstr>Isomorfismo de grafos</vt:lpstr>
      <vt:lpstr>Grafo planar</vt:lpstr>
      <vt:lpstr>Aplicações de Grafos Planares</vt:lpstr>
      <vt:lpstr>Fórmula de Euler</vt:lpstr>
      <vt:lpstr>Apresentação do PowerPoint</vt:lpstr>
      <vt:lpstr>Representação de grafo no computador</vt:lpstr>
      <vt:lpstr>Apresentação do PowerPoint</vt:lpstr>
      <vt:lpstr>Propriedades da Matriz A</vt:lpstr>
      <vt:lpstr>Apresentação do PowerPoint</vt:lpstr>
      <vt:lpstr>Demonstração do Teorema 1</vt:lpstr>
      <vt:lpstr>Continuação da Demonstração do Teorema 1</vt:lpstr>
      <vt:lpstr>Coloração de Vértices</vt:lpstr>
      <vt:lpstr>Grafo de Peterson é 3-colorível </vt:lpstr>
      <vt:lpstr>Coloração de Vértices</vt:lpstr>
      <vt:lpstr>Número Cromático</vt:lpstr>
      <vt:lpstr>Coloração de Arestas</vt:lpstr>
      <vt:lpstr>Exemplo de coloração de arestas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DOS GRAFOS – Parte 2 </dc:title>
  <dc:creator>Andrea</dc:creator>
  <cp:lastModifiedBy>Microsoft Office User</cp:lastModifiedBy>
  <cp:revision>2</cp:revision>
  <dcterms:created xsi:type="dcterms:W3CDTF">2011-02-20T15:45:28Z</dcterms:created>
  <dcterms:modified xsi:type="dcterms:W3CDTF">2026-06-22T22:46:45Z</dcterms:modified>
</cp:coreProperties>
</file>