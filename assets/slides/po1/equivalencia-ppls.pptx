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36" d="100"/>
          <a:sy n="136" d="100"/>
        </p:scale>
        <p:origin x="-1296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55C36-71D1-4092-AB88-C982C2CB5F08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AAE38-46D3-4122-859D-6CC2B86FB4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865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26</a:t>
            </a:r>
            <a:r>
              <a:rPr spc="-5" dirty="0"/>
              <a:t> </a:t>
            </a:r>
            <a:r>
              <a:rPr dirty="0"/>
              <a:t>de Julho de </a:t>
            </a:r>
            <a:r>
              <a:rPr spc="-20" dirty="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Pesquisa</a:t>
            </a:r>
            <a:r>
              <a:rPr spc="-5" dirty="0"/>
              <a:t> </a:t>
            </a:r>
            <a:r>
              <a:rPr dirty="0"/>
              <a:t>Operacional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378460"/>
          </a:xfrm>
          <a:custGeom>
            <a:avLst/>
            <a:gdLst/>
            <a:ahLst/>
            <a:cxnLst/>
            <a:rect l="l" t="t" r="r" b="b"/>
            <a:pathLst>
              <a:path w="4608195" h="378460">
                <a:moveTo>
                  <a:pt x="4608004" y="0"/>
                </a:moveTo>
                <a:lnTo>
                  <a:pt x="0" y="0"/>
                </a:lnTo>
                <a:lnTo>
                  <a:pt x="0" y="378409"/>
                </a:lnTo>
                <a:lnTo>
                  <a:pt x="4608004" y="378409"/>
                </a:lnTo>
                <a:lnTo>
                  <a:pt x="4608004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26</a:t>
            </a:r>
            <a:r>
              <a:rPr spc="-5" dirty="0"/>
              <a:t> </a:t>
            </a:r>
            <a:r>
              <a:rPr dirty="0"/>
              <a:t>de Julho de </a:t>
            </a:r>
            <a:r>
              <a:rPr spc="-20" dirty="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Pesquisa</a:t>
            </a:r>
            <a:r>
              <a:rPr spc="-5" dirty="0"/>
              <a:t> </a:t>
            </a:r>
            <a:r>
              <a:rPr dirty="0"/>
              <a:t>Operacional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26</a:t>
            </a:r>
            <a:r>
              <a:rPr spc="-5" dirty="0"/>
              <a:t> </a:t>
            </a:r>
            <a:r>
              <a:rPr dirty="0"/>
              <a:t>de Julho de </a:t>
            </a:r>
            <a:r>
              <a:rPr spc="-20" dirty="0"/>
              <a:t>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Pesquisa</a:t>
            </a:r>
            <a:r>
              <a:rPr spc="-5" dirty="0"/>
              <a:t> </a:t>
            </a:r>
            <a:r>
              <a:rPr dirty="0"/>
              <a:t>Operacional </a:t>
            </a:r>
            <a:r>
              <a:rPr spc="-50" dirty="0"/>
              <a:t>I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26</a:t>
            </a:r>
            <a:r>
              <a:rPr spc="-5" dirty="0"/>
              <a:t> </a:t>
            </a:r>
            <a:r>
              <a:rPr dirty="0"/>
              <a:t>de Julho de </a:t>
            </a:r>
            <a:r>
              <a:rPr spc="-20" dirty="0"/>
              <a:t>2020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Pesquisa</a:t>
            </a:r>
            <a:r>
              <a:rPr spc="-5" dirty="0"/>
              <a:t> </a:t>
            </a:r>
            <a:r>
              <a:rPr dirty="0"/>
              <a:t>Operacional </a:t>
            </a:r>
            <a:r>
              <a:rPr spc="-50" dirty="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26</a:t>
            </a:r>
            <a:r>
              <a:rPr spc="-5" dirty="0"/>
              <a:t> </a:t>
            </a:r>
            <a:r>
              <a:rPr dirty="0"/>
              <a:t>de Julho de </a:t>
            </a:r>
            <a:r>
              <a:rPr spc="-20" dirty="0"/>
              <a:t>2020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Pesquisa</a:t>
            </a:r>
            <a:r>
              <a:rPr spc="-5" dirty="0"/>
              <a:t> </a:t>
            </a:r>
            <a:r>
              <a:rPr dirty="0"/>
              <a:t>Operacional </a:t>
            </a:r>
            <a:r>
              <a:rPr spc="-50" dirty="0"/>
              <a:t>I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384FA72-C0C9-1636-8DF5-AFDB716C8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263" y="1072835"/>
            <a:ext cx="3457575" cy="698396"/>
          </a:xfrm>
        </p:spPr>
        <p:txBody>
          <a:bodyPr anchor="b"/>
          <a:lstStyle>
            <a:lvl1pPr algn="ctr">
              <a:defRPr sz="226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5A831EF-9CC8-CA15-FECB-1B9C3B9C3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3" y="1817695"/>
            <a:ext cx="3457575" cy="139590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5BCB803-AB35-E5F1-85E0-57BD863E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2732" y="3351784"/>
            <a:ext cx="790575" cy="92333"/>
          </a:xfrm>
        </p:spPr>
        <p:txBody>
          <a:bodyPr/>
          <a:lstStyle/>
          <a:p>
            <a:fld id="{71C23DC8-26DF-4EE7-B120-CBA96110CA8F}" type="datetimeFigureOut">
              <a:rPr lang="pt-BR" smtClean="0"/>
              <a:t>19/11/2025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F636BA30-71BB-ACD4-DC73-D0667D00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9291" y="3351784"/>
            <a:ext cx="711200" cy="92333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F2B9F62-910B-DBC9-47E5-A430BD64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27459" y="3351784"/>
            <a:ext cx="226060" cy="92333"/>
          </a:xfrm>
        </p:spPr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90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3728"/>
            <a:ext cx="2967990" cy="2942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7179" y="830693"/>
            <a:ext cx="3369945" cy="1091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79291" y="3351784"/>
            <a:ext cx="7112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26</a:t>
            </a:r>
            <a:r>
              <a:rPr spc="-5" dirty="0"/>
              <a:t> </a:t>
            </a:r>
            <a:r>
              <a:rPr dirty="0"/>
              <a:t>de Julho de </a:t>
            </a:r>
            <a:r>
              <a:rPr spc="-20" dirty="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2732" y="3351784"/>
            <a:ext cx="79057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5E303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Pesquisa</a:t>
            </a:r>
            <a:r>
              <a:rPr spc="-5" dirty="0"/>
              <a:t> </a:t>
            </a:r>
            <a:r>
              <a:rPr dirty="0"/>
              <a:t>Operacional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27459" y="3351784"/>
            <a:ext cx="2260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/>
              <a:t>‹nº›</a:t>
            </a:fld>
            <a:r>
              <a:rPr spc="15" dirty="0"/>
              <a:t> </a:t>
            </a:r>
            <a:r>
              <a:rPr spc="90" dirty="0"/>
              <a:t>/</a:t>
            </a:r>
            <a:r>
              <a:rPr spc="15" dirty="0"/>
              <a:t> </a:t>
            </a:r>
            <a:r>
              <a:rPr spc="-50" dirty="0"/>
              <a:t>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0134A1-ABB8-8B90-52AC-B65932D5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BD36869-7C53-B4EC-0C49-E12A38CDC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031" y="554800"/>
            <a:ext cx="2530725" cy="13279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Pesquisa Operacional I</a:t>
            </a:r>
            <a:b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Equivalência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C9DC04F7-2A1B-C9D0-40E7-D7F0EB2A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031" y="2184942"/>
            <a:ext cx="2530725" cy="30743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+mn-lt"/>
                <a:ea typeface="Hagrid Text"/>
                <a:cs typeface="Hagrid Text"/>
                <a:sym typeface="Hagrid Text"/>
              </a:rPr>
              <a:t>Profª </a:t>
            </a:r>
            <a:r>
              <a:rPr lang="en-US" dirty="0" smtClean="0">
                <a:latin typeface="+mn-lt"/>
                <a:ea typeface="Hagrid Text"/>
                <a:cs typeface="Hagrid Text"/>
                <a:sym typeface="Hagrid Text"/>
              </a:rPr>
              <a:t>Dra. Andréa </a:t>
            </a:r>
            <a:r>
              <a:rPr lang="en-US" dirty="0">
                <a:latin typeface="+mn-lt"/>
                <a:ea typeface="Hagrid Text"/>
                <a:cs typeface="Hagrid Text"/>
                <a:sym typeface="Hagrid Text"/>
              </a:rPr>
              <a:t>Bonifácio</a:t>
            </a:r>
          </a:p>
          <a:p>
            <a:pPr algn="l"/>
            <a:r>
              <a:rPr lang="en-US" dirty="0">
                <a:latin typeface="+mn-lt"/>
                <a:ea typeface="Hagrid Text"/>
                <a:cs typeface="Hagrid Text"/>
                <a:sym typeface="Hagrid Text"/>
              </a:rPr>
              <a:t>Email: andreabonifacio@uniriotec.br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57C191F7-C2F2-185D-FD24-D2DBBBFA4D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396" y="969870"/>
            <a:ext cx="1545536" cy="1431593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0A43AA01-1C09-2157-D549-C8E1484F53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730E9B-DD70-0811-9AF2-452FF47A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036120-57C4-563E-BBA5-CA40EBA0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031" y="554800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5C82DD7-C983-C45C-A0FA-FCF85369C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522" y="815975"/>
            <a:ext cx="3424894" cy="2366261"/>
          </a:xfrm>
        </p:spPr>
        <p:txBody>
          <a:bodyPr>
            <a:normAutofit fontScale="25000" lnSpcReduction="20000"/>
          </a:bodyPr>
          <a:lstStyle/>
          <a:p>
            <a:pPr marL="50164" marR="675640" algn="just">
              <a:lnSpc>
                <a:spcPct val="100000"/>
              </a:lnSpc>
              <a:spcBef>
                <a:spcPts val="95"/>
              </a:spcBef>
              <a:buClr>
                <a:srgbClr val="8C1414"/>
              </a:buClr>
              <a:tabLst>
                <a:tab pos="243204" algn="l"/>
              </a:tabLst>
            </a:pPr>
            <a:r>
              <a:rPr lang="pt-BR" sz="4400" dirty="0" smtClean="0">
                <a:latin typeface="+mn-lt"/>
                <a:cs typeface="Calibri"/>
              </a:rPr>
              <a:t>1. Qualquer</a:t>
            </a:r>
            <a:r>
              <a:rPr lang="pt-BR" sz="4400" spc="25" dirty="0" smtClean="0">
                <a:latin typeface="+mn-lt"/>
                <a:cs typeface="Calibri"/>
              </a:rPr>
              <a:t> </a:t>
            </a:r>
            <a:r>
              <a:rPr lang="pt-BR" sz="4400" spc="120" dirty="0">
                <a:latin typeface="+mn-lt"/>
                <a:cs typeface="Calibri"/>
              </a:rPr>
              <a:t>PPL</a:t>
            </a:r>
            <a:r>
              <a:rPr lang="pt-BR" sz="4400" spc="35" dirty="0">
                <a:latin typeface="+mn-lt"/>
                <a:cs typeface="Calibri"/>
              </a:rPr>
              <a:t> </a:t>
            </a:r>
            <a:r>
              <a:rPr lang="pt-BR" sz="4400" dirty="0">
                <a:latin typeface="+mn-lt"/>
                <a:cs typeface="Calibri"/>
              </a:rPr>
              <a:t>pode</a:t>
            </a:r>
            <a:r>
              <a:rPr lang="pt-BR" sz="4400" spc="25" dirty="0">
                <a:latin typeface="+mn-lt"/>
                <a:cs typeface="Calibri"/>
              </a:rPr>
              <a:t> </a:t>
            </a:r>
            <a:r>
              <a:rPr lang="pt-BR" sz="4400" dirty="0">
                <a:latin typeface="+mn-lt"/>
                <a:cs typeface="Calibri"/>
              </a:rPr>
              <a:t>ser</a:t>
            </a:r>
            <a:r>
              <a:rPr lang="pt-BR" sz="4400" spc="30" dirty="0">
                <a:latin typeface="+mn-lt"/>
                <a:cs typeface="Calibri"/>
              </a:rPr>
              <a:t> </a:t>
            </a:r>
            <a:r>
              <a:rPr lang="pt-BR" sz="4400" spc="-25" dirty="0">
                <a:latin typeface="+mn-lt"/>
                <a:cs typeface="Calibri"/>
              </a:rPr>
              <a:t>transformado</a:t>
            </a:r>
            <a:r>
              <a:rPr lang="pt-BR" sz="4400" spc="30" dirty="0">
                <a:latin typeface="+mn-lt"/>
                <a:cs typeface="Calibri"/>
              </a:rPr>
              <a:t> </a:t>
            </a:r>
            <a:r>
              <a:rPr lang="pt-BR" sz="4400" dirty="0">
                <a:latin typeface="+mn-lt"/>
                <a:cs typeface="Calibri"/>
              </a:rPr>
              <a:t>num</a:t>
            </a:r>
            <a:r>
              <a:rPr lang="pt-BR" sz="4400" spc="30" dirty="0">
                <a:latin typeface="+mn-lt"/>
                <a:cs typeface="Calibri"/>
              </a:rPr>
              <a:t> </a:t>
            </a:r>
            <a:r>
              <a:rPr lang="pt-BR" sz="4400" spc="95" dirty="0">
                <a:latin typeface="+mn-lt"/>
                <a:cs typeface="Calibri"/>
              </a:rPr>
              <a:t>PPL </a:t>
            </a:r>
            <a:r>
              <a:rPr lang="pt-BR" sz="4400" spc="-25" dirty="0">
                <a:latin typeface="+mn-lt"/>
                <a:cs typeface="Calibri"/>
              </a:rPr>
              <a:t>equivalente</a:t>
            </a:r>
            <a:r>
              <a:rPr lang="pt-BR" sz="4400" spc="45" dirty="0">
                <a:latin typeface="+mn-lt"/>
                <a:cs typeface="Calibri"/>
              </a:rPr>
              <a:t> </a:t>
            </a:r>
            <a:r>
              <a:rPr lang="pt-BR" sz="4400" spc="-55" dirty="0" smtClean="0">
                <a:latin typeface="+mn-lt"/>
                <a:cs typeface="Calibri"/>
              </a:rPr>
              <a:t>através</a:t>
            </a:r>
            <a:r>
              <a:rPr lang="pt-BR" sz="4400" spc="45" dirty="0" smtClean="0">
                <a:latin typeface="+mn-lt"/>
                <a:cs typeface="Calibri"/>
              </a:rPr>
              <a:t> </a:t>
            </a:r>
            <a:r>
              <a:rPr lang="pt-BR" sz="4400" dirty="0">
                <a:latin typeface="+mn-lt"/>
                <a:cs typeface="Calibri"/>
              </a:rPr>
              <a:t>das</a:t>
            </a:r>
            <a:r>
              <a:rPr lang="pt-BR" sz="4400" spc="50" dirty="0">
                <a:latin typeface="+mn-lt"/>
                <a:cs typeface="Calibri"/>
              </a:rPr>
              <a:t> </a:t>
            </a:r>
            <a:r>
              <a:rPr lang="pt-BR" sz="4400" spc="-20" dirty="0">
                <a:latin typeface="+mn-lt"/>
                <a:cs typeface="Calibri"/>
              </a:rPr>
              <a:t>seguintes</a:t>
            </a:r>
            <a:r>
              <a:rPr lang="pt-BR" sz="4400" spc="45" dirty="0">
                <a:latin typeface="+mn-lt"/>
                <a:cs typeface="Calibri"/>
              </a:rPr>
              <a:t> </a:t>
            </a:r>
            <a:r>
              <a:rPr lang="pt-BR" sz="4400" spc="-10" dirty="0">
                <a:latin typeface="+mn-lt"/>
                <a:cs typeface="Calibri"/>
              </a:rPr>
              <a:t>regras:</a:t>
            </a:r>
          </a:p>
          <a:p>
            <a:pPr marL="50164" marR="675640" algn="just">
              <a:lnSpc>
                <a:spcPct val="100000"/>
              </a:lnSpc>
              <a:spcBef>
                <a:spcPts val="95"/>
              </a:spcBef>
              <a:buClr>
                <a:srgbClr val="8C1414"/>
              </a:buClr>
              <a:tabLst>
                <a:tab pos="243204" algn="l"/>
              </a:tabLst>
            </a:pPr>
            <a:endParaRPr lang="pt-BR" sz="4400" spc="-10" dirty="0">
              <a:latin typeface="+mn-lt"/>
              <a:cs typeface="Calibri"/>
            </a:endParaRPr>
          </a:p>
          <a:p>
            <a:pPr marL="50164" marR="675640" algn="just">
              <a:lnSpc>
                <a:spcPct val="100000"/>
              </a:lnSpc>
              <a:spcBef>
                <a:spcPts val="95"/>
              </a:spcBef>
              <a:buClr>
                <a:srgbClr val="8C1414"/>
              </a:buClr>
              <a:tabLst>
                <a:tab pos="243204" algn="l"/>
              </a:tabLst>
            </a:pPr>
            <a:r>
              <a:rPr lang="pt-BR" sz="4400" dirty="0">
                <a:latin typeface="+mn-lt"/>
                <a:cs typeface="Tahoma"/>
              </a:rPr>
              <a:t>Um</a:t>
            </a:r>
            <a:r>
              <a:rPr lang="pt-BR" sz="4400" spc="-45" dirty="0">
                <a:latin typeface="+mn-lt"/>
                <a:cs typeface="Tahoma"/>
              </a:rPr>
              <a:t> </a:t>
            </a:r>
            <a:r>
              <a:rPr lang="pt-BR" sz="4400" spc="-50" dirty="0">
                <a:latin typeface="+mn-lt"/>
                <a:cs typeface="Tahoma"/>
              </a:rPr>
              <a:t>problema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55" dirty="0">
                <a:latin typeface="+mn-lt"/>
                <a:cs typeface="Tahoma"/>
              </a:rPr>
              <a:t>de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40" dirty="0" err="1">
                <a:latin typeface="+mn-lt"/>
                <a:cs typeface="Tahoma"/>
              </a:rPr>
              <a:t>maximiz</a:t>
            </a:r>
            <a:r>
              <a:rPr lang="pt-BR" sz="4400" spc="-50" dirty="0" err="1">
                <a:latin typeface="+mn-lt"/>
                <a:cs typeface="Tahoma"/>
              </a:rPr>
              <a:t>a</a:t>
            </a:r>
            <a:r>
              <a:rPr lang="pt-BR" sz="4400" spc="-655" dirty="0" err="1">
                <a:latin typeface="+mn-lt"/>
                <a:cs typeface="Tahoma"/>
              </a:rPr>
              <a:t>¸</a:t>
            </a:r>
            <a:r>
              <a:rPr lang="pt-BR" sz="4400" spc="-55" dirty="0" err="1">
                <a:latin typeface="+mn-lt"/>
                <a:cs typeface="Tahoma"/>
              </a:rPr>
              <a:t>c</a:t>
            </a:r>
            <a:r>
              <a:rPr lang="pt-BR" sz="4400" spc="-640" dirty="0" err="1">
                <a:latin typeface="+mn-lt"/>
                <a:cs typeface="Tahoma"/>
              </a:rPr>
              <a:t>˜</a:t>
            </a:r>
            <a:r>
              <a:rPr lang="pt-BR" sz="4400" spc="-40" dirty="0" err="1">
                <a:latin typeface="+mn-lt"/>
                <a:cs typeface="Tahoma"/>
              </a:rPr>
              <a:t>ao</a:t>
            </a:r>
            <a:r>
              <a:rPr lang="pt-BR" sz="4400" spc="5" dirty="0">
                <a:latin typeface="+mn-lt"/>
                <a:cs typeface="Tahoma"/>
              </a:rPr>
              <a:t> </a:t>
            </a:r>
            <a:r>
              <a:rPr lang="pt-BR" sz="4400" spc="-45" dirty="0">
                <a:latin typeface="+mn-lt"/>
                <a:cs typeface="Tahoma"/>
              </a:rPr>
              <a:t>pode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50" dirty="0">
                <a:latin typeface="+mn-lt"/>
                <a:cs typeface="Tahoma"/>
              </a:rPr>
              <a:t>ser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45" dirty="0">
                <a:latin typeface="+mn-lt"/>
                <a:cs typeface="Tahoma"/>
              </a:rPr>
              <a:t>transformado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35" dirty="0">
                <a:latin typeface="+mn-lt"/>
                <a:cs typeface="Tahoma"/>
              </a:rPr>
              <a:t>em </a:t>
            </a:r>
            <a:r>
              <a:rPr lang="pt-BR" sz="4400" spc="-20" dirty="0">
                <a:latin typeface="+mn-lt"/>
                <a:cs typeface="Tahoma"/>
              </a:rPr>
              <a:t>um</a:t>
            </a:r>
            <a:r>
              <a:rPr lang="pt-BR" sz="4400" spc="-60" dirty="0">
                <a:latin typeface="+mn-lt"/>
                <a:cs typeface="Tahoma"/>
              </a:rPr>
              <a:t> </a:t>
            </a:r>
            <a:r>
              <a:rPr lang="pt-BR" sz="4400" spc="-50" dirty="0">
                <a:latin typeface="+mn-lt"/>
                <a:cs typeface="Tahoma"/>
              </a:rPr>
              <a:t>problema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35" dirty="0">
                <a:latin typeface="+mn-lt"/>
                <a:cs typeface="Tahoma"/>
              </a:rPr>
              <a:t>de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35" dirty="0" err="1">
                <a:latin typeface="+mn-lt"/>
                <a:cs typeface="Tahoma"/>
              </a:rPr>
              <a:t>minimiza</a:t>
            </a:r>
            <a:r>
              <a:rPr lang="pt-BR" sz="4400" spc="-645" dirty="0" err="1">
                <a:latin typeface="+mn-lt"/>
                <a:cs typeface="Tahoma"/>
              </a:rPr>
              <a:t>¸</a:t>
            </a:r>
            <a:r>
              <a:rPr lang="pt-BR" sz="4400" spc="-55" dirty="0" err="1">
                <a:latin typeface="+mn-lt"/>
                <a:cs typeface="Tahoma"/>
              </a:rPr>
              <a:t>c</a:t>
            </a:r>
            <a:r>
              <a:rPr lang="pt-BR" sz="4400" spc="-630" dirty="0" err="1">
                <a:latin typeface="+mn-lt"/>
                <a:cs typeface="Tahoma"/>
              </a:rPr>
              <a:t>˜</a:t>
            </a:r>
            <a:r>
              <a:rPr lang="pt-BR" sz="4400" spc="-35" dirty="0" err="1">
                <a:latin typeface="+mn-lt"/>
                <a:cs typeface="Tahoma"/>
              </a:rPr>
              <a:t>ao</a:t>
            </a:r>
            <a:r>
              <a:rPr lang="pt-BR" sz="4400" spc="15" dirty="0">
                <a:latin typeface="+mn-lt"/>
                <a:cs typeface="Tahoma"/>
              </a:rPr>
              <a:t> </a:t>
            </a:r>
            <a:r>
              <a:rPr lang="pt-BR" sz="4400" dirty="0">
                <a:latin typeface="+mn-lt"/>
                <a:cs typeface="Tahoma"/>
              </a:rPr>
              <a:t>e</a:t>
            </a:r>
            <a:r>
              <a:rPr lang="pt-BR" sz="4400" spc="-20" dirty="0">
                <a:latin typeface="+mn-lt"/>
                <a:cs typeface="Tahoma"/>
              </a:rPr>
              <a:t> </a:t>
            </a:r>
            <a:r>
              <a:rPr lang="pt-BR" sz="4400" spc="-60" dirty="0">
                <a:latin typeface="+mn-lt"/>
                <a:cs typeface="Tahoma"/>
              </a:rPr>
              <a:t>vice-</a:t>
            </a:r>
            <a:r>
              <a:rPr lang="pt-BR" sz="4400" spc="-10" dirty="0">
                <a:latin typeface="+mn-lt"/>
                <a:cs typeface="Tahoma"/>
              </a:rPr>
              <a:t>versa:</a:t>
            </a:r>
            <a:endParaRPr lang="pt-BR" sz="4400" dirty="0">
              <a:latin typeface="+mn-lt"/>
              <a:cs typeface="Tahoma"/>
            </a:endParaRPr>
          </a:p>
          <a:p>
            <a:pPr algn="just">
              <a:lnSpc>
                <a:spcPct val="100000"/>
              </a:lnSpc>
              <a:spcBef>
                <a:spcPts val="819"/>
              </a:spcBef>
            </a:pPr>
            <a:endParaRPr lang="pt-BR" sz="4400" dirty="0">
              <a:latin typeface="+mn-lt"/>
            </a:endParaRPr>
          </a:p>
          <a:p>
            <a:pPr marL="478155" algn="just"/>
            <a:r>
              <a:rPr lang="pt-BR" sz="4400" spc="-60" dirty="0" err="1">
                <a:latin typeface="+mn-lt"/>
              </a:rPr>
              <a:t>max</a:t>
            </a:r>
            <a:r>
              <a:rPr lang="pt-BR" sz="4400" spc="-160" dirty="0">
                <a:latin typeface="+mn-lt"/>
              </a:rPr>
              <a:t> </a:t>
            </a:r>
            <a:r>
              <a:rPr lang="pt-BR" sz="4400" i="1" dirty="0">
                <a:latin typeface="+mn-lt"/>
                <a:cs typeface="Calibri"/>
              </a:rPr>
              <a:t>z</a:t>
            </a:r>
            <a:r>
              <a:rPr lang="pt-BR" sz="4400" i="1" spc="160" dirty="0">
                <a:latin typeface="+mn-lt"/>
                <a:cs typeface="Calibri"/>
              </a:rPr>
              <a:t> </a:t>
            </a:r>
            <a:r>
              <a:rPr lang="pt-BR" sz="4400" i="1" dirty="0">
                <a:latin typeface="+mn-lt"/>
                <a:cs typeface="Meiryo UI"/>
              </a:rPr>
              <a:t>⇔</a:t>
            </a:r>
            <a:r>
              <a:rPr lang="pt-BR" sz="4400" i="1" spc="-65" dirty="0">
                <a:latin typeface="+mn-lt"/>
                <a:cs typeface="Meiryo UI"/>
              </a:rPr>
              <a:t> </a:t>
            </a:r>
            <a:r>
              <a:rPr lang="pt-BR" sz="4400" spc="-45" dirty="0">
                <a:latin typeface="+mn-lt"/>
              </a:rPr>
              <a:t>min</a:t>
            </a:r>
            <a:r>
              <a:rPr lang="pt-BR" sz="4400" spc="-160" dirty="0">
                <a:latin typeface="+mn-lt"/>
              </a:rPr>
              <a:t> </a:t>
            </a:r>
            <a:r>
              <a:rPr lang="pt-BR" sz="4400" spc="-160" dirty="0" smtClean="0">
                <a:latin typeface="+mn-lt"/>
              </a:rPr>
              <a:t> </a:t>
            </a:r>
            <a:r>
              <a:rPr lang="pt-BR" sz="4400" i="1" dirty="0" smtClean="0">
                <a:latin typeface="+mn-lt"/>
                <a:cs typeface="Meiryo UI"/>
              </a:rPr>
              <a:t>−</a:t>
            </a:r>
            <a:r>
              <a:rPr lang="pt-BR" sz="4400" i="1" dirty="0">
                <a:latin typeface="+mn-lt"/>
                <a:cs typeface="Calibri"/>
              </a:rPr>
              <a:t>z</a:t>
            </a:r>
            <a:r>
              <a:rPr lang="pt-BR" sz="4400" i="1" spc="225" dirty="0">
                <a:latin typeface="+mn-lt"/>
                <a:cs typeface="Calibri"/>
              </a:rPr>
              <a:t> </a:t>
            </a:r>
            <a:r>
              <a:rPr lang="pt-BR" sz="4400" i="1" dirty="0">
                <a:latin typeface="+mn-lt"/>
                <a:cs typeface="Calibri"/>
              </a:rPr>
              <a:t>ou</a:t>
            </a:r>
            <a:r>
              <a:rPr lang="pt-BR" sz="4400" i="1" spc="360" dirty="0">
                <a:latin typeface="+mn-lt"/>
                <a:cs typeface="Calibri"/>
              </a:rPr>
              <a:t> </a:t>
            </a:r>
            <a:r>
              <a:rPr lang="pt-BR" sz="4400" spc="-45" dirty="0">
                <a:latin typeface="+mn-lt"/>
              </a:rPr>
              <a:t>min</a:t>
            </a:r>
            <a:r>
              <a:rPr lang="pt-BR" sz="4400" spc="-160" dirty="0">
                <a:latin typeface="+mn-lt"/>
              </a:rPr>
              <a:t> </a:t>
            </a:r>
            <a:r>
              <a:rPr lang="pt-BR" sz="4400" i="1" dirty="0">
                <a:latin typeface="+mn-lt"/>
                <a:cs typeface="Calibri"/>
              </a:rPr>
              <a:t>z</a:t>
            </a:r>
            <a:r>
              <a:rPr lang="pt-BR" sz="4400" i="1" spc="165" dirty="0">
                <a:latin typeface="+mn-lt"/>
                <a:cs typeface="Calibri"/>
              </a:rPr>
              <a:t> </a:t>
            </a:r>
            <a:r>
              <a:rPr lang="pt-BR" sz="4400" i="1" dirty="0">
                <a:latin typeface="+mn-lt"/>
                <a:cs typeface="Meiryo UI"/>
              </a:rPr>
              <a:t>⇔</a:t>
            </a:r>
            <a:r>
              <a:rPr lang="pt-BR" sz="4400" i="1" spc="-65" dirty="0">
                <a:latin typeface="+mn-lt"/>
                <a:cs typeface="Meiryo UI"/>
              </a:rPr>
              <a:t> </a:t>
            </a:r>
            <a:r>
              <a:rPr lang="pt-BR" sz="4400" spc="-60" dirty="0" err="1">
                <a:latin typeface="+mn-lt"/>
              </a:rPr>
              <a:t>max</a:t>
            </a:r>
            <a:r>
              <a:rPr lang="pt-BR" sz="4400" spc="-160" dirty="0">
                <a:latin typeface="+mn-lt"/>
              </a:rPr>
              <a:t> </a:t>
            </a:r>
            <a:r>
              <a:rPr lang="pt-BR" sz="4400" spc="-160" dirty="0" smtClean="0">
                <a:latin typeface="+mn-lt"/>
              </a:rPr>
              <a:t> </a:t>
            </a:r>
            <a:r>
              <a:rPr lang="pt-BR" sz="4400" i="1" spc="-25" dirty="0" smtClean="0">
                <a:latin typeface="+mn-lt"/>
                <a:cs typeface="Meiryo UI"/>
              </a:rPr>
              <a:t>−</a:t>
            </a:r>
            <a:r>
              <a:rPr lang="pt-BR" sz="4400" i="1" spc="-25" dirty="0">
                <a:latin typeface="+mn-lt"/>
                <a:cs typeface="Calibri"/>
              </a:rPr>
              <a:t>z</a:t>
            </a:r>
            <a:endParaRPr lang="pt-BR" sz="4400" dirty="0">
              <a:latin typeface="+mn-lt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00"/>
              </a:spcBef>
            </a:pPr>
            <a:endParaRPr lang="pt-BR" sz="4400" dirty="0">
              <a:latin typeface="+mn-lt"/>
              <a:cs typeface="Calibri"/>
            </a:endParaRPr>
          </a:p>
          <a:p>
            <a:pPr marL="540385" algn="just">
              <a:lnSpc>
                <a:spcPct val="100000"/>
              </a:lnSpc>
              <a:spcBef>
                <a:spcPts val="5"/>
              </a:spcBef>
            </a:pPr>
            <a:r>
              <a:rPr lang="pt-BR" sz="4400" b="1" spc="-10" dirty="0">
                <a:latin typeface="+mn-lt"/>
                <a:cs typeface="Trebuchet MS"/>
              </a:rPr>
              <a:t>Exemplo:</a:t>
            </a:r>
            <a:endParaRPr lang="pt-BR" sz="4400" dirty="0">
              <a:latin typeface="+mn-lt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869"/>
              </a:spcBef>
            </a:pPr>
            <a:endParaRPr lang="pt-BR" sz="4400" dirty="0">
              <a:latin typeface="+mn-lt"/>
              <a:cs typeface="Trebuchet MS"/>
            </a:endParaRPr>
          </a:p>
          <a:p>
            <a:pPr marL="483870" algn="just"/>
            <a:r>
              <a:rPr lang="pt-BR" sz="4400" spc="-60" dirty="0" smtClean="0">
                <a:latin typeface="+mn-lt"/>
              </a:rPr>
              <a:t>Max </a:t>
            </a:r>
            <a:r>
              <a:rPr lang="pt-BR" sz="4400" spc="-160" dirty="0" smtClean="0">
                <a:latin typeface="+mn-lt"/>
              </a:rPr>
              <a:t> </a:t>
            </a:r>
            <a:r>
              <a:rPr lang="pt-BR" sz="4400" i="1" dirty="0">
                <a:latin typeface="+mn-lt"/>
                <a:cs typeface="Calibri"/>
              </a:rPr>
              <a:t>z</a:t>
            </a:r>
            <a:r>
              <a:rPr lang="pt-BR" sz="4400" i="1" spc="170" dirty="0">
                <a:latin typeface="+mn-lt"/>
                <a:cs typeface="Calibri"/>
              </a:rPr>
              <a:t> </a:t>
            </a:r>
            <a:r>
              <a:rPr lang="pt-BR" sz="4400" dirty="0">
                <a:latin typeface="+mn-lt"/>
              </a:rPr>
              <a:t>=</a:t>
            </a:r>
            <a:r>
              <a:rPr lang="pt-BR" sz="4400" spc="-20" dirty="0">
                <a:latin typeface="+mn-lt"/>
              </a:rPr>
              <a:t> </a:t>
            </a:r>
            <a:r>
              <a:rPr lang="pt-BR" sz="4400" dirty="0">
                <a:latin typeface="+mn-lt"/>
              </a:rPr>
              <a:t>3</a:t>
            </a:r>
            <a:r>
              <a:rPr lang="pt-BR" sz="4400" i="1" dirty="0">
                <a:latin typeface="+mn-lt"/>
                <a:cs typeface="Calibri"/>
              </a:rPr>
              <a:t>x</a:t>
            </a:r>
            <a:r>
              <a:rPr lang="pt-BR" sz="4400" baseline="-10416" dirty="0">
                <a:latin typeface="+mn-lt"/>
              </a:rPr>
              <a:t>1</a:t>
            </a:r>
            <a:r>
              <a:rPr lang="pt-BR" sz="4400" spc="75" baseline="-10416" dirty="0">
                <a:latin typeface="+mn-lt"/>
              </a:rPr>
              <a:t> </a:t>
            </a:r>
            <a:r>
              <a:rPr lang="pt-BR" sz="4400" dirty="0">
                <a:latin typeface="+mn-lt"/>
              </a:rPr>
              <a:t>+</a:t>
            </a:r>
            <a:r>
              <a:rPr lang="pt-BR" sz="4400" spc="-90" dirty="0">
                <a:latin typeface="+mn-lt"/>
              </a:rPr>
              <a:t> </a:t>
            </a:r>
            <a:r>
              <a:rPr lang="pt-BR" sz="4400" spc="-25" dirty="0">
                <a:latin typeface="+mn-lt"/>
              </a:rPr>
              <a:t>2</a:t>
            </a:r>
            <a:r>
              <a:rPr lang="pt-BR" sz="4400" i="1" spc="-25" dirty="0">
                <a:latin typeface="+mn-lt"/>
                <a:cs typeface="Calibri"/>
              </a:rPr>
              <a:t>x</a:t>
            </a:r>
            <a:r>
              <a:rPr lang="pt-BR" sz="4400" spc="-37" baseline="-10416" dirty="0">
                <a:latin typeface="+mn-lt"/>
              </a:rPr>
              <a:t>2</a:t>
            </a:r>
            <a:endParaRPr lang="pt-BR" sz="4400" baseline="-10416" dirty="0">
              <a:latin typeface="+mn-lt"/>
            </a:endParaRPr>
          </a:p>
          <a:p>
            <a:pPr marL="582295" algn="just">
              <a:lnSpc>
                <a:spcPct val="100000"/>
              </a:lnSpc>
              <a:spcBef>
                <a:spcPts val="705"/>
              </a:spcBef>
            </a:pPr>
            <a:r>
              <a:rPr lang="pt-BR" sz="4400" spc="-650" dirty="0">
                <a:latin typeface="+mn-lt"/>
              </a:rPr>
              <a:t>´</a:t>
            </a:r>
            <a:r>
              <a:rPr lang="pt-BR" sz="4400" spc="-75" dirty="0">
                <a:latin typeface="+mn-lt"/>
              </a:rPr>
              <a:t>e</a:t>
            </a:r>
            <a:r>
              <a:rPr lang="pt-BR" sz="4400" spc="20" dirty="0">
                <a:latin typeface="+mn-lt"/>
              </a:rPr>
              <a:t> </a:t>
            </a:r>
            <a:r>
              <a:rPr lang="pt-BR" sz="4400" spc="-45" dirty="0">
                <a:latin typeface="+mn-lt"/>
              </a:rPr>
              <a:t>equivalente</a:t>
            </a:r>
            <a:r>
              <a:rPr lang="pt-BR" sz="4400" spc="20" dirty="0">
                <a:latin typeface="+mn-lt"/>
              </a:rPr>
              <a:t> </a:t>
            </a:r>
            <a:r>
              <a:rPr lang="pt-BR" sz="4400" spc="-50" dirty="0">
                <a:latin typeface="+mn-lt"/>
              </a:rPr>
              <a:t>a</a:t>
            </a:r>
            <a:endParaRPr lang="pt-BR" sz="4400" dirty="0">
              <a:latin typeface="+mn-lt"/>
            </a:endParaRPr>
          </a:p>
          <a:p>
            <a:pPr marL="490220" algn="just">
              <a:spcBef>
                <a:spcPts val="1155"/>
              </a:spcBef>
            </a:pPr>
            <a:r>
              <a:rPr lang="pt-BR" sz="4400" spc="-45" dirty="0">
                <a:latin typeface="+mn-lt"/>
              </a:rPr>
              <a:t>min</a:t>
            </a:r>
            <a:r>
              <a:rPr lang="pt-BR" sz="4400" spc="-165" dirty="0">
                <a:latin typeface="+mn-lt"/>
              </a:rPr>
              <a:t> </a:t>
            </a:r>
            <a:r>
              <a:rPr lang="pt-BR" sz="4400" spc="-165" dirty="0" smtClean="0">
                <a:latin typeface="+mn-lt"/>
              </a:rPr>
              <a:t> </a:t>
            </a:r>
            <a:r>
              <a:rPr lang="pt-BR" sz="4400" i="1" dirty="0" smtClean="0">
                <a:latin typeface="+mn-lt"/>
                <a:cs typeface="Meiryo UI"/>
              </a:rPr>
              <a:t>−</a:t>
            </a:r>
            <a:r>
              <a:rPr lang="pt-BR" sz="4400" i="1" dirty="0">
                <a:latin typeface="+mn-lt"/>
                <a:cs typeface="Calibri"/>
              </a:rPr>
              <a:t>z</a:t>
            </a:r>
            <a:r>
              <a:rPr lang="pt-BR" sz="4400" i="1" spc="130" dirty="0">
                <a:latin typeface="+mn-lt"/>
                <a:cs typeface="Calibri"/>
              </a:rPr>
              <a:t> </a:t>
            </a:r>
            <a:r>
              <a:rPr lang="pt-BR" sz="4400" dirty="0">
                <a:latin typeface="+mn-lt"/>
              </a:rPr>
              <a:t>=</a:t>
            </a:r>
            <a:r>
              <a:rPr lang="pt-BR" sz="4400" spc="-50" dirty="0">
                <a:latin typeface="+mn-lt"/>
              </a:rPr>
              <a:t> </a:t>
            </a:r>
            <a:r>
              <a:rPr lang="pt-BR" sz="4400" i="1" dirty="0">
                <a:latin typeface="+mn-lt"/>
                <a:cs typeface="Meiryo UI"/>
              </a:rPr>
              <a:t>−</a:t>
            </a:r>
            <a:r>
              <a:rPr lang="pt-BR" sz="4400" dirty="0">
                <a:latin typeface="+mn-lt"/>
              </a:rPr>
              <a:t>3</a:t>
            </a:r>
            <a:r>
              <a:rPr lang="pt-BR" sz="4400" i="1" dirty="0">
                <a:latin typeface="+mn-lt"/>
                <a:cs typeface="Calibri"/>
              </a:rPr>
              <a:t>x</a:t>
            </a:r>
            <a:r>
              <a:rPr lang="pt-BR" sz="4400" baseline="-10416" dirty="0">
                <a:latin typeface="+mn-lt"/>
              </a:rPr>
              <a:t>1</a:t>
            </a:r>
            <a:r>
              <a:rPr lang="pt-BR" sz="4400" spc="52" baseline="-10416" dirty="0">
                <a:latin typeface="+mn-lt"/>
              </a:rPr>
              <a:t> </a:t>
            </a:r>
            <a:r>
              <a:rPr lang="pt-BR" sz="4400" i="1" spc="-50" dirty="0">
                <a:latin typeface="+mn-lt"/>
                <a:cs typeface="Meiryo UI"/>
              </a:rPr>
              <a:t>−</a:t>
            </a:r>
            <a:r>
              <a:rPr lang="pt-BR" sz="4400" i="1" spc="-135" dirty="0">
                <a:latin typeface="+mn-lt"/>
                <a:cs typeface="Meiryo UI"/>
              </a:rPr>
              <a:t> </a:t>
            </a:r>
            <a:r>
              <a:rPr lang="pt-BR" sz="4400" spc="-20" dirty="0">
                <a:latin typeface="+mn-lt"/>
              </a:rPr>
              <a:t>2</a:t>
            </a:r>
            <a:r>
              <a:rPr lang="pt-BR" sz="4400" i="1" spc="-20" dirty="0">
                <a:latin typeface="+mn-lt"/>
                <a:cs typeface="Calibri"/>
              </a:rPr>
              <a:t>x</a:t>
            </a:r>
            <a:r>
              <a:rPr lang="pt-BR" sz="4400" spc="-30" baseline="-10416" dirty="0">
                <a:latin typeface="+mn-lt"/>
              </a:rPr>
              <a:t>2</a:t>
            </a:r>
            <a:r>
              <a:rPr lang="pt-BR" sz="4400" i="1" spc="-20" dirty="0">
                <a:latin typeface="+mn-lt"/>
                <a:cs typeface="Arial"/>
              </a:rPr>
              <a:t>.</a:t>
            </a:r>
            <a:endParaRPr lang="pt-BR" sz="4400" dirty="0">
              <a:latin typeface="+mn-lt"/>
              <a:cs typeface="Arial"/>
            </a:endParaRPr>
          </a:p>
          <a:p>
            <a:pPr algn="just"/>
            <a:endParaRPr lang="pt-BR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45E21DF8-E032-64DE-70A1-883623A4A1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F5FDAB1B-EEB7-2115-990B-AFAF9C521E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0985702-BA20-692E-1742-A2CEB3A4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B76EEF3-3D1A-9BFC-DBEF-602FB874A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031" y="554800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D707B34F-BA1B-5AC2-342B-B5C78B64F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031" y="1273175"/>
            <a:ext cx="2438400" cy="1528061"/>
          </a:xfrm>
        </p:spPr>
        <p:txBody>
          <a:bodyPr>
            <a:normAutofit/>
          </a:bodyPr>
          <a:lstStyle/>
          <a:p>
            <a:pPr marL="773430" algn="just">
              <a:spcBef>
                <a:spcPts val="90"/>
              </a:spcBef>
            </a:pPr>
            <a:r>
              <a:rPr lang="pt-BR" sz="1100" spc="-45" dirty="0" smtClean="0">
                <a:latin typeface="+mn-lt"/>
              </a:rPr>
              <a:t>Min </a:t>
            </a:r>
            <a:r>
              <a:rPr lang="pt-BR" sz="1100" spc="-155" dirty="0" smtClean="0">
                <a:latin typeface="+mn-lt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z</a:t>
            </a:r>
            <a:r>
              <a:rPr lang="pt-BR" sz="1100" i="1" spc="175" dirty="0">
                <a:latin typeface="+mn-lt"/>
                <a:cs typeface="Calibri"/>
              </a:rPr>
              <a:t> </a:t>
            </a:r>
            <a:r>
              <a:rPr lang="pt-BR" sz="1100" dirty="0">
                <a:latin typeface="+mn-lt"/>
              </a:rPr>
              <a:t>=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4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89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9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89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5</a:t>
            </a:r>
            <a:r>
              <a:rPr lang="pt-BR" sz="1100" i="1" spc="-25" dirty="0">
                <a:latin typeface="+mn-lt"/>
                <a:cs typeface="Calibri"/>
              </a:rPr>
              <a:t>x</a:t>
            </a:r>
            <a:r>
              <a:rPr lang="pt-BR" sz="1100" spc="-37" baseline="-10416" dirty="0">
                <a:latin typeface="+mn-lt"/>
              </a:rPr>
              <a:t>3</a:t>
            </a:r>
            <a:r>
              <a:rPr lang="pt-BR" sz="1100" baseline="-10416" dirty="0">
                <a:latin typeface="+mn-lt"/>
              </a:rPr>
              <a:t> </a:t>
            </a:r>
          </a:p>
          <a:p>
            <a:pPr marL="773430" algn="just">
              <a:spcBef>
                <a:spcPts val="90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  <a:endParaRPr lang="pt-BR" sz="1100" dirty="0">
              <a:latin typeface="+mn-lt"/>
            </a:endParaRPr>
          </a:p>
          <a:p>
            <a:pPr marL="773430" algn="just">
              <a:spcBef>
                <a:spcPts val="90"/>
              </a:spcBef>
            </a:pPr>
            <a:r>
              <a:rPr lang="pt-BR" sz="1100" spc="-60" dirty="0" err="1">
                <a:latin typeface="+mn-lt"/>
              </a:rPr>
              <a:t>max</a:t>
            </a:r>
            <a:r>
              <a:rPr lang="pt-BR" sz="1100" spc="-165" dirty="0">
                <a:latin typeface="+mn-lt"/>
              </a:rPr>
              <a:t> </a:t>
            </a:r>
            <a:r>
              <a:rPr lang="pt-BR" sz="1100" spc="-165" dirty="0" smtClean="0">
                <a:latin typeface="+mn-lt"/>
              </a:rPr>
              <a:t> </a:t>
            </a:r>
            <a:r>
              <a:rPr lang="pt-BR" sz="1100" i="1" dirty="0" smtClean="0">
                <a:latin typeface="+mn-lt"/>
                <a:cs typeface="Meiryo UI"/>
              </a:rPr>
              <a:t>−</a:t>
            </a:r>
            <a:r>
              <a:rPr lang="pt-BR" sz="1100" i="1" dirty="0">
                <a:latin typeface="+mn-lt"/>
                <a:cs typeface="Calibri"/>
              </a:rPr>
              <a:t>z</a:t>
            </a:r>
            <a:r>
              <a:rPr lang="pt-BR" sz="1100" i="1" spc="130" dirty="0">
                <a:latin typeface="+mn-lt"/>
                <a:cs typeface="Calibri"/>
              </a:rPr>
              <a:t> </a:t>
            </a:r>
            <a:r>
              <a:rPr lang="pt-BR" sz="1100" dirty="0">
                <a:latin typeface="+mn-lt"/>
              </a:rPr>
              <a:t>=</a:t>
            </a:r>
            <a:r>
              <a:rPr lang="pt-BR" sz="1100" spc="-45" dirty="0">
                <a:latin typeface="+mn-lt"/>
              </a:rPr>
              <a:t> </a:t>
            </a:r>
            <a:r>
              <a:rPr lang="pt-BR" sz="1100" i="1" dirty="0" smtClean="0">
                <a:latin typeface="+mn-lt"/>
                <a:cs typeface="Meiryo UI"/>
              </a:rPr>
              <a:t>− </a:t>
            </a:r>
            <a:r>
              <a:rPr lang="pt-BR" sz="1100" dirty="0" smtClean="0">
                <a:latin typeface="+mn-lt"/>
              </a:rPr>
              <a:t>4</a:t>
            </a:r>
            <a:r>
              <a:rPr lang="pt-BR" sz="1100" i="1" dirty="0" smtClean="0">
                <a:latin typeface="+mn-lt"/>
                <a:cs typeface="Calibri"/>
              </a:rPr>
              <a:t>x</a:t>
            </a:r>
            <a:r>
              <a:rPr lang="pt-BR" sz="1100" baseline="-10416" dirty="0" smtClean="0">
                <a:latin typeface="+mn-lt"/>
              </a:rPr>
              <a:t>1</a:t>
            </a:r>
            <a:r>
              <a:rPr lang="pt-BR" sz="1100" spc="52" baseline="-10416" dirty="0" smtClean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35" dirty="0">
                <a:latin typeface="+mn-lt"/>
                <a:cs typeface="Meiryo UI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52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35" dirty="0">
                <a:latin typeface="+mn-lt"/>
                <a:cs typeface="Meiryo UI"/>
              </a:rPr>
              <a:t> </a:t>
            </a:r>
            <a:r>
              <a:rPr lang="pt-BR" sz="1100" spc="-20" dirty="0">
                <a:latin typeface="+mn-lt"/>
              </a:rPr>
              <a:t>5</a:t>
            </a:r>
            <a:r>
              <a:rPr lang="pt-BR" sz="1100" i="1" spc="-20" dirty="0">
                <a:latin typeface="+mn-lt"/>
                <a:cs typeface="Calibri"/>
              </a:rPr>
              <a:t>x</a:t>
            </a:r>
            <a:r>
              <a:rPr lang="pt-BR" sz="1100" spc="-30" baseline="-10416" dirty="0">
                <a:latin typeface="+mn-lt"/>
              </a:rPr>
              <a:t>3</a:t>
            </a:r>
            <a:r>
              <a:rPr lang="pt-BR" sz="1100" i="1" spc="-20" dirty="0">
                <a:latin typeface="+mn-lt"/>
                <a:cs typeface="Arial"/>
              </a:rPr>
              <a:t>.</a:t>
            </a:r>
            <a:endParaRPr lang="pt-BR" sz="1100" dirty="0">
              <a:latin typeface="+mn-lt"/>
              <a:cs typeface="Arial"/>
            </a:endParaRPr>
          </a:p>
          <a:p>
            <a:pPr algn="just"/>
            <a:endParaRPr lang="pt-BR" sz="1100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1CC8A083-ED9E-E594-DD95-7C89E2594D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DAB0F5D0-E173-E738-B4A1-00B161356D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92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7988BA-14E1-18B0-9DD2-2CE57BDF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6A6E7D-130A-6E3D-9A84-979EE28F6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04" y="307404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6B7D6374-7C28-7DC7-3C4A-8846C034C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72" y="736758"/>
            <a:ext cx="4072578" cy="2286000"/>
          </a:xfrm>
        </p:spPr>
        <p:txBody>
          <a:bodyPr>
            <a:noAutofit/>
          </a:bodyPr>
          <a:lstStyle/>
          <a:p>
            <a:pPr marL="295910" marR="106680" indent="-182245" algn="just">
              <a:lnSpc>
                <a:spcPct val="102600"/>
              </a:lnSpc>
              <a:spcBef>
                <a:spcPts val="55"/>
              </a:spcBef>
            </a:pPr>
            <a:r>
              <a:rPr lang="pt-BR" sz="1100" dirty="0" smtClean="0">
                <a:latin typeface="+mn-lt"/>
              </a:rPr>
              <a:t>	2. Uma</a:t>
            </a:r>
            <a:r>
              <a:rPr lang="pt-BR" sz="1100" spc="-35" dirty="0" smtClean="0">
                <a:latin typeface="+mn-lt"/>
              </a:rPr>
              <a:t> </a:t>
            </a:r>
            <a:r>
              <a:rPr lang="pt-BR" sz="1100" spc="-50" dirty="0" err="1">
                <a:latin typeface="+mn-lt"/>
              </a:rPr>
              <a:t>restr</a:t>
            </a:r>
            <a:r>
              <a:rPr lang="pt-BR" sz="1100" spc="-60" dirty="0" err="1">
                <a:latin typeface="+mn-lt"/>
              </a:rPr>
              <a:t>i</a:t>
            </a:r>
            <a:r>
              <a:rPr lang="pt-BR" sz="1100" spc="-570" dirty="0" err="1">
                <a:latin typeface="+mn-lt"/>
              </a:rPr>
              <a:t>c</a:t>
            </a:r>
            <a:r>
              <a:rPr lang="pt-BR" sz="1100" spc="20" dirty="0" err="1">
                <a:latin typeface="+mn-lt"/>
              </a:rPr>
              <a:t>ção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do</a:t>
            </a:r>
            <a:r>
              <a:rPr lang="pt-BR" sz="1100" spc="-35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tipo</a:t>
            </a:r>
            <a:r>
              <a:rPr lang="pt-BR" sz="1100" spc="-35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Meiryo UI"/>
              </a:rPr>
              <a:t>≤</a:t>
            </a:r>
            <a:r>
              <a:rPr lang="pt-BR" sz="1100" i="1" spc="-60" dirty="0">
                <a:latin typeface="+mn-lt"/>
                <a:cs typeface="Meiryo UI"/>
              </a:rPr>
              <a:t> </a:t>
            </a:r>
            <a:r>
              <a:rPr lang="pt-BR" sz="1100" spc="-40" dirty="0">
                <a:latin typeface="+mn-lt"/>
              </a:rPr>
              <a:t>pode</a:t>
            </a:r>
            <a:r>
              <a:rPr lang="pt-BR" sz="1100" spc="-35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ser</a:t>
            </a:r>
            <a:r>
              <a:rPr lang="pt-BR" sz="1100" spc="-3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reescrita </a:t>
            </a:r>
            <a:r>
              <a:rPr lang="pt-BR" sz="1100" spc="-20" dirty="0">
                <a:latin typeface="+mn-lt"/>
              </a:rPr>
              <a:t>por</a:t>
            </a:r>
            <a:r>
              <a:rPr lang="pt-BR" sz="1100" spc="-3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meio</a:t>
            </a:r>
            <a:r>
              <a:rPr lang="pt-BR" sz="1100" spc="-40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de </a:t>
            </a:r>
            <a:r>
              <a:rPr lang="pt-BR" sz="1100" spc="-40" dirty="0">
                <a:latin typeface="+mn-lt"/>
              </a:rPr>
              <a:t>uma</a:t>
            </a:r>
            <a:r>
              <a:rPr lang="pt-BR" sz="1100" spc="-50" dirty="0">
                <a:latin typeface="+mn-lt"/>
              </a:rPr>
              <a:t> </a:t>
            </a:r>
            <a:r>
              <a:rPr lang="pt-BR" sz="1100" spc="-60" dirty="0" err="1">
                <a:latin typeface="+mn-lt"/>
              </a:rPr>
              <a:t>equa</a:t>
            </a:r>
            <a:r>
              <a:rPr lang="pt-BR" sz="1100" spc="-670" dirty="0" err="1">
                <a:latin typeface="+mn-lt"/>
              </a:rPr>
              <a:t>¸</a:t>
            </a:r>
            <a:r>
              <a:rPr lang="pt-BR" sz="1100" spc="-80" dirty="0" err="1">
                <a:latin typeface="+mn-lt"/>
              </a:rPr>
              <a:t>c</a:t>
            </a:r>
            <a:r>
              <a:rPr lang="pt-BR" sz="1100" spc="-655" dirty="0" err="1">
                <a:latin typeface="+mn-lt"/>
              </a:rPr>
              <a:t>˜</a:t>
            </a:r>
            <a:r>
              <a:rPr lang="pt-BR" sz="1100" spc="-60" dirty="0" err="1">
                <a:latin typeface="+mn-lt"/>
              </a:rPr>
              <a:t>ao</a:t>
            </a:r>
            <a:r>
              <a:rPr lang="pt-BR" sz="1100" spc="15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50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igualdade</a:t>
            </a:r>
            <a:r>
              <a:rPr lang="pt-BR" sz="1100" spc="-1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considerando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a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40" dirty="0" err="1">
                <a:latin typeface="+mn-lt"/>
              </a:rPr>
              <a:t>adi</a:t>
            </a:r>
            <a:r>
              <a:rPr lang="pt-BR" sz="1100" spc="-650" dirty="0" err="1">
                <a:latin typeface="+mn-lt"/>
              </a:rPr>
              <a:t>¸</a:t>
            </a:r>
            <a:r>
              <a:rPr lang="pt-BR" sz="1100" spc="-60" dirty="0" err="1">
                <a:latin typeface="+mn-lt"/>
              </a:rPr>
              <a:t>c</a:t>
            </a:r>
            <a:r>
              <a:rPr lang="pt-BR" sz="1100" spc="-635" dirty="0" err="1">
                <a:latin typeface="+mn-lt"/>
              </a:rPr>
              <a:t>˜</a:t>
            </a:r>
            <a:r>
              <a:rPr lang="pt-BR" sz="1100" spc="-40" dirty="0" err="1">
                <a:latin typeface="+mn-lt"/>
              </a:rPr>
              <a:t>ao</a:t>
            </a:r>
            <a:r>
              <a:rPr lang="pt-BR" sz="1100" spc="1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de </a:t>
            </a:r>
            <a:r>
              <a:rPr lang="pt-BR" sz="1100" spc="-40" dirty="0">
                <a:latin typeface="+mn-lt"/>
              </a:rPr>
              <a:t>uma</a:t>
            </a:r>
            <a:r>
              <a:rPr lang="pt-BR" sz="1100" spc="-5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nova</a:t>
            </a:r>
            <a:r>
              <a:rPr lang="pt-BR" sz="1100" spc="-50" dirty="0">
                <a:latin typeface="+mn-lt"/>
              </a:rPr>
              <a:t> </a:t>
            </a:r>
            <a:r>
              <a:rPr lang="pt-BR" sz="1100" spc="-40" dirty="0" err="1">
                <a:latin typeface="+mn-lt"/>
              </a:rPr>
              <a:t>v</a:t>
            </a:r>
            <a:r>
              <a:rPr lang="pt-BR" sz="1100" spc="-75" dirty="0" err="1">
                <a:latin typeface="+mn-lt"/>
              </a:rPr>
              <a:t>a</a:t>
            </a:r>
            <a:r>
              <a:rPr lang="pt-BR" sz="1100" spc="-40" dirty="0" err="1">
                <a:latin typeface="+mn-lt"/>
              </a:rPr>
              <a:t>r</a:t>
            </a:r>
            <a:r>
              <a:rPr lang="pt-BR" sz="1100" spc="-55" dirty="0" err="1">
                <a:latin typeface="+mn-lt"/>
              </a:rPr>
              <a:t>i</a:t>
            </a:r>
            <a:r>
              <a:rPr lang="pt-BR" sz="1100" spc="-635" dirty="0" err="1">
                <a:latin typeface="+mn-lt"/>
              </a:rPr>
              <a:t>´</a:t>
            </a:r>
            <a:r>
              <a:rPr lang="pt-BR" sz="1100" spc="-40" dirty="0" err="1">
                <a:latin typeface="+mn-lt"/>
              </a:rPr>
              <a:t>avel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80" dirty="0" err="1">
                <a:latin typeface="+mn-lt"/>
              </a:rPr>
              <a:t>n</a:t>
            </a:r>
            <a:r>
              <a:rPr lang="pt-BR" sz="1100" spc="-655" dirty="0" err="1">
                <a:latin typeface="+mn-lt"/>
              </a:rPr>
              <a:t>˜</a:t>
            </a:r>
            <a:r>
              <a:rPr lang="pt-BR" sz="1100" spc="-60" dirty="0" err="1">
                <a:latin typeface="+mn-lt"/>
              </a:rPr>
              <a:t>ao</a:t>
            </a:r>
            <a:r>
              <a:rPr lang="pt-BR" sz="1100" spc="15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negativa</a:t>
            </a:r>
            <a:r>
              <a:rPr lang="pt-BR" sz="1100" spc="-45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do</a:t>
            </a:r>
            <a:r>
              <a:rPr lang="pt-BR" sz="1100" spc="-25" dirty="0">
                <a:latin typeface="+mn-lt"/>
              </a:rPr>
              <a:t> lado </a:t>
            </a:r>
            <a:r>
              <a:rPr lang="pt-BR" sz="1100" spc="-10" dirty="0" smtClean="0">
                <a:latin typeface="+mn-lt"/>
              </a:rPr>
              <a:t>esquerdo,</a:t>
            </a:r>
            <a:r>
              <a:rPr lang="pt-BR" sz="1100" dirty="0">
                <a:latin typeface="+mn-lt"/>
              </a:rPr>
              <a:t> </a:t>
            </a:r>
            <a:r>
              <a:rPr lang="pt-BR" sz="1100" i="1" dirty="0" err="1" smtClean="0">
                <a:latin typeface="+mn-lt"/>
                <a:cs typeface="Calibri"/>
              </a:rPr>
              <a:t>x</a:t>
            </a:r>
            <a:r>
              <a:rPr lang="pt-BR" sz="1100" i="1" baseline="-13888" dirty="0" err="1" smtClean="0">
                <a:latin typeface="+mn-lt"/>
                <a:cs typeface="Arial"/>
              </a:rPr>
              <a:t>k</a:t>
            </a:r>
            <a:r>
              <a:rPr lang="pt-BR" sz="1100" i="1" spc="187" baseline="-13888" dirty="0" smtClean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</a:t>
            </a:r>
            <a:r>
              <a:rPr lang="pt-BR" sz="1100" i="1" spc="-70" dirty="0">
                <a:latin typeface="+mn-lt"/>
                <a:cs typeface="Meiryo UI"/>
              </a:rPr>
              <a:t> </a:t>
            </a:r>
            <a:r>
              <a:rPr lang="pt-BR" sz="1100" dirty="0">
                <a:latin typeface="+mn-lt"/>
              </a:rPr>
              <a:t>0</a:t>
            </a:r>
            <a:r>
              <a:rPr lang="pt-BR" sz="1100" i="1" dirty="0">
                <a:latin typeface="+mn-lt"/>
                <a:cs typeface="Arial"/>
              </a:rPr>
              <a:t>,</a:t>
            </a:r>
            <a:r>
              <a:rPr lang="pt-BR" sz="1100" i="1" spc="25" dirty="0">
                <a:latin typeface="+mn-lt"/>
                <a:cs typeface="Arial"/>
              </a:rPr>
              <a:t> </a:t>
            </a:r>
            <a:r>
              <a:rPr lang="pt-BR" sz="1100" spc="-50" dirty="0">
                <a:latin typeface="+mn-lt"/>
              </a:rPr>
              <a:t>chamada</a:t>
            </a:r>
            <a:r>
              <a:rPr lang="pt-BR" sz="1100" spc="-1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b="1" spc="-40" dirty="0" err="1">
                <a:latin typeface="+mn-lt"/>
                <a:cs typeface="Trebuchet MS"/>
              </a:rPr>
              <a:t>v</a:t>
            </a:r>
            <a:r>
              <a:rPr lang="pt-BR" sz="1100" b="1" spc="-80" dirty="0" err="1">
                <a:latin typeface="+mn-lt"/>
                <a:cs typeface="Trebuchet MS"/>
              </a:rPr>
              <a:t>a</a:t>
            </a:r>
            <a:r>
              <a:rPr lang="pt-BR" sz="1100" b="1" spc="-40" dirty="0" err="1">
                <a:latin typeface="+mn-lt"/>
                <a:cs typeface="Trebuchet MS"/>
              </a:rPr>
              <a:t>r</a:t>
            </a:r>
            <a:r>
              <a:rPr lang="pt-BR" sz="1100" b="1" spc="-60" dirty="0" err="1">
                <a:latin typeface="+mn-lt"/>
                <a:cs typeface="Trebuchet MS"/>
              </a:rPr>
              <a:t>i</a:t>
            </a:r>
            <a:r>
              <a:rPr lang="pt-BR" sz="1100" b="1" spc="-685" dirty="0" err="1">
                <a:latin typeface="+mn-lt"/>
                <a:cs typeface="Trebuchet MS"/>
              </a:rPr>
              <a:t>´</a:t>
            </a:r>
            <a:r>
              <a:rPr lang="pt-BR" sz="1100" b="1" spc="-40" dirty="0" err="1">
                <a:latin typeface="+mn-lt"/>
                <a:cs typeface="Trebuchet MS"/>
              </a:rPr>
              <a:t>avel</a:t>
            </a:r>
            <a:r>
              <a:rPr lang="pt-BR" sz="1100" b="1" spc="35" dirty="0">
                <a:latin typeface="+mn-lt"/>
                <a:cs typeface="Trebuchet MS"/>
              </a:rPr>
              <a:t> </a:t>
            </a:r>
            <a:r>
              <a:rPr lang="pt-BR" sz="1100" b="1" dirty="0">
                <a:latin typeface="+mn-lt"/>
                <a:cs typeface="Trebuchet MS"/>
              </a:rPr>
              <a:t>de</a:t>
            </a:r>
            <a:r>
              <a:rPr lang="pt-BR" sz="1100" b="1" spc="30" dirty="0">
                <a:latin typeface="+mn-lt"/>
                <a:cs typeface="Trebuchet MS"/>
              </a:rPr>
              <a:t> </a:t>
            </a:r>
            <a:r>
              <a:rPr lang="pt-BR" sz="1100" b="1" spc="-10" dirty="0">
                <a:latin typeface="+mn-lt"/>
                <a:cs typeface="Trebuchet MS"/>
              </a:rPr>
              <a:t>folga</a:t>
            </a:r>
            <a:r>
              <a:rPr lang="pt-BR" sz="1100" spc="-10" dirty="0">
                <a:latin typeface="+mn-lt"/>
              </a:rPr>
              <a:t>:</a:t>
            </a:r>
            <a:endParaRPr lang="pt-BR" sz="11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785"/>
              </a:spcBef>
            </a:pPr>
            <a:endParaRPr lang="pt-BR" sz="1100" dirty="0">
              <a:latin typeface="+mn-lt"/>
            </a:endParaRPr>
          </a:p>
          <a:p>
            <a:pPr marL="249554" algn="just"/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2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9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4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0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≤</a:t>
            </a:r>
            <a:r>
              <a:rPr lang="pt-BR" sz="1100" i="1" spc="-40" dirty="0">
                <a:latin typeface="+mn-lt"/>
                <a:cs typeface="Meiryo UI"/>
              </a:rPr>
              <a:t>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292100" algn="just">
              <a:lnSpc>
                <a:spcPct val="100000"/>
              </a:lnSpc>
              <a:spcBef>
                <a:spcPts val="660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  <a:endParaRPr lang="pt-BR" sz="1100" dirty="0">
              <a:latin typeface="+mn-lt"/>
            </a:endParaRPr>
          </a:p>
          <a:p>
            <a:pPr marL="249554" algn="just">
              <a:spcBef>
                <a:spcPts val="1080"/>
              </a:spcBef>
            </a:pP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20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2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11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3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172" baseline="-10416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b="1" spc="-75" dirty="0">
                <a:latin typeface="+mn-lt"/>
              </a:rPr>
              <a:t> </a:t>
            </a:r>
            <a:r>
              <a:rPr lang="pt-BR" sz="1100" b="1" i="1" dirty="0">
                <a:latin typeface="+mn-lt"/>
                <a:cs typeface="Calibri"/>
              </a:rPr>
              <a:t>x</a:t>
            </a:r>
            <a:r>
              <a:rPr lang="pt-BR" sz="1100" b="1" i="1" baseline="-10416" dirty="0">
                <a:latin typeface="+mn-lt"/>
                <a:cs typeface="Arial"/>
              </a:rPr>
              <a:t>n</a:t>
            </a:r>
            <a:r>
              <a:rPr lang="pt-BR" sz="1100" b="1" baseline="-10416" dirty="0">
                <a:latin typeface="+mn-lt"/>
              </a:rPr>
              <a:t>+1</a:t>
            </a:r>
            <a:r>
              <a:rPr lang="pt-BR" sz="1100" b="1" spc="21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=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465"/>
              </a:spcBef>
            </a:pPr>
            <a:endParaRPr lang="pt-BR" sz="1100" dirty="0">
              <a:latin typeface="+mn-lt"/>
              <a:cs typeface="Calibri"/>
            </a:endParaRPr>
          </a:p>
          <a:p>
            <a:pPr marL="295910" algn="just">
              <a:lnSpc>
                <a:spcPct val="100000"/>
              </a:lnSpc>
            </a:pPr>
            <a:r>
              <a:rPr lang="pt-BR" sz="1100" b="1" spc="-10" dirty="0">
                <a:latin typeface="+mn-lt"/>
                <a:cs typeface="Trebuchet MS"/>
              </a:rPr>
              <a:t>Exemplo:</a:t>
            </a:r>
            <a:endParaRPr lang="pt-BR" sz="1100" dirty="0">
              <a:latin typeface="+mn-lt"/>
              <a:cs typeface="Trebuchet MS"/>
            </a:endParaRPr>
          </a:p>
          <a:p>
            <a:pPr marL="254000" algn="just">
              <a:spcBef>
                <a:spcPts val="35"/>
              </a:spcBef>
            </a:pPr>
            <a:r>
              <a:rPr lang="pt-BR" sz="1100" dirty="0">
                <a:latin typeface="+mn-lt"/>
              </a:rPr>
              <a:t>3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-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5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120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≤</a:t>
            </a:r>
            <a:r>
              <a:rPr lang="pt-BR" sz="1100" i="1" spc="-70" dirty="0">
                <a:latin typeface="+mn-lt"/>
                <a:cs typeface="Meiryo UI"/>
              </a:rPr>
              <a:t> </a:t>
            </a:r>
            <a:r>
              <a:rPr lang="pt-BR" sz="1100" i="1" spc="-70" dirty="0" smtClean="0">
                <a:latin typeface="+mn-lt"/>
                <a:cs typeface="Meiryo UI"/>
              </a:rPr>
              <a:t> </a:t>
            </a:r>
            <a:r>
              <a:rPr lang="pt-BR" sz="1100" spc="-50" dirty="0" smtClean="0">
                <a:latin typeface="+mn-lt"/>
              </a:rPr>
              <a:t>8</a:t>
            </a:r>
            <a:r>
              <a:rPr lang="pt-BR" sz="1100" dirty="0" smtClean="0">
                <a:latin typeface="+mn-lt"/>
              </a:rPr>
              <a:t> </a:t>
            </a: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 </a:t>
            </a:r>
            <a:r>
              <a:rPr lang="pt-BR" sz="1100" dirty="0">
                <a:latin typeface="+mn-lt"/>
              </a:rPr>
              <a:t>3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60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0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60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3</a:t>
            </a:r>
            <a:r>
              <a:rPr lang="pt-BR" sz="1100" spc="15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=</a:t>
            </a:r>
            <a:r>
              <a:rPr lang="pt-BR" sz="1100" spc="-40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8</a:t>
            </a:r>
            <a:r>
              <a:rPr lang="pt-BR" sz="1100" i="1" spc="-25" dirty="0">
                <a:latin typeface="+mn-lt"/>
                <a:cs typeface="Arial"/>
              </a:rPr>
              <a:t>.</a:t>
            </a:r>
            <a:endParaRPr lang="pt-BR" sz="1100" dirty="0">
              <a:latin typeface="+mn-lt"/>
              <a:cs typeface="Arial"/>
            </a:endParaRPr>
          </a:p>
          <a:p>
            <a:pPr algn="just"/>
            <a:endParaRPr lang="pt-BR" sz="1100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0AAB6288-8A6E-0142-D61D-9F4295B6B7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64C8BE50-1418-34E1-6E52-03EF4AF435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0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E93A85-9821-F601-B92C-3EE4BA6A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702793F-2609-DA18-FEFA-7603E3088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04" y="307404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24DDE4A-8C76-A353-6519-986ED34CA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423" y="610120"/>
            <a:ext cx="3733800" cy="2491855"/>
          </a:xfrm>
        </p:spPr>
        <p:txBody>
          <a:bodyPr>
            <a:noAutofit/>
          </a:bodyPr>
          <a:lstStyle/>
          <a:p>
            <a:pPr marL="105410" marR="93980" algn="just">
              <a:lnSpc>
                <a:spcPct val="102600"/>
              </a:lnSpc>
              <a:spcBef>
                <a:spcPts val="55"/>
              </a:spcBef>
            </a:pPr>
            <a:r>
              <a:rPr lang="pt-BR" sz="1100" spc="-40" dirty="0" smtClean="0">
                <a:latin typeface="+mn-lt"/>
              </a:rPr>
              <a:t>3. Analogamente</a:t>
            </a:r>
            <a:r>
              <a:rPr lang="pt-BR" sz="1100" spc="-40" dirty="0">
                <a:latin typeface="+mn-lt"/>
              </a:rPr>
              <a:t>,</a:t>
            </a:r>
            <a:r>
              <a:rPr lang="pt-BR" sz="1100" spc="-50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uma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40" dirty="0" err="1">
                <a:latin typeface="+mn-lt"/>
              </a:rPr>
              <a:t>restr</a:t>
            </a:r>
            <a:r>
              <a:rPr lang="pt-BR" sz="1100" spc="-50" dirty="0" err="1">
                <a:latin typeface="+mn-lt"/>
              </a:rPr>
              <a:t>i</a:t>
            </a:r>
            <a:r>
              <a:rPr lang="pt-BR" sz="1100" spc="-655" dirty="0" err="1">
                <a:latin typeface="+mn-lt"/>
              </a:rPr>
              <a:t>¸</a:t>
            </a:r>
            <a:r>
              <a:rPr lang="pt-BR" sz="1100" spc="-55" dirty="0" err="1">
                <a:latin typeface="+mn-lt"/>
              </a:rPr>
              <a:t>c</a:t>
            </a:r>
            <a:r>
              <a:rPr lang="pt-BR" sz="1100" spc="-640" dirty="0" err="1">
                <a:latin typeface="+mn-lt"/>
              </a:rPr>
              <a:t>˜</a:t>
            </a:r>
            <a:r>
              <a:rPr lang="pt-BR" sz="1100" spc="-40" dirty="0" err="1">
                <a:latin typeface="+mn-lt"/>
              </a:rPr>
              <a:t>ao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do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tipo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Meiryo UI"/>
              </a:rPr>
              <a:t>≥</a:t>
            </a:r>
            <a:r>
              <a:rPr lang="pt-BR" sz="1100" i="1" spc="-45" dirty="0">
                <a:latin typeface="+mn-lt"/>
                <a:cs typeface="Meiryo UI"/>
              </a:rPr>
              <a:t> </a:t>
            </a:r>
            <a:r>
              <a:rPr lang="pt-BR" sz="1100" spc="-40" dirty="0">
                <a:latin typeface="+mn-lt"/>
              </a:rPr>
              <a:t>pode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ser </a:t>
            </a:r>
            <a:r>
              <a:rPr lang="pt-BR" sz="1100" spc="-35" dirty="0">
                <a:latin typeface="+mn-lt"/>
              </a:rPr>
              <a:t>reescrita</a:t>
            </a:r>
            <a:r>
              <a:rPr lang="pt-BR" sz="1100" spc="-55" dirty="0">
                <a:latin typeface="+mn-lt"/>
              </a:rPr>
              <a:t> </a:t>
            </a:r>
            <a:r>
              <a:rPr lang="pt-BR" sz="1100" spc="-30" dirty="0">
                <a:latin typeface="+mn-lt"/>
              </a:rPr>
              <a:t>por</a:t>
            </a:r>
            <a:r>
              <a:rPr lang="pt-BR" sz="1100" spc="-55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meio</a:t>
            </a:r>
            <a:r>
              <a:rPr lang="pt-BR" sz="1100" spc="-3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30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uma</a:t>
            </a:r>
            <a:r>
              <a:rPr lang="pt-BR" sz="1100" spc="-30" dirty="0">
                <a:latin typeface="+mn-lt"/>
              </a:rPr>
              <a:t> </a:t>
            </a:r>
            <a:r>
              <a:rPr lang="pt-BR" sz="1100" spc="-70" dirty="0" err="1">
                <a:latin typeface="+mn-lt"/>
              </a:rPr>
              <a:t>equ</a:t>
            </a:r>
            <a:r>
              <a:rPr lang="pt-BR" sz="1100" spc="-80" dirty="0" err="1">
                <a:latin typeface="+mn-lt"/>
              </a:rPr>
              <a:t>a</a:t>
            </a:r>
            <a:r>
              <a:rPr lang="pt-BR" sz="1100" spc="-590" dirty="0" err="1">
                <a:latin typeface="+mn-lt"/>
              </a:rPr>
              <a:t>c</a:t>
            </a:r>
            <a:r>
              <a:rPr lang="pt-BR" sz="1100" spc="-90" dirty="0">
                <a:latin typeface="+mn-lt"/>
              </a:rPr>
              <a:t>¸</a:t>
            </a:r>
            <a:r>
              <a:rPr lang="pt-BR" sz="1100" spc="-670" dirty="0">
                <a:latin typeface="+mn-lt"/>
              </a:rPr>
              <a:t>˜</a:t>
            </a:r>
            <a:r>
              <a:rPr lang="pt-BR" sz="1100" spc="-70" dirty="0">
                <a:latin typeface="+mn-lt"/>
              </a:rPr>
              <a:t>ao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igualdade </a:t>
            </a:r>
            <a:r>
              <a:rPr lang="pt-BR" sz="1100" spc="-45" dirty="0">
                <a:latin typeface="+mn-lt"/>
              </a:rPr>
              <a:t>considerando </a:t>
            </a:r>
            <a:r>
              <a:rPr lang="pt-BR" sz="1100" dirty="0">
                <a:latin typeface="+mn-lt"/>
              </a:rPr>
              <a:t>a</a:t>
            </a:r>
            <a:r>
              <a:rPr lang="pt-BR" sz="1100" spc="-60" dirty="0">
                <a:latin typeface="+mn-lt"/>
              </a:rPr>
              <a:t> </a:t>
            </a:r>
            <a:r>
              <a:rPr lang="pt-BR" sz="1100" spc="-45" dirty="0" err="1">
                <a:latin typeface="+mn-lt"/>
              </a:rPr>
              <a:t>subtr</a:t>
            </a:r>
            <a:r>
              <a:rPr lang="pt-BR" sz="1100" spc="-55" dirty="0" err="1">
                <a:latin typeface="+mn-lt"/>
              </a:rPr>
              <a:t>a</a:t>
            </a:r>
            <a:r>
              <a:rPr lang="pt-BR" sz="1100" spc="-655" dirty="0" err="1">
                <a:latin typeface="+mn-lt"/>
              </a:rPr>
              <a:t>¸</a:t>
            </a:r>
            <a:r>
              <a:rPr lang="pt-BR" sz="1100" spc="-65" dirty="0" err="1">
                <a:latin typeface="+mn-lt"/>
              </a:rPr>
              <a:t>c</a:t>
            </a:r>
            <a:r>
              <a:rPr lang="pt-BR" sz="1100" spc="-640" dirty="0" err="1">
                <a:latin typeface="+mn-lt"/>
              </a:rPr>
              <a:t>˜</a:t>
            </a:r>
            <a:r>
              <a:rPr lang="pt-BR" sz="1100" spc="-45" dirty="0" err="1">
                <a:latin typeface="+mn-lt"/>
              </a:rPr>
              <a:t>ao</a:t>
            </a:r>
            <a:r>
              <a:rPr lang="pt-BR" sz="1100" spc="15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uma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nova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40" dirty="0" err="1">
                <a:latin typeface="+mn-lt"/>
              </a:rPr>
              <a:t>v</a:t>
            </a:r>
            <a:r>
              <a:rPr lang="pt-BR" sz="1100" spc="-75" dirty="0" err="1">
                <a:latin typeface="+mn-lt"/>
              </a:rPr>
              <a:t>a</a:t>
            </a:r>
            <a:r>
              <a:rPr lang="pt-BR" sz="1100" spc="-50" dirty="0" err="1">
                <a:latin typeface="+mn-lt"/>
              </a:rPr>
              <a:t>ri</a:t>
            </a:r>
            <a:r>
              <a:rPr lang="pt-BR" sz="1100" spc="-640" dirty="0" err="1">
                <a:latin typeface="+mn-lt"/>
              </a:rPr>
              <a:t>´</a:t>
            </a:r>
            <a:r>
              <a:rPr lang="pt-BR" sz="1100" spc="-40" dirty="0" err="1">
                <a:latin typeface="+mn-lt"/>
              </a:rPr>
              <a:t>avel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110" dirty="0" err="1" smtClean="0">
                <a:latin typeface="+mn-lt"/>
              </a:rPr>
              <a:t>n</a:t>
            </a:r>
            <a:r>
              <a:rPr lang="pt-BR" sz="1100" spc="-465" dirty="0" err="1" smtClean="0">
                <a:latin typeface="+mn-lt"/>
              </a:rPr>
              <a:t>˜</a:t>
            </a:r>
            <a:r>
              <a:rPr lang="pt-BR" sz="1100" spc="130" dirty="0" err="1" smtClean="0">
                <a:latin typeface="+mn-lt"/>
              </a:rPr>
              <a:t>ao</a:t>
            </a:r>
            <a:r>
              <a:rPr lang="pt-BR" sz="1100" spc="-25" dirty="0" smtClean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negativa</a:t>
            </a:r>
            <a:r>
              <a:rPr lang="pt-BR" sz="1100" spc="-50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do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lado </a:t>
            </a:r>
            <a:r>
              <a:rPr lang="pt-BR" sz="1100" spc="-55" dirty="0">
                <a:latin typeface="+mn-lt"/>
              </a:rPr>
              <a:t>esquerdo,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3888" dirty="0" err="1">
                <a:latin typeface="+mn-lt"/>
                <a:cs typeface="Arial"/>
              </a:rPr>
              <a:t>k</a:t>
            </a:r>
            <a:r>
              <a:rPr lang="pt-BR" sz="1100" i="1" spc="232" baseline="-13888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</a:t>
            </a:r>
            <a:r>
              <a:rPr lang="pt-BR" sz="1100" i="1" spc="-70" dirty="0">
                <a:latin typeface="+mn-lt"/>
                <a:cs typeface="Meiryo UI"/>
              </a:rPr>
              <a:t> </a:t>
            </a:r>
            <a:r>
              <a:rPr lang="pt-BR" sz="1100" dirty="0">
                <a:latin typeface="+mn-lt"/>
              </a:rPr>
              <a:t>0</a:t>
            </a:r>
            <a:r>
              <a:rPr lang="pt-BR" sz="1100" i="1" dirty="0">
                <a:latin typeface="+mn-lt"/>
                <a:cs typeface="Arial"/>
              </a:rPr>
              <a:t>,</a:t>
            </a:r>
            <a:r>
              <a:rPr lang="pt-BR" sz="1100" i="1" spc="20" dirty="0">
                <a:latin typeface="+mn-lt"/>
                <a:cs typeface="Arial"/>
              </a:rPr>
              <a:t> </a:t>
            </a:r>
            <a:r>
              <a:rPr lang="pt-BR" sz="1100" spc="-50" dirty="0">
                <a:latin typeface="+mn-lt"/>
              </a:rPr>
              <a:t>chamada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b="1" spc="-35" dirty="0" err="1">
                <a:latin typeface="+mn-lt"/>
                <a:cs typeface="Trebuchet MS"/>
              </a:rPr>
              <a:t>v</a:t>
            </a:r>
            <a:r>
              <a:rPr lang="pt-BR" sz="1100" b="1" spc="-75" dirty="0" err="1">
                <a:latin typeface="+mn-lt"/>
                <a:cs typeface="Trebuchet MS"/>
              </a:rPr>
              <a:t>a</a:t>
            </a:r>
            <a:r>
              <a:rPr lang="pt-BR" sz="1100" b="1" spc="-35" dirty="0" err="1">
                <a:latin typeface="+mn-lt"/>
                <a:cs typeface="Trebuchet MS"/>
              </a:rPr>
              <a:t>r</a:t>
            </a:r>
            <a:r>
              <a:rPr lang="pt-BR" sz="1100" b="1" spc="-55" dirty="0" err="1">
                <a:latin typeface="+mn-lt"/>
                <a:cs typeface="Trebuchet MS"/>
              </a:rPr>
              <a:t>i</a:t>
            </a:r>
            <a:r>
              <a:rPr lang="pt-BR" sz="1100" b="1" spc="-680" dirty="0" err="1">
                <a:latin typeface="+mn-lt"/>
                <a:cs typeface="Trebuchet MS"/>
              </a:rPr>
              <a:t>´</a:t>
            </a:r>
            <a:r>
              <a:rPr lang="pt-BR" sz="1100" b="1" spc="-35" dirty="0" err="1">
                <a:latin typeface="+mn-lt"/>
                <a:cs typeface="Trebuchet MS"/>
              </a:rPr>
              <a:t>avel</a:t>
            </a:r>
            <a:r>
              <a:rPr lang="pt-BR" sz="1100" b="1" spc="-114" dirty="0">
                <a:latin typeface="+mn-lt"/>
                <a:cs typeface="Trebuchet MS"/>
              </a:rPr>
              <a:t> </a:t>
            </a:r>
            <a:r>
              <a:rPr lang="pt-BR" sz="1100" b="1" dirty="0">
                <a:latin typeface="+mn-lt"/>
                <a:cs typeface="Trebuchet MS"/>
              </a:rPr>
              <a:t>de</a:t>
            </a:r>
            <a:r>
              <a:rPr lang="pt-BR" sz="1100" b="1" spc="-50" dirty="0">
                <a:latin typeface="+mn-lt"/>
                <a:cs typeface="Trebuchet MS"/>
              </a:rPr>
              <a:t> </a:t>
            </a:r>
            <a:r>
              <a:rPr lang="pt-BR" sz="1100" b="1" spc="-10" dirty="0">
                <a:latin typeface="+mn-lt"/>
                <a:cs typeface="Trebuchet MS"/>
              </a:rPr>
              <a:t>excesso</a:t>
            </a:r>
            <a:r>
              <a:rPr lang="pt-BR" sz="1100" spc="-10" dirty="0">
                <a:latin typeface="+mn-lt"/>
              </a:rPr>
              <a:t>:</a:t>
            </a:r>
            <a:endParaRPr lang="pt-BR" sz="1100" dirty="0">
              <a:latin typeface="+mn-lt"/>
            </a:endParaRPr>
          </a:p>
          <a:p>
            <a:pPr marL="14604" algn="just"/>
            <a:r>
              <a:rPr lang="pt-BR" sz="1100" i="1" spc="-10" dirty="0" smtClean="0">
                <a:latin typeface="+mn-lt"/>
                <a:cs typeface="Calibri"/>
              </a:rPr>
              <a:t>   a</a:t>
            </a:r>
            <a:r>
              <a:rPr lang="pt-BR" sz="1100" i="1" spc="-15" baseline="-10416" dirty="0" smtClean="0">
                <a:latin typeface="+mn-lt"/>
                <a:cs typeface="Arial"/>
              </a:rPr>
              <a:t>i</a:t>
            </a:r>
            <a:r>
              <a:rPr lang="pt-BR" sz="1100" i="1" spc="-209" baseline="-10416" dirty="0" smtClean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2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9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4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0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</a:t>
            </a:r>
            <a:r>
              <a:rPr lang="pt-BR" sz="1100" i="1" spc="-40" dirty="0">
                <a:latin typeface="+mn-lt"/>
                <a:cs typeface="Meiryo UI"/>
              </a:rPr>
              <a:t>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101600" algn="just">
              <a:lnSpc>
                <a:spcPct val="100000"/>
              </a:lnSpc>
              <a:spcBef>
                <a:spcPts val="525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  <a:endParaRPr lang="pt-BR" sz="1100" dirty="0">
              <a:latin typeface="+mn-lt"/>
            </a:endParaRPr>
          </a:p>
          <a:p>
            <a:pPr marL="14604" algn="just">
              <a:spcBef>
                <a:spcPts val="810"/>
              </a:spcBef>
            </a:pPr>
            <a:r>
              <a:rPr lang="pt-BR" sz="1100" i="1" spc="-10" dirty="0" smtClean="0">
                <a:latin typeface="+mn-lt"/>
                <a:cs typeface="Calibri"/>
              </a:rPr>
              <a:t>   a</a:t>
            </a:r>
            <a:r>
              <a:rPr lang="pt-BR" sz="1100" i="1" spc="-15" baseline="-10416" dirty="0" smtClean="0">
                <a:latin typeface="+mn-lt"/>
                <a:cs typeface="Arial"/>
              </a:rPr>
              <a:t>i</a:t>
            </a:r>
            <a:r>
              <a:rPr lang="pt-BR" sz="1100" i="1" spc="-209" baseline="-10416" dirty="0" smtClean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1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11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3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172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05" dirty="0">
                <a:latin typeface="+mn-lt"/>
                <a:cs typeface="Meiryo UI"/>
              </a:rPr>
              <a:t> </a:t>
            </a:r>
            <a:r>
              <a:rPr lang="pt-BR" sz="1100" b="1" i="1" dirty="0">
                <a:latin typeface="+mn-lt"/>
                <a:cs typeface="Calibri"/>
              </a:rPr>
              <a:t>x</a:t>
            </a:r>
            <a:r>
              <a:rPr lang="pt-BR" sz="1100" b="1" i="1" baseline="-10416" dirty="0">
                <a:latin typeface="+mn-lt"/>
                <a:cs typeface="Arial"/>
              </a:rPr>
              <a:t>n</a:t>
            </a:r>
            <a:r>
              <a:rPr lang="pt-BR" sz="1100" b="1" baseline="-10416" dirty="0">
                <a:latin typeface="+mn-lt"/>
              </a:rPr>
              <a:t>+1</a:t>
            </a:r>
            <a:r>
              <a:rPr lang="pt-BR" sz="1100" spc="209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=</a:t>
            </a:r>
            <a:r>
              <a:rPr lang="pt-BR" sz="1100" spc="-5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105410" algn="just">
              <a:lnSpc>
                <a:spcPct val="100000"/>
              </a:lnSpc>
              <a:spcBef>
                <a:spcPts val="5"/>
              </a:spcBef>
            </a:pPr>
            <a:endParaRPr lang="pt-BR" sz="1100" dirty="0">
              <a:latin typeface="+mn-lt"/>
              <a:cs typeface="Calibri"/>
            </a:endParaRPr>
          </a:p>
          <a:p>
            <a:pPr marL="105410" algn="just">
              <a:lnSpc>
                <a:spcPct val="100000"/>
              </a:lnSpc>
              <a:spcBef>
                <a:spcPts val="5"/>
              </a:spcBef>
            </a:pPr>
            <a:r>
              <a:rPr lang="pt-BR" sz="1100" b="1" spc="-10" dirty="0">
                <a:latin typeface="+mn-lt"/>
                <a:cs typeface="Trebuchet MS"/>
              </a:rPr>
              <a:t>Exemplo:</a:t>
            </a:r>
            <a:endParaRPr lang="pt-BR" sz="1100" dirty="0">
              <a:latin typeface="+mn-lt"/>
              <a:cs typeface="Trebuchet MS"/>
            </a:endParaRPr>
          </a:p>
          <a:p>
            <a:pPr marL="19050" algn="just">
              <a:spcBef>
                <a:spcPts val="35"/>
              </a:spcBef>
            </a:pPr>
            <a:r>
              <a:rPr lang="pt-BR" sz="1100" i="1" dirty="0" smtClean="0">
                <a:latin typeface="+mn-lt"/>
                <a:cs typeface="Calibri"/>
              </a:rPr>
              <a:t>   x</a:t>
            </a:r>
            <a:r>
              <a:rPr lang="pt-BR" sz="1100" baseline="-10416" dirty="0" smtClean="0">
                <a:latin typeface="+mn-lt"/>
              </a:rPr>
              <a:t>1</a:t>
            </a:r>
            <a:r>
              <a:rPr lang="pt-BR" sz="1100" spc="44" baseline="-10416" dirty="0" smtClean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5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5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5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4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3</a:t>
            </a:r>
            <a:r>
              <a:rPr lang="pt-BR" sz="1100" spc="142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</a:t>
            </a:r>
            <a:r>
              <a:rPr lang="pt-BR" sz="1100" i="1" spc="-70" dirty="0">
                <a:latin typeface="+mn-lt"/>
                <a:cs typeface="Meiryo UI"/>
              </a:rPr>
              <a:t> </a:t>
            </a:r>
            <a:r>
              <a:rPr lang="pt-BR" sz="1100" spc="-25" dirty="0">
                <a:latin typeface="+mn-lt"/>
              </a:rPr>
              <a:t>20</a:t>
            </a:r>
            <a:endParaRPr lang="pt-BR" sz="1100" dirty="0">
              <a:latin typeface="+mn-lt"/>
            </a:endParaRPr>
          </a:p>
          <a:p>
            <a:pPr marL="147320" algn="just">
              <a:lnSpc>
                <a:spcPct val="100000"/>
              </a:lnSpc>
              <a:spcBef>
                <a:spcPts val="520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  <a:endParaRPr lang="pt-BR" sz="1100" dirty="0">
              <a:latin typeface="+mn-lt"/>
            </a:endParaRPr>
          </a:p>
          <a:p>
            <a:pPr marL="19050" algn="just">
              <a:spcBef>
                <a:spcPts val="815"/>
              </a:spcBef>
            </a:pPr>
            <a:r>
              <a:rPr lang="pt-BR" sz="1100" i="1" dirty="0" smtClean="0">
                <a:latin typeface="+mn-lt"/>
                <a:cs typeface="Calibri"/>
              </a:rPr>
              <a:t>   x</a:t>
            </a:r>
            <a:r>
              <a:rPr lang="pt-BR" sz="1100" baseline="-10416" dirty="0" smtClean="0">
                <a:latin typeface="+mn-lt"/>
              </a:rPr>
              <a:t>1</a:t>
            </a:r>
            <a:r>
              <a:rPr lang="pt-BR" sz="1100" spc="60" baseline="-10416" dirty="0" smtClean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0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6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105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4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3</a:t>
            </a:r>
            <a:r>
              <a:rPr lang="pt-BR" sz="1100" spc="67" baseline="-10416" dirty="0">
                <a:latin typeface="+mn-lt"/>
              </a:rPr>
              <a:t> </a:t>
            </a:r>
            <a:r>
              <a:rPr lang="pt-BR" sz="1100" b="1" i="1" spc="-50" dirty="0">
                <a:latin typeface="+mn-lt"/>
                <a:cs typeface="Meiryo UI"/>
              </a:rPr>
              <a:t>−</a:t>
            </a:r>
            <a:r>
              <a:rPr lang="pt-BR" sz="1100" b="1" i="1" spc="-130" dirty="0">
                <a:latin typeface="+mn-lt"/>
                <a:cs typeface="Meiryo UI"/>
              </a:rPr>
              <a:t> </a:t>
            </a:r>
            <a:r>
              <a:rPr lang="pt-BR" sz="1100" b="1" i="1" dirty="0">
                <a:latin typeface="+mn-lt"/>
                <a:cs typeface="Calibri"/>
              </a:rPr>
              <a:t>x</a:t>
            </a:r>
            <a:r>
              <a:rPr lang="pt-BR" sz="1100" b="1" baseline="-10416" dirty="0">
                <a:latin typeface="+mn-lt"/>
              </a:rPr>
              <a:t>4</a:t>
            </a:r>
            <a:r>
              <a:rPr lang="pt-BR" sz="1100" b="1" spc="15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=</a:t>
            </a:r>
            <a:r>
              <a:rPr lang="pt-BR" sz="1100" spc="-3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20</a:t>
            </a:r>
            <a:r>
              <a:rPr lang="pt-BR" sz="1100" i="1" spc="-25" dirty="0">
                <a:latin typeface="+mn-lt"/>
                <a:cs typeface="Arial"/>
              </a:rPr>
              <a:t>.</a:t>
            </a:r>
            <a:endParaRPr lang="pt-BR" sz="1100" dirty="0">
              <a:latin typeface="+mn-lt"/>
              <a:cs typeface="Arial"/>
            </a:endParaRPr>
          </a:p>
          <a:p>
            <a:pPr algn="just"/>
            <a:endParaRPr lang="pt-BR" sz="1100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C7235A7-EB6B-1200-D379-BE4C6053B4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7DE614C6-A8D0-8F42-1F7C-B78DF9FC6C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7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697424-1308-1E0E-A571-408A5485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34E1140-E920-0137-05C1-B6851078B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04" y="307404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AC91F2D0-1AF0-7982-5B07-72DC266E1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423" y="686320"/>
            <a:ext cx="3733800" cy="2286000"/>
          </a:xfrm>
        </p:spPr>
        <p:txBody>
          <a:bodyPr>
            <a:noAutofit/>
          </a:bodyPr>
          <a:lstStyle/>
          <a:p>
            <a:pPr marL="105410" marR="93980" algn="just">
              <a:spcBef>
                <a:spcPts val="55"/>
              </a:spcBef>
            </a:pPr>
            <a:r>
              <a:rPr lang="pt-BR" sz="1100" dirty="0" smtClean="0">
                <a:latin typeface="+mn-lt"/>
              </a:rPr>
              <a:t>4. Uma</a:t>
            </a:r>
            <a:r>
              <a:rPr lang="pt-BR" sz="1100" spc="10" dirty="0" smtClean="0">
                <a:latin typeface="+mn-lt"/>
              </a:rPr>
              <a:t> </a:t>
            </a:r>
            <a:r>
              <a:rPr lang="pt-BR" sz="1100" spc="-45" dirty="0" err="1">
                <a:latin typeface="+mn-lt"/>
              </a:rPr>
              <a:t>v</a:t>
            </a:r>
            <a:r>
              <a:rPr lang="pt-BR" sz="1100" spc="-80" dirty="0" err="1">
                <a:latin typeface="+mn-lt"/>
              </a:rPr>
              <a:t>a</a:t>
            </a:r>
            <a:r>
              <a:rPr lang="pt-BR" sz="1100" spc="-45" dirty="0" err="1">
                <a:latin typeface="+mn-lt"/>
              </a:rPr>
              <a:t>r</a:t>
            </a:r>
            <a:r>
              <a:rPr lang="pt-BR" sz="1100" spc="-60" dirty="0" err="1">
                <a:latin typeface="+mn-lt"/>
              </a:rPr>
              <a:t>i</a:t>
            </a:r>
            <a:r>
              <a:rPr lang="pt-BR" sz="1100" spc="-645" dirty="0" err="1">
                <a:latin typeface="+mn-lt"/>
              </a:rPr>
              <a:t>´</a:t>
            </a:r>
            <a:r>
              <a:rPr lang="pt-BR" sz="1100" spc="-45" dirty="0" err="1">
                <a:latin typeface="+mn-lt"/>
              </a:rPr>
              <a:t>avel</a:t>
            </a:r>
            <a:r>
              <a:rPr lang="pt-BR" sz="1100" spc="3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j</a:t>
            </a:r>
            <a:r>
              <a:rPr lang="pt-BR" sz="1100" i="1" spc="382" baseline="-10416" dirty="0">
                <a:latin typeface="+mn-lt"/>
                <a:cs typeface="Arial"/>
              </a:rPr>
              <a:t> </a:t>
            </a:r>
            <a:r>
              <a:rPr lang="pt-BR" sz="1100" spc="-50" dirty="0">
                <a:latin typeface="+mn-lt"/>
              </a:rPr>
              <a:t>que</a:t>
            </a:r>
            <a:r>
              <a:rPr lang="pt-BR" sz="1100" spc="10" dirty="0">
                <a:latin typeface="+mn-lt"/>
              </a:rPr>
              <a:t> </a:t>
            </a:r>
            <a:r>
              <a:rPr lang="pt-BR" sz="1100" spc="-130" dirty="0">
                <a:latin typeface="+mn-lt"/>
              </a:rPr>
              <a:t>não</a:t>
            </a:r>
            <a:r>
              <a:rPr lang="pt-BR" sz="1100" spc="175" dirty="0">
                <a:latin typeface="+mn-lt"/>
              </a:rPr>
              <a:t> </a:t>
            </a:r>
            <a:r>
              <a:rPr lang="pt-BR" sz="1100" spc="-20" dirty="0">
                <a:latin typeface="+mn-lt"/>
              </a:rPr>
              <a:t>tem</a:t>
            </a:r>
            <a:r>
              <a:rPr lang="pt-BR" sz="1100" spc="10" dirty="0">
                <a:latin typeface="+mn-lt"/>
              </a:rPr>
              <a:t> </a:t>
            </a:r>
            <a:r>
              <a:rPr lang="pt-BR" sz="1100" spc="-45" dirty="0" err="1">
                <a:latin typeface="+mn-lt"/>
              </a:rPr>
              <a:t>restri</a:t>
            </a:r>
            <a:r>
              <a:rPr lang="pt-BR" sz="1100" spc="-655" dirty="0" err="1">
                <a:latin typeface="+mn-lt"/>
              </a:rPr>
              <a:t>¸</a:t>
            </a:r>
            <a:r>
              <a:rPr lang="pt-BR" sz="1100" spc="-65" dirty="0" err="1">
                <a:latin typeface="+mn-lt"/>
              </a:rPr>
              <a:t>c</a:t>
            </a:r>
            <a:r>
              <a:rPr lang="pt-BR" sz="1100" spc="-640" dirty="0" err="1">
                <a:latin typeface="+mn-lt"/>
              </a:rPr>
              <a:t>˜</a:t>
            </a:r>
            <a:r>
              <a:rPr lang="pt-BR" sz="1100" spc="-45" dirty="0" err="1">
                <a:latin typeface="+mn-lt"/>
              </a:rPr>
              <a:t>ao</a:t>
            </a:r>
            <a:r>
              <a:rPr lang="pt-BR" sz="1100" spc="70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de</a:t>
            </a:r>
            <a:r>
              <a:rPr lang="pt-BR" sz="1100" spc="10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sinal,</a:t>
            </a:r>
            <a:r>
              <a:rPr lang="pt-BR" sz="1100" spc="10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chamada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55" dirty="0">
                <a:latin typeface="+mn-lt"/>
              </a:rPr>
              <a:t> </a:t>
            </a:r>
            <a:r>
              <a:rPr lang="pt-BR" sz="1100" b="1" spc="-40" dirty="0" err="1">
                <a:latin typeface="+mn-lt"/>
                <a:cs typeface="Trebuchet MS"/>
              </a:rPr>
              <a:t>v</a:t>
            </a:r>
            <a:r>
              <a:rPr lang="pt-BR" sz="1100" b="1" spc="-80" dirty="0" err="1">
                <a:latin typeface="+mn-lt"/>
                <a:cs typeface="Trebuchet MS"/>
              </a:rPr>
              <a:t>a</a:t>
            </a:r>
            <a:r>
              <a:rPr lang="pt-BR" sz="1100" b="1" spc="-40" dirty="0" err="1">
                <a:latin typeface="+mn-lt"/>
                <a:cs typeface="Trebuchet MS"/>
              </a:rPr>
              <a:t>r</a:t>
            </a:r>
            <a:r>
              <a:rPr lang="pt-BR" sz="1100" b="1" spc="-60" dirty="0" err="1">
                <a:latin typeface="+mn-lt"/>
                <a:cs typeface="Trebuchet MS"/>
              </a:rPr>
              <a:t>i</a:t>
            </a:r>
            <a:r>
              <a:rPr lang="pt-BR" sz="1100" b="1" spc="-685" dirty="0" err="1">
                <a:latin typeface="+mn-lt"/>
                <a:cs typeface="Trebuchet MS"/>
              </a:rPr>
              <a:t>´</a:t>
            </a:r>
            <a:r>
              <a:rPr lang="pt-BR" sz="1100" b="1" spc="-40" dirty="0" err="1">
                <a:latin typeface="+mn-lt"/>
                <a:cs typeface="Trebuchet MS"/>
              </a:rPr>
              <a:t>avel</a:t>
            </a:r>
            <a:r>
              <a:rPr lang="pt-BR" sz="1100" b="1" spc="35" dirty="0">
                <a:latin typeface="+mn-lt"/>
                <a:cs typeface="Trebuchet MS"/>
              </a:rPr>
              <a:t> </a:t>
            </a:r>
            <a:r>
              <a:rPr lang="pt-BR" sz="1100" b="1" spc="-45" dirty="0">
                <a:latin typeface="+mn-lt"/>
                <a:cs typeface="Trebuchet MS"/>
              </a:rPr>
              <a:t>livre</a:t>
            </a:r>
            <a:r>
              <a:rPr lang="pt-BR" sz="1100" spc="-45" dirty="0">
                <a:latin typeface="+mn-lt"/>
              </a:rPr>
              <a:t>, </a:t>
            </a:r>
            <a:r>
              <a:rPr lang="pt-BR" sz="1100" spc="-40" dirty="0">
                <a:latin typeface="+mn-lt"/>
              </a:rPr>
              <a:t>pode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ser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65" dirty="0">
                <a:latin typeface="+mn-lt"/>
              </a:rPr>
              <a:t>expressa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como</a:t>
            </a:r>
            <a:r>
              <a:rPr lang="pt-BR" sz="1100" spc="-15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a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50" dirty="0" err="1">
                <a:latin typeface="+mn-lt"/>
              </a:rPr>
              <a:t>difere</a:t>
            </a:r>
            <a:r>
              <a:rPr lang="pt-BR" sz="1100" spc="-60" dirty="0" err="1">
                <a:latin typeface="+mn-lt"/>
              </a:rPr>
              <a:t>n</a:t>
            </a:r>
            <a:r>
              <a:rPr lang="pt-BR" sz="1100" spc="-665" dirty="0" err="1">
                <a:latin typeface="+mn-lt"/>
              </a:rPr>
              <a:t>¸</a:t>
            </a:r>
            <a:r>
              <a:rPr lang="pt-BR" sz="1100" spc="-50" dirty="0" err="1">
                <a:latin typeface="+mn-lt"/>
              </a:rPr>
              <a:t>ca</a:t>
            </a:r>
            <a:r>
              <a:rPr lang="pt-BR" sz="1100" spc="2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de </a:t>
            </a:r>
            <a:r>
              <a:rPr lang="pt-BR" sz="1100" spc="-50" dirty="0">
                <a:latin typeface="+mn-lt"/>
              </a:rPr>
              <a:t>duas</a:t>
            </a:r>
            <a:r>
              <a:rPr lang="pt-BR" sz="1100" spc="15" dirty="0">
                <a:latin typeface="+mn-lt"/>
              </a:rPr>
              <a:t> </a:t>
            </a:r>
            <a:r>
              <a:rPr lang="pt-BR" sz="1100" spc="-45" dirty="0" err="1">
                <a:latin typeface="+mn-lt"/>
              </a:rPr>
              <a:t>v</a:t>
            </a:r>
            <a:r>
              <a:rPr lang="pt-BR" sz="1100" spc="-80" dirty="0" err="1">
                <a:latin typeface="+mn-lt"/>
              </a:rPr>
              <a:t>a</a:t>
            </a:r>
            <a:r>
              <a:rPr lang="pt-BR" sz="1100" spc="-45" dirty="0" err="1">
                <a:latin typeface="+mn-lt"/>
              </a:rPr>
              <a:t>r</a:t>
            </a:r>
            <a:r>
              <a:rPr lang="pt-BR" sz="1100" spc="-60" dirty="0" err="1">
                <a:latin typeface="+mn-lt"/>
              </a:rPr>
              <a:t>i</a:t>
            </a:r>
            <a:r>
              <a:rPr lang="pt-BR" sz="1100" spc="-645" dirty="0" err="1">
                <a:latin typeface="+mn-lt"/>
              </a:rPr>
              <a:t>´</a:t>
            </a:r>
            <a:r>
              <a:rPr lang="pt-BR" sz="1100" spc="-45" dirty="0" err="1">
                <a:latin typeface="+mn-lt"/>
              </a:rPr>
              <a:t>aveis</a:t>
            </a:r>
            <a:r>
              <a:rPr lang="pt-BR" sz="1100" spc="25" dirty="0">
                <a:latin typeface="+mn-lt"/>
              </a:rPr>
              <a:t> </a:t>
            </a:r>
            <a:r>
              <a:rPr lang="pt-BR" sz="1100" spc="-80" dirty="0" err="1">
                <a:latin typeface="+mn-lt"/>
              </a:rPr>
              <a:t>n</a:t>
            </a:r>
            <a:r>
              <a:rPr lang="pt-BR" sz="1100" spc="-655" dirty="0" err="1">
                <a:latin typeface="+mn-lt"/>
              </a:rPr>
              <a:t>˜</a:t>
            </a:r>
            <a:r>
              <a:rPr lang="pt-BR" sz="1100" spc="-60" dirty="0" err="1">
                <a:latin typeface="+mn-lt"/>
              </a:rPr>
              <a:t>ao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negativas:</a:t>
            </a:r>
          </a:p>
          <a:p>
            <a:pPr marL="105410" marR="93980" algn="just">
              <a:spcBef>
                <a:spcPts val="55"/>
              </a:spcBef>
            </a:pPr>
            <a:endParaRPr lang="pt-BR" sz="1100" spc="-10" dirty="0">
              <a:latin typeface="+mn-lt"/>
            </a:endParaRPr>
          </a:p>
          <a:p>
            <a:pPr marL="105410" marR="93980" algn="just">
              <a:spcBef>
                <a:spcPts val="55"/>
              </a:spcBef>
            </a:pPr>
            <a:r>
              <a:rPr lang="pl-PL" sz="1100" i="1" dirty="0">
                <a:latin typeface="+mn-lt"/>
                <a:cs typeface="Calibri"/>
              </a:rPr>
              <a:t>x</a:t>
            </a:r>
            <a:r>
              <a:rPr lang="pl-PL" sz="1100" i="1" baseline="-10416" dirty="0">
                <a:latin typeface="+mn-lt"/>
                <a:cs typeface="Arial"/>
              </a:rPr>
              <a:t>j</a:t>
            </a:r>
            <a:r>
              <a:rPr lang="pl-PL" sz="1100" i="1" spc="359" baseline="-10416" dirty="0">
                <a:latin typeface="+mn-lt"/>
                <a:cs typeface="Arial"/>
              </a:rPr>
              <a:t> </a:t>
            </a:r>
            <a:r>
              <a:rPr lang="pl-PL" sz="1100" dirty="0">
                <a:latin typeface="+mn-lt"/>
              </a:rPr>
              <a:t>=</a:t>
            </a:r>
            <a:r>
              <a:rPr lang="pl-PL" sz="1100" spc="-15" dirty="0">
                <a:latin typeface="+mn-lt"/>
              </a:rPr>
              <a:t> </a:t>
            </a:r>
            <a:r>
              <a:rPr lang="pl-PL" sz="1100" i="1" dirty="0">
                <a:latin typeface="+mn-lt"/>
                <a:cs typeface="Calibri"/>
              </a:rPr>
              <a:t>x</a:t>
            </a:r>
            <a:r>
              <a:rPr lang="pl-PL" sz="1100" i="1" spc="-145" dirty="0">
                <a:latin typeface="+mn-lt"/>
                <a:cs typeface="Calibri"/>
              </a:rPr>
              <a:t> </a:t>
            </a:r>
            <a:r>
              <a:rPr lang="pt-BR" sz="1100" i="1" spc="-145" baseline="-25000" dirty="0">
                <a:latin typeface="+mn-lt"/>
                <a:cs typeface="Calibri"/>
              </a:rPr>
              <a:t>j</a:t>
            </a:r>
            <a:r>
              <a:rPr lang="pl-PL" sz="1100" baseline="31250" dirty="0">
                <a:latin typeface="+mn-lt"/>
              </a:rPr>
              <a:t>1</a:t>
            </a:r>
            <a:r>
              <a:rPr lang="pl-PL" sz="1100" spc="97" baseline="31250" dirty="0">
                <a:latin typeface="+mn-lt"/>
              </a:rPr>
              <a:t> </a:t>
            </a:r>
            <a:r>
              <a:rPr lang="pl-PL" sz="1100" i="1" spc="-50" dirty="0">
                <a:latin typeface="+mn-lt"/>
                <a:cs typeface="Meiryo UI"/>
              </a:rPr>
              <a:t>−</a:t>
            </a:r>
            <a:r>
              <a:rPr lang="pl-PL" sz="1100" i="1" spc="-114" dirty="0">
                <a:latin typeface="+mn-lt"/>
                <a:cs typeface="Meiryo UI"/>
              </a:rPr>
              <a:t> </a:t>
            </a:r>
            <a:r>
              <a:rPr lang="pl-PL" sz="1100" i="1" dirty="0">
                <a:latin typeface="+mn-lt"/>
                <a:cs typeface="Calibri"/>
              </a:rPr>
              <a:t>x</a:t>
            </a:r>
            <a:r>
              <a:rPr lang="pl-PL" sz="1100" i="1" spc="-140" dirty="0">
                <a:latin typeface="+mn-lt"/>
                <a:cs typeface="Calibri"/>
              </a:rPr>
              <a:t> </a:t>
            </a:r>
            <a:r>
              <a:rPr lang="pt-BR" sz="1100" i="1" spc="-140" baseline="-25000" dirty="0">
                <a:latin typeface="+mn-lt"/>
                <a:cs typeface="Calibri"/>
              </a:rPr>
              <a:t>j</a:t>
            </a:r>
            <a:r>
              <a:rPr lang="pl-PL" sz="1100" baseline="31250" dirty="0">
                <a:latin typeface="+mn-lt"/>
              </a:rPr>
              <a:t>2</a:t>
            </a:r>
            <a:r>
              <a:rPr lang="pl-PL" sz="1100" i="1" dirty="0">
                <a:latin typeface="+mn-lt"/>
                <a:cs typeface="Arial"/>
              </a:rPr>
              <a:t>,</a:t>
            </a:r>
            <a:r>
              <a:rPr lang="pl-PL" sz="1100" i="1" spc="275" dirty="0">
                <a:latin typeface="+mn-lt"/>
                <a:cs typeface="Arial"/>
              </a:rPr>
              <a:t> </a:t>
            </a:r>
            <a:r>
              <a:rPr lang="pl-PL" sz="1100" i="1" dirty="0">
                <a:latin typeface="+mn-lt"/>
                <a:cs typeface="Calibri"/>
              </a:rPr>
              <a:t>x</a:t>
            </a:r>
            <a:r>
              <a:rPr lang="pt-BR" sz="1100" i="1" baseline="-25000" dirty="0">
                <a:latin typeface="+mn-lt"/>
                <a:cs typeface="Calibri"/>
              </a:rPr>
              <a:t>j</a:t>
            </a:r>
            <a:r>
              <a:rPr lang="pl-PL" sz="1100" i="1" spc="-140" dirty="0">
                <a:latin typeface="+mn-lt"/>
                <a:cs typeface="Calibri"/>
              </a:rPr>
              <a:t> </a:t>
            </a:r>
            <a:r>
              <a:rPr lang="pl-PL" sz="1100" baseline="31250" dirty="0">
                <a:latin typeface="+mn-lt"/>
              </a:rPr>
              <a:t>1</a:t>
            </a:r>
            <a:r>
              <a:rPr lang="pl-PL" sz="1100" i="1" dirty="0">
                <a:latin typeface="+mn-lt"/>
                <a:cs typeface="Arial"/>
              </a:rPr>
              <a:t>,</a:t>
            </a:r>
            <a:r>
              <a:rPr lang="pl-PL" sz="1100" i="1" spc="-110" dirty="0">
                <a:latin typeface="+mn-lt"/>
                <a:cs typeface="Arial"/>
              </a:rPr>
              <a:t> </a:t>
            </a:r>
            <a:r>
              <a:rPr lang="pl-PL" sz="1100" i="1" dirty="0">
                <a:latin typeface="+mn-lt"/>
                <a:cs typeface="Calibri"/>
              </a:rPr>
              <a:t>x</a:t>
            </a:r>
            <a:r>
              <a:rPr lang="pt-BR" sz="1100" i="1" baseline="-25000" dirty="0">
                <a:latin typeface="+mn-lt"/>
                <a:cs typeface="Calibri"/>
              </a:rPr>
              <a:t>j</a:t>
            </a:r>
            <a:r>
              <a:rPr lang="pl-PL" sz="1100" i="1" spc="-140" dirty="0">
                <a:latin typeface="+mn-lt"/>
                <a:cs typeface="Calibri"/>
              </a:rPr>
              <a:t> </a:t>
            </a:r>
            <a:r>
              <a:rPr lang="pl-PL" sz="1100" baseline="31250" dirty="0">
                <a:latin typeface="+mn-lt"/>
              </a:rPr>
              <a:t>2</a:t>
            </a:r>
            <a:r>
              <a:rPr lang="pl-PL" sz="1100" spc="187" baseline="31250" dirty="0">
                <a:latin typeface="+mn-lt"/>
              </a:rPr>
              <a:t> </a:t>
            </a:r>
            <a:r>
              <a:rPr lang="pl-PL" sz="1100" i="1" spc="-50" dirty="0">
                <a:latin typeface="+mn-lt"/>
                <a:cs typeface="Meiryo UI"/>
              </a:rPr>
              <a:t>≥</a:t>
            </a:r>
            <a:r>
              <a:rPr lang="pl-PL" sz="1100" i="1" spc="-45" dirty="0">
                <a:latin typeface="+mn-lt"/>
                <a:cs typeface="Meiryo UI"/>
              </a:rPr>
              <a:t> </a:t>
            </a:r>
            <a:r>
              <a:rPr lang="pl-PL" sz="1100" spc="-50" dirty="0">
                <a:latin typeface="+mn-lt"/>
              </a:rPr>
              <a:t>0</a:t>
            </a:r>
            <a:endParaRPr lang="pl-PL" sz="1100" dirty="0">
              <a:latin typeface="+mn-lt"/>
            </a:endParaRPr>
          </a:p>
          <a:p>
            <a:pPr marL="105410" marR="93980" algn="just">
              <a:spcBef>
                <a:spcPts val="55"/>
              </a:spcBef>
            </a:pPr>
            <a:endParaRPr lang="pt-BR" sz="1100" spc="-10" dirty="0">
              <a:latin typeface="+mn-lt"/>
            </a:endParaRPr>
          </a:p>
          <a:p>
            <a:pPr marL="105410" marR="93980" algn="just">
              <a:spcBef>
                <a:spcPts val="55"/>
              </a:spcBef>
            </a:pPr>
            <a:r>
              <a:rPr lang="pt-BR" sz="1100" b="1" spc="-20" dirty="0">
                <a:latin typeface="+mn-lt"/>
                <a:cs typeface="Trebuchet MS"/>
              </a:rPr>
              <a:t>Exemplo:</a:t>
            </a:r>
            <a:r>
              <a:rPr lang="pt-BR" sz="1100" b="1" spc="50" dirty="0">
                <a:latin typeface="+mn-lt"/>
                <a:cs typeface="Trebuchet MS"/>
              </a:rPr>
              <a:t> </a:t>
            </a:r>
            <a:r>
              <a:rPr lang="pt-BR" sz="1100" spc="-35" dirty="0">
                <a:latin typeface="+mn-lt"/>
              </a:rPr>
              <a:t>Suponha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65" baseline="-10416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livre.</a:t>
            </a:r>
            <a:r>
              <a:rPr lang="pt-BR" sz="1100" spc="85" dirty="0">
                <a:latin typeface="+mn-lt"/>
              </a:rPr>
              <a:t> </a:t>
            </a:r>
            <a:r>
              <a:rPr lang="pt-BR" sz="1100" spc="-25" dirty="0" err="1">
                <a:latin typeface="+mn-lt"/>
              </a:rPr>
              <a:t>En</a:t>
            </a:r>
            <a:r>
              <a:rPr lang="pt-BR" sz="1100" spc="-35" dirty="0" err="1">
                <a:latin typeface="+mn-lt"/>
              </a:rPr>
              <a:t>t</a:t>
            </a:r>
            <a:r>
              <a:rPr lang="pt-BR" sz="1100" spc="-625" dirty="0" err="1">
                <a:latin typeface="+mn-lt"/>
              </a:rPr>
              <a:t>˜</a:t>
            </a:r>
            <a:r>
              <a:rPr lang="pt-BR" sz="1100" spc="-25" dirty="0" err="1">
                <a:latin typeface="+mn-lt"/>
              </a:rPr>
              <a:t>ao</a:t>
            </a:r>
            <a:r>
              <a:rPr lang="pt-BR" sz="1100" spc="-25" dirty="0">
                <a:latin typeface="+mn-lt"/>
              </a:rPr>
              <a:t>,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no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65" dirty="0">
                <a:latin typeface="+mn-lt"/>
              </a:rPr>
              <a:t>PPL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65" baseline="-10416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pode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ser </a:t>
            </a:r>
            <a:r>
              <a:rPr lang="pt-BR" sz="1100" spc="-80" dirty="0">
                <a:latin typeface="+mn-lt"/>
              </a:rPr>
              <a:t>substituída </a:t>
            </a:r>
            <a:r>
              <a:rPr lang="pt-BR" sz="1100" spc="-25" dirty="0">
                <a:latin typeface="+mn-lt"/>
              </a:rPr>
              <a:t>por</a:t>
            </a:r>
          </a:p>
          <a:p>
            <a:pPr marL="105410" marR="93980" algn="just">
              <a:spcBef>
                <a:spcPts val="55"/>
              </a:spcBef>
            </a:pPr>
            <a:endParaRPr lang="pt-BR" sz="1100" spc="-25" dirty="0">
              <a:latin typeface="+mn-lt"/>
            </a:endParaRPr>
          </a:p>
          <a:p>
            <a:pPr marL="105410" marR="93980" algn="just">
              <a:spcBef>
                <a:spcPts val="55"/>
              </a:spcBef>
            </a:pP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i="1" baseline="-25000" dirty="0">
                <a:latin typeface="+mn-lt"/>
                <a:cs typeface="Calibri"/>
              </a:rPr>
              <a:t>1</a:t>
            </a:r>
            <a:r>
              <a:rPr lang="pt-BR" sz="1100" i="1" spc="-145" dirty="0">
                <a:latin typeface="+mn-lt"/>
                <a:cs typeface="Calibri"/>
              </a:rPr>
              <a:t> </a:t>
            </a:r>
            <a:r>
              <a:rPr lang="pt-BR" sz="1100" baseline="31250" dirty="0">
                <a:latin typeface="+mn-lt"/>
              </a:rPr>
              <a:t>1</a:t>
            </a:r>
            <a:r>
              <a:rPr lang="pt-BR" sz="1100" spc="82" baseline="31250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i="1" spc="-145" dirty="0">
                <a:latin typeface="+mn-lt"/>
                <a:cs typeface="Calibri"/>
              </a:rPr>
              <a:t> </a:t>
            </a:r>
            <a:r>
              <a:rPr lang="pt-BR" sz="1100" i="1" spc="-145" baseline="-25000" dirty="0">
                <a:latin typeface="+mn-lt"/>
                <a:cs typeface="Calibri"/>
              </a:rPr>
              <a:t>1</a:t>
            </a:r>
            <a:r>
              <a:rPr lang="pt-BR" sz="1100" baseline="31250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Arial"/>
              </a:rPr>
              <a:t>,</a:t>
            </a:r>
            <a:r>
              <a:rPr lang="pt-BR" sz="1100" i="1" spc="27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i="1" spc="-145" dirty="0">
                <a:latin typeface="+mn-lt"/>
                <a:cs typeface="Calibri"/>
              </a:rPr>
              <a:t> </a:t>
            </a:r>
            <a:r>
              <a:rPr lang="pt-BR" sz="1100" i="1" spc="-145" baseline="-25000" dirty="0">
                <a:latin typeface="+mn-lt"/>
                <a:cs typeface="Calibri"/>
              </a:rPr>
              <a:t>1</a:t>
            </a:r>
            <a:r>
              <a:rPr lang="pt-BR" sz="1100" baseline="31250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Arial"/>
              </a:rPr>
              <a:t>,</a:t>
            </a:r>
            <a:r>
              <a:rPr lang="pt-BR" sz="1100" i="1" spc="-114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i="1" baseline="-25000" dirty="0">
                <a:latin typeface="+mn-lt"/>
                <a:cs typeface="Calibri"/>
              </a:rPr>
              <a:t>1</a:t>
            </a:r>
            <a:r>
              <a:rPr lang="pt-BR" sz="1100" i="1" spc="-145" dirty="0">
                <a:latin typeface="+mn-lt"/>
                <a:cs typeface="Calibri"/>
              </a:rPr>
              <a:t> </a:t>
            </a:r>
            <a:r>
              <a:rPr lang="pt-BR" sz="1100" baseline="31250" dirty="0">
                <a:latin typeface="+mn-lt"/>
              </a:rPr>
              <a:t>2</a:t>
            </a:r>
            <a:r>
              <a:rPr lang="pt-BR" sz="1100" spc="179" baseline="31250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 </a:t>
            </a:r>
            <a:r>
              <a:rPr lang="pt-BR" sz="1100" spc="-50" dirty="0">
                <a:latin typeface="+mn-lt"/>
              </a:rPr>
              <a:t>0</a:t>
            </a:r>
            <a:endParaRPr lang="pt-BR" sz="1100" dirty="0">
              <a:latin typeface="+mn-lt"/>
            </a:endParaRPr>
          </a:p>
          <a:p>
            <a:pPr marL="105410" marR="93980" algn="just">
              <a:spcBef>
                <a:spcPts val="55"/>
              </a:spcBef>
            </a:pPr>
            <a:endParaRPr lang="pt-BR" sz="1100" dirty="0">
              <a:latin typeface="+mn-lt"/>
            </a:endParaRPr>
          </a:p>
          <a:p>
            <a:pPr marL="105410" marR="93980" algn="just">
              <a:spcBef>
                <a:spcPts val="55"/>
              </a:spcBef>
            </a:pPr>
            <a:endParaRPr lang="pt-BR" sz="1100" spc="-10" dirty="0">
              <a:latin typeface="+mn-lt"/>
            </a:endParaRPr>
          </a:p>
          <a:p>
            <a:pPr marL="105410" marR="93980" algn="just">
              <a:lnSpc>
                <a:spcPct val="102600"/>
              </a:lnSpc>
              <a:spcBef>
                <a:spcPts val="55"/>
              </a:spcBef>
            </a:pPr>
            <a:endParaRPr lang="pt-BR" sz="1100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BC115F4C-EB14-44A3-7DEB-13BBE38B9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BAA90EEF-F3D4-3CAE-E3BA-EE40BA9928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3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F4DCC2-1DEF-B71B-C0A0-E2FD665D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F2689D2-29CA-F8FC-4FA0-E196BABA6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04" y="307404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3714503-717E-603A-7783-8E46EE40F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423" y="686320"/>
            <a:ext cx="3733800" cy="2286000"/>
          </a:xfrm>
        </p:spPr>
        <p:txBody>
          <a:bodyPr>
            <a:noAutofit/>
          </a:bodyPr>
          <a:lstStyle/>
          <a:p>
            <a:pPr marL="257810" marR="68580" indent="-182245" algn="just">
              <a:lnSpc>
                <a:spcPct val="102600"/>
              </a:lnSpc>
              <a:spcBef>
                <a:spcPts val="55"/>
              </a:spcBef>
            </a:pPr>
            <a:r>
              <a:rPr lang="pt-BR" sz="1100" dirty="0" smtClean="0">
                <a:latin typeface="+mn-lt"/>
              </a:rPr>
              <a:t>5. Uma</a:t>
            </a:r>
            <a:r>
              <a:rPr lang="pt-BR" sz="1100" spc="-25" dirty="0" smtClean="0">
                <a:latin typeface="+mn-lt"/>
              </a:rPr>
              <a:t> </a:t>
            </a:r>
            <a:r>
              <a:rPr lang="pt-BR" sz="1100" spc="-55" dirty="0">
                <a:latin typeface="+mn-lt"/>
              </a:rPr>
              <a:t>restr</a:t>
            </a:r>
            <a:r>
              <a:rPr lang="pt-BR" sz="1100" spc="-65" dirty="0">
                <a:latin typeface="+mn-lt"/>
              </a:rPr>
              <a:t>ição de </a:t>
            </a:r>
            <a:r>
              <a:rPr lang="pt-BR" sz="1100" spc="-50" dirty="0">
                <a:latin typeface="+mn-lt"/>
              </a:rPr>
              <a:t>desigualdade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pode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ser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transformada </a:t>
            </a:r>
            <a:r>
              <a:rPr lang="pt-BR" sz="1100" spc="-50" dirty="0">
                <a:latin typeface="+mn-lt"/>
              </a:rPr>
              <a:t>em</a:t>
            </a:r>
            <a:r>
              <a:rPr lang="pt-BR" sz="1100" spc="-40" dirty="0">
                <a:latin typeface="+mn-lt"/>
              </a:rPr>
              <a:t> </a:t>
            </a:r>
            <a:r>
              <a:rPr lang="pt-BR" sz="1100" spc="-20" dirty="0">
                <a:latin typeface="+mn-lt"/>
              </a:rPr>
              <a:t>outra</a:t>
            </a:r>
            <a:r>
              <a:rPr lang="pt-BR" sz="1100" spc="-50" dirty="0">
                <a:latin typeface="+mn-lt"/>
              </a:rPr>
              <a:t> desigualdade,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30" dirty="0">
                <a:latin typeface="+mn-lt"/>
              </a:rPr>
              <a:t>por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meio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da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30" dirty="0" err="1">
                <a:latin typeface="+mn-lt"/>
              </a:rPr>
              <a:t>multiplic</a:t>
            </a:r>
            <a:r>
              <a:rPr lang="pt-BR" sz="1100" spc="-40" dirty="0" err="1">
                <a:latin typeface="+mn-lt"/>
              </a:rPr>
              <a:t>a</a:t>
            </a:r>
            <a:r>
              <a:rPr lang="pt-BR" sz="1100" spc="-645" dirty="0" err="1">
                <a:latin typeface="+mn-lt"/>
              </a:rPr>
              <a:t>¸</a:t>
            </a:r>
            <a:r>
              <a:rPr lang="pt-BR" sz="1100" spc="-45" dirty="0" err="1">
                <a:latin typeface="+mn-lt"/>
              </a:rPr>
              <a:t>c</a:t>
            </a:r>
            <a:r>
              <a:rPr lang="pt-BR" sz="1100" spc="-630" dirty="0" err="1">
                <a:latin typeface="+mn-lt"/>
              </a:rPr>
              <a:t>˜</a:t>
            </a:r>
            <a:r>
              <a:rPr lang="pt-BR" sz="1100" spc="-30" dirty="0" err="1">
                <a:latin typeface="+mn-lt"/>
              </a:rPr>
              <a:t>ao</a:t>
            </a:r>
            <a:r>
              <a:rPr lang="pt-BR" sz="1100" spc="25" dirty="0">
                <a:latin typeface="+mn-lt"/>
              </a:rPr>
              <a:t> </a:t>
            </a:r>
            <a:r>
              <a:rPr lang="pt-BR" sz="1100" spc="-25" dirty="0">
                <a:latin typeface="+mn-lt"/>
              </a:rPr>
              <a:t>de </a:t>
            </a:r>
            <a:r>
              <a:rPr lang="pt-BR" sz="1100" spc="-50" dirty="0">
                <a:latin typeface="+mn-lt"/>
              </a:rPr>
              <a:t>ambos</a:t>
            </a:r>
            <a:r>
              <a:rPr lang="pt-BR" sz="1100" spc="-35" dirty="0">
                <a:latin typeface="+mn-lt"/>
              </a:rPr>
              <a:t> </a:t>
            </a:r>
            <a:r>
              <a:rPr lang="pt-BR" sz="1100" spc="-30" dirty="0">
                <a:latin typeface="+mn-lt"/>
              </a:rPr>
              <a:t>os </a:t>
            </a:r>
            <a:r>
              <a:rPr lang="pt-BR" sz="1100" spc="-35" dirty="0">
                <a:latin typeface="+mn-lt"/>
              </a:rPr>
              <a:t>lados</a:t>
            </a:r>
            <a:r>
              <a:rPr lang="pt-BR" sz="1100" spc="-30" dirty="0">
                <a:latin typeface="+mn-lt"/>
              </a:rPr>
              <a:t> por </a:t>
            </a:r>
            <a:r>
              <a:rPr lang="pt-BR" sz="1100" spc="-45" dirty="0">
                <a:latin typeface="+mn-lt"/>
              </a:rPr>
              <a:t>(-</a:t>
            </a:r>
            <a:r>
              <a:rPr lang="pt-BR" sz="1100" spc="-25" dirty="0">
                <a:latin typeface="+mn-lt"/>
              </a:rPr>
              <a:t>1):</a:t>
            </a:r>
            <a:endParaRPr lang="pt-BR" sz="1100" dirty="0">
              <a:latin typeface="+mn-lt"/>
            </a:endParaRPr>
          </a:p>
          <a:p>
            <a:pPr marL="365125" algn="just"/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2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9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4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0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≤</a:t>
            </a:r>
            <a:r>
              <a:rPr lang="pt-BR" sz="1100" i="1" spc="-40" dirty="0">
                <a:latin typeface="+mn-lt"/>
                <a:cs typeface="Meiryo UI"/>
              </a:rPr>
              <a:t>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254000" algn="just">
              <a:lnSpc>
                <a:spcPct val="100000"/>
              </a:lnSpc>
              <a:spcBef>
                <a:spcPts val="585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  <a:endParaRPr lang="pt-BR" sz="1100" dirty="0">
              <a:latin typeface="+mn-lt"/>
            </a:endParaRPr>
          </a:p>
          <a:p>
            <a:pPr marL="365125" algn="just">
              <a:spcBef>
                <a:spcPts val="935"/>
              </a:spcBef>
            </a:pPr>
            <a:r>
              <a:rPr lang="pt-BR" sz="1100" i="1" spc="-25" dirty="0">
                <a:latin typeface="+mn-lt"/>
                <a:cs typeface="Meiryo UI"/>
              </a:rPr>
              <a:t>−</a:t>
            </a:r>
            <a:r>
              <a:rPr lang="pt-BR" sz="1100" i="1" spc="-25" dirty="0">
                <a:latin typeface="+mn-lt"/>
                <a:cs typeface="Calibri"/>
              </a:rPr>
              <a:t>a</a:t>
            </a:r>
            <a:r>
              <a:rPr lang="pt-BR" sz="1100" i="1" spc="-37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82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89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4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4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50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150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3888" dirty="0" err="1">
                <a:latin typeface="+mn-lt"/>
                <a:cs typeface="Arial"/>
              </a:rPr>
              <a:t>k</a:t>
            </a:r>
            <a:r>
              <a:rPr lang="pt-BR" sz="1100" i="1" spc="330" baseline="-13888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 </a:t>
            </a:r>
            <a:r>
              <a:rPr lang="pt-BR" sz="1100" i="1" spc="-25" dirty="0">
                <a:latin typeface="+mn-lt"/>
                <a:cs typeface="Meiryo UI"/>
              </a:rPr>
              <a:t>−</a:t>
            </a:r>
            <a:r>
              <a:rPr lang="pt-BR" sz="1100" i="1" spc="-25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257810" algn="just">
              <a:lnSpc>
                <a:spcPct val="100000"/>
              </a:lnSpc>
              <a:spcBef>
                <a:spcPts val="5"/>
              </a:spcBef>
            </a:pPr>
            <a:r>
              <a:rPr lang="pt-BR" sz="1100" spc="-50" dirty="0">
                <a:latin typeface="+mn-lt"/>
              </a:rPr>
              <a:t>e</a:t>
            </a:r>
            <a:endParaRPr lang="pt-BR" sz="1100" dirty="0">
              <a:latin typeface="+mn-lt"/>
            </a:endParaRPr>
          </a:p>
          <a:p>
            <a:pPr marL="365125" algn="just"/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2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97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4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0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</a:t>
            </a:r>
            <a:r>
              <a:rPr lang="pt-BR" sz="1100" i="1" spc="-40" dirty="0">
                <a:latin typeface="+mn-lt"/>
                <a:cs typeface="Meiryo UI"/>
              </a:rPr>
              <a:t>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254000" algn="just">
              <a:lnSpc>
                <a:spcPct val="100000"/>
              </a:lnSpc>
              <a:spcBef>
                <a:spcPts val="585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  <a:endParaRPr lang="pt-BR" sz="1100" dirty="0">
              <a:latin typeface="+mn-lt"/>
            </a:endParaRPr>
          </a:p>
          <a:p>
            <a:pPr marL="365125" algn="just">
              <a:spcBef>
                <a:spcPts val="940"/>
              </a:spcBef>
            </a:pPr>
            <a:r>
              <a:rPr lang="pt-BR" sz="1100" i="1" spc="-25" dirty="0">
                <a:latin typeface="+mn-lt"/>
                <a:cs typeface="Meiryo UI"/>
              </a:rPr>
              <a:t>−</a:t>
            </a:r>
            <a:r>
              <a:rPr lang="pt-BR" sz="1100" i="1" spc="-25" dirty="0">
                <a:latin typeface="+mn-lt"/>
                <a:cs typeface="Calibri"/>
              </a:rPr>
              <a:t>a</a:t>
            </a:r>
            <a:r>
              <a:rPr lang="pt-BR" sz="1100" i="1" spc="-37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1</a:t>
            </a:r>
            <a:r>
              <a:rPr lang="pt-BR" sz="1100" spc="82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i="1" dirty="0">
                <a:latin typeface="+mn-lt"/>
                <a:cs typeface="Calibri"/>
              </a:rPr>
              <a:t>x</a:t>
            </a:r>
            <a:r>
              <a:rPr lang="pt-BR" sz="1100" baseline="-10416" dirty="0">
                <a:latin typeface="+mn-lt"/>
              </a:rPr>
              <a:t>2</a:t>
            </a:r>
            <a:r>
              <a:rPr lang="pt-BR" sz="1100" spc="89" baseline="-10416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4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4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50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150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−</a:t>
            </a:r>
            <a:r>
              <a:rPr lang="pt-BR" sz="1100" i="1" spc="-120" dirty="0">
                <a:latin typeface="+mn-lt"/>
                <a:cs typeface="Meiryo UI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3888" dirty="0" err="1">
                <a:latin typeface="+mn-lt"/>
                <a:cs typeface="Arial"/>
              </a:rPr>
              <a:t>k</a:t>
            </a:r>
            <a:r>
              <a:rPr lang="pt-BR" sz="1100" i="1" spc="330" baseline="-13888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≤ </a:t>
            </a:r>
            <a:r>
              <a:rPr lang="pt-BR" sz="1100" i="1" spc="-25" dirty="0">
                <a:latin typeface="+mn-lt"/>
                <a:cs typeface="Meiryo UI"/>
              </a:rPr>
              <a:t>−</a:t>
            </a:r>
            <a:r>
              <a:rPr lang="pt-BR" sz="1100" i="1" spc="-25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algn="just"/>
            <a:endParaRPr lang="pt-BR" sz="1100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9286151E-BFAF-B527-FFDA-A493ED58D7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472B8BA6-6F62-26DE-4E86-2D99709B05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70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F08E81-B1A8-202C-616A-74F884105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060A35A-4A4E-D5F1-EBF9-3C5DAB138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04" y="307404"/>
            <a:ext cx="3815619" cy="261175"/>
          </a:xfrm>
        </p:spPr>
        <p:txBody>
          <a:bodyPr>
            <a:normAutofit fontScale="90000"/>
          </a:bodyPr>
          <a:lstStyle/>
          <a:p>
            <a:pPr algn="l"/>
            <a:r>
              <a:rPr lang="pt-BR" sz="2495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Transformação entre </a:t>
            </a:r>
            <a:r>
              <a:rPr lang="pt-BR" sz="2495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PPLs</a:t>
            </a:r>
            <a:endParaRPr lang="pt-BR" sz="2495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EE29992-5CE6-416C-D4DE-48C431B1D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423" y="686320"/>
            <a:ext cx="3733800" cy="2286000"/>
          </a:xfrm>
        </p:spPr>
        <p:txBody>
          <a:bodyPr>
            <a:noAutofit/>
          </a:bodyPr>
          <a:lstStyle/>
          <a:p>
            <a:pPr marL="207010" marR="17780" indent="-182245" algn="just">
              <a:lnSpc>
                <a:spcPct val="102699"/>
              </a:lnSpc>
              <a:spcBef>
                <a:spcPts val="55"/>
              </a:spcBef>
            </a:pPr>
            <a:r>
              <a:rPr lang="pt-BR" sz="1100" dirty="0" smtClean="0">
                <a:latin typeface="+mn-lt"/>
              </a:rPr>
              <a:t>6. Uma</a:t>
            </a:r>
            <a:r>
              <a:rPr lang="pt-BR" sz="1100" spc="-25" dirty="0" smtClean="0">
                <a:latin typeface="+mn-lt"/>
              </a:rPr>
              <a:t> </a:t>
            </a:r>
            <a:r>
              <a:rPr lang="pt-BR" sz="1100" spc="-50" dirty="0" err="1">
                <a:latin typeface="+mn-lt"/>
              </a:rPr>
              <a:t>restr</a:t>
            </a:r>
            <a:r>
              <a:rPr lang="pt-BR" sz="1100" spc="-60" dirty="0" err="1">
                <a:latin typeface="+mn-lt"/>
              </a:rPr>
              <a:t>i</a:t>
            </a:r>
            <a:r>
              <a:rPr lang="pt-BR" sz="1100" spc="-570" dirty="0" err="1">
                <a:latin typeface="+mn-lt"/>
              </a:rPr>
              <a:t>c</a:t>
            </a:r>
            <a:r>
              <a:rPr lang="pt-BR" sz="1100" spc="-70" dirty="0">
                <a:latin typeface="+mn-lt"/>
              </a:rPr>
              <a:t>¸</a:t>
            </a:r>
            <a:r>
              <a:rPr lang="pt-BR" sz="1100" spc="-650" dirty="0">
                <a:latin typeface="+mn-lt"/>
              </a:rPr>
              <a:t>˜</a:t>
            </a:r>
            <a:r>
              <a:rPr lang="pt-BR" sz="1100" spc="-50" dirty="0">
                <a:latin typeface="+mn-lt"/>
              </a:rPr>
              <a:t>ao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igualdade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40" dirty="0">
                <a:latin typeface="+mn-lt"/>
              </a:rPr>
              <a:t>pode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ser</a:t>
            </a:r>
            <a:r>
              <a:rPr lang="pt-BR" sz="1100" spc="-3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transformada</a:t>
            </a:r>
            <a:r>
              <a:rPr lang="pt-BR" sz="1100" spc="-25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em </a:t>
            </a:r>
            <a:r>
              <a:rPr lang="pt-BR" sz="1100" spc="-50" dirty="0">
                <a:latin typeface="+mn-lt"/>
              </a:rPr>
              <a:t>duas</a:t>
            </a:r>
            <a:r>
              <a:rPr lang="pt-BR" sz="1100" spc="-20" dirty="0">
                <a:latin typeface="+mn-lt"/>
              </a:rPr>
              <a:t> </a:t>
            </a:r>
            <a:r>
              <a:rPr lang="pt-BR" sz="1100" spc="-50" dirty="0" err="1">
                <a:latin typeface="+mn-lt"/>
              </a:rPr>
              <a:t>restri</a:t>
            </a:r>
            <a:r>
              <a:rPr lang="pt-BR" sz="1100" spc="-660" dirty="0" err="1">
                <a:latin typeface="+mn-lt"/>
              </a:rPr>
              <a:t>¸</a:t>
            </a:r>
            <a:r>
              <a:rPr lang="pt-BR" sz="1100" spc="-50" dirty="0" err="1">
                <a:latin typeface="+mn-lt"/>
              </a:rPr>
              <a:t>c</a:t>
            </a:r>
            <a:r>
              <a:rPr lang="pt-BR" sz="1100" spc="-665" dirty="0" err="1">
                <a:latin typeface="+mn-lt"/>
              </a:rPr>
              <a:t>˜</a:t>
            </a:r>
            <a:r>
              <a:rPr lang="pt-BR" sz="1100" spc="-50" dirty="0" err="1">
                <a:latin typeface="+mn-lt"/>
              </a:rPr>
              <a:t>oes</a:t>
            </a:r>
            <a:r>
              <a:rPr lang="pt-BR" sz="1100" spc="15" dirty="0">
                <a:latin typeface="+mn-lt"/>
              </a:rPr>
              <a:t> </a:t>
            </a:r>
            <a:r>
              <a:rPr lang="pt-BR" sz="1100" spc="-35" dirty="0">
                <a:latin typeface="+mn-lt"/>
              </a:rPr>
              <a:t>de</a:t>
            </a:r>
            <a:r>
              <a:rPr lang="pt-BR" sz="1100" spc="5" dirty="0">
                <a:latin typeface="+mn-lt"/>
              </a:rPr>
              <a:t> </a:t>
            </a:r>
            <a:r>
              <a:rPr lang="pt-BR" sz="1100" spc="-10" dirty="0">
                <a:latin typeface="+mn-lt"/>
              </a:rPr>
              <a:t>desigualdade:</a:t>
            </a:r>
          </a:p>
          <a:p>
            <a:pPr marL="960755" algn="just">
              <a:lnSpc>
                <a:spcPct val="100000"/>
              </a:lnSpc>
            </a:pP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000" dirty="0">
                <a:latin typeface="+mn-lt"/>
                <a:cs typeface="Arial"/>
              </a:rPr>
              <a:t>i1</a:t>
            </a:r>
            <a:r>
              <a:rPr lang="pt-BR" sz="1100" i="1" spc="-15" dirty="0">
                <a:latin typeface="+mn-lt"/>
                <a:cs typeface="Arial"/>
              </a:rPr>
              <a:t>x</a:t>
            </a:r>
            <a:r>
              <a:rPr lang="pt-BR" sz="1100" i="1" spc="-15" baseline="-25000" dirty="0">
                <a:latin typeface="+mn-lt"/>
                <a:cs typeface="Arial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i="1" spc="-209" baseline="-10000" dirty="0">
                <a:latin typeface="+mn-lt"/>
                <a:cs typeface="Arial"/>
              </a:rPr>
              <a:t>2 </a:t>
            </a:r>
            <a:r>
              <a:rPr lang="pt-BR" sz="1100" i="1" spc="-209" dirty="0">
                <a:latin typeface="+mn-lt"/>
                <a:cs typeface="Arial"/>
              </a:rPr>
              <a:t>x </a:t>
            </a:r>
            <a:r>
              <a:rPr lang="pt-BR" sz="1100" i="1" spc="-209" baseline="-25000" dirty="0">
                <a:latin typeface="+mn-lt"/>
                <a:cs typeface="Arial"/>
              </a:rPr>
              <a:t>2</a:t>
            </a:r>
            <a:r>
              <a:rPr lang="pt-BR" sz="1100" spc="11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3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7" baseline="-10416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=</a:t>
            </a:r>
            <a:r>
              <a:rPr lang="pt-BR" sz="1100" spc="-10" dirty="0">
                <a:latin typeface="+mn-lt"/>
              </a:rPr>
              <a:t>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dirty="0">
              <a:latin typeface="+mn-lt"/>
              <a:cs typeface="Calibri"/>
            </a:endParaRPr>
          </a:p>
          <a:p>
            <a:pPr marL="203200" algn="just">
              <a:lnSpc>
                <a:spcPct val="100000"/>
              </a:lnSpc>
              <a:spcBef>
                <a:spcPts val="805"/>
              </a:spcBef>
            </a:pPr>
            <a:r>
              <a:rPr lang="pt-BR" sz="1100" spc="-650" dirty="0">
                <a:latin typeface="+mn-lt"/>
              </a:rPr>
              <a:t>´</a:t>
            </a:r>
            <a:r>
              <a:rPr lang="pt-BR" sz="1100" spc="-75" dirty="0">
                <a:latin typeface="+mn-lt"/>
              </a:rPr>
              <a:t>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45" dirty="0">
                <a:latin typeface="+mn-lt"/>
              </a:rPr>
              <a:t>equivalente</a:t>
            </a:r>
            <a:r>
              <a:rPr lang="pt-BR" sz="1100" spc="20" dirty="0">
                <a:latin typeface="+mn-lt"/>
              </a:rPr>
              <a:t> </a:t>
            </a:r>
            <a:r>
              <a:rPr lang="pt-BR" sz="1100" spc="-50" dirty="0">
                <a:latin typeface="+mn-lt"/>
              </a:rPr>
              <a:t>a</a:t>
            </a:r>
          </a:p>
          <a:p>
            <a:pPr marL="203200" algn="just">
              <a:lnSpc>
                <a:spcPct val="100000"/>
              </a:lnSpc>
              <a:spcBef>
                <a:spcPts val="805"/>
              </a:spcBef>
            </a:pP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000" dirty="0">
                <a:latin typeface="+mn-lt"/>
                <a:cs typeface="Arial"/>
              </a:rPr>
              <a:t>i1</a:t>
            </a:r>
            <a:r>
              <a:rPr lang="pt-BR" sz="1100" i="1" spc="-15" dirty="0">
                <a:latin typeface="+mn-lt"/>
                <a:cs typeface="Arial"/>
              </a:rPr>
              <a:t>x</a:t>
            </a:r>
            <a:r>
              <a:rPr lang="pt-BR" sz="1100" i="1" spc="-15" baseline="-25000" dirty="0">
                <a:latin typeface="+mn-lt"/>
                <a:cs typeface="Arial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i="1" spc="-209" baseline="-10000" dirty="0">
                <a:latin typeface="+mn-lt"/>
                <a:cs typeface="Arial"/>
              </a:rPr>
              <a:t>2 </a:t>
            </a:r>
            <a:r>
              <a:rPr lang="pt-BR" sz="1100" i="1" spc="-209" dirty="0">
                <a:latin typeface="+mn-lt"/>
                <a:cs typeface="Arial"/>
              </a:rPr>
              <a:t>x </a:t>
            </a:r>
            <a:r>
              <a:rPr lang="pt-BR" sz="1100" i="1" spc="-209" baseline="-25000" dirty="0">
                <a:latin typeface="+mn-lt"/>
                <a:cs typeface="Arial"/>
              </a:rPr>
              <a:t>2</a:t>
            </a:r>
            <a:r>
              <a:rPr lang="pt-BR" sz="1100" spc="11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3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7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≤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</a:p>
          <a:p>
            <a:pPr marL="203200" algn="just">
              <a:lnSpc>
                <a:spcPct val="100000"/>
              </a:lnSpc>
              <a:spcBef>
                <a:spcPts val="805"/>
              </a:spcBef>
            </a:pP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000" dirty="0">
                <a:latin typeface="+mn-lt"/>
                <a:cs typeface="Arial"/>
              </a:rPr>
              <a:t>i1</a:t>
            </a:r>
            <a:r>
              <a:rPr lang="pt-BR" sz="1100" i="1" spc="-15" dirty="0">
                <a:latin typeface="+mn-lt"/>
                <a:cs typeface="Arial"/>
              </a:rPr>
              <a:t>x</a:t>
            </a:r>
            <a:r>
              <a:rPr lang="pt-BR" sz="1100" i="1" spc="-15" baseline="-25000" dirty="0">
                <a:latin typeface="+mn-lt"/>
                <a:cs typeface="Arial"/>
              </a:rPr>
              <a:t>1</a:t>
            </a:r>
            <a:r>
              <a:rPr lang="pt-BR" sz="1100" spc="104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75" dirty="0">
                <a:latin typeface="+mn-lt"/>
              </a:rPr>
              <a:t> </a:t>
            </a:r>
            <a:r>
              <a:rPr lang="pt-BR" sz="1100" i="1" spc="-10" dirty="0">
                <a:latin typeface="+mn-lt"/>
                <a:cs typeface="Calibri"/>
              </a:rPr>
              <a:t>a</a:t>
            </a:r>
            <a:r>
              <a:rPr lang="pt-BR" sz="1100" i="1" spc="-15" baseline="-10416" dirty="0">
                <a:latin typeface="+mn-lt"/>
                <a:cs typeface="Arial"/>
              </a:rPr>
              <a:t>i</a:t>
            </a:r>
            <a:r>
              <a:rPr lang="pt-BR" sz="1100" i="1" spc="-209" baseline="-10416" dirty="0">
                <a:latin typeface="+mn-lt"/>
                <a:cs typeface="Arial"/>
              </a:rPr>
              <a:t> </a:t>
            </a:r>
            <a:r>
              <a:rPr lang="pt-BR" sz="1100" i="1" spc="-209" baseline="-10000" dirty="0">
                <a:latin typeface="+mn-lt"/>
                <a:cs typeface="Arial"/>
              </a:rPr>
              <a:t>2 </a:t>
            </a:r>
            <a:r>
              <a:rPr lang="pt-BR" sz="1100" i="1" spc="-209" dirty="0">
                <a:latin typeface="+mn-lt"/>
                <a:cs typeface="Arial"/>
              </a:rPr>
              <a:t>x </a:t>
            </a:r>
            <a:r>
              <a:rPr lang="pt-BR" sz="1100" i="1" spc="-209" baseline="-25000" dirty="0">
                <a:latin typeface="+mn-lt"/>
                <a:cs typeface="Arial"/>
              </a:rPr>
              <a:t>2</a:t>
            </a:r>
            <a:r>
              <a:rPr lang="pt-BR" sz="1100" spc="112" baseline="-10416" dirty="0">
                <a:latin typeface="+mn-lt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05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110" dirty="0">
                <a:latin typeface="+mn-lt"/>
                <a:cs typeface="Arial"/>
              </a:rPr>
              <a:t> </a:t>
            </a:r>
            <a:r>
              <a:rPr lang="pt-BR" sz="1100" i="1" dirty="0">
                <a:latin typeface="+mn-lt"/>
                <a:cs typeface="Arial"/>
              </a:rPr>
              <a:t>.</a:t>
            </a:r>
            <a:r>
              <a:rPr lang="pt-BR" sz="1100" i="1" spc="-35" dirty="0">
                <a:latin typeface="+mn-lt"/>
                <a:cs typeface="Arial"/>
              </a:rPr>
              <a:t> </a:t>
            </a:r>
            <a:r>
              <a:rPr lang="pt-BR" sz="1100" dirty="0">
                <a:latin typeface="+mn-lt"/>
              </a:rPr>
              <a:t>+</a:t>
            </a:r>
            <a:r>
              <a:rPr lang="pt-BR" sz="1100" spc="-80" dirty="0">
                <a:latin typeface="+mn-lt"/>
              </a:rPr>
              <a:t> </a:t>
            </a:r>
            <a:r>
              <a:rPr lang="pt-BR" sz="1100" i="1" dirty="0" err="1">
                <a:latin typeface="+mn-lt"/>
                <a:cs typeface="Calibri"/>
              </a:rPr>
              <a:t>a</a:t>
            </a:r>
            <a:r>
              <a:rPr lang="pt-BR" sz="1100" i="1" baseline="-10416" dirty="0" err="1">
                <a:latin typeface="+mn-lt"/>
                <a:cs typeface="Arial"/>
              </a:rPr>
              <a:t>in</a:t>
            </a:r>
            <a:r>
              <a:rPr lang="pt-BR" sz="1100" i="1" dirty="0" err="1">
                <a:latin typeface="+mn-lt"/>
                <a:cs typeface="Calibri"/>
              </a:rPr>
              <a:t>x</a:t>
            </a:r>
            <a:r>
              <a:rPr lang="pt-BR" sz="1100" i="1" baseline="-10416" dirty="0" err="1">
                <a:latin typeface="+mn-lt"/>
                <a:cs typeface="Arial"/>
              </a:rPr>
              <a:t>n</a:t>
            </a:r>
            <a:r>
              <a:rPr lang="pt-BR" sz="1100" i="1" spc="277" baseline="-10416" dirty="0">
                <a:latin typeface="+mn-lt"/>
                <a:cs typeface="Arial"/>
              </a:rPr>
              <a:t> </a:t>
            </a:r>
            <a:r>
              <a:rPr lang="pt-BR" sz="1100" i="1" spc="-50" dirty="0">
                <a:latin typeface="+mn-lt"/>
                <a:cs typeface="Meiryo UI"/>
              </a:rPr>
              <a:t>≥ </a:t>
            </a:r>
            <a:r>
              <a:rPr lang="pt-BR" sz="1100" i="1" spc="-50" dirty="0">
                <a:latin typeface="+mn-lt"/>
                <a:cs typeface="Calibri"/>
              </a:rPr>
              <a:t>b</a:t>
            </a:r>
            <a:endParaRPr lang="pt-BR" sz="1100" spc="-50" dirty="0">
              <a:latin typeface="+mn-lt"/>
            </a:endParaRPr>
          </a:p>
          <a:p>
            <a:pPr marL="203200" algn="just">
              <a:lnSpc>
                <a:spcPct val="100000"/>
              </a:lnSpc>
              <a:spcBef>
                <a:spcPts val="805"/>
              </a:spcBef>
            </a:pPr>
            <a:endParaRPr lang="pt-BR" sz="1100" spc="-50" dirty="0">
              <a:latin typeface="+mn-lt"/>
            </a:endParaRPr>
          </a:p>
          <a:p>
            <a:pPr marL="203200" algn="just">
              <a:lnSpc>
                <a:spcPct val="100000"/>
              </a:lnSpc>
              <a:spcBef>
                <a:spcPts val="805"/>
              </a:spcBef>
            </a:pPr>
            <a:endParaRPr lang="pt-BR" sz="1100" spc="-50" dirty="0">
              <a:latin typeface="+mn-lt"/>
            </a:endParaRPr>
          </a:p>
          <a:p>
            <a:pPr algn="just"/>
            <a:endParaRPr lang="pt-BR" sz="1100" dirty="0">
              <a:latin typeface="+mn-lt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xmlns="" id="{AE93868A-F9A4-FD0B-0AB8-907A5C57D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5" y="2111521"/>
            <a:ext cx="919133" cy="85137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xmlns="" id="{7F416001-7945-E0ED-08A2-1C4D53D4F2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91" y="437992"/>
            <a:ext cx="480219" cy="4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1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477</Words>
  <Application>Microsoft Office PowerPoint</Application>
  <PresentationFormat>Personalizar</PresentationFormat>
  <Paragraphs>63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Pesquisa Operacional I Equivalência entre PPLs</vt:lpstr>
      <vt:lpstr>Transformação entre PPLs</vt:lpstr>
      <vt:lpstr>Transformação entre PPLs</vt:lpstr>
      <vt:lpstr>Transformação entre PPLs</vt:lpstr>
      <vt:lpstr>Transformação entre PPLs</vt:lpstr>
      <vt:lpstr>Transformação entre PPLs</vt:lpstr>
      <vt:lpstr>Transformação entre PPLs</vt:lpstr>
      <vt:lpstr>Transformação entre PPLs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Equivalência entre PPLs</dc:title>
  <cp:lastModifiedBy>andrea</cp:lastModifiedBy>
  <cp:revision>4</cp:revision>
  <dcterms:created xsi:type="dcterms:W3CDTF">2025-06-09T15:47:49Z</dcterms:created>
  <dcterms:modified xsi:type="dcterms:W3CDTF">2025-11-19T13:21:46Z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2025-06-09T00:00:00Z</vt:filetime>
  </property>
  <property fmtid="{D5CDD505-2E9C-101B-9397-08002B2CF9AE}" pid="5" name="PTEX.Fullbanner">
    <vt:lpwstr>This is pdfTeX, Version 3.14159265-2.6-1.40.20 (TeX Live 2019) kpathsea version 6.3.1</vt:lpwstr>
  </property>
  <property fmtid="{D5CDD505-2E9C-101B-9397-08002B2CF9AE}" pid="6" name="Producer">
    <vt:lpwstr>pdfTeX-1.40.20</vt:lpwstr>
  </property>
</Properties>
</file>