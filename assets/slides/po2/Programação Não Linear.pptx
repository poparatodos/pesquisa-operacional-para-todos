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68" r:id="rId4"/>
    <p:sldId id="260" r:id="rId5"/>
    <p:sldId id="261" r:id="rId6"/>
    <p:sldId id="258" r:id="rId7"/>
    <p:sldId id="263" r:id="rId8"/>
    <p:sldId id="264" r:id="rId9"/>
    <p:sldId id="265" r:id="rId10"/>
    <p:sldId id="262" r:id="rId11"/>
    <p:sldId id="272" r:id="rId12"/>
    <p:sldId id="276" r:id="rId13"/>
    <p:sldId id="273" r:id="rId14"/>
    <p:sldId id="275" r:id="rId15"/>
    <p:sldId id="277" r:id="rId16"/>
    <p:sldId id="278" r:id="rId17"/>
    <p:sldId id="279" r:id="rId18"/>
    <p:sldId id="281" r:id="rId19"/>
    <p:sldId id="282" r:id="rId20"/>
    <p:sldId id="283" r:id="rId21"/>
    <p:sldId id="271" r:id="rId22"/>
    <p:sldId id="289" r:id="rId23"/>
    <p:sldId id="290" r:id="rId24"/>
    <p:sldId id="291" r:id="rId25"/>
    <p:sldId id="292" r:id="rId26"/>
    <p:sldId id="284" r:id="rId27"/>
    <p:sldId id="285" r:id="rId28"/>
    <p:sldId id="286" r:id="rId29"/>
    <p:sldId id="266" r:id="rId30"/>
    <p:sldId id="267" r:id="rId31"/>
    <p:sldId id="287" r:id="rId32"/>
    <p:sldId id="288" r:id="rId3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57" autoAdjust="0"/>
    <p:restoredTop sz="84554" autoAdjust="0"/>
  </p:normalViewPr>
  <p:slideViewPr>
    <p:cSldViewPr>
      <p:cViewPr varScale="1">
        <p:scale>
          <a:sx n="96" d="100"/>
          <a:sy n="96" d="100"/>
        </p:scale>
        <p:origin x="16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8B293-1E02-47B5-9384-E4B67707FA34}" type="datetimeFigureOut">
              <a:rPr lang="pt-BR" smtClean="0"/>
              <a:t>31/10/2021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39C3-F99C-409F-BA30-4780C18DD7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605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FAFD9EA5-B65E-466C-87D4-AEF4709A7707}" type="datetimeFigureOut">
              <a:rPr lang="pt-BR" smtClean="0"/>
              <a:t>31/10/2021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CA4E8ADD-DDC5-48B9-896D-D4F33D75D5AB}" type="slidenum">
              <a:rPr lang="pt-BR" smtClean="0"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Pesquisa Operacional 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Prof</a:t>
            </a:r>
            <a:r>
              <a:rPr lang="pt-BR"/>
              <a:t>.: Andréa </a:t>
            </a:r>
            <a:r>
              <a:rPr lang="pt-BR" dirty="0"/>
              <a:t>Bonifácio</a:t>
            </a:r>
          </a:p>
        </p:txBody>
      </p:sp>
    </p:spTree>
    <p:extLst>
      <p:ext uri="{BB962C8B-B14F-4D97-AF65-F5344CB8AC3E}">
        <p14:creationId xmlns:p14="http://schemas.microsoft.com/office/powerpoint/2010/main" val="75839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Não Linear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916831"/>
            <a:ext cx="8496238" cy="4633921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Em um problema de  Programação Não Linear (PNL) pelo menos uma das funções de restrição </a:t>
            </a:r>
            <a:r>
              <a:rPr lang="pt-BR" dirty="0" err="1"/>
              <a:t>g</a:t>
            </a:r>
            <a:r>
              <a:rPr lang="pt-BR" baseline="-25000" dirty="0" err="1"/>
              <a:t>i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 ou a função objetivo </a:t>
            </a:r>
            <a:r>
              <a:rPr lang="pt-BR" dirty="0" err="1"/>
              <a:t>f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 é não linear.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Formulação: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3" t="39560" r="56015" b="30220"/>
          <a:stretch/>
        </p:blipFill>
        <p:spPr bwMode="auto">
          <a:xfrm>
            <a:off x="2483768" y="4005063"/>
            <a:ext cx="4176464" cy="247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145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Problemas de Programação Não Linear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b="1" dirty="0"/>
              <a:t>Otimização Irrestrita: </a:t>
            </a:r>
            <a:r>
              <a:rPr lang="pt-BR" dirty="0"/>
              <a:t>são aqueles que não apresentam restrições.</a:t>
            </a:r>
          </a:p>
          <a:p>
            <a:pPr algn="just"/>
            <a:r>
              <a:rPr lang="pt-BR" b="1" dirty="0"/>
              <a:t>Programação Quadrática: </a:t>
            </a:r>
            <a:r>
              <a:rPr lang="pt-BR" dirty="0"/>
              <a:t>possuem restrições lineares, porém a função objetivo deve ser quadrática, ou seja alguns dos termos envolvem o quadrado de uma variável ou o produto de duas variáveis.</a:t>
            </a:r>
          </a:p>
          <a:p>
            <a:pPr algn="just"/>
            <a:r>
              <a:rPr lang="pt-BR" b="1" dirty="0"/>
              <a:t>Programação Convexa: </a:t>
            </a:r>
            <a:r>
              <a:rPr lang="pt-BR" dirty="0"/>
              <a:t>Cobre uma ampla gama de problemas, e engloba como casos especiais todos os anteriores, em certas condições.</a:t>
            </a:r>
          </a:p>
          <a:p>
            <a:pPr algn="just"/>
            <a:r>
              <a:rPr lang="pt-BR" b="1" dirty="0"/>
              <a:t>Programação Não  Convexa: </a:t>
            </a:r>
            <a:r>
              <a:rPr lang="pt-BR" dirty="0"/>
              <a:t>Engloba todos os problemas de programação não linear que não satisfazem as hipóteses da programação convexa.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13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56792"/>
            <a:ext cx="7467600" cy="4432933"/>
          </a:xfrm>
        </p:spPr>
        <p:txBody>
          <a:bodyPr/>
          <a:lstStyle/>
          <a:p>
            <a:r>
              <a:rPr lang="pt-BR" dirty="0"/>
              <a:t>Quando o preço de venda </a:t>
            </a:r>
            <a:r>
              <a:rPr lang="pt-BR" dirty="0" err="1"/>
              <a:t>p</a:t>
            </a:r>
            <a:r>
              <a:rPr lang="pt-BR" dirty="0"/>
              <a:t> varia em função da quantidade de produtos vendidos </a:t>
            </a:r>
            <a:r>
              <a:rPr lang="pt-BR" dirty="0" err="1"/>
              <a:t>x</a:t>
            </a:r>
            <a:r>
              <a:rPr lang="pt-BR"/>
              <a:t> e </a:t>
            </a:r>
            <a:r>
              <a:rPr lang="pt-BR" dirty="0"/>
              <a:t>a função é não-linear: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8" t="34996" r="42770" b="6751"/>
          <a:stretch/>
        </p:blipFill>
        <p:spPr bwMode="auto">
          <a:xfrm>
            <a:off x="179512" y="2837866"/>
            <a:ext cx="3528392" cy="3760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03" t="28969" r="40185" b="13509"/>
          <a:stretch/>
        </p:blipFill>
        <p:spPr bwMode="auto">
          <a:xfrm>
            <a:off x="4813540" y="2837866"/>
            <a:ext cx="3456384" cy="37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39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56792"/>
            <a:ext cx="7467600" cy="4432933"/>
          </a:xfrm>
        </p:spPr>
        <p:txBody>
          <a:bodyPr/>
          <a:lstStyle/>
          <a:p>
            <a:r>
              <a:rPr lang="pt-BR" dirty="0"/>
              <a:t>Quando o produto possui um custo marginal a ser considerado (Transportadora):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9" t="26828" r="44504" b="2691"/>
          <a:stretch/>
        </p:blipFill>
        <p:spPr bwMode="auto">
          <a:xfrm>
            <a:off x="467544" y="2420888"/>
            <a:ext cx="3180305" cy="430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1" t="21144" r="45110" b="7464"/>
          <a:stretch/>
        </p:blipFill>
        <p:spPr bwMode="auto">
          <a:xfrm>
            <a:off x="5508104" y="2373419"/>
            <a:ext cx="2952328" cy="4352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82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o problema tenha uma ou duas variáveis, ele pode ser representado graficamente de forma parecida com a Programação Linear.</a:t>
            </a:r>
          </a:p>
          <a:p>
            <a:endParaRPr lang="pt-BR" dirty="0"/>
          </a:p>
          <a:p>
            <a:r>
              <a:rPr lang="pt-BR" dirty="0"/>
              <a:t>Serão observadas algumas dificuldades geradas pelo fato de algumas funções serem não lineares.</a:t>
            </a:r>
          </a:p>
        </p:txBody>
      </p:sp>
    </p:spTree>
    <p:extLst>
      <p:ext uri="{BB962C8B-B14F-4D97-AF65-F5344CB8AC3E}">
        <p14:creationId xmlns:p14="http://schemas.microsoft.com/office/powerpoint/2010/main" val="301186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08" t="29608" r="31313" b="55712"/>
          <a:stretch/>
        </p:blipFill>
        <p:spPr bwMode="auto">
          <a:xfrm>
            <a:off x="2087724" y="2780928"/>
            <a:ext cx="4968552" cy="246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395536" y="1938339"/>
            <a:ext cx="4054415" cy="4157933"/>
            <a:chOff x="1311215" y="2018580"/>
            <a:chExt cx="4054415" cy="4157933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39" t="29660" r="43900" b="10377"/>
            <a:stretch/>
          </p:blipFill>
          <p:spPr bwMode="auto">
            <a:xfrm>
              <a:off x="1311215" y="2018580"/>
              <a:ext cx="4054415" cy="4157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tângulo 3"/>
            <p:cNvSpPr/>
            <p:nvPr/>
          </p:nvSpPr>
          <p:spPr>
            <a:xfrm>
              <a:off x="4680012" y="2018580"/>
              <a:ext cx="685618" cy="1122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0" t="30407" r="31834" b="55311"/>
          <a:stretch/>
        </p:blipFill>
        <p:spPr bwMode="auto">
          <a:xfrm>
            <a:off x="4278059" y="2780928"/>
            <a:ext cx="4038357" cy="246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610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2" t="37072" r="25479" b="45014"/>
          <a:stretch/>
        </p:blipFill>
        <p:spPr bwMode="auto">
          <a:xfrm>
            <a:off x="1631672" y="2852936"/>
            <a:ext cx="5880657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427596" y="2442592"/>
            <a:ext cx="3640348" cy="4175185"/>
            <a:chOff x="1173192" y="2449902"/>
            <a:chExt cx="3640348" cy="4175185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78" t="35880" r="48144" b="3908"/>
            <a:stretch/>
          </p:blipFill>
          <p:spPr bwMode="auto">
            <a:xfrm>
              <a:off x="1173192" y="2449902"/>
              <a:ext cx="3640348" cy="4175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tângulo 3"/>
            <p:cNvSpPr/>
            <p:nvPr/>
          </p:nvSpPr>
          <p:spPr>
            <a:xfrm>
              <a:off x="4283968" y="2449902"/>
              <a:ext cx="529572" cy="13391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9" t="35775" r="25071" b="42731"/>
          <a:stretch/>
        </p:blipFill>
        <p:spPr bwMode="auto">
          <a:xfrm>
            <a:off x="4067944" y="2852936"/>
            <a:ext cx="4167634" cy="2160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513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10" t="13959" r="44298" b="72082"/>
          <a:stretch/>
        </p:blipFill>
        <p:spPr bwMode="auto">
          <a:xfrm>
            <a:off x="1647616" y="2708920"/>
            <a:ext cx="5848769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251520" y="1772816"/>
            <a:ext cx="5073147" cy="4830793"/>
            <a:chOff x="78177" y="1772816"/>
            <a:chExt cx="5073147" cy="4830793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12" t="17417" r="40329" b="12917"/>
            <a:stretch/>
          </p:blipFill>
          <p:spPr bwMode="auto">
            <a:xfrm>
              <a:off x="78177" y="1772816"/>
              <a:ext cx="4899804" cy="4830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4860032" y="1772816"/>
              <a:ext cx="291292" cy="14401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1806369" y="1772816"/>
              <a:ext cx="2592288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9" t="14208" r="44165" b="71584"/>
          <a:stretch/>
        </p:blipFill>
        <p:spPr bwMode="auto">
          <a:xfrm>
            <a:off x="5151324" y="2708920"/>
            <a:ext cx="3833960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87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Dificuldades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56792"/>
            <a:ext cx="7467600" cy="4432933"/>
          </a:xfrm>
        </p:spPr>
        <p:txBody>
          <a:bodyPr/>
          <a:lstStyle/>
          <a:p>
            <a:r>
              <a:rPr lang="pt-BR" dirty="0"/>
              <a:t>Como vimos, diferente da Programação Linear, o valor máximo da função não necessariamente é o valor mais extremo da região do gráfico, quando trabalhamos com funções não lineares.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Os problemas de PNL são mais difíceis de serem resolvidos, porém, são muito comuns na prática.</a:t>
            </a:r>
          </a:p>
          <a:p>
            <a:endParaRPr lang="pt-BR" dirty="0"/>
          </a:p>
          <a:p>
            <a:r>
              <a:rPr lang="pt-BR" dirty="0"/>
              <a:t>Os algoritmos de PNL são mais diversos e mais complexos.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68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1: Otimização irrestrita com uma variável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pt-BR" b="1" dirty="0"/>
              </a:p>
              <a:p>
                <a:r>
                  <a:rPr lang="pt-BR" b="1" dirty="0"/>
                  <a:t>Exemplo: </a:t>
                </a:r>
                <a:r>
                  <a:rPr lang="pt-BR" dirty="0"/>
                  <a:t>Resolver o seguinte problema</a:t>
                </a:r>
              </a:p>
              <a:p>
                <a:pPr algn="ctr"/>
                <a:r>
                  <a:rPr lang="pt-BR" dirty="0"/>
                  <a:t>Max </a:t>
                </a:r>
                <a:r>
                  <a:rPr lang="pt-BR" dirty="0" err="1"/>
                  <a:t>z</a:t>
                </a:r>
                <a:r>
                  <a:rPr lang="pt-BR" dirty="0"/>
                  <a:t> =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931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1: Otimização irrestrita com uma variável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Considere a </a:t>
                </a:r>
                <a:r>
                  <a:rPr lang="pt-BR" dirty="0" err="1"/>
                  <a:t>f.o</a:t>
                </a:r>
                <a:r>
                  <a:rPr lang="pt-BR" dirty="0"/>
                  <a:t>. uma função </a:t>
                </a:r>
                <a:r>
                  <a:rPr lang="pt-BR" dirty="0" err="1"/>
                  <a:t>diferenciável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Nesse caso, a condição necessária e suficiente para determinada solução </a:t>
                </a:r>
                <a:r>
                  <a:rPr lang="pt-BR" dirty="0" err="1"/>
                  <a:t>x</a:t>
                </a:r>
                <a:r>
                  <a:rPr lang="pt-BR" dirty="0"/>
                  <a:t> = </a:t>
                </a:r>
                <a:r>
                  <a:rPr lang="pt-BR" dirty="0" err="1"/>
                  <a:t>x</a:t>
                </a:r>
                <a:r>
                  <a:rPr lang="pt-BR" dirty="0"/>
                  <a:t>* seja ótima é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=0    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𝑒𝑚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BR" dirty="0"/>
                  <a:t> 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r>
                  <a:rPr lang="pt-BR" b="1" dirty="0"/>
                  <a:t>Problema: </a:t>
                </a:r>
                <a:r>
                  <a:rPr lang="pt-BR" dirty="0"/>
                  <a:t>Se a derivada de </a:t>
                </a:r>
                <a:r>
                  <a:rPr lang="pt-BR" dirty="0" err="1"/>
                  <a:t>f</a:t>
                </a:r>
                <a:r>
                  <a:rPr lang="pt-BR" dirty="0"/>
                  <a:t>(</a:t>
                </a:r>
                <a:r>
                  <a:rPr lang="pt-BR" dirty="0" err="1"/>
                  <a:t>x</a:t>
                </a:r>
                <a:r>
                  <a:rPr lang="pt-BR" dirty="0"/>
                  <a:t>) não resultar numa função simples, não seremos capaz de resolver o problema analiticamente.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12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57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1: Otimização irrestrita com uma variável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CC33CE-F195-534F-9543-B7E78F9A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Nesse caso, recorremos a alguns métodos de busca de soluções experimentais que levam a uma solução ótima.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Por exemplo: </a:t>
            </a:r>
            <a:r>
              <a:rPr lang="pt-BR" b="1" dirty="0"/>
              <a:t>Método da bissecção e o Método de Newton.</a:t>
            </a:r>
          </a:p>
        </p:txBody>
      </p:sp>
    </p:spTree>
    <p:extLst>
      <p:ext uri="{BB962C8B-B14F-4D97-AF65-F5344CB8AC3E}">
        <p14:creationId xmlns:p14="http://schemas.microsoft.com/office/powerpoint/2010/main" val="153797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60" y="332656"/>
            <a:ext cx="8628120" cy="1442674"/>
          </a:xfrm>
        </p:spPr>
        <p:txBody>
          <a:bodyPr/>
          <a:lstStyle/>
          <a:p>
            <a:r>
              <a:rPr lang="pt-BR" dirty="0"/>
              <a:t>Caso 1.1: Otimização irrestrita com múltiplas variáveis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Exemplo: Considere o seguinte problema de otimização</a:t>
                </a:r>
              </a:p>
              <a:p>
                <a:pPr algn="ctr"/>
                <a:endParaRPr lang="pt-BR" dirty="0"/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b="0" i="1" smtClean="0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12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761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60" y="332656"/>
            <a:ext cx="8628120" cy="1442674"/>
          </a:xfrm>
        </p:spPr>
        <p:txBody>
          <a:bodyPr/>
          <a:lstStyle/>
          <a:p>
            <a:r>
              <a:rPr lang="pt-BR" dirty="0"/>
              <a:t>Caso 1.1: Otimização irrestrita com múltiplas variáveis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pt-BR" dirty="0"/>
                  <a:t>Nesse caso, a condição necessária e suficiente para determinada solução </a:t>
                </a:r>
                <a:r>
                  <a:rPr lang="pt-BR" dirty="0" err="1"/>
                  <a:t>x</a:t>
                </a:r>
                <a:r>
                  <a:rPr lang="pt-BR" dirty="0"/>
                  <a:t>* = (</a:t>
                </a:r>
                <a:r>
                  <a:rPr lang="pt-BR" dirty="0" err="1"/>
                  <a:t>x</a:t>
                </a:r>
                <a:r>
                  <a:rPr lang="pt-BR" dirty="0"/>
                  <a:t>*</a:t>
                </a:r>
                <a:r>
                  <a:rPr lang="pt-BR" baseline="-25000" dirty="0"/>
                  <a:t>1</a:t>
                </a:r>
                <a:r>
                  <a:rPr lang="pt-BR" dirty="0"/>
                  <a:t>, </a:t>
                </a:r>
                <a:r>
                  <a:rPr lang="pt-BR" dirty="0" err="1"/>
                  <a:t>x</a:t>
                </a:r>
                <a:r>
                  <a:rPr lang="pt-BR" dirty="0"/>
                  <a:t>*</a:t>
                </a:r>
                <a:r>
                  <a:rPr lang="pt-BR" baseline="-25000" dirty="0"/>
                  <a:t>2</a:t>
                </a:r>
                <a:r>
                  <a:rPr lang="pt-BR" dirty="0"/>
                  <a:t>, ...</a:t>
                </a:r>
                <a:r>
                  <a:rPr lang="pt-BR" dirty="0" err="1"/>
                  <a:t>x</a:t>
                </a:r>
                <a:r>
                  <a:rPr lang="pt-BR" dirty="0"/>
                  <a:t>*</a:t>
                </a:r>
                <a:r>
                  <a:rPr lang="pt-BR" baseline="-25000" dirty="0" err="1"/>
                  <a:t>n</a:t>
                </a:r>
                <a:r>
                  <a:rPr lang="pt-BR" dirty="0"/>
                  <a:t>) seja ótima é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pt-BR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  <a:p>
                <a:pPr algn="ctr"/>
                <a:endParaRPr lang="pt-BR" dirty="0"/>
              </a:p>
              <a:p>
                <a:pPr marL="0" indent="0" algn="ctr">
                  <a:buNone/>
                </a:pPr>
                <a:endParaRPr lang="pt-BR" dirty="0"/>
              </a:p>
              <a:p>
                <a:r>
                  <a:rPr lang="pt-BR" b="1" dirty="0"/>
                  <a:t>Problema: </a:t>
                </a:r>
                <a:r>
                  <a:rPr lang="pt-BR" dirty="0"/>
                  <a:t>Se as derivadas parciais de </a:t>
                </a:r>
                <a:r>
                  <a:rPr lang="pt-BR" dirty="0" err="1"/>
                  <a:t>f</a:t>
                </a:r>
                <a:r>
                  <a:rPr lang="pt-BR" dirty="0"/>
                  <a:t>(</a:t>
                </a:r>
                <a:r>
                  <a:rPr lang="pt-BR" dirty="0" err="1"/>
                  <a:t>x</a:t>
                </a:r>
                <a:r>
                  <a:rPr lang="pt-BR" dirty="0"/>
                  <a:t>) não resultarem numa função simples, não seremos capaz de resolver o problema analiticamente.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DCC33CE-F195-534F-9543-B7E78F9AF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79" t="-1923" r="-679" b="-3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387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80" y="436563"/>
            <a:ext cx="8413208" cy="1442674"/>
          </a:xfrm>
        </p:spPr>
        <p:txBody>
          <a:bodyPr/>
          <a:lstStyle/>
          <a:p>
            <a:r>
              <a:rPr lang="pt-BR" dirty="0"/>
              <a:t>Caso 1.1: Otimização irrestrita com múltiplas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CC33CE-F195-534F-9543-B7E78F9A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Nesse caso, podemos recorrer a alguns métodos de busca direta e métodos de descida ou indiretos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Métodos de Busca Direta: </a:t>
            </a:r>
            <a:r>
              <a:rPr lang="pt-BR" dirty="0"/>
              <a:t>são métodos que otimizam a função sem o uso da derivada. Em geral, os métodos que usam derivadas convergem mais rapidamente quando comparados aos métodos de busca direta.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948735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E5E0-5C17-1A45-9824-A8DDFEA4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80" y="436563"/>
            <a:ext cx="8197184" cy="1442674"/>
          </a:xfrm>
        </p:spPr>
        <p:txBody>
          <a:bodyPr/>
          <a:lstStyle/>
          <a:p>
            <a:r>
              <a:rPr lang="pt-BR" dirty="0"/>
              <a:t>Caso 1.1: Otimização irrestrita com múltiplas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CC33CE-F195-534F-9543-B7E78F9A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r>
              <a:rPr lang="pt-BR" b="1" dirty="0"/>
              <a:t>Métodos de Descida ou métodos Indiretos: </a:t>
            </a:r>
            <a:r>
              <a:rPr lang="pt-BR" dirty="0"/>
              <a:t>são métodos que utilizam a primeira e/ou a segunda derivada da função para definir as direções de busca. Dentre eles, destacam-se: método do gradiente, método do gradiente conjugado, método de Newton e  método de Quase-Newton.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8109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15C52-7576-4D4D-BF62-DE4AC39F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2: Otimização não linear com restrição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B37A745-0453-5741-9DE6-19745BF34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Considere o problema no formato:</a:t>
                </a:r>
              </a:p>
              <a:p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:r>
                  <a:rPr lang="pt-BR" dirty="0"/>
                  <a:t>Sujeito a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B37A745-0453-5741-9DE6-19745BF34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12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825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1454F-D9BC-E44C-8904-1DEC6995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Otimização Restrita – Condições </a:t>
            </a:r>
            <a:r>
              <a:rPr lang="pt-BR" dirty="0" err="1"/>
              <a:t>Karush</a:t>
            </a:r>
            <a:r>
              <a:rPr lang="pt-BR" dirty="0"/>
              <a:t>-</a:t>
            </a:r>
            <a:r>
              <a:rPr lang="pt-BR" dirty="0" err="1"/>
              <a:t>Khun</a:t>
            </a:r>
            <a:r>
              <a:rPr lang="pt-BR" dirty="0"/>
              <a:t>-Tucker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FAF437-1CEB-E949-A7EC-EB1C3AA1F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57983"/>
                <a:ext cx="7467600" cy="3951337"/>
              </a:xfrm>
            </p:spPr>
            <p:txBody>
              <a:bodyPr/>
              <a:lstStyle/>
              <a:p>
                <a:r>
                  <a:rPr lang="pt-BR" b="1" dirty="0"/>
                  <a:t>Teorema: </a:t>
                </a:r>
                <a:r>
                  <a:rPr lang="pt-BR" dirty="0"/>
                  <a:t>Suponha que </a:t>
                </a:r>
                <a:r>
                  <a:rPr lang="pt-BR" dirty="0" err="1"/>
                  <a:t>f</a:t>
                </a:r>
                <a:r>
                  <a:rPr lang="pt-BR" dirty="0"/>
                  <a:t>(</a:t>
                </a:r>
                <a:r>
                  <a:rPr lang="pt-BR" dirty="0" err="1"/>
                  <a:t>x</a:t>
                </a:r>
                <a:r>
                  <a:rPr lang="pt-BR" dirty="0"/>
                  <a:t>), </a:t>
                </a:r>
                <a:r>
                  <a:rPr lang="pt-BR" dirty="0" err="1"/>
                  <a:t>g</a:t>
                </a:r>
                <a:r>
                  <a:rPr lang="pt-BR" baseline="-25000" dirty="0" err="1"/>
                  <a:t>i</a:t>
                </a:r>
                <a:r>
                  <a:rPr lang="pt-BR" dirty="0"/>
                  <a:t>(</a:t>
                </a:r>
                <a:r>
                  <a:rPr lang="pt-BR" dirty="0" err="1"/>
                  <a:t>x</a:t>
                </a:r>
                <a:r>
                  <a:rPr lang="pt-BR" dirty="0"/>
                  <a:t>), </a:t>
                </a:r>
                <a:r>
                  <a:rPr lang="pt-BR" dirty="0" err="1"/>
                  <a:t>i</a:t>
                </a:r>
                <a:r>
                  <a:rPr lang="pt-BR" dirty="0"/>
                  <a:t> =1, ..., m sejam funções diferenciáveis que satisfazem certas condições de regularidade. Então </a:t>
                </a:r>
                <a:r>
                  <a:rPr lang="pt-BR" dirty="0" err="1"/>
                  <a:t>x</a:t>
                </a:r>
                <a:r>
                  <a:rPr lang="pt-BR" dirty="0"/>
                  <a:t>* = (x</a:t>
                </a:r>
                <a:r>
                  <a:rPr lang="pt-BR" baseline="-25000" dirty="0"/>
                  <a:t>1</a:t>
                </a:r>
                <a:r>
                  <a:rPr lang="pt-BR" dirty="0"/>
                  <a:t>*, x</a:t>
                </a:r>
                <a:r>
                  <a:rPr lang="pt-BR" baseline="-25000" dirty="0"/>
                  <a:t>2</a:t>
                </a:r>
                <a:r>
                  <a:rPr lang="pt-BR" dirty="0"/>
                  <a:t>*, ..., </a:t>
                </a:r>
                <a:r>
                  <a:rPr lang="pt-BR" dirty="0" err="1"/>
                  <a:t>x</a:t>
                </a:r>
                <a:r>
                  <a:rPr lang="pt-BR" baseline="-25000" dirty="0" err="1"/>
                  <a:t>n</a:t>
                </a:r>
                <a:r>
                  <a:rPr lang="pt-BR" dirty="0"/>
                  <a:t>*) pode ser uma solução ótima para o problema somente se existem m números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dirty="0"/>
                  <a:t> tais que todas as condições KKT a seguir sejam satisfeitas: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FAF437-1CEB-E949-A7EC-EB1C3AA1F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57983"/>
                <a:ext cx="7467600" cy="3951337"/>
              </a:xfrm>
              <a:blipFill>
                <a:blip r:embed="rId2"/>
                <a:stretch>
                  <a:fillRect l="-1358" t="-1282" r="-16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916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1454F-D9BC-E44C-8904-1DEC6995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Condições </a:t>
            </a:r>
            <a:r>
              <a:rPr lang="pt-BR" dirty="0" err="1"/>
              <a:t>Karush</a:t>
            </a:r>
            <a:r>
              <a:rPr lang="pt-BR" dirty="0"/>
              <a:t>-</a:t>
            </a:r>
            <a:r>
              <a:rPr lang="pt-BR" dirty="0" err="1"/>
              <a:t>Khun</a:t>
            </a:r>
            <a:r>
              <a:rPr lang="pt-BR" dirty="0"/>
              <a:t>-Tucker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FAF437-1CEB-E949-A7EC-EB1C3AA1F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9237"/>
                <a:ext cx="7467600" cy="4430084"/>
              </a:xfrm>
            </p:spPr>
            <p:txBody>
              <a:bodyPr/>
              <a:lstStyle/>
              <a:p>
                <a:r>
                  <a:rPr lang="pt-BR" dirty="0"/>
                  <a:t>Para </a:t>
                </a:r>
                <a:r>
                  <a:rPr lang="pt-BR" dirty="0" err="1"/>
                  <a:t>j</a:t>
                </a:r>
                <a:r>
                  <a:rPr lang="pt-BR" dirty="0"/>
                  <a:t> = 1, ..., </a:t>
                </a:r>
                <a:r>
                  <a:rPr lang="pt-BR" dirty="0" err="1"/>
                  <a:t>n</a:t>
                </a:r>
                <a:endParaRPr lang="pt-BR" dirty="0"/>
              </a:p>
              <a:p>
                <a:r>
                  <a:rPr lang="pt-BR" dirty="0"/>
                  <a:t>1.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≤0</m:t>
                        </m:r>
                      </m:e>
                    </m:nary>
                  </m:oMath>
                </a14:m>
                <a:endParaRPr lang="pt-BR" dirty="0"/>
              </a:p>
              <a:p>
                <a:r>
                  <a:rPr lang="pt-BR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lang="pt-BR" dirty="0"/>
                  <a:t> = 0</a:t>
                </a:r>
              </a:p>
              <a:p>
                <a:r>
                  <a:rPr lang="pt-BR" dirty="0"/>
                  <a:t>Para </a:t>
                </a:r>
                <a:r>
                  <a:rPr lang="pt-BR" dirty="0" err="1"/>
                  <a:t>i</a:t>
                </a:r>
                <a:r>
                  <a:rPr lang="pt-BR" dirty="0"/>
                  <a:t> = 1,..., m</a:t>
                </a:r>
              </a:p>
              <a:p>
                <a:r>
                  <a:rPr lang="pt-BR" dirty="0"/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>
                    <a:ea typeface="Cambria Math" panose="02040503050406030204" pitchFamily="18" charset="0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0,      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…,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>
                    <a:ea typeface="Cambria Math" panose="02040503050406030204" pitchFamily="18" charset="0"/>
                  </a:rPr>
                  <a:t>6.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    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…,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FAF437-1CEB-E949-A7EC-EB1C3AA1F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9237"/>
                <a:ext cx="7467600" cy="4430084"/>
              </a:xfrm>
              <a:blipFill>
                <a:blip r:embed="rId2"/>
                <a:stretch>
                  <a:fillRect l="-1358" t="-8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03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404664"/>
            <a:ext cx="8568952" cy="6120680"/>
          </a:xfrm>
        </p:spPr>
        <p:txBody>
          <a:bodyPr/>
          <a:lstStyle/>
          <a:p>
            <a:r>
              <a:rPr lang="pt-BR" dirty="0"/>
              <a:t>Os multiplicadores de </a:t>
            </a:r>
            <a:r>
              <a:rPr lang="pt-BR" dirty="0" err="1"/>
              <a:t>Lagrange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</a:t>
            </a:r>
            <a:r>
              <a:rPr lang="pt-BR" baseline="-25000" dirty="0">
                <a:sym typeface="Symbol"/>
              </a:rPr>
              <a:t>i</a:t>
            </a:r>
            <a:r>
              <a:rPr lang="pt-BR" dirty="0">
                <a:sym typeface="Symbol"/>
              </a:rPr>
              <a:t> correspondem as “variáveis duais”. Seriam os preços-sombras das restrições, porém na PNL esses valores são aproximados.</a:t>
            </a:r>
          </a:p>
          <a:p>
            <a:endParaRPr lang="pt-BR" dirty="0">
              <a:sym typeface="Symbol"/>
            </a:endParaRPr>
          </a:p>
          <a:p>
            <a:r>
              <a:rPr lang="pt-BR" dirty="0"/>
              <a:t>As condições KKT não garantem solução ótima ainda, faz-se necessário verificar as condições de convexidade-concavidade.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Corolário: </a:t>
            </a:r>
            <a:r>
              <a:rPr lang="pt-BR" dirty="0"/>
              <a:t>Se </a:t>
            </a:r>
            <a:r>
              <a:rPr lang="pt-BR" dirty="0" err="1"/>
              <a:t>f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 é côncava e g</a:t>
            </a:r>
            <a:r>
              <a:rPr lang="pt-BR" baseline="-25000" dirty="0"/>
              <a:t>1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), g</a:t>
            </a:r>
            <a:r>
              <a:rPr lang="pt-BR" baseline="-25000" dirty="0"/>
              <a:t>2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), ...., </a:t>
            </a:r>
            <a:r>
              <a:rPr lang="pt-BR" dirty="0" err="1"/>
              <a:t>g</a:t>
            </a:r>
            <a:r>
              <a:rPr lang="pt-BR" baseline="-25000" dirty="0" err="1"/>
              <a:t>m</a:t>
            </a:r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dirty="0"/>
              <a:t>) são convexas (Programação Não Linear Convexa) e condições KKT satisfeitas, </a:t>
            </a:r>
            <a:r>
              <a:rPr lang="pt-BR" dirty="0" err="1"/>
              <a:t>X</a:t>
            </a:r>
            <a:r>
              <a:rPr lang="pt-BR" dirty="0"/>
              <a:t>* = (x</a:t>
            </a:r>
            <a:r>
              <a:rPr lang="pt-BR" baseline="-25000" dirty="0"/>
              <a:t>1</a:t>
            </a:r>
            <a:r>
              <a:rPr lang="pt-BR" dirty="0"/>
              <a:t>*, x</a:t>
            </a:r>
            <a:r>
              <a:rPr lang="pt-BR" baseline="-25000" dirty="0"/>
              <a:t>2</a:t>
            </a:r>
            <a:r>
              <a:rPr lang="pt-BR" dirty="0"/>
              <a:t>*, ..., </a:t>
            </a:r>
            <a:r>
              <a:rPr lang="pt-BR" dirty="0" err="1"/>
              <a:t>x</a:t>
            </a:r>
            <a:r>
              <a:rPr lang="pt-BR" baseline="-25000" dirty="0" err="1"/>
              <a:t>n</a:t>
            </a:r>
            <a:r>
              <a:rPr lang="pt-BR" dirty="0"/>
              <a:t>*) é ótima. Portanto, para problemas da programação convexa, obtemos o ótimo global pelas condições KKT.</a:t>
            </a:r>
            <a:endParaRPr lang="pt-BR" dirty="0">
              <a:sym typeface="Symbol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4051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93A49-4EEC-EE4A-8885-8416C9F0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C7E0672-6ECA-4E47-A2F6-FF7C8F2C94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Determine as condições KKT para o seguinte problema de programação não linear e determine a solução ótima a partir das condições KKT:</a:t>
                </a:r>
              </a:p>
              <a:p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                            Sujeito 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C7E0672-6ECA-4E47-A2F6-FF7C8F2C9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12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010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F1C27-FE14-324F-BF37-0D6F07B0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Condições KKT para o 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6E869BA-F24B-3545-B01D-5FA52C164A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1. (Para </a:t>
                </a:r>
                <a:r>
                  <a:rPr lang="pt-BR" dirty="0" err="1"/>
                  <a:t>j</a:t>
                </a:r>
                <a:r>
                  <a:rPr lang="pt-BR" dirty="0"/>
                  <a:t> = 1).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≤0.</m:t>
                    </m:r>
                  </m:oMath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2. (Para </a:t>
                </a:r>
                <a:r>
                  <a:rPr lang="pt-BR" dirty="0" err="1"/>
                  <a:t>j</a:t>
                </a:r>
                <a:r>
                  <a:rPr lang="pt-BR" dirty="0"/>
                  <a:t> = 1).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pt-BR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1. (Para </a:t>
                </a:r>
                <a:r>
                  <a:rPr lang="pt-BR" dirty="0" err="1"/>
                  <a:t>j</a:t>
                </a:r>
                <a:r>
                  <a:rPr lang="pt-BR" dirty="0"/>
                  <a:t> = 2).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≤0.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2. (Para </a:t>
                </a:r>
                <a:r>
                  <a:rPr lang="pt-BR" dirty="0" err="1"/>
                  <a:t>j</a:t>
                </a:r>
                <a:r>
                  <a:rPr lang="pt-BR" dirty="0"/>
                  <a:t> = 2).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>
                    <a:ea typeface="Cambria Math" panose="02040503050406030204" pitchFamily="18" charset="0"/>
                  </a:rPr>
                  <a:t>3.             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−3≤0</m:t>
                    </m:r>
                  </m:oMath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r>
                  <a:rPr lang="pt-BR" dirty="0">
                    <a:ea typeface="Cambria Math" panose="02040503050406030204" pitchFamily="18" charset="0"/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>
                    <a:ea typeface="Cambria Math" panose="02040503050406030204" pitchFamily="18" charset="0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pt-BR" dirty="0"/>
              </a:p>
              <a:p>
                <a:r>
                  <a:rPr lang="pt-BR" dirty="0">
                    <a:ea typeface="Cambria Math" panose="02040503050406030204" pitchFamily="18" charset="0"/>
                  </a:rPr>
                  <a:t>6.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6E869BA-F24B-3545-B01D-5FA52C164A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54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27C08-5FB2-2140-9047-7989160A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a solução ótima a partir das condições KKT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9CBC442-49EA-8749-B699-5AEAA9F79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Da condição 1 ( para </a:t>
                </a:r>
                <a:r>
                  <a:rPr lang="pt-BR" dirty="0" err="1"/>
                  <a:t>j</a:t>
                </a:r>
                <a:r>
                  <a:rPr lang="pt-BR" dirty="0"/>
                  <a:t> = 2), temos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</m:t>
                    </m:r>
                  </m:oMath>
                </a14:m>
                <a:r>
                  <a:rPr lang="pt-BR" dirty="0"/>
                  <a:t>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, temos portanto, 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dirty="0"/>
                  <a:t> Daí, usando a condição 2 (para </a:t>
                </a:r>
                <a:r>
                  <a:rPr lang="pt-BR" dirty="0" err="1"/>
                  <a:t>j</a:t>
                </a:r>
                <a:r>
                  <a:rPr lang="pt-BR" dirty="0"/>
                  <a:t> = 1), temos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/>
                  <a:t> da condição 4, temos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pt-BR" dirty="0"/>
                  <a:t> = 0, o que implica que x</a:t>
                </a:r>
                <a:r>
                  <a:rPr lang="pt-BR" baseline="-25000" dirty="0"/>
                  <a:t>2</a:t>
                </a:r>
                <a:r>
                  <a:rPr lang="pt-BR" dirty="0"/>
                  <a:t> = 3, pois já vimos que x</a:t>
                </a:r>
                <a:r>
                  <a:rPr lang="pt-BR" baseline="-25000" dirty="0"/>
                  <a:t>1</a:t>
                </a:r>
                <a:r>
                  <a:rPr lang="pt-BR" dirty="0"/>
                  <a:t> = 0.</a:t>
                </a:r>
              </a:p>
              <a:p>
                <a:r>
                  <a:rPr lang="pt-BR" dirty="0"/>
                  <a:t>Como x</a:t>
                </a:r>
                <a:r>
                  <a:rPr lang="pt-BR" baseline="-25000" dirty="0"/>
                  <a:t>2</a:t>
                </a:r>
                <a:r>
                  <a:rPr lang="pt-BR" dirty="0"/>
                  <a:t> = 3, usando a condição 2 (para </a:t>
                </a:r>
                <a:r>
                  <a:rPr lang="pt-BR" dirty="0" err="1"/>
                  <a:t>j</a:t>
                </a:r>
                <a:r>
                  <a:rPr lang="pt-BR" dirty="0"/>
                  <a:t> = 2), implica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Observe que nenhuma das condições KKT é violada por x</a:t>
                </a:r>
                <a:r>
                  <a:rPr lang="pt-BR" baseline="-25000" dirty="0"/>
                  <a:t>1</a:t>
                </a:r>
                <a:r>
                  <a:rPr lang="pt-BR" dirty="0"/>
                  <a:t> = 0, x</a:t>
                </a:r>
                <a:r>
                  <a:rPr lang="pt-BR" baseline="-25000" dirty="0"/>
                  <a:t>2</a:t>
                </a:r>
                <a:r>
                  <a:rPr lang="pt-BR" dirty="0"/>
                  <a:t> = 3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9CBC442-49EA-8749-B699-5AEAA9F79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1282" r="-13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540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27C08-5FB2-2140-9047-7989160A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a solução ótima a partir das condições KKT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9CBC442-49EA-8749-B699-5AEAA9F79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Portanto, existe um número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tal que x</a:t>
                </a:r>
                <a:r>
                  <a:rPr lang="pt-BR" baseline="-25000" dirty="0"/>
                  <a:t>1</a:t>
                </a:r>
                <a:r>
                  <a:rPr lang="pt-BR" dirty="0"/>
                  <a:t> = 0, x</a:t>
                </a:r>
                <a:r>
                  <a:rPr lang="pt-BR" baseline="-25000" dirty="0"/>
                  <a:t>2</a:t>
                </a:r>
                <a:r>
                  <a:rPr lang="pt-BR" dirty="0"/>
                  <a:t> = 3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 satisfaçam todas as condições.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x* = (0, 3) é uma solução ótima para esse problema.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9CBC442-49EA-8749-B699-5AEAA9F79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8" t="-12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864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CAC13-DD6B-214C-954F-47EE5389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Convexa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75FC89-F48F-7F44-8F60-A619A60D9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modelo geral de PNL é um modelo de programação convexa se satisfaz as seguintes condições:</a:t>
            </a:r>
          </a:p>
          <a:p>
            <a:r>
              <a:rPr lang="pt-BR" dirty="0"/>
              <a:t>Se </a:t>
            </a:r>
            <a:r>
              <a:rPr lang="pt-BR" dirty="0" err="1"/>
              <a:t>f.o</a:t>
            </a:r>
            <a:r>
              <a:rPr lang="pt-BR" dirty="0"/>
              <a:t> é uma função côncava (probl. </a:t>
            </a:r>
            <a:r>
              <a:rPr lang="pt-BR" dirty="0" err="1"/>
              <a:t>max</a:t>
            </a:r>
            <a:r>
              <a:rPr lang="pt-BR" dirty="0"/>
              <a:t>.) ou uma função convexa (probl. min.)</a:t>
            </a:r>
          </a:p>
          <a:p>
            <a:r>
              <a:rPr lang="pt-BR" dirty="0"/>
              <a:t>Se cada restrição com sinal ≤ é uma função convexa;</a:t>
            </a:r>
          </a:p>
          <a:p>
            <a:r>
              <a:rPr lang="pt-BR" dirty="0"/>
              <a:t>Se cada restrição com sinal  ≥ é uma função côncava;</a:t>
            </a:r>
          </a:p>
          <a:p>
            <a:r>
              <a:rPr lang="pt-BR" dirty="0"/>
              <a:t> Se cada restrição com sinal = é uma função linear;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333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066A2-0F01-0149-A124-A42BBAC7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Convexa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C17691-819E-434E-96E1-A9265CDFF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Não existe um algoritmo padrão que possa sempre ser usado para solucionar problemas de programação convexa.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Existem alguns algoritmos diferentes, entre eles os algoritmos por gradiente.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Um famoso método por gradiente é o chamado método GRG (Gradiente Reduzido Generalizado). Este método é disponibilizado pelo Solver do Excel.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391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066A2-0F01-0149-A124-A42BBAC7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Convexa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C17691-819E-434E-96E1-A9265CDFF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 o problema de PNL for de Programação Convexa, a solução encontrada pelo Solver do Excel será sempre um ótimo global. Caso contrário, o Solver encontra ótimos locais.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1106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Não Convexa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problemas de Programação Não Convexa, o Solver do Excel encontra ótimos locais.</a:t>
            </a:r>
          </a:p>
          <a:p>
            <a:endParaRPr lang="pt-BR" dirty="0"/>
          </a:p>
          <a:p>
            <a:r>
              <a:rPr lang="pt-BR" dirty="0"/>
              <a:t>Basicamente, ele procura pra onde a função esta subindo no gráfico (caso de maximização), e quando chega no topo, acha o valor máximo.</a:t>
            </a:r>
          </a:p>
          <a:p>
            <a:endParaRPr lang="pt-BR" dirty="0"/>
          </a:p>
          <a:p>
            <a:r>
              <a:rPr lang="pt-BR" dirty="0"/>
              <a:t>Não necessariamente um mínimo, ou máximo, local é a solução ótima.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74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Programação Não Convexa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223" t="20607" r="74302" b="15100"/>
          <a:stretch/>
        </p:blipFill>
        <p:spPr>
          <a:xfrm>
            <a:off x="6445304" y="1861333"/>
            <a:ext cx="2245803" cy="395128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26137" t="35994" r="27957" b="43262"/>
          <a:stretch/>
        </p:blipFill>
        <p:spPr>
          <a:xfrm>
            <a:off x="464200" y="2852936"/>
            <a:ext cx="5980008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9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117C7-4496-4047-BF03-1A82ADEE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Não Convexa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8C1F23-C25D-0D4B-A4E5-A29CAF6BB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os problemas de programação não convexa para a resolução via software propõe-se a geração de diversas soluções iniciais aleatórias. Para cada solução inicial, escolhe-se a que oferece a melhor solução encontrada.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7130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DC257-4608-B141-8399-F5C9E90A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69B1C7-36F1-D145-B93C-A6F75EB32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Testar no Solver as seguintes soluções iniciais para o exemplo de Programação não Convexa</a:t>
            </a:r>
          </a:p>
          <a:p>
            <a:endParaRPr lang="pt-BR" dirty="0"/>
          </a:p>
          <a:p>
            <a:r>
              <a:rPr lang="pt-BR" dirty="0"/>
              <a:t>a) </a:t>
            </a:r>
            <a:r>
              <a:rPr lang="pt-BR" dirty="0" err="1"/>
              <a:t>x</a:t>
            </a:r>
            <a:r>
              <a:rPr lang="pt-BR" dirty="0"/>
              <a:t>= 0</a:t>
            </a:r>
          </a:p>
          <a:p>
            <a:r>
              <a:rPr lang="pt-BR" dirty="0" err="1"/>
              <a:t>b</a:t>
            </a:r>
            <a:r>
              <a:rPr lang="pt-BR" dirty="0"/>
              <a:t>) </a:t>
            </a:r>
            <a:r>
              <a:rPr lang="pt-BR" dirty="0" err="1"/>
              <a:t>x</a:t>
            </a:r>
            <a:r>
              <a:rPr lang="pt-BR" dirty="0"/>
              <a:t> = 3</a:t>
            </a:r>
          </a:p>
          <a:p>
            <a:r>
              <a:rPr lang="pt-BR" dirty="0" err="1"/>
              <a:t>c</a:t>
            </a:r>
            <a:r>
              <a:rPr lang="pt-BR" dirty="0"/>
              <a:t>) </a:t>
            </a:r>
            <a:r>
              <a:rPr lang="pt-BR" dirty="0" err="1"/>
              <a:t>x</a:t>
            </a:r>
            <a:r>
              <a:rPr lang="pt-BR" dirty="0"/>
              <a:t> = 4,7</a:t>
            </a:r>
          </a:p>
          <a:p>
            <a:endParaRPr lang="pt-BR" dirty="0"/>
          </a:p>
          <a:p>
            <a:r>
              <a:rPr lang="pt-BR" dirty="0"/>
              <a:t>Qual é a melhor solução encontrada?</a:t>
            </a:r>
          </a:p>
        </p:txBody>
      </p:sp>
    </p:spTree>
    <p:extLst>
      <p:ext uri="{BB962C8B-B14F-4D97-AF65-F5344CB8AC3E}">
        <p14:creationId xmlns:p14="http://schemas.microsoft.com/office/powerpoint/2010/main" val="3355084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10564</TotalTime>
  <Words>1538</Words>
  <Application>Microsoft Macintosh PowerPoint</Application>
  <PresentationFormat>Apresentação na tela (4:3)</PresentationFormat>
  <Paragraphs>154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Calibri</vt:lpstr>
      <vt:lpstr>Cambria</vt:lpstr>
      <vt:lpstr>Cambria Math</vt:lpstr>
      <vt:lpstr>Rage Italic</vt:lpstr>
      <vt:lpstr>Sketchbook</vt:lpstr>
      <vt:lpstr>Pesquisa Operacional II</vt:lpstr>
      <vt:lpstr>Programação Não Linear</vt:lpstr>
      <vt:lpstr>Tipos de Problemas de Programação Não Linear</vt:lpstr>
      <vt:lpstr>Exemplos</vt:lpstr>
      <vt:lpstr>Exemplos</vt:lpstr>
      <vt:lpstr>Representação Gráfica</vt:lpstr>
      <vt:lpstr>Exemplo 1</vt:lpstr>
      <vt:lpstr>Exemplo 2</vt:lpstr>
      <vt:lpstr>Exemplo 3</vt:lpstr>
      <vt:lpstr>Dificuldades</vt:lpstr>
      <vt:lpstr>Caso 1: Otimização irrestrita com uma variável</vt:lpstr>
      <vt:lpstr>Caso 1: Otimização irrestrita com uma variável</vt:lpstr>
      <vt:lpstr>Caso 1: Otimização irrestrita com uma variável</vt:lpstr>
      <vt:lpstr>Caso 1.1: Otimização irrestrita com múltiplas variáveis</vt:lpstr>
      <vt:lpstr>Caso 1.1: Otimização irrestrita com múltiplas variáveis</vt:lpstr>
      <vt:lpstr>Caso 1.1: Otimização irrestrita com múltiplas variáveis</vt:lpstr>
      <vt:lpstr>Caso 1.1: Otimização irrestrita com múltiplas variáveis</vt:lpstr>
      <vt:lpstr>Caso 2: Otimização não linear com restrição</vt:lpstr>
      <vt:lpstr>Otimização Restrita – Condições Karush-Khun-Tucker</vt:lpstr>
      <vt:lpstr>Condições Karush-Khun-Tucker</vt:lpstr>
      <vt:lpstr>Apresentação do PowerPoint</vt:lpstr>
      <vt:lpstr>Exemplo</vt:lpstr>
      <vt:lpstr>Condições KKT para o Exemplo</vt:lpstr>
      <vt:lpstr>Encontrando a solução ótima a partir das condições KKT</vt:lpstr>
      <vt:lpstr>Encontrando a solução ótima a partir das condições KKT</vt:lpstr>
      <vt:lpstr>Programação Convexa</vt:lpstr>
      <vt:lpstr>Programação Convexa</vt:lpstr>
      <vt:lpstr>Programação Convexa</vt:lpstr>
      <vt:lpstr>Programação Não Convexa</vt:lpstr>
      <vt:lpstr>Exemplo – Programação Não Convexa</vt:lpstr>
      <vt:lpstr>Programação Não Convexa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Jasmim Amaral</dc:creator>
  <cp:lastModifiedBy>Andréa Bonifácio</cp:lastModifiedBy>
  <cp:revision>122</cp:revision>
  <dcterms:created xsi:type="dcterms:W3CDTF">2015-08-31T22:37:32Z</dcterms:created>
  <dcterms:modified xsi:type="dcterms:W3CDTF">2021-10-31T17:47:36Z</dcterms:modified>
</cp:coreProperties>
</file>