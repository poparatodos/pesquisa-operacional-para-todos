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38" roundtripDataSignature="AMtx7mhsKsMl/N6aVhngQcWT4+sY5Lj/w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38" Type="http://customschemas.google.com/relationships/presentationmetadata" Target="meta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pt-B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1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1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1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1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1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2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2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2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2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2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2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2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p2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2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3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3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3a0d06e0e9b_0_4"/>
          <p:cNvSpPr txBox="1"/>
          <p:nvPr>
            <p:ph type="ctrTitle"/>
          </p:nvPr>
        </p:nvSpPr>
        <p:spPr>
          <a:xfrm>
            <a:off x="311708" y="992767"/>
            <a:ext cx="8520600" cy="2736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5" name="Google Shape;15;g3a0d06e0e9b_0_4"/>
          <p:cNvSpPr txBox="1"/>
          <p:nvPr>
            <p:ph idx="1" type="subTitle"/>
          </p:nvPr>
        </p:nvSpPr>
        <p:spPr>
          <a:xfrm>
            <a:off x="311700" y="3778833"/>
            <a:ext cx="8520600" cy="105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6" name="Google Shape;16;g3a0d06e0e9b_0_4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3a0d06e0e9b_0_8"/>
          <p:cNvSpPr txBox="1"/>
          <p:nvPr>
            <p:ph type="title"/>
          </p:nvPr>
        </p:nvSpPr>
        <p:spPr>
          <a:xfrm>
            <a:off x="311700" y="2867800"/>
            <a:ext cx="8520600" cy="1122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g3a0d06e0e9b_0_8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3a0d06e0e9b_0_11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g3a0d06e0e9b_0_11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3" name="Google Shape;23;g3a0d06e0e9b_0_11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g3a0d06e0e9b_0_15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6" name="Google Shape;26;g3a0d06e0e9b_0_15"/>
          <p:cNvSpPr txBox="1"/>
          <p:nvPr>
            <p:ph idx="1" type="body"/>
          </p:nvPr>
        </p:nvSpPr>
        <p:spPr>
          <a:xfrm>
            <a:off x="311700" y="1536633"/>
            <a:ext cx="39999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7" name="Google Shape;27;g3a0d06e0e9b_0_15"/>
          <p:cNvSpPr txBox="1"/>
          <p:nvPr>
            <p:ph idx="2" type="body"/>
          </p:nvPr>
        </p:nvSpPr>
        <p:spPr>
          <a:xfrm>
            <a:off x="4832400" y="1536633"/>
            <a:ext cx="39999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g3a0d06e0e9b_0_15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g3a0d06e0e9b_0_20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1" name="Google Shape;31;g3a0d06e0e9b_0_20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g3a0d06e0e9b_0_23"/>
          <p:cNvSpPr txBox="1"/>
          <p:nvPr>
            <p:ph type="title"/>
          </p:nvPr>
        </p:nvSpPr>
        <p:spPr>
          <a:xfrm>
            <a:off x="311700" y="740800"/>
            <a:ext cx="2808000" cy="100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4" name="Google Shape;34;g3a0d06e0e9b_0_23"/>
          <p:cNvSpPr txBox="1"/>
          <p:nvPr>
            <p:ph idx="1" type="body"/>
          </p:nvPr>
        </p:nvSpPr>
        <p:spPr>
          <a:xfrm>
            <a:off x="311700" y="1852800"/>
            <a:ext cx="2808000" cy="423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5" name="Google Shape;35;g3a0d06e0e9b_0_23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g3a0d06e0e9b_0_27"/>
          <p:cNvSpPr txBox="1"/>
          <p:nvPr>
            <p:ph type="title"/>
          </p:nvPr>
        </p:nvSpPr>
        <p:spPr>
          <a:xfrm>
            <a:off x="490250" y="600200"/>
            <a:ext cx="6367800" cy="545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8" name="Google Shape;38;g3a0d06e0e9b_0_27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3a0d06e0e9b_0_30"/>
          <p:cNvSpPr/>
          <p:nvPr/>
        </p:nvSpPr>
        <p:spPr>
          <a:xfrm>
            <a:off x="4572000" y="-167"/>
            <a:ext cx="4572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g3a0d06e0e9b_0_30"/>
          <p:cNvSpPr txBox="1"/>
          <p:nvPr>
            <p:ph type="title"/>
          </p:nvPr>
        </p:nvSpPr>
        <p:spPr>
          <a:xfrm>
            <a:off x="265500" y="1644233"/>
            <a:ext cx="4045200" cy="1976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2" name="Google Shape;42;g3a0d06e0e9b_0_30"/>
          <p:cNvSpPr txBox="1"/>
          <p:nvPr>
            <p:ph idx="1" type="subTitle"/>
          </p:nvPr>
        </p:nvSpPr>
        <p:spPr>
          <a:xfrm>
            <a:off x="265500" y="3737433"/>
            <a:ext cx="4045200" cy="164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3" name="Google Shape;43;g3a0d06e0e9b_0_30"/>
          <p:cNvSpPr txBox="1"/>
          <p:nvPr>
            <p:ph idx="2" type="body"/>
          </p:nvPr>
        </p:nvSpPr>
        <p:spPr>
          <a:xfrm>
            <a:off x="4939500" y="965433"/>
            <a:ext cx="3837000" cy="4926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4" name="Google Shape;44;g3a0d06e0e9b_0_30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g3a0d06e0e9b_0_36"/>
          <p:cNvSpPr txBox="1"/>
          <p:nvPr>
            <p:ph idx="1" type="body"/>
          </p:nvPr>
        </p:nvSpPr>
        <p:spPr>
          <a:xfrm>
            <a:off x="311700" y="5640767"/>
            <a:ext cx="5998800" cy="80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7" name="Google Shape;47;g3a0d06e0e9b_0_36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a0d06e0e9b_0_39"/>
          <p:cNvSpPr txBox="1"/>
          <p:nvPr>
            <p:ph hasCustomPrompt="1" type="title"/>
          </p:nvPr>
        </p:nvSpPr>
        <p:spPr>
          <a:xfrm>
            <a:off x="311700" y="1474833"/>
            <a:ext cx="8520600" cy="261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0" name="Google Shape;50;g3a0d06e0e9b_0_39"/>
          <p:cNvSpPr txBox="1"/>
          <p:nvPr>
            <p:ph idx="1" type="body"/>
          </p:nvPr>
        </p:nvSpPr>
        <p:spPr>
          <a:xfrm>
            <a:off x="311700" y="4202967"/>
            <a:ext cx="8520600" cy="173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1" name="Google Shape;51;g3a0d06e0e9b_0_39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a0d06e0e9b_0_43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nteúdo" type="obj">
  <p:cSld name="OBJEC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3a0d06e0e9b_0_45"/>
          <p:cNvSpPr txBox="1"/>
          <p:nvPr>
            <p:ph type="title"/>
          </p:nvPr>
        </p:nvSpPr>
        <p:spPr>
          <a:xfrm>
            <a:off x="551280" y="436563"/>
            <a:ext cx="8041500" cy="144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6" name="Google Shape;56;g3a0d06e0e9b_0_45"/>
          <p:cNvSpPr txBox="1"/>
          <p:nvPr>
            <p:ph idx="1" type="body"/>
          </p:nvPr>
        </p:nvSpPr>
        <p:spPr>
          <a:xfrm>
            <a:off x="838200" y="2038388"/>
            <a:ext cx="7467600" cy="3951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7185" lvl="0" marL="457200" algn="l">
              <a:spcBef>
                <a:spcPts val="360"/>
              </a:spcBef>
              <a:spcAft>
                <a:spcPts val="0"/>
              </a:spcAft>
              <a:buSzPts val="1710"/>
              <a:buChar char="●"/>
              <a:defRPr/>
            </a:lvl1pPr>
            <a:lvl2pPr indent="-337185" lvl="1" marL="914400" algn="l">
              <a:spcBef>
                <a:spcPts val="1200"/>
              </a:spcBef>
              <a:spcAft>
                <a:spcPts val="0"/>
              </a:spcAft>
              <a:buSzPts val="1710"/>
              <a:buChar char="○"/>
              <a:defRPr/>
            </a:lvl2pPr>
            <a:lvl3pPr indent="-337185" lvl="2" marL="1371600" algn="l">
              <a:spcBef>
                <a:spcPts val="1200"/>
              </a:spcBef>
              <a:spcAft>
                <a:spcPts val="0"/>
              </a:spcAft>
              <a:buSzPts val="1710"/>
              <a:buChar char="■"/>
              <a:defRPr/>
            </a:lvl3pPr>
            <a:lvl4pPr indent="-337185" lvl="3" marL="1828800" algn="l">
              <a:spcBef>
                <a:spcPts val="1200"/>
              </a:spcBef>
              <a:spcAft>
                <a:spcPts val="0"/>
              </a:spcAft>
              <a:buSzPts val="1710"/>
              <a:buChar char="●"/>
              <a:defRPr/>
            </a:lvl4pPr>
            <a:lvl5pPr indent="-337185" lvl="4" marL="2286000" algn="l">
              <a:spcBef>
                <a:spcPts val="1200"/>
              </a:spcBef>
              <a:spcAft>
                <a:spcPts val="0"/>
              </a:spcAft>
              <a:buSzPts val="1710"/>
              <a:buChar char="○"/>
              <a:defRPr/>
            </a:lvl5pPr>
            <a:lvl6pPr indent="-337185" lvl="5" marL="2743200" algn="l">
              <a:spcBef>
                <a:spcPts val="1200"/>
              </a:spcBef>
              <a:spcAft>
                <a:spcPts val="0"/>
              </a:spcAft>
              <a:buSzPts val="1710"/>
              <a:buChar char="■"/>
              <a:defRPr/>
            </a:lvl6pPr>
            <a:lvl7pPr indent="-337185" lvl="6" marL="3200400" algn="l">
              <a:spcBef>
                <a:spcPts val="1200"/>
              </a:spcBef>
              <a:spcAft>
                <a:spcPts val="0"/>
              </a:spcAft>
              <a:buSzPts val="1710"/>
              <a:buChar char="●"/>
              <a:defRPr/>
            </a:lvl7pPr>
            <a:lvl8pPr indent="-337185" lvl="7" marL="3657600" algn="l">
              <a:spcBef>
                <a:spcPts val="1200"/>
              </a:spcBef>
              <a:spcAft>
                <a:spcPts val="0"/>
              </a:spcAft>
              <a:buSzPts val="1710"/>
              <a:buChar char="○"/>
              <a:defRPr/>
            </a:lvl8pPr>
            <a:lvl9pPr indent="-337185" lvl="8" marL="4114800" algn="l">
              <a:spcBef>
                <a:spcPts val="1200"/>
              </a:spcBef>
              <a:spcAft>
                <a:spcPts val="1200"/>
              </a:spcAft>
              <a:buSzPts val="1710"/>
              <a:buChar char="■"/>
              <a:defRPr/>
            </a:lvl9pPr>
          </a:lstStyle>
          <a:p/>
        </p:txBody>
      </p:sp>
      <p:sp>
        <p:nvSpPr>
          <p:cNvPr id="57" name="Google Shape;57;g3a0d06e0e9b_0_45"/>
          <p:cNvSpPr txBox="1"/>
          <p:nvPr>
            <p:ph idx="10" type="dt"/>
          </p:nvPr>
        </p:nvSpPr>
        <p:spPr>
          <a:xfrm>
            <a:off x="551280" y="6148875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g3a0d06e0e9b_0_45"/>
          <p:cNvSpPr txBox="1"/>
          <p:nvPr>
            <p:ph idx="11" type="ftr"/>
          </p:nvPr>
        </p:nvSpPr>
        <p:spPr>
          <a:xfrm>
            <a:off x="3124200" y="6148875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g3a0d06e0e9b_0_45"/>
          <p:cNvSpPr txBox="1"/>
          <p:nvPr>
            <p:ph idx="12" type="sldNum"/>
          </p:nvPr>
        </p:nvSpPr>
        <p:spPr>
          <a:xfrm>
            <a:off x="6459120" y="6148875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3a0d06e0e9b_0_0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1" name="Google Shape;11;g3a0d06e0e9b_0_0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2" name="Google Shape;12;g3a0d06e0e9b_0_0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Relationship Id="rId4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5.png"/><Relationship Id="rId4" Type="http://schemas.openxmlformats.org/officeDocument/2006/relationships/image" Target="../media/image3.png"/><Relationship Id="rId5" Type="http://schemas.openxmlformats.org/officeDocument/2006/relationships/image" Target="../media/image1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5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3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7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9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6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1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7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4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8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6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0.png"/><Relationship Id="rId4" Type="http://schemas.openxmlformats.org/officeDocument/2006/relationships/image" Target="../media/image18.png"/><Relationship Id="rId5" Type="http://schemas.openxmlformats.org/officeDocument/2006/relationships/image" Target="../media/image14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"/>
          <p:cNvSpPr txBox="1"/>
          <p:nvPr>
            <p:ph type="ctrTitle"/>
          </p:nvPr>
        </p:nvSpPr>
        <p:spPr>
          <a:xfrm>
            <a:off x="311703" y="992775"/>
            <a:ext cx="5459700" cy="2736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3C64"/>
              </a:buClr>
              <a:buSzPts val="6600"/>
              <a:buFont typeface="Aharoni"/>
              <a:buNone/>
            </a:pPr>
            <a:r>
              <a:rPr lang="pt-BR" sz="6600">
                <a:solidFill>
                  <a:srgbClr val="143C64"/>
                </a:solidFill>
                <a:latin typeface="Aharoni"/>
                <a:ea typeface="Aharoni"/>
                <a:cs typeface="Aharoni"/>
                <a:sym typeface="Aharoni"/>
              </a:rPr>
              <a:t>Programação Não Linear</a:t>
            </a:r>
            <a:endParaRPr sz="6600">
              <a:solidFill>
                <a:srgbClr val="143C64"/>
              </a:solidFill>
              <a:latin typeface="Aharoni"/>
              <a:ea typeface="Aharoni"/>
              <a:cs typeface="Aharoni"/>
              <a:sym typeface="Aharoni"/>
            </a:endParaRPr>
          </a:p>
        </p:txBody>
      </p:sp>
      <p:sp>
        <p:nvSpPr>
          <p:cNvPr id="65" name="Google Shape;65;p1"/>
          <p:cNvSpPr txBox="1"/>
          <p:nvPr>
            <p:ph idx="1" type="subTitle"/>
          </p:nvPr>
        </p:nvSpPr>
        <p:spPr>
          <a:xfrm>
            <a:off x="311700" y="3778825"/>
            <a:ext cx="4260300" cy="73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850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ct val="61071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360"/>
              </a:spcBef>
              <a:spcAft>
                <a:spcPts val="0"/>
              </a:spcAft>
              <a:buSzPct val="61071"/>
              <a:buNone/>
            </a:pPr>
            <a:r>
              <a:rPr lang="pt-BR">
                <a:solidFill>
                  <a:schemeClr val="dk1"/>
                </a:solidFill>
              </a:rPr>
              <a:t>Prof.: Andréa Bonifácio</a:t>
            </a:r>
            <a:endParaRPr>
              <a:solidFill>
                <a:schemeClr val="dk1"/>
              </a:solidFill>
            </a:endParaRPr>
          </a:p>
        </p:txBody>
      </p:sp>
      <p:pic>
        <p:nvPicPr>
          <p:cNvPr descr="Ícone&#10;&#10;O conteúdo gerado por IA pode estar incorreto." id="66" name="Google Shape;6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84776" y="11128"/>
            <a:ext cx="952500" cy="94861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Ícone&#10;&#10;O conteúdo gerado por IA pode estar incorreto." id="67" name="Google Shape;67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950458" y="1570147"/>
            <a:ext cx="3065526" cy="2839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822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2"/>
          <p:cNvSpPr txBox="1"/>
          <p:nvPr>
            <p:ph type="title"/>
          </p:nvPr>
        </p:nvSpPr>
        <p:spPr>
          <a:xfrm>
            <a:off x="551255" y="-12"/>
            <a:ext cx="8041500" cy="1442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3C64"/>
              </a:buClr>
              <a:buSzPts val="6600"/>
              <a:buFont typeface="Aharoni"/>
              <a:buNone/>
            </a:pPr>
            <a:r>
              <a:rPr lang="pt-BR" sz="5500">
                <a:solidFill>
                  <a:srgbClr val="143C64"/>
                </a:solidFill>
                <a:latin typeface="Aharoni"/>
                <a:ea typeface="Aharoni"/>
                <a:cs typeface="Aharoni"/>
                <a:sym typeface="Aharoni"/>
              </a:rPr>
              <a:t>Programação Não Linear</a:t>
            </a:r>
            <a:endParaRPr sz="5500">
              <a:solidFill>
                <a:srgbClr val="143C64"/>
              </a:solidFill>
              <a:latin typeface="Aharoni"/>
              <a:ea typeface="Aharoni"/>
              <a:cs typeface="Aharoni"/>
              <a:sym typeface="Aharoni"/>
            </a:endParaRPr>
          </a:p>
        </p:txBody>
      </p:sp>
      <p:sp>
        <p:nvSpPr>
          <p:cNvPr id="73" name="Google Shape;73;p2"/>
          <p:cNvSpPr txBox="1"/>
          <p:nvPr>
            <p:ph idx="1" type="body"/>
          </p:nvPr>
        </p:nvSpPr>
        <p:spPr>
          <a:xfrm>
            <a:off x="395536" y="1747381"/>
            <a:ext cx="8496300" cy="46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just">
              <a:spcBef>
                <a:spcPts val="0"/>
              </a:spcBef>
              <a:spcAft>
                <a:spcPts val="0"/>
              </a:spcAft>
              <a:buSzPts val="2280"/>
              <a:buChar char="●"/>
            </a:pPr>
            <a:r>
              <a:rPr lang="pt-BR" sz="2400">
                <a:solidFill>
                  <a:schemeClr val="dk1"/>
                </a:solidFill>
              </a:rPr>
              <a:t>Em um problema de  Programação Não Linear (PNL) pelo menos uma das funções de restrição g</a:t>
            </a:r>
            <a:r>
              <a:rPr baseline="-25000" lang="pt-BR" sz="2400">
                <a:solidFill>
                  <a:schemeClr val="dk1"/>
                </a:solidFill>
              </a:rPr>
              <a:t>i</a:t>
            </a:r>
            <a:r>
              <a:rPr lang="pt-BR" sz="2400">
                <a:solidFill>
                  <a:schemeClr val="dk1"/>
                </a:solidFill>
              </a:rPr>
              <a:t>(x) ou a função objetivo f(x) é não linear.</a:t>
            </a:r>
            <a:endParaRPr sz="2400">
              <a:solidFill>
                <a:schemeClr val="dk1"/>
              </a:solidFill>
            </a:endParaRPr>
          </a:p>
          <a:p>
            <a:pPr indent="-83820" lvl="0" marL="228600" rtl="0" algn="just">
              <a:spcBef>
                <a:spcPts val="480"/>
              </a:spcBef>
              <a:spcAft>
                <a:spcPts val="0"/>
              </a:spcAft>
              <a:buSzPts val="2280"/>
              <a:buNone/>
            </a:pPr>
            <a:r>
              <a:t/>
            </a:r>
            <a:endParaRPr sz="2400">
              <a:solidFill>
                <a:schemeClr val="dk1"/>
              </a:solidFill>
            </a:endParaRPr>
          </a:p>
          <a:p>
            <a:pPr indent="-228600" lvl="0" marL="228600" rtl="0" algn="just">
              <a:spcBef>
                <a:spcPts val="480"/>
              </a:spcBef>
              <a:spcAft>
                <a:spcPts val="1200"/>
              </a:spcAft>
              <a:buSzPts val="2280"/>
              <a:buChar char="●"/>
            </a:pPr>
            <a:r>
              <a:rPr lang="pt-BR" sz="2400">
                <a:solidFill>
                  <a:schemeClr val="dk1"/>
                </a:solidFill>
              </a:rPr>
              <a:t>Formulação:</a:t>
            </a:r>
            <a:endParaRPr sz="2400">
              <a:solidFill>
                <a:schemeClr val="dk1"/>
              </a:solidFill>
            </a:endParaRPr>
          </a:p>
        </p:txBody>
      </p:sp>
      <p:pic>
        <p:nvPicPr>
          <p:cNvPr id="74" name="Google Shape;74;p2"/>
          <p:cNvPicPr preferRelativeResize="0"/>
          <p:nvPr/>
        </p:nvPicPr>
        <p:blipFill rotWithShape="1">
          <a:blip r:embed="rId3">
            <a:alphaModFix/>
          </a:blip>
          <a:srcRect b="30220" l="16843" r="56015" t="39560"/>
          <a:stretch/>
        </p:blipFill>
        <p:spPr>
          <a:xfrm>
            <a:off x="2862568" y="3745888"/>
            <a:ext cx="4176463" cy="24782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Ícone&#10;&#10;O conteúdo gerado por IA pode estar incorreto." id="75" name="Google Shape;75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47268" y="5385225"/>
            <a:ext cx="1590001" cy="1472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Ícone&#10;&#10;O conteúdo gerado por IA pode estar incorreto." id="76" name="Google Shape;76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84776" y="11128"/>
            <a:ext cx="952500" cy="9486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3"/>
          <p:cNvSpPr txBox="1"/>
          <p:nvPr>
            <p:ph type="title"/>
          </p:nvPr>
        </p:nvSpPr>
        <p:spPr>
          <a:xfrm>
            <a:off x="551280" y="316938"/>
            <a:ext cx="8041500" cy="1442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3C64"/>
              </a:buClr>
              <a:buSzPts val="6600"/>
              <a:buFont typeface="Aharoni"/>
              <a:buNone/>
            </a:pPr>
            <a:r>
              <a:rPr lang="pt-BR" sz="5000">
                <a:solidFill>
                  <a:srgbClr val="143C64"/>
                </a:solidFill>
                <a:latin typeface="Aharoni"/>
                <a:ea typeface="Aharoni"/>
                <a:cs typeface="Aharoni"/>
                <a:sym typeface="Aharoni"/>
              </a:rPr>
              <a:t>Tipos de Problemas de Programação Não Linear</a:t>
            </a:r>
            <a:endParaRPr sz="5000">
              <a:solidFill>
                <a:srgbClr val="143C64"/>
              </a:solidFill>
              <a:latin typeface="Aharoni"/>
              <a:ea typeface="Aharoni"/>
              <a:cs typeface="Aharoni"/>
              <a:sym typeface="Aharoni"/>
            </a:endParaRPr>
          </a:p>
        </p:txBody>
      </p:sp>
      <p:sp>
        <p:nvSpPr>
          <p:cNvPr id="82" name="Google Shape;82;p3"/>
          <p:cNvSpPr txBox="1"/>
          <p:nvPr>
            <p:ph idx="1" type="body"/>
          </p:nvPr>
        </p:nvSpPr>
        <p:spPr>
          <a:xfrm>
            <a:off x="551400" y="2038400"/>
            <a:ext cx="8041500" cy="3951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77500" lnSpcReduction="20000"/>
          </a:bodyPr>
          <a:lstStyle/>
          <a:p>
            <a:pPr indent="-220170" lvl="0" marL="2286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b="1" lang="pt-BR" sz="2550">
                <a:solidFill>
                  <a:schemeClr val="dk1"/>
                </a:solidFill>
              </a:rPr>
              <a:t>Otimização Irrestrita</a:t>
            </a:r>
            <a:r>
              <a:rPr lang="pt-BR" sz="2550">
                <a:solidFill>
                  <a:schemeClr val="dk1"/>
                </a:solidFill>
              </a:rPr>
              <a:t>: são aqueles que não apresentam restrições.</a:t>
            </a:r>
            <a:endParaRPr sz="2550">
              <a:solidFill>
                <a:schemeClr val="dk1"/>
              </a:solidFill>
            </a:endParaRPr>
          </a:p>
          <a:p>
            <a:pPr indent="-220170" lvl="0" marL="228600" rtl="0" algn="just">
              <a:spcBef>
                <a:spcPts val="444"/>
              </a:spcBef>
              <a:spcAft>
                <a:spcPts val="0"/>
              </a:spcAft>
              <a:buSzPct val="100000"/>
              <a:buChar char="●"/>
            </a:pPr>
            <a:r>
              <a:rPr b="1" lang="pt-BR" sz="2550">
                <a:solidFill>
                  <a:schemeClr val="dk1"/>
                </a:solidFill>
              </a:rPr>
              <a:t>Programação Quadrática</a:t>
            </a:r>
            <a:r>
              <a:rPr lang="pt-BR" sz="2550">
                <a:solidFill>
                  <a:schemeClr val="dk1"/>
                </a:solidFill>
              </a:rPr>
              <a:t>: possuem restrições lineares, porém a função objetivo deve ser quadrática, ou seja alguns dos termos envolvem o quadrado de uma variável ou o produto de duas variáveis.</a:t>
            </a:r>
            <a:endParaRPr sz="2550">
              <a:solidFill>
                <a:schemeClr val="dk1"/>
              </a:solidFill>
            </a:endParaRPr>
          </a:p>
          <a:p>
            <a:pPr indent="-220170" lvl="0" marL="228600" rtl="0" algn="just">
              <a:spcBef>
                <a:spcPts val="444"/>
              </a:spcBef>
              <a:spcAft>
                <a:spcPts val="0"/>
              </a:spcAft>
              <a:buSzPct val="100000"/>
              <a:buChar char="●"/>
            </a:pPr>
            <a:r>
              <a:rPr b="1" lang="pt-BR" sz="2550">
                <a:solidFill>
                  <a:schemeClr val="dk1"/>
                </a:solidFill>
              </a:rPr>
              <a:t>Programação Convexa</a:t>
            </a:r>
            <a:r>
              <a:rPr lang="pt-BR" sz="2550">
                <a:solidFill>
                  <a:schemeClr val="dk1"/>
                </a:solidFill>
              </a:rPr>
              <a:t>: Cobre uma ampla gama de problemas, e engloba como casos especiais todos os anteriores, em certas condições.</a:t>
            </a:r>
            <a:endParaRPr sz="2550">
              <a:solidFill>
                <a:schemeClr val="dk1"/>
              </a:solidFill>
            </a:endParaRPr>
          </a:p>
          <a:p>
            <a:pPr indent="-220170" lvl="0" marL="228600" rtl="0" algn="just">
              <a:spcBef>
                <a:spcPts val="444"/>
              </a:spcBef>
              <a:spcAft>
                <a:spcPts val="0"/>
              </a:spcAft>
              <a:buSzPct val="100000"/>
              <a:buChar char="●"/>
            </a:pPr>
            <a:r>
              <a:rPr b="1" lang="pt-BR" sz="2550">
                <a:solidFill>
                  <a:schemeClr val="dk1"/>
                </a:solidFill>
              </a:rPr>
              <a:t>Programação Não  Convexa</a:t>
            </a:r>
            <a:r>
              <a:rPr lang="pt-BR" sz="2550">
                <a:solidFill>
                  <a:schemeClr val="dk1"/>
                </a:solidFill>
              </a:rPr>
              <a:t>: Engloba todos os problemas de programação não linear que não satisfazem as hipóteses da programação convexa.</a:t>
            </a:r>
            <a:endParaRPr sz="2550">
              <a:solidFill>
                <a:schemeClr val="dk1"/>
              </a:solidFill>
            </a:endParaRPr>
          </a:p>
          <a:p>
            <a:pPr indent="-94679" lvl="0" marL="228600" rtl="0" algn="l">
              <a:spcBef>
                <a:spcPts val="444"/>
              </a:spcBef>
              <a:spcAft>
                <a:spcPts val="1200"/>
              </a:spcAft>
              <a:buSzPct val="95000"/>
              <a:buNone/>
            </a:pPr>
            <a:r>
              <a:t/>
            </a:r>
            <a:endParaRPr sz="2400">
              <a:solidFill>
                <a:schemeClr val="dk1"/>
              </a:solidFill>
            </a:endParaRPr>
          </a:p>
        </p:txBody>
      </p:sp>
      <p:pic>
        <p:nvPicPr>
          <p:cNvPr descr="Ícone&#10;&#10;O conteúdo gerado por IA pode estar incorreto." id="83" name="Google Shape;8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47268" y="5385225"/>
            <a:ext cx="1590001" cy="1472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Ícone&#10;&#10;O conteúdo gerado por IA pode estar incorreto." id="84" name="Google Shape;84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184776" y="11128"/>
            <a:ext cx="952500" cy="9486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4"/>
          <p:cNvSpPr txBox="1"/>
          <p:nvPr>
            <p:ph type="title"/>
          </p:nvPr>
        </p:nvSpPr>
        <p:spPr>
          <a:xfrm>
            <a:off x="551280" y="-12"/>
            <a:ext cx="8041500" cy="1442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3C64"/>
              </a:buClr>
              <a:buSzPts val="6600"/>
              <a:buFont typeface="Aharoni"/>
              <a:buNone/>
            </a:pPr>
            <a:r>
              <a:rPr lang="pt-BR" sz="5500">
                <a:solidFill>
                  <a:srgbClr val="143C64"/>
                </a:solidFill>
                <a:latin typeface="Aharoni"/>
                <a:ea typeface="Aharoni"/>
                <a:cs typeface="Aharoni"/>
                <a:sym typeface="Aharoni"/>
              </a:rPr>
              <a:t>Exemplos</a:t>
            </a:r>
            <a:endParaRPr sz="5500">
              <a:solidFill>
                <a:srgbClr val="143C64"/>
              </a:solidFill>
              <a:latin typeface="Aharoni"/>
              <a:ea typeface="Aharoni"/>
              <a:cs typeface="Aharoni"/>
              <a:sym typeface="Aharoni"/>
            </a:endParaRPr>
          </a:p>
        </p:txBody>
      </p:sp>
      <p:sp>
        <p:nvSpPr>
          <p:cNvPr id="90" name="Google Shape;90;p4"/>
          <p:cNvSpPr txBox="1"/>
          <p:nvPr>
            <p:ph idx="1" type="body"/>
          </p:nvPr>
        </p:nvSpPr>
        <p:spPr>
          <a:xfrm>
            <a:off x="551400" y="1556800"/>
            <a:ext cx="8676000" cy="44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1200"/>
              </a:spcAft>
              <a:buSzPts val="2280"/>
              <a:buChar char="●"/>
            </a:pPr>
            <a:r>
              <a:rPr lang="pt-BR" sz="2400">
                <a:solidFill>
                  <a:schemeClr val="dk1"/>
                </a:solidFill>
              </a:rPr>
              <a:t>Quando o preço de venda p varia em função da quantidade de produtos vendidos x e a função é não linear, a função lucro também é uma função não llinear, conforme os gráficos</a:t>
            </a:r>
            <a:endParaRPr sz="2400">
              <a:solidFill>
                <a:schemeClr val="dk1"/>
              </a:solidFill>
            </a:endParaRPr>
          </a:p>
        </p:txBody>
      </p:sp>
      <p:pic>
        <p:nvPicPr>
          <p:cNvPr id="91" name="Google Shape;91;p4"/>
          <p:cNvPicPr preferRelativeResize="0"/>
          <p:nvPr/>
        </p:nvPicPr>
        <p:blipFill rotWithShape="1">
          <a:blip r:embed="rId3">
            <a:alphaModFix/>
          </a:blip>
          <a:srcRect b="6751" l="28098" r="42770" t="34996"/>
          <a:stretch/>
        </p:blipFill>
        <p:spPr>
          <a:xfrm>
            <a:off x="179512" y="2837866"/>
            <a:ext cx="3528392" cy="376018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4"/>
          <p:cNvPicPr preferRelativeResize="0"/>
          <p:nvPr/>
        </p:nvPicPr>
        <p:blipFill rotWithShape="1">
          <a:blip r:embed="rId4">
            <a:alphaModFix/>
          </a:blip>
          <a:srcRect b="13509" l="31703" r="40185" t="28969"/>
          <a:stretch/>
        </p:blipFill>
        <p:spPr>
          <a:xfrm>
            <a:off x="4813540" y="2837866"/>
            <a:ext cx="3456384" cy="376924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Ícone&#10;&#10;O conteúdo gerado por IA pode estar incorreto." id="93" name="Google Shape;93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84776" y="11128"/>
            <a:ext cx="952500" cy="9486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5"/>
          <p:cNvSpPr txBox="1"/>
          <p:nvPr>
            <p:ph type="title"/>
          </p:nvPr>
        </p:nvSpPr>
        <p:spPr>
          <a:xfrm>
            <a:off x="551280" y="-250304"/>
            <a:ext cx="8041500" cy="1442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3C64"/>
              </a:buClr>
              <a:buSzPts val="6600"/>
              <a:buFont typeface="Aharoni"/>
              <a:buNone/>
            </a:pPr>
            <a:r>
              <a:rPr lang="pt-BR" sz="5500">
                <a:solidFill>
                  <a:srgbClr val="143C64"/>
                </a:solidFill>
                <a:latin typeface="Aharoni"/>
                <a:ea typeface="Aharoni"/>
                <a:cs typeface="Aharoni"/>
                <a:sym typeface="Aharoni"/>
              </a:rPr>
              <a:t>Exemplos</a:t>
            </a:r>
            <a:endParaRPr sz="5500">
              <a:solidFill>
                <a:srgbClr val="143C64"/>
              </a:solidFill>
              <a:latin typeface="Aharoni"/>
              <a:ea typeface="Aharoni"/>
              <a:cs typeface="Aharoni"/>
              <a:sym typeface="Aharoni"/>
            </a:endParaRPr>
          </a:p>
        </p:txBody>
      </p:sp>
      <p:sp>
        <p:nvSpPr>
          <p:cNvPr id="99" name="Google Shape;99;p5"/>
          <p:cNvSpPr txBox="1"/>
          <p:nvPr>
            <p:ph idx="1" type="body"/>
          </p:nvPr>
        </p:nvSpPr>
        <p:spPr>
          <a:xfrm>
            <a:off x="985100" y="1084600"/>
            <a:ext cx="8041500" cy="55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1200"/>
              </a:spcAft>
              <a:buSzPts val="2280"/>
              <a:buChar char="●"/>
            </a:pPr>
            <a:r>
              <a:rPr lang="pt-BR" sz="2400">
                <a:solidFill>
                  <a:schemeClr val="dk1"/>
                </a:solidFill>
              </a:rPr>
              <a:t>Quando o produto possui um custo marginal a ser considerado (Transportadora), a função custo total é uma função linear por partes:</a:t>
            </a:r>
            <a:endParaRPr/>
          </a:p>
        </p:txBody>
      </p:sp>
      <p:pic>
        <p:nvPicPr>
          <p:cNvPr id="100" name="Google Shape;100;p5"/>
          <p:cNvPicPr preferRelativeResize="0"/>
          <p:nvPr/>
        </p:nvPicPr>
        <p:blipFill rotWithShape="1">
          <a:blip r:embed="rId3">
            <a:alphaModFix/>
          </a:blip>
          <a:srcRect b="2691" l="28959" r="44504" t="26828"/>
          <a:stretch/>
        </p:blipFill>
        <p:spPr>
          <a:xfrm>
            <a:off x="467544" y="2420888"/>
            <a:ext cx="3180305" cy="43047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5"/>
          <p:cNvPicPr preferRelativeResize="0"/>
          <p:nvPr/>
        </p:nvPicPr>
        <p:blipFill rotWithShape="1">
          <a:blip r:embed="rId4">
            <a:alphaModFix/>
          </a:blip>
          <a:srcRect b="7464" l="29081" r="45110" t="21144"/>
          <a:stretch/>
        </p:blipFill>
        <p:spPr>
          <a:xfrm>
            <a:off x="5508104" y="2373419"/>
            <a:ext cx="2952328" cy="4352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6"/>
          <p:cNvSpPr txBox="1"/>
          <p:nvPr>
            <p:ph type="title"/>
          </p:nvPr>
        </p:nvSpPr>
        <p:spPr>
          <a:xfrm>
            <a:off x="551180" y="107613"/>
            <a:ext cx="8041500" cy="1442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3C64"/>
              </a:buClr>
              <a:buSzPts val="6600"/>
              <a:buFont typeface="Aharoni"/>
              <a:buNone/>
            </a:pPr>
            <a:r>
              <a:rPr lang="pt-BR" sz="5500">
                <a:solidFill>
                  <a:srgbClr val="143C64"/>
                </a:solidFill>
                <a:latin typeface="Aharoni"/>
                <a:ea typeface="Aharoni"/>
                <a:cs typeface="Aharoni"/>
                <a:sym typeface="Aharoni"/>
              </a:rPr>
              <a:t>Representação Gráfica</a:t>
            </a:r>
            <a:endParaRPr sz="5500">
              <a:solidFill>
                <a:srgbClr val="143C64"/>
              </a:solidFill>
              <a:latin typeface="Aharoni"/>
              <a:ea typeface="Aharoni"/>
              <a:cs typeface="Aharoni"/>
              <a:sym typeface="Aharoni"/>
            </a:endParaRPr>
          </a:p>
        </p:txBody>
      </p:sp>
      <p:sp>
        <p:nvSpPr>
          <p:cNvPr id="107" name="Google Shape;107;p6"/>
          <p:cNvSpPr txBox="1"/>
          <p:nvPr>
            <p:ph idx="1" type="body"/>
          </p:nvPr>
        </p:nvSpPr>
        <p:spPr>
          <a:xfrm>
            <a:off x="551150" y="2038400"/>
            <a:ext cx="8041500" cy="3951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SzPts val="2280"/>
              <a:buChar char="●"/>
            </a:pPr>
            <a:r>
              <a:rPr lang="pt-BR" sz="2400">
                <a:solidFill>
                  <a:schemeClr val="dk1"/>
                </a:solidFill>
              </a:rPr>
              <a:t>Caso o problema tenha uma ou duas variáveis, ele pode ser representado graficamente de forma parecida com a Programação Linear.</a:t>
            </a:r>
            <a:endParaRPr sz="2400">
              <a:solidFill>
                <a:schemeClr val="dk1"/>
              </a:solidFill>
            </a:endParaRPr>
          </a:p>
          <a:p>
            <a:pPr indent="-83820" lvl="0" marL="228600" rtl="0" algn="l">
              <a:spcBef>
                <a:spcPts val="480"/>
              </a:spcBef>
              <a:spcAft>
                <a:spcPts val="0"/>
              </a:spcAft>
              <a:buSzPts val="2280"/>
              <a:buNone/>
            </a:pPr>
            <a:r>
              <a:t/>
            </a:r>
            <a:endParaRPr sz="2400">
              <a:solidFill>
                <a:schemeClr val="dk1"/>
              </a:solidFill>
            </a:endParaRPr>
          </a:p>
          <a:p>
            <a:pPr indent="-228600" lvl="0" marL="228600" rtl="0" algn="l">
              <a:spcBef>
                <a:spcPts val="480"/>
              </a:spcBef>
              <a:spcAft>
                <a:spcPts val="1200"/>
              </a:spcAft>
              <a:buSzPts val="2280"/>
              <a:buChar char="●"/>
            </a:pPr>
            <a:r>
              <a:rPr lang="pt-BR" sz="2400">
                <a:solidFill>
                  <a:schemeClr val="dk1"/>
                </a:solidFill>
              </a:rPr>
              <a:t>Serão observadas algumas dificuldades geradas pelo fato de algumas funções serem não lineares.</a:t>
            </a:r>
            <a:endParaRPr sz="2400">
              <a:solidFill>
                <a:schemeClr val="dk1"/>
              </a:solidFill>
            </a:endParaRPr>
          </a:p>
        </p:txBody>
      </p:sp>
      <p:pic>
        <p:nvPicPr>
          <p:cNvPr descr="Ícone&#10;&#10;O conteúdo gerado por IA pode estar incorreto." id="108" name="Google Shape;108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47268" y="5385225"/>
            <a:ext cx="1590001" cy="1472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Ícone&#10;&#10;O conteúdo gerado por IA pode estar incorreto." id="109" name="Google Shape;109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184776" y="11128"/>
            <a:ext cx="952500" cy="9486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"/>
          <p:cNvSpPr txBox="1"/>
          <p:nvPr>
            <p:ph type="title"/>
          </p:nvPr>
        </p:nvSpPr>
        <p:spPr>
          <a:xfrm>
            <a:off x="551280" y="177388"/>
            <a:ext cx="8041500" cy="1442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3C64"/>
              </a:buClr>
              <a:buSzPts val="6600"/>
              <a:buFont typeface="Aharoni"/>
              <a:buNone/>
            </a:pPr>
            <a:r>
              <a:rPr lang="pt-BR" sz="5500">
                <a:solidFill>
                  <a:srgbClr val="143C64"/>
                </a:solidFill>
                <a:latin typeface="Aharoni"/>
                <a:ea typeface="Aharoni"/>
                <a:cs typeface="Aharoni"/>
                <a:sym typeface="Aharoni"/>
              </a:rPr>
              <a:t>Exemplo 1</a:t>
            </a:r>
            <a:endParaRPr sz="5500">
              <a:solidFill>
                <a:srgbClr val="143C64"/>
              </a:solidFill>
              <a:latin typeface="Aharoni"/>
              <a:ea typeface="Aharoni"/>
              <a:cs typeface="Aharoni"/>
              <a:sym typeface="Aharoni"/>
            </a:endParaRPr>
          </a:p>
        </p:txBody>
      </p:sp>
      <p:sp>
        <p:nvSpPr>
          <p:cNvPr id="115" name="Google Shape;115;p7"/>
          <p:cNvSpPr txBox="1"/>
          <p:nvPr>
            <p:ph idx="1" type="body"/>
          </p:nvPr>
        </p:nvSpPr>
        <p:spPr>
          <a:xfrm>
            <a:off x="838200" y="2038388"/>
            <a:ext cx="7467600" cy="3951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83820" lvl="0" marL="228600" rtl="0" algn="l">
              <a:spcBef>
                <a:spcPts val="0"/>
              </a:spcBef>
              <a:spcAft>
                <a:spcPts val="1200"/>
              </a:spcAft>
              <a:buSzPts val="2280"/>
              <a:buNone/>
            </a:pPr>
            <a:r>
              <a:t/>
            </a:r>
            <a:endParaRPr/>
          </a:p>
        </p:txBody>
      </p:sp>
      <p:pic>
        <p:nvPicPr>
          <p:cNvPr id="116" name="Google Shape;116;p7"/>
          <p:cNvPicPr preferRelativeResize="0"/>
          <p:nvPr/>
        </p:nvPicPr>
        <p:blipFill rotWithShape="1">
          <a:blip r:embed="rId3">
            <a:alphaModFix/>
          </a:blip>
          <a:srcRect b="55712" l="52908" r="31313" t="29608"/>
          <a:stretch/>
        </p:blipFill>
        <p:spPr>
          <a:xfrm>
            <a:off x="2087724" y="2780928"/>
            <a:ext cx="4968552" cy="246340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7" name="Google Shape;117;p7"/>
          <p:cNvGrpSpPr/>
          <p:nvPr/>
        </p:nvGrpSpPr>
        <p:grpSpPr>
          <a:xfrm>
            <a:off x="395536" y="1938339"/>
            <a:ext cx="4054415" cy="4157933"/>
            <a:chOff x="1311215" y="2018580"/>
            <a:chExt cx="4054415" cy="4157933"/>
          </a:xfrm>
        </p:grpSpPr>
        <p:pic>
          <p:nvPicPr>
            <p:cNvPr id="118" name="Google Shape;118;p7"/>
            <p:cNvPicPr preferRelativeResize="0"/>
            <p:nvPr/>
          </p:nvPicPr>
          <p:blipFill rotWithShape="1">
            <a:blip r:embed="rId3">
              <a:alphaModFix/>
            </a:blip>
            <a:srcRect b="10377" l="24939" r="43900" t="29660"/>
            <a:stretch/>
          </p:blipFill>
          <p:spPr>
            <a:xfrm>
              <a:off x="1311215" y="2018580"/>
              <a:ext cx="4054415" cy="415793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9" name="Google Shape;119;p7"/>
            <p:cNvSpPr/>
            <p:nvPr/>
          </p:nvSpPr>
          <p:spPr>
            <a:xfrm>
              <a:off x="4680012" y="2018580"/>
              <a:ext cx="685618" cy="1122388"/>
            </a:xfrm>
            <a:prstGeom prst="rect">
              <a:avLst/>
            </a:prstGeom>
            <a:solidFill>
              <a:schemeClr val="lt1"/>
            </a:solidFill>
            <a:ln cap="flat" cmpd="sng" w="1905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</p:grpSp>
      <p:pic>
        <p:nvPicPr>
          <p:cNvPr id="120" name="Google Shape;120;p7"/>
          <p:cNvPicPr preferRelativeResize="0"/>
          <p:nvPr/>
        </p:nvPicPr>
        <p:blipFill rotWithShape="1">
          <a:blip r:embed="rId3">
            <a:alphaModFix/>
          </a:blip>
          <a:srcRect b="55311" l="53050" r="31834" t="30407"/>
          <a:stretch/>
        </p:blipFill>
        <p:spPr>
          <a:xfrm>
            <a:off x="4278059" y="2780928"/>
            <a:ext cx="4038357" cy="246340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Ícone&#10;&#10;O conteúdo gerado por IA pode estar incorreto." id="121" name="Google Shape;12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47268" y="5385225"/>
            <a:ext cx="1590001" cy="1472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Ícone&#10;&#10;O conteúdo gerado por IA pode estar incorreto." id="122" name="Google Shape;122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84776" y="11128"/>
            <a:ext cx="952500" cy="9486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8"/>
          <p:cNvSpPr txBox="1"/>
          <p:nvPr>
            <p:ph type="title"/>
          </p:nvPr>
        </p:nvSpPr>
        <p:spPr>
          <a:xfrm>
            <a:off x="551280" y="117588"/>
            <a:ext cx="8041500" cy="1442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3C64"/>
              </a:buClr>
              <a:buSzPts val="6600"/>
              <a:buFont typeface="Aharoni"/>
              <a:buNone/>
            </a:pPr>
            <a:r>
              <a:rPr lang="pt-BR" sz="5500">
                <a:solidFill>
                  <a:srgbClr val="143C64"/>
                </a:solidFill>
                <a:latin typeface="Aharoni"/>
                <a:ea typeface="Aharoni"/>
                <a:cs typeface="Aharoni"/>
                <a:sym typeface="Aharoni"/>
              </a:rPr>
              <a:t>Exemplo 2</a:t>
            </a:r>
            <a:endParaRPr sz="5500">
              <a:solidFill>
                <a:srgbClr val="143C64"/>
              </a:solidFill>
              <a:latin typeface="Aharoni"/>
              <a:ea typeface="Aharoni"/>
              <a:cs typeface="Aharoni"/>
              <a:sym typeface="Aharoni"/>
            </a:endParaRPr>
          </a:p>
        </p:txBody>
      </p:sp>
      <p:sp>
        <p:nvSpPr>
          <p:cNvPr id="128" name="Google Shape;128;p8"/>
          <p:cNvSpPr txBox="1"/>
          <p:nvPr>
            <p:ph idx="1" type="body"/>
          </p:nvPr>
        </p:nvSpPr>
        <p:spPr>
          <a:xfrm>
            <a:off x="838200" y="2038388"/>
            <a:ext cx="7467600" cy="3951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83820" lvl="0" marL="228600" rtl="0" algn="l">
              <a:spcBef>
                <a:spcPts val="0"/>
              </a:spcBef>
              <a:spcAft>
                <a:spcPts val="1200"/>
              </a:spcAft>
              <a:buSzPts val="2280"/>
              <a:buNone/>
            </a:pPr>
            <a:r>
              <a:t/>
            </a:r>
            <a:endParaRPr/>
          </a:p>
        </p:txBody>
      </p:sp>
      <p:pic>
        <p:nvPicPr>
          <p:cNvPr id="129" name="Google Shape;129;p8"/>
          <p:cNvPicPr preferRelativeResize="0"/>
          <p:nvPr/>
        </p:nvPicPr>
        <p:blipFill rotWithShape="1">
          <a:blip r:embed="rId3">
            <a:alphaModFix/>
          </a:blip>
          <a:srcRect b="45014" l="48532" r="25479" t="37072"/>
          <a:stretch/>
        </p:blipFill>
        <p:spPr>
          <a:xfrm>
            <a:off x="1631672" y="2852936"/>
            <a:ext cx="5880657" cy="216024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0" name="Google Shape;130;p8"/>
          <p:cNvGrpSpPr/>
          <p:nvPr/>
        </p:nvGrpSpPr>
        <p:grpSpPr>
          <a:xfrm>
            <a:off x="427596" y="2442592"/>
            <a:ext cx="3640348" cy="4175185"/>
            <a:chOff x="1173192" y="2449902"/>
            <a:chExt cx="3640348" cy="4175185"/>
          </a:xfrm>
        </p:grpSpPr>
        <p:pic>
          <p:nvPicPr>
            <p:cNvPr id="131" name="Google Shape;131;p8"/>
            <p:cNvPicPr preferRelativeResize="0"/>
            <p:nvPr/>
          </p:nvPicPr>
          <p:blipFill rotWithShape="1">
            <a:blip r:embed="rId3">
              <a:alphaModFix/>
            </a:blip>
            <a:srcRect b="3908" l="23878" r="48144" t="35880"/>
            <a:stretch/>
          </p:blipFill>
          <p:spPr>
            <a:xfrm>
              <a:off x="1173192" y="2449902"/>
              <a:ext cx="3640348" cy="417518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2" name="Google Shape;132;p8"/>
            <p:cNvSpPr/>
            <p:nvPr/>
          </p:nvSpPr>
          <p:spPr>
            <a:xfrm>
              <a:off x="4283968" y="2449902"/>
              <a:ext cx="529572" cy="1339138"/>
            </a:xfrm>
            <a:prstGeom prst="rect">
              <a:avLst/>
            </a:prstGeom>
            <a:solidFill>
              <a:schemeClr val="lt1"/>
            </a:solidFill>
            <a:ln cap="flat" cmpd="sng" w="1905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</p:grpSp>
      <p:pic>
        <p:nvPicPr>
          <p:cNvPr id="133" name="Google Shape;133;p8"/>
          <p:cNvPicPr preferRelativeResize="0"/>
          <p:nvPr/>
        </p:nvPicPr>
        <p:blipFill rotWithShape="1">
          <a:blip r:embed="rId3">
            <a:alphaModFix/>
          </a:blip>
          <a:srcRect b="42731" l="48409" r="25071" t="35775"/>
          <a:stretch/>
        </p:blipFill>
        <p:spPr>
          <a:xfrm>
            <a:off x="4067944" y="2852936"/>
            <a:ext cx="4167634" cy="216023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Ícone&#10;&#10;O conteúdo gerado por IA pode estar incorreto." id="134" name="Google Shape;134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47268" y="5385225"/>
            <a:ext cx="1590001" cy="1472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Ícone&#10;&#10;O conteúdo gerado por IA pode estar incorreto." id="135" name="Google Shape;135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84776" y="11128"/>
            <a:ext cx="952500" cy="9486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"/>
          <p:cNvSpPr txBox="1"/>
          <p:nvPr>
            <p:ph type="title"/>
          </p:nvPr>
        </p:nvSpPr>
        <p:spPr>
          <a:xfrm>
            <a:off x="491480" y="177413"/>
            <a:ext cx="8041500" cy="1442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3C64"/>
              </a:buClr>
              <a:buSzPts val="6600"/>
              <a:buFont typeface="Aharoni"/>
              <a:buNone/>
            </a:pPr>
            <a:r>
              <a:rPr lang="pt-BR" sz="5500">
                <a:solidFill>
                  <a:srgbClr val="143C64"/>
                </a:solidFill>
                <a:latin typeface="Aharoni"/>
                <a:ea typeface="Aharoni"/>
                <a:cs typeface="Aharoni"/>
                <a:sym typeface="Aharoni"/>
              </a:rPr>
              <a:t>Exemplo 3</a:t>
            </a:r>
            <a:endParaRPr sz="5500">
              <a:solidFill>
                <a:srgbClr val="143C64"/>
              </a:solidFill>
              <a:latin typeface="Aharoni"/>
              <a:ea typeface="Aharoni"/>
              <a:cs typeface="Aharoni"/>
              <a:sym typeface="Aharoni"/>
            </a:endParaRPr>
          </a:p>
        </p:txBody>
      </p:sp>
      <p:sp>
        <p:nvSpPr>
          <p:cNvPr id="141" name="Google Shape;141;p9"/>
          <p:cNvSpPr txBox="1"/>
          <p:nvPr>
            <p:ph idx="1" type="body"/>
          </p:nvPr>
        </p:nvSpPr>
        <p:spPr>
          <a:xfrm>
            <a:off x="838200" y="2038388"/>
            <a:ext cx="7467600" cy="3951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83820" lvl="0" marL="228600" rtl="0" algn="l">
              <a:spcBef>
                <a:spcPts val="0"/>
              </a:spcBef>
              <a:spcAft>
                <a:spcPts val="1200"/>
              </a:spcAft>
              <a:buSzPts val="2280"/>
              <a:buNone/>
            </a:pPr>
            <a:r>
              <a:t/>
            </a:r>
            <a:endParaRPr/>
          </a:p>
        </p:txBody>
      </p:sp>
      <p:pic>
        <p:nvPicPr>
          <p:cNvPr id="142" name="Google Shape;142;p9"/>
          <p:cNvPicPr preferRelativeResize="0"/>
          <p:nvPr/>
        </p:nvPicPr>
        <p:blipFill rotWithShape="1">
          <a:blip r:embed="rId3">
            <a:alphaModFix/>
          </a:blip>
          <a:srcRect b="72082" l="36210" r="44298" t="13959"/>
          <a:stretch/>
        </p:blipFill>
        <p:spPr>
          <a:xfrm>
            <a:off x="1647616" y="2708920"/>
            <a:ext cx="5848769" cy="223224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3" name="Google Shape;143;p9"/>
          <p:cNvGrpSpPr/>
          <p:nvPr/>
        </p:nvGrpSpPr>
        <p:grpSpPr>
          <a:xfrm>
            <a:off x="251520" y="1772816"/>
            <a:ext cx="5073147" cy="4830793"/>
            <a:chOff x="78177" y="1772816"/>
            <a:chExt cx="5073147" cy="4830793"/>
          </a:xfrm>
        </p:grpSpPr>
        <p:pic>
          <p:nvPicPr>
            <p:cNvPr id="144" name="Google Shape;144;p9"/>
            <p:cNvPicPr preferRelativeResize="0"/>
            <p:nvPr/>
          </p:nvPicPr>
          <p:blipFill rotWithShape="1">
            <a:blip r:embed="rId3">
              <a:alphaModFix/>
            </a:blip>
            <a:srcRect b="12917" l="22012" r="40329" t="17417"/>
            <a:stretch/>
          </p:blipFill>
          <p:spPr>
            <a:xfrm>
              <a:off x="78177" y="1772816"/>
              <a:ext cx="4899804" cy="483079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5" name="Google Shape;145;p9"/>
            <p:cNvSpPr/>
            <p:nvPr/>
          </p:nvSpPr>
          <p:spPr>
            <a:xfrm>
              <a:off x="4860032" y="1772816"/>
              <a:ext cx="291292" cy="1440160"/>
            </a:xfrm>
            <a:prstGeom prst="rect">
              <a:avLst/>
            </a:prstGeom>
            <a:solidFill>
              <a:schemeClr val="lt1"/>
            </a:solidFill>
            <a:ln cap="flat" cmpd="sng" w="1905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  <p:sp>
          <p:nvSpPr>
            <p:cNvPr id="146" name="Google Shape;146;p9"/>
            <p:cNvSpPr/>
            <p:nvPr/>
          </p:nvSpPr>
          <p:spPr>
            <a:xfrm>
              <a:off x="1806369" y="1772816"/>
              <a:ext cx="2592288" cy="720080"/>
            </a:xfrm>
            <a:prstGeom prst="rect">
              <a:avLst/>
            </a:prstGeom>
            <a:solidFill>
              <a:schemeClr val="lt1"/>
            </a:solidFill>
            <a:ln cap="flat" cmpd="sng" w="1905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</p:grpSp>
      <p:pic>
        <p:nvPicPr>
          <p:cNvPr id="147" name="Google Shape;147;p9"/>
          <p:cNvPicPr preferRelativeResize="0"/>
          <p:nvPr/>
        </p:nvPicPr>
        <p:blipFill rotWithShape="1">
          <a:blip r:embed="rId3">
            <a:alphaModFix/>
          </a:blip>
          <a:srcRect b="71584" l="36209" r="44165" t="14208"/>
          <a:stretch/>
        </p:blipFill>
        <p:spPr>
          <a:xfrm>
            <a:off x="5151324" y="2708920"/>
            <a:ext cx="3833960" cy="223224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Ícone&#10;&#10;O conteúdo gerado por IA pode estar incorreto." id="148" name="Google Shape;148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47268" y="5385225"/>
            <a:ext cx="1590001" cy="1472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Ícone&#10;&#10;O conteúdo gerado por IA pode estar incorreto." id="149" name="Google Shape;149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84776" y="11128"/>
            <a:ext cx="952500" cy="9486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"/>
          <p:cNvSpPr txBox="1"/>
          <p:nvPr>
            <p:ph type="title"/>
          </p:nvPr>
        </p:nvSpPr>
        <p:spPr>
          <a:xfrm>
            <a:off x="551280" y="114138"/>
            <a:ext cx="8041500" cy="1442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3C64"/>
              </a:buClr>
              <a:buSzPts val="6600"/>
              <a:buFont typeface="Aharoni"/>
              <a:buNone/>
            </a:pPr>
            <a:r>
              <a:rPr lang="pt-BR" sz="5500">
                <a:solidFill>
                  <a:srgbClr val="143C64"/>
                </a:solidFill>
                <a:latin typeface="Aharoni"/>
                <a:ea typeface="Aharoni"/>
                <a:cs typeface="Aharoni"/>
                <a:sym typeface="Aharoni"/>
              </a:rPr>
              <a:t>Dificuldades</a:t>
            </a:r>
            <a:endParaRPr sz="5500">
              <a:solidFill>
                <a:srgbClr val="143C64"/>
              </a:solidFill>
              <a:latin typeface="Aharoni"/>
              <a:ea typeface="Aharoni"/>
              <a:cs typeface="Aharoni"/>
              <a:sym typeface="Aharoni"/>
            </a:endParaRPr>
          </a:p>
        </p:txBody>
      </p:sp>
      <p:sp>
        <p:nvSpPr>
          <p:cNvPr id="155" name="Google Shape;155;p10"/>
          <p:cNvSpPr txBox="1"/>
          <p:nvPr>
            <p:ph idx="1" type="body"/>
          </p:nvPr>
        </p:nvSpPr>
        <p:spPr>
          <a:xfrm>
            <a:off x="551425" y="1786075"/>
            <a:ext cx="8041500" cy="44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2500" lnSpcReduction="20000"/>
          </a:bodyPr>
          <a:lstStyle/>
          <a:p>
            <a:pPr indent="-217742" lvl="0" marL="228600" rtl="0" algn="l">
              <a:spcBef>
                <a:spcPts val="0"/>
              </a:spcBef>
              <a:spcAft>
                <a:spcPts val="0"/>
              </a:spcAft>
              <a:buSzPct val="95000"/>
              <a:buChar char="●"/>
            </a:pPr>
            <a:r>
              <a:rPr lang="pt-BR" sz="2400">
                <a:solidFill>
                  <a:schemeClr val="dk1"/>
                </a:solidFill>
              </a:rPr>
              <a:t>Como vimos, diferente da Programação Linear, o valor máximo da função não necessariamente é o valor mais extremo da região do gráfico, quando trabalhamos com funções não lineares.</a:t>
            </a:r>
            <a:endParaRPr sz="2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480"/>
              </a:spcBef>
              <a:spcAft>
                <a:spcPts val="0"/>
              </a:spcAft>
              <a:buSzPct val="95000"/>
              <a:buNone/>
            </a:pPr>
            <a:r>
              <a:t/>
            </a:r>
            <a:endParaRPr sz="2400">
              <a:solidFill>
                <a:schemeClr val="dk1"/>
              </a:solidFill>
            </a:endParaRPr>
          </a:p>
          <a:p>
            <a:pPr indent="-217742" lvl="0" marL="228600" rtl="0" algn="l">
              <a:spcBef>
                <a:spcPts val="480"/>
              </a:spcBef>
              <a:spcAft>
                <a:spcPts val="0"/>
              </a:spcAft>
              <a:buSzPct val="95000"/>
              <a:buChar char="●"/>
            </a:pPr>
            <a:r>
              <a:rPr lang="pt-BR" sz="2400">
                <a:solidFill>
                  <a:schemeClr val="dk1"/>
                </a:solidFill>
              </a:rPr>
              <a:t>Os problemas de PNL são mais difíceis de serem resolvidos, porém, são muito comuns na prática.</a:t>
            </a:r>
            <a:endParaRPr sz="2400">
              <a:solidFill>
                <a:schemeClr val="dk1"/>
              </a:solidFill>
            </a:endParaRPr>
          </a:p>
          <a:p>
            <a:pPr indent="-83820" lvl="0" marL="228600" rtl="0" algn="l">
              <a:spcBef>
                <a:spcPts val="480"/>
              </a:spcBef>
              <a:spcAft>
                <a:spcPts val="0"/>
              </a:spcAft>
              <a:buSzPct val="95000"/>
              <a:buNone/>
            </a:pPr>
            <a:r>
              <a:t/>
            </a:r>
            <a:endParaRPr sz="2400">
              <a:solidFill>
                <a:schemeClr val="dk1"/>
              </a:solidFill>
            </a:endParaRPr>
          </a:p>
          <a:p>
            <a:pPr indent="-217742" lvl="0" marL="228600" rtl="0" algn="l">
              <a:spcBef>
                <a:spcPts val="480"/>
              </a:spcBef>
              <a:spcAft>
                <a:spcPts val="0"/>
              </a:spcAft>
              <a:buSzPct val="95000"/>
              <a:buChar char="●"/>
            </a:pPr>
            <a:r>
              <a:rPr lang="pt-BR" sz="2400">
                <a:solidFill>
                  <a:schemeClr val="dk1"/>
                </a:solidFill>
              </a:rPr>
              <a:t>Os algoritmos de PNL são mais diversos e mais complexos.</a:t>
            </a:r>
            <a:endParaRPr sz="2400">
              <a:solidFill>
                <a:schemeClr val="dk1"/>
              </a:solidFill>
            </a:endParaRPr>
          </a:p>
          <a:p>
            <a:pPr indent="-83820" lvl="0" marL="228600" rtl="0" algn="l">
              <a:spcBef>
                <a:spcPts val="480"/>
              </a:spcBef>
              <a:spcAft>
                <a:spcPts val="0"/>
              </a:spcAft>
              <a:buSzPct val="95000"/>
              <a:buNone/>
            </a:pPr>
            <a:r>
              <a:t/>
            </a:r>
            <a:endParaRPr sz="2400">
              <a:solidFill>
                <a:schemeClr val="dk1"/>
              </a:solidFill>
            </a:endParaRPr>
          </a:p>
          <a:p>
            <a:pPr indent="-83820" lvl="0" marL="228600" rtl="0" algn="l">
              <a:spcBef>
                <a:spcPts val="480"/>
              </a:spcBef>
              <a:spcAft>
                <a:spcPts val="0"/>
              </a:spcAft>
              <a:buSzPct val="126667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80"/>
              </a:spcBef>
              <a:spcAft>
                <a:spcPts val="1200"/>
              </a:spcAft>
              <a:buSzPct val="126667"/>
              <a:buNone/>
            </a:pPr>
            <a:r>
              <a:t/>
            </a:r>
            <a:endParaRPr/>
          </a:p>
        </p:txBody>
      </p:sp>
      <p:pic>
        <p:nvPicPr>
          <p:cNvPr descr="Ícone&#10;&#10;O conteúdo gerado por IA pode estar incorreto." id="156" name="Google Shape;156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47268" y="5385225"/>
            <a:ext cx="1590001" cy="1472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Ícone&#10;&#10;O conteúdo gerado por IA pode estar incorreto." id="157" name="Google Shape;157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184776" y="11128"/>
            <a:ext cx="952500" cy="9486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1"/>
          <p:cNvSpPr txBox="1"/>
          <p:nvPr>
            <p:ph type="title"/>
          </p:nvPr>
        </p:nvSpPr>
        <p:spPr>
          <a:xfrm>
            <a:off x="551280" y="436563"/>
            <a:ext cx="8041440" cy="14426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3C64"/>
              </a:buClr>
              <a:buSzPts val="6600"/>
              <a:buFont typeface="Aharoni"/>
              <a:buNone/>
            </a:pPr>
            <a:r>
              <a:rPr lang="pt-BR" sz="5000">
                <a:solidFill>
                  <a:srgbClr val="143C64"/>
                </a:solidFill>
                <a:latin typeface="Aharoni"/>
                <a:ea typeface="Aharoni"/>
                <a:cs typeface="Aharoni"/>
                <a:sym typeface="Aharoni"/>
              </a:rPr>
              <a:t>Caso 1: Otimização irrestrita com uma variável</a:t>
            </a:r>
            <a:endParaRPr sz="5000">
              <a:solidFill>
                <a:srgbClr val="143C64"/>
              </a:solidFill>
              <a:latin typeface="Aharoni"/>
              <a:ea typeface="Aharoni"/>
              <a:cs typeface="Aharoni"/>
              <a:sym typeface="Aharoni"/>
            </a:endParaRPr>
          </a:p>
        </p:txBody>
      </p:sp>
      <p:sp>
        <p:nvSpPr>
          <p:cNvPr id="163" name="Google Shape;163;p11"/>
          <p:cNvSpPr txBox="1"/>
          <p:nvPr>
            <p:ph idx="1" type="body"/>
          </p:nvPr>
        </p:nvSpPr>
        <p:spPr>
          <a:xfrm>
            <a:off x="838200" y="2038388"/>
            <a:ext cx="7467600" cy="3951337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0" l="-1357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1200"/>
              </a:spcAft>
              <a:buSzPts val="2280"/>
              <a:buChar char="●"/>
            </a:pPr>
            <a:r>
              <a:rPr lang="pt-BR"/>
              <a:t> </a:t>
            </a:r>
            <a:endParaRPr/>
          </a:p>
        </p:txBody>
      </p:sp>
      <p:pic>
        <p:nvPicPr>
          <p:cNvPr descr="Ícone&#10;&#10;O conteúdo gerado por IA pode estar incorreto." id="164" name="Google Shape;164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47268" y="5385225"/>
            <a:ext cx="1590001" cy="1472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Ícone&#10;&#10;O conteúdo gerado por IA pode estar incorreto." id="165" name="Google Shape;165;p1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84776" y="11128"/>
            <a:ext cx="952500" cy="9486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"/>
          <p:cNvSpPr txBox="1"/>
          <p:nvPr>
            <p:ph type="title"/>
          </p:nvPr>
        </p:nvSpPr>
        <p:spPr>
          <a:xfrm>
            <a:off x="551280" y="436563"/>
            <a:ext cx="8041440" cy="14426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3C64"/>
              </a:buClr>
              <a:buSzPts val="6600"/>
              <a:buFont typeface="Aharoni"/>
              <a:buNone/>
            </a:pPr>
            <a:r>
              <a:rPr lang="pt-BR" sz="5000">
                <a:solidFill>
                  <a:srgbClr val="143C64"/>
                </a:solidFill>
                <a:latin typeface="Aharoni"/>
                <a:ea typeface="Aharoni"/>
                <a:cs typeface="Aharoni"/>
                <a:sym typeface="Aharoni"/>
              </a:rPr>
              <a:t>Caso 1: Otimização irrestrita com uma variável</a:t>
            </a:r>
            <a:endParaRPr sz="5000">
              <a:solidFill>
                <a:srgbClr val="143C64"/>
              </a:solidFill>
              <a:latin typeface="Aharoni"/>
              <a:ea typeface="Aharoni"/>
              <a:cs typeface="Aharoni"/>
              <a:sym typeface="Aharoni"/>
            </a:endParaRPr>
          </a:p>
        </p:txBody>
      </p:sp>
      <p:sp>
        <p:nvSpPr>
          <p:cNvPr id="171" name="Google Shape;171;p12"/>
          <p:cNvSpPr txBox="1"/>
          <p:nvPr>
            <p:ph idx="1" type="body"/>
          </p:nvPr>
        </p:nvSpPr>
        <p:spPr>
          <a:xfrm>
            <a:off x="838200" y="2038388"/>
            <a:ext cx="7467600" cy="3951337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0" l="-1357" r="0" t="-1281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1200"/>
              </a:spcAft>
              <a:buSzPts val="2280"/>
              <a:buChar char="●"/>
            </a:pPr>
            <a:r>
              <a:rPr lang="pt-BR"/>
              <a:t> </a:t>
            </a:r>
            <a:endParaRPr/>
          </a:p>
        </p:txBody>
      </p:sp>
      <p:pic>
        <p:nvPicPr>
          <p:cNvPr descr="Ícone&#10;&#10;O conteúdo gerado por IA pode estar incorreto." id="172" name="Google Shape;172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47268" y="5385225"/>
            <a:ext cx="1590001" cy="1472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Ícone&#10;&#10;O conteúdo gerado por IA pode estar incorreto." id="173" name="Google Shape;173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84776" y="11128"/>
            <a:ext cx="952500" cy="9486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3"/>
          <p:cNvSpPr txBox="1"/>
          <p:nvPr>
            <p:ph type="title"/>
          </p:nvPr>
        </p:nvSpPr>
        <p:spPr>
          <a:xfrm>
            <a:off x="551280" y="436563"/>
            <a:ext cx="8041440" cy="14426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3C64"/>
              </a:buClr>
              <a:buSzPts val="6600"/>
              <a:buFont typeface="Aharoni"/>
              <a:buNone/>
            </a:pPr>
            <a:r>
              <a:rPr lang="pt-BR" sz="5000">
                <a:solidFill>
                  <a:srgbClr val="143C64"/>
                </a:solidFill>
                <a:latin typeface="Aharoni"/>
                <a:ea typeface="Aharoni"/>
                <a:cs typeface="Aharoni"/>
                <a:sym typeface="Aharoni"/>
              </a:rPr>
              <a:t>Caso 1: Otimização irrestrita com uma variável</a:t>
            </a:r>
            <a:endParaRPr sz="5000">
              <a:solidFill>
                <a:srgbClr val="143C64"/>
              </a:solidFill>
              <a:latin typeface="Aharoni"/>
              <a:ea typeface="Aharoni"/>
              <a:cs typeface="Aharoni"/>
              <a:sym typeface="Aharoni"/>
            </a:endParaRPr>
          </a:p>
        </p:txBody>
      </p:sp>
      <p:sp>
        <p:nvSpPr>
          <p:cNvPr id="179" name="Google Shape;179;p13"/>
          <p:cNvSpPr txBox="1"/>
          <p:nvPr>
            <p:ph idx="1" type="body"/>
          </p:nvPr>
        </p:nvSpPr>
        <p:spPr>
          <a:xfrm>
            <a:off x="551250" y="2257700"/>
            <a:ext cx="8041500" cy="3951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SzPts val="2280"/>
              <a:buChar char="●"/>
            </a:pPr>
            <a:r>
              <a:rPr lang="pt-BR" sz="2400">
                <a:solidFill>
                  <a:schemeClr val="dk1"/>
                </a:solidFill>
              </a:rPr>
              <a:t>Nesse caso, recorremos a alguns métodos de busca de soluções experimentais que levam a uma solução ótima.</a:t>
            </a:r>
            <a:endParaRPr sz="2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480"/>
              </a:spcBef>
              <a:spcAft>
                <a:spcPts val="0"/>
              </a:spcAft>
              <a:buSzPts val="2280"/>
              <a:buNone/>
            </a:pPr>
            <a:r>
              <a:t/>
            </a:r>
            <a:endParaRPr sz="2400">
              <a:solidFill>
                <a:schemeClr val="dk1"/>
              </a:solidFill>
            </a:endParaRPr>
          </a:p>
          <a:p>
            <a:pPr indent="-228600" lvl="0" marL="228600" rtl="0" algn="l">
              <a:spcBef>
                <a:spcPts val="480"/>
              </a:spcBef>
              <a:spcAft>
                <a:spcPts val="1200"/>
              </a:spcAft>
              <a:buSzPts val="2280"/>
              <a:buChar char="●"/>
            </a:pPr>
            <a:r>
              <a:rPr lang="pt-BR" sz="2400">
                <a:solidFill>
                  <a:schemeClr val="dk1"/>
                </a:solidFill>
              </a:rPr>
              <a:t>Por exemplo: Método da bissecção e o Método de Newton.</a:t>
            </a:r>
            <a:endParaRPr sz="2400">
              <a:solidFill>
                <a:schemeClr val="dk1"/>
              </a:solidFill>
            </a:endParaRPr>
          </a:p>
        </p:txBody>
      </p:sp>
      <p:pic>
        <p:nvPicPr>
          <p:cNvPr descr="Ícone&#10;&#10;O conteúdo gerado por IA pode estar incorreto." id="180" name="Google Shape;18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47268" y="5385225"/>
            <a:ext cx="1590001" cy="1472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Ícone&#10;&#10;O conteúdo gerado por IA pode estar incorreto." id="181" name="Google Shape;181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184776" y="11128"/>
            <a:ext cx="952500" cy="9486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4"/>
          <p:cNvSpPr txBox="1"/>
          <p:nvPr>
            <p:ph type="title"/>
          </p:nvPr>
        </p:nvSpPr>
        <p:spPr>
          <a:xfrm>
            <a:off x="264360" y="332656"/>
            <a:ext cx="8628120" cy="14426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3C64"/>
              </a:buClr>
              <a:buSzPts val="6600"/>
              <a:buFont typeface="Aharoni"/>
              <a:buNone/>
            </a:pPr>
            <a:r>
              <a:rPr lang="pt-BR" sz="5000">
                <a:solidFill>
                  <a:srgbClr val="143C64"/>
                </a:solidFill>
                <a:latin typeface="Aharoni"/>
                <a:ea typeface="Aharoni"/>
                <a:cs typeface="Aharoni"/>
                <a:sym typeface="Aharoni"/>
              </a:rPr>
              <a:t>Caso 1.1: Otimização irrestrita com múltiplas variáveis</a:t>
            </a:r>
            <a:endParaRPr sz="5000">
              <a:solidFill>
                <a:srgbClr val="143C64"/>
              </a:solidFill>
              <a:latin typeface="Aharoni"/>
              <a:ea typeface="Aharoni"/>
              <a:cs typeface="Aharoni"/>
              <a:sym typeface="Aharoni"/>
            </a:endParaRPr>
          </a:p>
        </p:txBody>
      </p:sp>
      <p:sp>
        <p:nvSpPr>
          <p:cNvPr id="187" name="Google Shape;187;p14"/>
          <p:cNvSpPr txBox="1"/>
          <p:nvPr>
            <p:ph idx="1" type="body"/>
          </p:nvPr>
        </p:nvSpPr>
        <p:spPr>
          <a:xfrm>
            <a:off x="838200" y="2038388"/>
            <a:ext cx="7467600" cy="3951337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0" l="-1357" r="0" t="-1281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1200"/>
              </a:spcAft>
              <a:buSzPts val="2280"/>
              <a:buChar char="●"/>
            </a:pPr>
            <a:r>
              <a:rPr lang="pt-BR"/>
              <a:t> </a:t>
            </a:r>
            <a:endParaRPr/>
          </a:p>
        </p:txBody>
      </p:sp>
      <p:pic>
        <p:nvPicPr>
          <p:cNvPr descr="Ícone&#10;&#10;O conteúdo gerado por IA pode estar incorreto." id="188" name="Google Shape;188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47268" y="5385225"/>
            <a:ext cx="1590001" cy="1472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Ícone&#10;&#10;O conteúdo gerado por IA pode estar incorreto." id="189" name="Google Shape;189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84776" y="11128"/>
            <a:ext cx="952500" cy="9486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5"/>
          <p:cNvSpPr txBox="1"/>
          <p:nvPr>
            <p:ph type="title"/>
          </p:nvPr>
        </p:nvSpPr>
        <p:spPr>
          <a:xfrm>
            <a:off x="264360" y="332656"/>
            <a:ext cx="8628120" cy="14426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3C64"/>
              </a:buClr>
              <a:buSzPts val="6600"/>
              <a:buFont typeface="Aharoni"/>
              <a:buNone/>
            </a:pPr>
            <a:r>
              <a:rPr lang="pt-BR" sz="5000">
                <a:solidFill>
                  <a:srgbClr val="143C64"/>
                </a:solidFill>
                <a:latin typeface="Aharoni"/>
                <a:ea typeface="Aharoni"/>
                <a:cs typeface="Aharoni"/>
                <a:sym typeface="Aharoni"/>
              </a:rPr>
              <a:t>Caso 1.1: Otimização irrestrita com múltiplas variáveis</a:t>
            </a:r>
            <a:endParaRPr sz="5000">
              <a:solidFill>
                <a:srgbClr val="143C64"/>
              </a:solidFill>
              <a:latin typeface="Aharoni"/>
              <a:ea typeface="Aharoni"/>
              <a:cs typeface="Aharoni"/>
              <a:sym typeface="Aharoni"/>
            </a:endParaRPr>
          </a:p>
        </p:txBody>
      </p:sp>
      <p:sp>
        <p:nvSpPr>
          <p:cNvPr id="195" name="Google Shape;195;p15"/>
          <p:cNvSpPr txBox="1"/>
          <p:nvPr>
            <p:ph idx="1" type="body"/>
          </p:nvPr>
        </p:nvSpPr>
        <p:spPr>
          <a:xfrm>
            <a:off x="838200" y="2038388"/>
            <a:ext cx="7467600" cy="3951337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-320" l="-678" r="-678" t="-1922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1200"/>
              </a:spcAft>
              <a:buSzPts val="2280"/>
              <a:buChar char="●"/>
            </a:pPr>
            <a:r>
              <a:rPr lang="pt-BR"/>
              <a:t> </a:t>
            </a:r>
            <a:endParaRPr/>
          </a:p>
        </p:txBody>
      </p:sp>
      <p:pic>
        <p:nvPicPr>
          <p:cNvPr descr="Ícone&#10;&#10;O conteúdo gerado por IA pode estar incorreto." id="196" name="Google Shape;196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47268" y="5385225"/>
            <a:ext cx="1590001" cy="1472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Ícone&#10;&#10;O conteúdo gerado por IA pode estar incorreto." id="197" name="Google Shape;197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84776" y="11128"/>
            <a:ext cx="952500" cy="9486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6"/>
          <p:cNvSpPr txBox="1"/>
          <p:nvPr>
            <p:ph type="title"/>
          </p:nvPr>
        </p:nvSpPr>
        <p:spPr>
          <a:xfrm>
            <a:off x="551293" y="526263"/>
            <a:ext cx="8413200" cy="1442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3C64"/>
              </a:buClr>
              <a:buSzPts val="6600"/>
              <a:buFont typeface="Aharoni"/>
              <a:buNone/>
            </a:pPr>
            <a:r>
              <a:rPr lang="pt-BR" sz="5000">
                <a:solidFill>
                  <a:srgbClr val="143C64"/>
                </a:solidFill>
                <a:latin typeface="Aharoni"/>
                <a:ea typeface="Aharoni"/>
                <a:cs typeface="Aharoni"/>
                <a:sym typeface="Aharoni"/>
              </a:rPr>
              <a:t>Caso 1.1: Otimização irrestrita com múltiplas variáveis</a:t>
            </a:r>
            <a:endParaRPr sz="5000">
              <a:solidFill>
                <a:srgbClr val="143C64"/>
              </a:solidFill>
              <a:latin typeface="Aharoni"/>
              <a:ea typeface="Aharoni"/>
              <a:cs typeface="Aharoni"/>
              <a:sym typeface="Aharoni"/>
            </a:endParaRPr>
          </a:p>
        </p:txBody>
      </p:sp>
      <p:sp>
        <p:nvSpPr>
          <p:cNvPr id="203" name="Google Shape;203;p16"/>
          <p:cNvSpPr txBox="1"/>
          <p:nvPr>
            <p:ph idx="1" type="body"/>
          </p:nvPr>
        </p:nvSpPr>
        <p:spPr>
          <a:xfrm>
            <a:off x="551288" y="2317525"/>
            <a:ext cx="8413200" cy="3951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SzPts val="2280"/>
              <a:buChar char="●"/>
            </a:pPr>
            <a:r>
              <a:rPr lang="pt-BR" sz="2400">
                <a:solidFill>
                  <a:schemeClr val="dk1"/>
                </a:solidFill>
              </a:rPr>
              <a:t>Nesse caso, podemos recorrer a alguns métodos de busca direta e métodos de descida ou indiretos</a:t>
            </a:r>
            <a:endParaRPr sz="2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480"/>
              </a:spcBef>
              <a:spcAft>
                <a:spcPts val="0"/>
              </a:spcAft>
              <a:buSzPts val="2280"/>
              <a:buNone/>
            </a:pPr>
            <a:r>
              <a:t/>
            </a:r>
            <a:endParaRPr sz="2400">
              <a:solidFill>
                <a:schemeClr val="dk1"/>
              </a:solidFill>
            </a:endParaRPr>
          </a:p>
          <a:p>
            <a:pPr indent="-228600" lvl="0" marL="228600" rtl="0" algn="l">
              <a:spcBef>
                <a:spcPts val="480"/>
              </a:spcBef>
              <a:spcAft>
                <a:spcPts val="1200"/>
              </a:spcAft>
              <a:buSzPts val="2280"/>
              <a:buChar char="●"/>
            </a:pPr>
            <a:r>
              <a:rPr lang="pt-BR" sz="2400">
                <a:solidFill>
                  <a:schemeClr val="dk1"/>
                </a:solidFill>
              </a:rPr>
              <a:t>Métodos de Busca Direta: são métodos que otimizam a função sem o uso da derivada. Em geral, os métodos que usam derivadas convergem mais rapidamente quando comparados aos métodos de busca direta. </a:t>
            </a:r>
            <a:endParaRPr sz="2400">
              <a:solidFill>
                <a:schemeClr val="dk1"/>
              </a:solidFill>
            </a:endParaRPr>
          </a:p>
        </p:txBody>
      </p:sp>
      <p:pic>
        <p:nvPicPr>
          <p:cNvPr descr="Ícone&#10;&#10;O conteúdo gerado por IA pode estar incorreto." id="204" name="Google Shape;204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47268" y="5385225"/>
            <a:ext cx="1590001" cy="1472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Ícone&#10;&#10;O conteúdo gerado por IA pode estar incorreto." id="205" name="Google Shape;205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184776" y="11128"/>
            <a:ext cx="952500" cy="9486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7"/>
          <p:cNvSpPr txBox="1"/>
          <p:nvPr>
            <p:ph type="title"/>
          </p:nvPr>
        </p:nvSpPr>
        <p:spPr>
          <a:xfrm>
            <a:off x="551280" y="436563"/>
            <a:ext cx="8197184" cy="14426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3C64"/>
              </a:buClr>
              <a:buSzPts val="6600"/>
              <a:buFont typeface="Aharoni"/>
              <a:buNone/>
            </a:pPr>
            <a:r>
              <a:rPr lang="pt-BR" sz="5000">
                <a:solidFill>
                  <a:srgbClr val="143C64"/>
                </a:solidFill>
                <a:latin typeface="Aharoni"/>
                <a:ea typeface="Aharoni"/>
                <a:cs typeface="Aharoni"/>
                <a:sym typeface="Aharoni"/>
              </a:rPr>
              <a:t>Caso 1.1: Otimização irrestrita com múltiplas variáveis</a:t>
            </a:r>
            <a:endParaRPr sz="5000">
              <a:solidFill>
                <a:srgbClr val="143C64"/>
              </a:solidFill>
              <a:latin typeface="Aharoni"/>
              <a:ea typeface="Aharoni"/>
              <a:cs typeface="Aharoni"/>
              <a:sym typeface="Aharoni"/>
            </a:endParaRPr>
          </a:p>
        </p:txBody>
      </p:sp>
      <p:sp>
        <p:nvSpPr>
          <p:cNvPr id="211" name="Google Shape;211;p17"/>
          <p:cNvSpPr txBox="1"/>
          <p:nvPr>
            <p:ph idx="1" type="body"/>
          </p:nvPr>
        </p:nvSpPr>
        <p:spPr>
          <a:xfrm>
            <a:off x="551400" y="2038400"/>
            <a:ext cx="8197200" cy="3951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2280"/>
              <a:buNone/>
            </a:pPr>
            <a:r>
              <a:t/>
            </a:r>
            <a:endParaRPr/>
          </a:p>
          <a:p>
            <a:pPr indent="-228600" lvl="0" marL="228600" rtl="0" algn="l">
              <a:spcBef>
                <a:spcPts val="480"/>
              </a:spcBef>
              <a:spcAft>
                <a:spcPts val="1200"/>
              </a:spcAft>
              <a:buSzPts val="2280"/>
              <a:buChar char="●"/>
            </a:pPr>
            <a:r>
              <a:rPr lang="pt-BR" sz="2400">
                <a:solidFill>
                  <a:schemeClr val="dk1"/>
                </a:solidFill>
              </a:rPr>
              <a:t>Métodos de Descida ou métodos Indiretos: são métodos que utilizam a primeira e/ou a segunda derivada da função para definir as direções de busca. Dentre eles, destacam-se: método do gradiente, método do gradiente conjugado, método de Newton e  método de Quase-Newton. </a:t>
            </a:r>
            <a:endParaRPr sz="2400">
              <a:solidFill>
                <a:schemeClr val="dk1"/>
              </a:solidFill>
            </a:endParaRPr>
          </a:p>
        </p:txBody>
      </p:sp>
      <p:pic>
        <p:nvPicPr>
          <p:cNvPr descr="Ícone&#10;&#10;O conteúdo gerado por IA pode estar incorreto." id="212" name="Google Shape;212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47268" y="5385225"/>
            <a:ext cx="1590001" cy="1472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Ícone&#10;&#10;O conteúdo gerado por IA pode estar incorreto." id="213" name="Google Shape;213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184776" y="11128"/>
            <a:ext cx="952500" cy="9486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8"/>
          <p:cNvSpPr txBox="1"/>
          <p:nvPr>
            <p:ph type="title"/>
          </p:nvPr>
        </p:nvSpPr>
        <p:spPr>
          <a:xfrm>
            <a:off x="551280" y="606013"/>
            <a:ext cx="8041500" cy="1442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3C64"/>
              </a:buClr>
              <a:buSzPts val="6600"/>
              <a:buFont typeface="Aharoni"/>
              <a:buNone/>
            </a:pPr>
            <a:r>
              <a:rPr lang="pt-BR" sz="5000">
                <a:solidFill>
                  <a:srgbClr val="143C64"/>
                </a:solidFill>
                <a:latin typeface="Aharoni"/>
                <a:ea typeface="Aharoni"/>
                <a:cs typeface="Aharoni"/>
                <a:sym typeface="Aharoni"/>
              </a:rPr>
              <a:t>Caso 2: Otimização não linear com restrição</a:t>
            </a:r>
            <a:endParaRPr sz="5000">
              <a:solidFill>
                <a:srgbClr val="143C64"/>
              </a:solidFill>
              <a:latin typeface="Aharoni"/>
              <a:ea typeface="Aharoni"/>
              <a:cs typeface="Aharoni"/>
              <a:sym typeface="Aharoni"/>
            </a:endParaRPr>
          </a:p>
        </p:txBody>
      </p:sp>
      <p:sp>
        <p:nvSpPr>
          <p:cNvPr id="219" name="Google Shape;219;p18"/>
          <p:cNvSpPr txBox="1"/>
          <p:nvPr>
            <p:ph idx="1" type="body"/>
          </p:nvPr>
        </p:nvSpPr>
        <p:spPr>
          <a:xfrm>
            <a:off x="838225" y="2307513"/>
            <a:ext cx="7467600" cy="39513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0" l="-1357" r="0" t="-1281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1200"/>
              </a:spcAft>
              <a:buSzPts val="2280"/>
              <a:buChar char="●"/>
            </a:pPr>
            <a:r>
              <a:rPr lang="pt-BR"/>
              <a:t> </a:t>
            </a:r>
            <a:endParaRPr/>
          </a:p>
        </p:txBody>
      </p:sp>
      <p:pic>
        <p:nvPicPr>
          <p:cNvPr descr="Ícone&#10;&#10;O conteúdo gerado por IA pode estar incorreto." id="220" name="Google Shape;220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47268" y="5385225"/>
            <a:ext cx="1590001" cy="1472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Ícone&#10;&#10;O conteúdo gerado por IA pode estar incorreto." id="221" name="Google Shape;221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84776" y="11128"/>
            <a:ext cx="952500" cy="9486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9"/>
          <p:cNvSpPr txBox="1"/>
          <p:nvPr>
            <p:ph type="title"/>
          </p:nvPr>
        </p:nvSpPr>
        <p:spPr>
          <a:xfrm>
            <a:off x="551280" y="436563"/>
            <a:ext cx="8041440" cy="14426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3C64"/>
              </a:buClr>
              <a:buSzPts val="6600"/>
              <a:buFont typeface="Aharoni"/>
              <a:buNone/>
            </a:pPr>
            <a:r>
              <a:rPr lang="pt-BR" sz="4500">
                <a:solidFill>
                  <a:srgbClr val="143C64"/>
                </a:solidFill>
                <a:latin typeface="Aharoni"/>
                <a:ea typeface="Aharoni"/>
                <a:cs typeface="Aharoni"/>
                <a:sym typeface="Aharoni"/>
              </a:rPr>
              <a:t>Otimização Restrita – Condições Karush-Khun-Tucker</a:t>
            </a:r>
            <a:endParaRPr sz="4500">
              <a:solidFill>
                <a:srgbClr val="143C64"/>
              </a:solidFill>
              <a:latin typeface="Aharoni"/>
              <a:ea typeface="Aharoni"/>
              <a:cs typeface="Aharoni"/>
              <a:sym typeface="Aharoni"/>
            </a:endParaRPr>
          </a:p>
        </p:txBody>
      </p:sp>
      <p:sp>
        <p:nvSpPr>
          <p:cNvPr id="227" name="Google Shape;227;p19"/>
          <p:cNvSpPr txBox="1"/>
          <p:nvPr>
            <p:ph idx="1" type="body"/>
          </p:nvPr>
        </p:nvSpPr>
        <p:spPr>
          <a:xfrm>
            <a:off x="838200" y="2357983"/>
            <a:ext cx="7467600" cy="3951337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0" l="-1357" r="-1697" t="-1281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1200"/>
              </a:spcAft>
              <a:buSzPts val="2280"/>
              <a:buChar char="●"/>
            </a:pPr>
            <a:r>
              <a:rPr lang="pt-BR"/>
              <a:t> </a:t>
            </a:r>
            <a:endParaRPr/>
          </a:p>
        </p:txBody>
      </p:sp>
      <p:pic>
        <p:nvPicPr>
          <p:cNvPr descr="Ícone&#10;&#10;O conteúdo gerado por IA pode estar incorreto." id="228" name="Google Shape;228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47268" y="5385225"/>
            <a:ext cx="1590001" cy="1472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Ícone&#10;&#10;O conteúdo gerado por IA pode estar incorreto." id="229" name="Google Shape;229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84776" y="11128"/>
            <a:ext cx="952500" cy="9486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0"/>
          <p:cNvSpPr txBox="1"/>
          <p:nvPr>
            <p:ph type="title"/>
          </p:nvPr>
        </p:nvSpPr>
        <p:spPr>
          <a:xfrm>
            <a:off x="551280" y="187363"/>
            <a:ext cx="8041500" cy="1442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3C64"/>
              </a:buClr>
              <a:buSzPts val="6600"/>
              <a:buFont typeface="Aharoni"/>
              <a:buNone/>
            </a:pPr>
            <a:r>
              <a:rPr lang="pt-BR" sz="4500">
                <a:solidFill>
                  <a:srgbClr val="143C64"/>
                </a:solidFill>
                <a:latin typeface="Aharoni"/>
                <a:ea typeface="Aharoni"/>
                <a:cs typeface="Aharoni"/>
                <a:sym typeface="Aharoni"/>
              </a:rPr>
              <a:t>Condições Karush-Khun-Tucker</a:t>
            </a:r>
            <a:endParaRPr sz="4500">
              <a:solidFill>
                <a:srgbClr val="143C64"/>
              </a:solidFill>
              <a:latin typeface="Aharoni"/>
              <a:ea typeface="Aharoni"/>
              <a:cs typeface="Aharoni"/>
              <a:sym typeface="Aharoni"/>
            </a:endParaRPr>
          </a:p>
        </p:txBody>
      </p:sp>
      <p:sp>
        <p:nvSpPr>
          <p:cNvPr id="235" name="Google Shape;235;p20"/>
          <p:cNvSpPr txBox="1"/>
          <p:nvPr>
            <p:ph idx="1" type="body"/>
          </p:nvPr>
        </p:nvSpPr>
        <p:spPr>
          <a:xfrm>
            <a:off x="838200" y="1968937"/>
            <a:ext cx="7467600" cy="44301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0" l="-1357" r="0" t="-856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1200"/>
              </a:spcAft>
              <a:buSzPts val="2280"/>
              <a:buChar char="●"/>
            </a:pPr>
            <a:r>
              <a:rPr lang="pt-BR"/>
              <a:t> </a:t>
            </a:r>
            <a:endParaRPr/>
          </a:p>
        </p:txBody>
      </p:sp>
      <p:pic>
        <p:nvPicPr>
          <p:cNvPr descr="Ícone&#10;&#10;O conteúdo gerado por IA pode estar incorreto." id="236" name="Google Shape;236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47268" y="5385225"/>
            <a:ext cx="1590001" cy="1472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Ícone&#10;&#10;O conteúdo gerado por IA pode estar incorreto." id="237" name="Google Shape;237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84776" y="11128"/>
            <a:ext cx="952500" cy="9486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21"/>
          <p:cNvSpPr txBox="1"/>
          <p:nvPr>
            <p:ph idx="1" type="body"/>
          </p:nvPr>
        </p:nvSpPr>
        <p:spPr>
          <a:xfrm>
            <a:off x="287550" y="683775"/>
            <a:ext cx="8568900" cy="584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SzPts val="2280"/>
              <a:buChar char="●"/>
            </a:pPr>
            <a:r>
              <a:rPr lang="pt-BR" sz="2400">
                <a:solidFill>
                  <a:schemeClr val="dk1"/>
                </a:solidFill>
              </a:rPr>
              <a:t>Os multiplicadores de Lagrange λ</a:t>
            </a:r>
            <a:r>
              <a:rPr baseline="-25000" lang="pt-BR" sz="2400">
                <a:solidFill>
                  <a:schemeClr val="dk1"/>
                </a:solidFill>
              </a:rPr>
              <a:t>i</a:t>
            </a:r>
            <a:r>
              <a:rPr lang="pt-BR" sz="2400">
                <a:solidFill>
                  <a:schemeClr val="dk1"/>
                </a:solidFill>
              </a:rPr>
              <a:t> correspondem as “variáveis duais”. Seriam os preços-sombras das restrições, porém na PNL esses valores são aproximados.</a:t>
            </a:r>
            <a:endParaRPr sz="2400">
              <a:solidFill>
                <a:schemeClr val="dk1"/>
              </a:solidFill>
            </a:endParaRPr>
          </a:p>
          <a:p>
            <a:pPr indent="-83820" lvl="0" marL="228600" rtl="0" algn="l">
              <a:spcBef>
                <a:spcPts val="480"/>
              </a:spcBef>
              <a:spcAft>
                <a:spcPts val="0"/>
              </a:spcAft>
              <a:buSzPts val="2280"/>
              <a:buNone/>
            </a:pPr>
            <a:r>
              <a:t/>
            </a:r>
            <a:endParaRPr sz="2400">
              <a:solidFill>
                <a:schemeClr val="dk1"/>
              </a:solidFill>
            </a:endParaRPr>
          </a:p>
          <a:p>
            <a:pPr indent="-228600" lvl="0" marL="228600" rtl="0" algn="l">
              <a:spcBef>
                <a:spcPts val="480"/>
              </a:spcBef>
              <a:spcAft>
                <a:spcPts val="0"/>
              </a:spcAft>
              <a:buSzPts val="2280"/>
              <a:buChar char="●"/>
            </a:pPr>
            <a:r>
              <a:rPr lang="pt-BR" sz="2400">
                <a:solidFill>
                  <a:schemeClr val="dk1"/>
                </a:solidFill>
              </a:rPr>
              <a:t>As condições KKT não garantem solução ótima ainda, faz-se necessário verificar as condições de convexidade-concavidade.</a:t>
            </a:r>
            <a:endParaRPr sz="2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480"/>
              </a:spcBef>
              <a:spcAft>
                <a:spcPts val="0"/>
              </a:spcAft>
              <a:buSzPts val="2280"/>
              <a:buNone/>
            </a:pPr>
            <a:r>
              <a:t/>
            </a:r>
            <a:endParaRPr sz="2400">
              <a:solidFill>
                <a:schemeClr val="dk1"/>
              </a:solidFill>
            </a:endParaRPr>
          </a:p>
          <a:p>
            <a:pPr indent="-228600" lvl="0" marL="228600" rtl="0" algn="l">
              <a:spcBef>
                <a:spcPts val="480"/>
              </a:spcBef>
              <a:spcAft>
                <a:spcPts val="0"/>
              </a:spcAft>
              <a:buSzPts val="2280"/>
              <a:buChar char="●"/>
            </a:pPr>
            <a:r>
              <a:rPr lang="pt-BR" sz="2400">
                <a:solidFill>
                  <a:schemeClr val="dk1"/>
                </a:solidFill>
              </a:rPr>
              <a:t>Corolário: Se f(X) é côncava e g</a:t>
            </a:r>
            <a:r>
              <a:rPr baseline="-25000" lang="pt-BR" sz="2400">
                <a:solidFill>
                  <a:schemeClr val="dk1"/>
                </a:solidFill>
              </a:rPr>
              <a:t>1</a:t>
            </a:r>
            <a:r>
              <a:rPr lang="pt-BR" sz="2400">
                <a:solidFill>
                  <a:schemeClr val="dk1"/>
                </a:solidFill>
              </a:rPr>
              <a:t>(X), g</a:t>
            </a:r>
            <a:r>
              <a:rPr baseline="-25000" lang="pt-BR" sz="2400">
                <a:solidFill>
                  <a:schemeClr val="dk1"/>
                </a:solidFill>
              </a:rPr>
              <a:t>2</a:t>
            </a:r>
            <a:r>
              <a:rPr lang="pt-BR" sz="2400">
                <a:solidFill>
                  <a:schemeClr val="dk1"/>
                </a:solidFill>
              </a:rPr>
              <a:t>(X), ...., g</a:t>
            </a:r>
            <a:r>
              <a:rPr baseline="-25000" lang="pt-BR" sz="2400">
                <a:solidFill>
                  <a:schemeClr val="dk1"/>
                </a:solidFill>
              </a:rPr>
              <a:t>m</a:t>
            </a:r>
            <a:r>
              <a:rPr lang="pt-BR" sz="2400">
                <a:solidFill>
                  <a:schemeClr val="dk1"/>
                </a:solidFill>
              </a:rPr>
              <a:t>(X) são convexas (Programação Não Linear Convexa) e condições KKT satisfeitas, X* = (x</a:t>
            </a:r>
            <a:r>
              <a:rPr baseline="-25000" lang="pt-BR" sz="2400">
                <a:solidFill>
                  <a:schemeClr val="dk1"/>
                </a:solidFill>
              </a:rPr>
              <a:t>1</a:t>
            </a:r>
            <a:r>
              <a:rPr lang="pt-BR" sz="2400">
                <a:solidFill>
                  <a:schemeClr val="dk1"/>
                </a:solidFill>
              </a:rPr>
              <a:t>*, x</a:t>
            </a:r>
            <a:r>
              <a:rPr baseline="-25000" lang="pt-BR" sz="2400">
                <a:solidFill>
                  <a:schemeClr val="dk1"/>
                </a:solidFill>
              </a:rPr>
              <a:t>2</a:t>
            </a:r>
            <a:r>
              <a:rPr lang="pt-BR" sz="2400">
                <a:solidFill>
                  <a:schemeClr val="dk1"/>
                </a:solidFill>
              </a:rPr>
              <a:t>*, ..., x</a:t>
            </a:r>
            <a:r>
              <a:rPr baseline="-25000" lang="pt-BR" sz="2400">
                <a:solidFill>
                  <a:schemeClr val="dk1"/>
                </a:solidFill>
              </a:rPr>
              <a:t>n</a:t>
            </a:r>
            <a:r>
              <a:rPr lang="pt-BR" sz="2400">
                <a:solidFill>
                  <a:schemeClr val="dk1"/>
                </a:solidFill>
              </a:rPr>
              <a:t>*) é ótima. Portanto, para problemas da programação convexa, obtemos o ótimo global pelas condições KKT.</a:t>
            </a:r>
            <a:endParaRPr sz="2400">
              <a:solidFill>
                <a:schemeClr val="dk1"/>
              </a:solidFill>
            </a:endParaRPr>
          </a:p>
          <a:p>
            <a:pPr indent="-83820" lvl="0" marL="228600" rtl="0" algn="l">
              <a:spcBef>
                <a:spcPts val="480"/>
              </a:spcBef>
              <a:spcAft>
                <a:spcPts val="1200"/>
              </a:spcAft>
              <a:buSzPts val="2280"/>
              <a:buNone/>
            </a:pPr>
            <a:r>
              <a:t/>
            </a:r>
            <a:endParaRPr sz="2400">
              <a:solidFill>
                <a:schemeClr val="dk1"/>
              </a:solidFill>
            </a:endParaRPr>
          </a:p>
        </p:txBody>
      </p:sp>
      <p:pic>
        <p:nvPicPr>
          <p:cNvPr descr="Ícone&#10;&#10;O conteúdo gerado por IA pode estar incorreto." id="243" name="Google Shape;243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84776" y="11128"/>
            <a:ext cx="952500" cy="9486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2"/>
          <p:cNvSpPr txBox="1"/>
          <p:nvPr>
            <p:ph type="title"/>
          </p:nvPr>
        </p:nvSpPr>
        <p:spPr>
          <a:xfrm>
            <a:off x="551255" y="167438"/>
            <a:ext cx="8041500" cy="1442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3C64"/>
              </a:buClr>
              <a:buSzPts val="6600"/>
              <a:buFont typeface="Aharoni"/>
              <a:buNone/>
            </a:pPr>
            <a:r>
              <a:rPr lang="pt-BR" sz="5500">
                <a:solidFill>
                  <a:srgbClr val="143C64"/>
                </a:solidFill>
                <a:latin typeface="Aharoni"/>
                <a:ea typeface="Aharoni"/>
                <a:cs typeface="Aharoni"/>
                <a:sym typeface="Aharoni"/>
              </a:rPr>
              <a:t>Exemplo</a:t>
            </a:r>
            <a:endParaRPr sz="5500">
              <a:solidFill>
                <a:srgbClr val="143C64"/>
              </a:solidFill>
              <a:latin typeface="Aharoni"/>
              <a:ea typeface="Aharoni"/>
              <a:cs typeface="Aharoni"/>
              <a:sym typeface="Aharoni"/>
            </a:endParaRPr>
          </a:p>
        </p:txBody>
      </p:sp>
      <p:sp>
        <p:nvSpPr>
          <p:cNvPr id="249" name="Google Shape;249;p22"/>
          <p:cNvSpPr txBox="1"/>
          <p:nvPr>
            <p:ph idx="1" type="body"/>
          </p:nvPr>
        </p:nvSpPr>
        <p:spPr>
          <a:xfrm>
            <a:off x="838200" y="2038388"/>
            <a:ext cx="7467600" cy="3951337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0" l="-1357" r="0" t="-1281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1200"/>
              </a:spcAft>
              <a:buSzPts val="2280"/>
              <a:buChar char="●"/>
            </a:pPr>
            <a:r>
              <a:rPr lang="pt-BR"/>
              <a:t> </a:t>
            </a:r>
            <a:endParaRPr/>
          </a:p>
        </p:txBody>
      </p:sp>
      <p:pic>
        <p:nvPicPr>
          <p:cNvPr descr="Ícone&#10;&#10;O conteúdo gerado por IA pode estar incorreto." id="250" name="Google Shape;250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47268" y="5385225"/>
            <a:ext cx="1590001" cy="1472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Ícone&#10;&#10;O conteúdo gerado por IA pode estar incorreto." id="251" name="Google Shape;251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84776" y="11128"/>
            <a:ext cx="952500" cy="9486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23"/>
          <p:cNvSpPr txBox="1"/>
          <p:nvPr>
            <p:ph type="title"/>
          </p:nvPr>
        </p:nvSpPr>
        <p:spPr>
          <a:xfrm>
            <a:off x="551280" y="436563"/>
            <a:ext cx="8041440" cy="14426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3C64"/>
              </a:buClr>
              <a:buSzPts val="6600"/>
              <a:buFont typeface="Aharoni"/>
              <a:buNone/>
            </a:pPr>
            <a:r>
              <a:rPr lang="pt-BR" sz="5000">
                <a:solidFill>
                  <a:srgbClr val="143C64"/>
                </a:solidFill>
                <a:latin typeface="Aharoni"/>
                <a:ea typeface="Aharoni"/>
                <a:cs typeface="Aharoni"/>
                <a:sym typeface="Aharoni"/>
              </a:rPr>
              <a:t>Condições KKT para o Exemplo</a:t>
            </a:r>
            <a:endParaRPr sz="5000">
              <a:solidFill>
                <a:srgbClr val="143C64"/>
              </a:solidFill>
              <a:latin typeface="Aharoni"/>
              <a:ea typeface="Aharoni"/>
              <a:cs typeface="Aharoni"/>
              <a:sym typeface="Aharoni"/>
            </a:endParaRPr>
          </a:p>
        </p:txBody>
      </p:sp>
      <p:sp>
        <p:nvSpPr>
          <p:cNvPr id="257" name="Google Shape;257;p23"/>
          <p:cNvSpPr txBox="1"/>
          <p:nvPr>
            <p:ph idx="1" type="body"/>
          </p:nvPr>
        </p:nvSpPr>
        <p:spPr>
          <a:xfrm>
            <a:off x="838200" y="2038388"/>
            <a:ext cx="7467600" cy="3951337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0" l="-1357" r="0" t="-64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1200"/>
              </a:spcAft>
              <a:buSzPts val="2280"/>
              <a:buChar char="●"/>
            </a:pPr>
            <a:r>
              <a:rPr lang="pt-BR"/>
              <a:t> </a:t>
            </a:r>
            <a:endParaRPr/>
          </a:p>
        </p:txBody>
      </p:sp>
      <p:pic>
        <p:nvPicPr>
          <p:cNvPr descr="Ícone&#10;&#10;O conteúdo gerado por IA pode estar incorreto." id="258" name="Google Shape;258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47268" y="5385225"/>
            <a:ext cx="1590001" cy="1472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Ícone&#10;&#10;O conteúdo gerado por IA pode estar incorreto." id="259" name="Google Shape;259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84776" y="11128"/>
            <a:ext cx="952500" cy="9486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"/>
          <p:cNvSpPr txBox="1"/>
          <p:nvPr>
            <p:ph type="title"/>
          </p:nvPr>
        </p:nvSpPr>
        <p:spPr>
          <a:xfrm>
            <a:off x="551280" y="326913"/>
            <a:ext cx="8041500" cy="1442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3C64"/>
              </a:buClr>
              <a:buSzPts val="6600"/>
              <a:buFont typeface="Aharoni"/>
              <a:buNone/>
            </a:pPr>
            <a:r>
              <a:rPr lang="pt-BR" sz="4500">
                <a:solidFill>
                  <a:srgbClr val="143C64"/>
                </a:solidFill>
                <a:latin typeface="Aharoni"/>
                <a:ea typeface="Aharoni"/>
                <a:cs typeface="Aharoni"/>
                <a:sym typeface="Aharoni"/>
              </a:rPr>
              <a:t>Encontrando a solução ótima a partir das condições KKT</a:t>
            </a:r>
            <a:endParaRPr sz="4500">
              <a:solidFill>
                <a:srgbClr val="143C64"/>
              </a:solidFill>
              <a:latin typeface="Aharoni"/>
              <a:ea typeface="Aharoni"/>
              <a:cs typeface="Aharoni"/>
              <a:sym typeface="Aharoni"/>
            </a:endParaRPr>
          </a:p>
        </p:txBody>
      </p:sp>
      <p:sp>
        <p:nvSpPr>
          <p:cNvPr id="265" name="Google Shape;265;p24"/>
          <p:cNvSpPr txBox="1"/>
          <p:nvPr>
            <p:ph idx="1" type="body"/>
          </p:nvPr>
        </p:nvSpPr>
        <p:spPr>
          <a:xfrm>
            <a:off x="838200" y="2217813"/>
            <a:ext cx="7467600" cy="39513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0" l="-1358" r="-1358" t="-1281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1200"/>
              </a:spcAft>
              <a:buSzPts val="2280"/>
              <a:buChar char="●"/>
            </a:pPr>
            <a:r>
              <a:rPr lang="pt-BR"/>
              <a:t> </a:t>
            </a:r>
            <a:endParaRPr/>
          </a:p>
        </p:txBody>
      </p:sp>
      <p:pic>
        <p:nvPicPr>
          <p:cNvPr descr="Ícone&#10;&#10;O conteúdo gerado por IA pode estar incorreto." id="266" name="Google Shape;26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47268" y="5385225"/>
            <a:ext cx="1590001" cy="1472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Ícone&#10;&#10;O conteúdo gerado por IA pode estar incorreto." id="267" name="Google Shape;267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84776" y="11128"/>
            <a:ext cx="952500" cy="9486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25"/>
          <p:cNvSpPr txBox="1"/>
          <p:nvPr>
            <p:ph type="title"/>
          </p:nvPr>
        </p:nvSpPr>
        <p:spPr>
          <a:xfrm>
            <a:off x="551280" y="436563"/>
            <a:ext cx="8041440" cy="14426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3C64"/>
              </a:buClr>
              <a:buSzPts val="6600"/>
              <a:buFont typeface="Aharoni"/>
              <a:buNone/>
            </a:pPr>
            <a:r>
              <a:rPr lang="pt-BR" sz="4500">
                <a:solidFill>
                  <a:srgbClr val="143C64"/>
                </a:solidFill>
                <a:latin typeface="Aharoni"/>
                <a:ea typeface="Aharoni"/>
                <a:cs typeface="Aharoni"/>
                <a:sym typeface="Aharoni"/>
              </a:rPr>
              <a:t>Encontrando a solução ótima a partir das condições KKT</a:t>
            </a:r>
            <a:endParaRPr sz="4500">
              <a:solidFill>
                <a:srgbClr val="143C64"/>
              </a:solidFill>
              <a:latin typeface="Aharoni"/>
              <a:ea typeface="Aharoni"/>
              <a:cs typeface="Aharoni"/>
              <a:sym typeface="Aharoni"/>
            </a:endParaRPr>
          </a:p>
        </p:txBody>
      </p:sp>
      <p:sp>
        <p:nvSpPr>
          <p:cNvPr id="273" name="Google Shape;273;p25"/>
          <p:cNvSpPr txBox="1"/>
          <p:nvPr>
            <p:ph idx="1" type="body"/>
          </p:nvPr>
        </p:nvSpPr>
        <p:spPr>
          <a:xfrm>
            <a:off x="888050" y="2138088"/>
            <a:ext cx="7467600" cy="39513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0" l="-1357" r="0" t="-1281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1200"/>
              </a:spcAft>
              <a:buSzPts val="2280"/>
              <a:buChar char="●"/>
            </a:pPr>
            <a:r>
              <a:rPr lang="pt-BR"/>
              <a:t> </a:t>
            </a:r>
            <a:endParaRPr/>
          </a:p>
        </p:txBody>
      </p:sp>
      <p:pic>
        <p:nvPicPr>
          <p:cNvPr descr="Ícone&#10;&#10;O conteúdo gerado por IA pode estar incorreto." id="274" name="Google Shape;274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47268" y="5385225"/>
            <a:ext cx="1590001" cy="1472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Ícone&#10;&#10;O conteúdo gerado por IA pode estar incorreto." id="275" name="Google Shape;275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84776" y="11128"/>
            <a:ext cx="952500" cy="9486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26"/>
          <p:cNvSpPr txBox="1"/>
          <p:nvPr>
            <p:ph type="title"/>
          </p:nvPr>
        </p:nvSpPr>
        <p:spPr>
          <a:xfrm>
            <a:off x="551280" y="267088"/>
            <a:ext cx="8041500" cy="1442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3C64"/>
              </a:buClr>
              <a:buSzPts val="6600"/>
              <a:buFont typeface="Aharoni"/>
              <a:buNone/>
            </a:pPr>
            <a:r>
              <a:rPr lang="pt-BR" sz="5500">
                <a:solidFill>
                  <a:srgbClr val="143C64"/>
                </a:solidFill>
                <a:latin typeface="Aharoni"/>
                <a:ea typeface="Aharoni"/>
                <a:cs typeface="Aharoni"/>
                <a:sym typeface="Aharoni"/>
              </a:rPr>
              <a:t>Programação Convexa</a:t>
            </a:r>
            <a:endParaRPr sz="5500">
              <a:solidFill>
                <a:srgbClr val="143C64"/>
              </a:solidFill>
              <a:latin typeface="Aharoni"/>
              <a:ea typeface="Aharoni"/>
              <a:cs typeface="Aharoni"/>
              <a:sym typeface="Aharoni"/>
            </a:endParaRPr>
          </a:p>
        </p:txBody>
      </p:sp>
      <p:sp>
        <p:nvSpPr>
          <p:cNvPr id="281" name="Google Shape;281;p26"/>
          <p:cNvSpPr txBox="1"/>
          <p:nvPr>
            <p:ph idx="1" type="body"/>
          </p:nvPr>
        </p:nvSpPr>
        <p:spPr>
          <a:xfrm>
            <a:off x="838200" y="2038388"/>
            <a:ext cx="7467600" cy="3951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2500"/>
          </a:bodyPr>
          <a:lstStyle/>
          <a:p>
            <a:pPr indent="-217742" lvl="0" marL="228600" rtl="0" algn="l">
              <a:spcBef>
                <a:spcPts val="0"/>
              </a:spcBef>
              <a:spcAft>
                <a:spcPts val="0"/>
              </a:spcAft>
              <a:buSzPct val="95000"/>
              <a:buChar char="●"/>
            </a:pPr>
            <a:r>
              <a:rPr lang="pt-BR" sz="2400">
                <a:solidFill>
                  <a:schemeClr val="dk1"/>
                </a:solidFill>
              </a:rPr>
              <a:t>Um modelo geral de PNL é um modelo de programação convexa se satisfaz as seguintes condições:</a:t>
            </a:r>
            <a:endParaRPr sz="2400">
              <a:solidFill>
                <a:schemeClr val="dk1"/>
              </a:solidFill>
            </a:endParaRPr>
          </a:p>
          <a:p>
            <a:pPr indent="-217742" lvl="0" marL="228600" rtl="0" algn="l">
              <a:spcBef>
                <a:spcPts val="480"/>
              </a:spcBef>
              <a:spcAft>
                <a:spcPts val="0"/>
              </a:spcAft>
              <a:buSzPct val="95000"/>
              <a:buChar char="●"/>
            </a:pPr>
            <a:r>
              <a:rPr lang="pt-BR" sz="2400">
                <a:solidFill>
                  <a:schemeClr val="dk1"/>
                </a:solidFill>
              </a:rPr>
              <a:t>Se f.o é uma função côncava (probl. max.) ou uma função convexa (probl. min.)</a:t>
            </a:r>
            <a:endParaRPr sz="2400">
              <a:solidFill>
                <a:schemeClr val="dk1"/>
              </a:solidFill>
            </a:endParaRPr>
          </a:p>
          <a:p>
            <a:pPr indent="-217742" lvl="0" marL="228600" rtl="0" algn="l">
              <a:spcBef>
                <a:spcPts val="480"/>
              </a:spcBef>
              <a:spcAft>
                <a:spcPts val="0"/>
              </a:spcAft>
              <a:buSzPct val="95000"/>
              <a:buChar char="●"/>
            </a:pPr>
            <a:r>
              <a:rPr lang="pt-BR" sz="2400">
                <a:solidFill>
                  <a:schemeClr val="dk1"/>
                </a:solidFill>
              </a:rPr>
              <a:t>Se cada restrição com sinal ≤ é uma função convexa;</a:t>
            </a:r>
            <a:endParaRPr sz="2400">
              <a:solidFill>
                <a:schemeClr val="dk1"/>
              </a:solidFill>
            </a:endParaRPr>
          </a:p>
          <a:p>
            <a:pPr indent="-217742" lvl="0" marL="228600" rtl="0" algn="l">
              <a:spcBef>
                <a:spcPts val="480"/>
              </a:spcBef>
              <a:spcAft>
                <a:spcPts val="0"/>
              </a:spcAft>
              <a:buSzPct val="95000"/>
              <a:buChar char="●"/>
            </a:pPr>
            <a:r>
              <a:rPr lang="pt-BR" sz="2400">
                <a:solidFill>
                  <a:schemeClr val="dk1"/>
                </a:solidFill>
              </a:rPr>
              <a:t>Se cada restrição com sinal  ≥ é uma função côncava;</a:t>
            </a:r>
            <a:endParaRPr sz="2400">
              <a:solidFill>
                <a:schemeClr val="dk1"/>
              </a:solidFill>
            </a:endParaRPr>
          </a:p>
          <a:p>
            <a:pPr indent="-217742" lvl="0" marL="228600" rtl="0" algn="l">
              <a:spcBef>
                <a:spcPts val="480"/>
              </a:spcBef>
              <a:spcAft>
                <a:spcPts val="0"/>
              </a:spcAft>
              <a:buSzPct val="95000"/>
              <a:buChar char="●"/>
            </a:pPr>
            <a:r>
              <a:rPr lang="pt-BR" sz="2400">
                <a:solidFill>
                  <a:schemeClr val="dk1"/>
                </a:solidFill>
              </a:rPr>
              <a:t> Se cada restrição com sinal = é uma função linear;</a:t>
            </a:r>
            <a:endParaRPr sz="2400">
              <a:solidFill>
                <a:schemeClr val="dk1"/>
              </a:solidFill>
            </a:endParaRPr>
          </a:p>
          <a:p>
            <a:pPr indent="-83820" lvl="0" marL="228600" rtl="0" algn="l">
              <a:spcBef>
                <a:spcPts val="480"/>
              </a:spcBef>
              <a:spcAft>
                <a:spcPts val="1200"/>
              </a:spcAft>
              <a:buSzPct val="126667"/>
              <a:buNone/>
            </a:pPr>
            <a:r>
              <a:t/>
            </a:r>
            <a:endParaRPr/>
          </a:p>
        </p:txBody>
      </p:sp>
      <p:pic>
        <p:nvPicPr>
          <p:cNvPr descr="Ícone&#10;&#10;O conteúdo gerado por IA pode estar incorreto." id="282" name="Google Shape;282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47268" y="5385225"/>
            <a:ext cx="1590001" cy="1472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Ícone&#10;&#10;O conteúdo gerado por IA pode estar incorreto." id="283" name="Google Shape;283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184776" y="11128"/>
            <a:ext cx="952500" cy="9486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7"/>
          <p:cNvSpPr txBox="1"/>
          <p:nvPr>
            <p:ph type="title"/>
          </p:nvPr>
        </p:nvSpPr>
        <p:spPr>
          <a:xfrm>
            <a:off x="551280" y="247163"/>
            <a:ext cx="8041500" cy="1442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3C64"/>
              </a:buClr>
              <a:buSzPts val="6600"/>
              <a:buFont typeface="Aharoni"/>
              <a:buNone/>
            </a:pPr>
            <a:r>
              <a:rPr lang="pt-BR" sz="5500">
                <a:solidFill>
                  <a:srgbClr val="143C64"/>
                </a:solidFill>
                <a:latin typeface="Aharoni"/>
                <a:ea typeface="Aharoni"/>
                <a:cs typeface="Aharoni"/>
                <a:sym typeface="Aharoni"/>
              </a:rPr>
              <a:t>Programação Convexa</a:t>
            </a:r>
            <a:endParaRPr sz="5500">
              <a:solidFill>
                <a:srgbClr val="143C64"/>
              </a:solidFill>
              <a:latin typeface="Aharoni"/>
              <a:ea typeface="Aharoni"/>
              <a:cs typeface="Aharoni"/>
              <a:sym typeface="Aharoni"/>
            </a:endParaRPr>
          </a:p>
        </p:txBody>
      </p:sp>
      <p:sp>
        <p:nvSpPr>
          <p:cNvPr id="289" name="Google Shape;289;p27"/>
          <p:cNvSpPr txBox="1"/>
          <p:nvPr>
            <p:ph idx="1" type="body"/>
          </p:nvPr>
        </p:nvSpPr>
        <p:spPr>
          <a:xfrm>
            <a:off x="838200" y="2038388"/>
            <a:ext cx="7467600" cy="3951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85000" lnSpcReduction="10000"/>
          </a:bodyPr>
          <a:lstStyle/>
          <a:p>
            <a:pPr indent="-206883" lvl="0" marL="228600" rtl="0" algn="l">
              <a:spcBef>
                <a:spcPts val="0"/>
              </a:spcBef>
              <a:spcAft>
                <a:spcPts val="0"/>
              </a:spcAft>
              <a:buSzPct val="95000"/>
              <a:buChar char="●"/>
            </a:pPr>
            <a:r>
              <a:rPr lang="pt-BR" sz="2400">
                <a:solidFill>
                  <a:schemeClr val="dk1"/>
                </a:solidFill>
              </a:rPr>
              <a:t>Não existe um algoritmo padrão que possa sempre ser usado para solucionar problemas de programação convexa.</a:t>
            </a:r>
            <a:endParaRPr sz="2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480"/>
              </a:spcBef>
              <a:spcAft>
                <a:spcPts val="0"/>
              </a:spcAft>
              <a:buSzPct val="95000"/>
              <a:buNone/>
            </a:pPr>
            <a:r>
              <a:t/>
            </a:r>
            <a:endParaRPr sz="2400">
              <a:solidFill>
                <a:schemeClr val="dk1"/>
              </a:solidFill>
            </a:endParaRPr>
          </a:p>
          <a:p>
            <a:pPr indent="-206883" lvl="0" marL="228600" rtl="0" algn="l">
              <a:spcBef>
                <a:spcPts val="480"/>
              </a:spcBef>
              <a:spcAft>
                <a:spcPts val="0"/>
              </a:spcAft>
              <a:buSzPct val="95000"/>
              <a:buChar char="●"/>
            </a:pPr>
            <a:r>
              <a:rPr lang="pt-BR" sz="2400">
                <a:solidFill>
                  <a:schemeClr val="dk1"/>
                </a:solidFill>
              </a:rPr>
              <a:t>Existem alguns algoritmos diferentes, entre eles os algoritmos por gradiente.</a:t>
            </a:r>
            <a:endParaRPr sz="2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480"/>
              </a:spcBef>
              <a:spcAft>
                <a:spcPts val="0"/>
              </a:spcAft>
              <a:buSzPct val="95000"/>
              <a:buNone/>
            </a:pPr>
            <a:r>
              <a:t/>
            </a:r>
            <a:endParaRPr sz="2400">
              <a:solidFill>
                <a:schemeClr val="dk1"/>
              </a:solidFill>
            </a:endParaRPr>
          </a:p>
          <a:p>
            <a:pPr indent="-206883" lvl="0" marL="228600" rtl="0" algn="l">
              <a:spcBef>
                <a:spcPts val="480"/>
              </a:spcBef>
              <a:spcAft>
                <a:spcPts val="0"/>
              </a:spcAft>
              <a:buSzPct val="95000"/>
              <a:buChar char="●"/>
            </a:pPr>
            <a:r>
              <a:rPr lang="pt-BR" sz="2400">
                <a:solidFill>
                  <a:schemeClr val="dk1"/>
                </a:solidFill>
              </a:rPr>
              <a:t>Um famoso método por gradiente é o chamado método GRG (Gradiente Reduzido Generalizado). Este método é disponibilizado pelo Solver do Excel.</a:t>
            </a:r>
            <a:endParaRPr sz="2400">
              <a:solidFill>
                <a:schemeClr val="dk1"/>
              </a:solidFill>
            </a:endParaRPr>
          </a:p>
          <a:p>
            <a:pPr indent="-83820" lvl="0" marL="228600" rtl="0" algn="l">
              <a:spcBef>
                <a:spcPts val="480"/>
              </a:spcBef>
              <a:spcAft>
                <a:spcPts val="0"/>
              </a:spcAft>
              <a:buSzPct val="126667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80"/>
              </a:spcBef>
              <a:spcAft>
                <a:spcPts val="1200"/>
              </a:spcAft>
              <a:buSzPct val="126667"/>
              <a:buNone/>
            </a:pPr>
            <a:r>
              <a:t/>
            </a:r>
            <a:endParaRPr/>
          </a:p>
        </p:txBody>
      </p:sp>
      <p:pic>
        <p:nvPicPr>
          <p:cNvPr descr="Ícone&#10;&#10;O conteúdo gerado por IA pode estar incorreto." id="290" name="Google Shape;29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47268" y="5385225"/>
            <a:ext cx="1590001" cy="1472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Ícone&#10;&#10;O conteúdo gerado por IA pode estar incorreto." id="291" name="Google Shape;291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184776" y="11128"/>
            <a:ext cx="952500" cy="9486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28"/>
          <p:cNvSpPr txBox="1"/>
          <p:nvPr>
            <p:ph type="title"/>
          </p:nvPr>
        </p:nvSpPr>
        <p:spPr>
          <a:xfrm>
            <a:off x="551280" y="287063"/>
            <a:ext cx="8041500" cy="1442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3C64"/>
              </a:buClr>
              <a:buSzPts val="6600"/>
              <a:buFont typeface="Aharoni"/>
              <a:buNone/>
            </a:pPr>
            <a:r>
              <a:rPr lang="pt-BR" sz="5500">
                <a:solidFill>
                  <a:srgbClr val="143C64"/>
                </a:solidFill>
                <a:latin typeface="Aharoni"/>
                <a:ea typeface="Aharoni"/>
                <a:cs typeface="Aharoni"/>
                <a:sym typeface="Aharoni"/>
              </a:rPr>
              <a:t>Programação Convexa</a:t>
            </a:r>
            <a:endParaRPr sz="5500">
              <a:solidFill>
                <a:srgbClr val="143C64"/>
              </a:solidFill>
              <a:latin typeface="Aharoni"/>
              <a:ea typeface="Aharoni"/>
              <a:cs typeface="Aharoni"/>
              <a:sym typeface="Aharoni"/>
            </a:endParaRPr>
          </a:p>
        </p:txBody>
      </p:sp>
      <p:sp>
        <p:nvSpPr>
          <p:cNvPr id="297" name="Google Shape;297;p28"/>
          <p:cNvSpPr txBox="1"/>
          <p:nvPr>
            <p:ph idx="1" type="body"/>
          </p:nvPr>
        </p:nvSpPr>
        <p:spPr>
          <a:xfrm>
            <a:off x="838200" y="2038388"/>
            <a:ext cx="7467600" cy="3951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SzPts val="2280"/>
              <a:buChar char="●"/>
            </a:pPr>
            <a:r>
              <a:rPr lang="pt-BR" sz="2400">
                <a:solidFill>
                  <a:schemeClr val="dk1"/>
                </a:solidFill>
              </a:rPr>
              <a:t>Se o problema de PNL for de Programação Convexa, a solução encontrada pelo Solver do Excel será sempre um ótimo global. Caso contrário, o Solver encontra ótimos locais.</a:t>
            </a:r>
            <a:endParaRPr sz="2400">
              <a:solidFill>
                <a:schemeClr val="dk1"/>
              </a:solidFill>
            </a:endParaRPr>
          </a:p>
          <a:p>
            <a:pPr indent="-83820" lvl="0" marL="228600" rtl="0" algn="l">
              <a:spcBef>
                <a:spcPts val="480"/>
              </a:spcBef>
              <a:spcAft>
                <a:spcPts val="0"/>
              </a:spcAft>
              <a:buSzPts val="2280"/>
              <a:buNone/>
            </a:pPr>
            <a:r>
              <a:t/>
            </a:r>
            <a:endParaRPr sz="2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480"/>
              </a:spcBef>
              <a:spcAft>
                <a:spcPts val="1200"/>
              </a:spcAft>
              <a:buSzPts val="2280"/>
              <a:buNone/>
            </a:pPr>
            <a:r>
              <a:t/>
            </a:r>
            <a:endParaRPr/>
          </a:p>
        </p:txBody>
      </p:sp>
      <p:pic>
        <p:nvPicPr>
          <p:cNvPr descr="Ícone&#10;&#10;O conteúdo gerado por IA pode estar incorreto." id="298" name="Google Shape;298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47268" y="5385225"/>
            <a:ext cx="1590001" cy="1472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Ícone&#10;&#10;O conteúdo gerado por IA pode estar incorreto." id="299" name="Google Shape;299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184776" y="11128"/>
            <a:ext cx="952500" cy="9486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9"/>
          <p:cNvSpPr txBox="1"/>
          <p:nvPr>
            <p:ph type="title"/>
          </p:nvPr>
        </p:nvSpPr>
        <p:spPr>
          <a:xfrm>
            <a:off x="551280" y="247163"/>
            <a:ext cx="8041500" cy="1442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3C64"/>
              </a:buClr>
              <a:buSzPts val="6600"/>
              <a:buFont typeface="Aharoni"/>
              <a:buNone/>
            </a:pPr>
            <a:r>
              <a:rPr lang="pt-BR" sz="5500">
                <a:solidFill>
                  <a:srgbClr val="143C64"/>
                </a:solidFill>
                <a:latin typeface="Aharoni"/>
                <a:ea typeface="Aharoni"/>
                <a:cs typeface="Aharoni"/>
                <a:sym typeface="Aharoni"/>
              </a:rPr>
              <a:t>Programação Não Convexa</a:t>
            </a:r>
            <a:endParaRPr sz="5500">
              <a:solidFill>
                <a:srgbClr val="143C64"/>
              </a:solidFill>
              <a:latin typeface="Aharoni"/>
              <a:ea typeface="Aharoni"/>
              <a:cs typeface="Aharoni"/>
              <a:sym typeface="Aharoni"/>
            </a:endParaRPr>
          </a:p>
        </p:txBody>
      </p:sp>
      <p:sp>
        <p:nvSpPr>
          <p:cNvPr id="305" name="Google Shape;305;p29"/>
          <p:cNvSpPr txBox="1"/>
          <p:nvPr>
            <p:ph idx="1" type="body"/>
          </p:nvPr>
        </p:nvSpPr>
        <p:spPr>
          <a:xfrm>
            <a:off x="838200" y="2038388"/>
            <a:ext cx="7467600" cy="3951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20000"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SzPts val="2280"/>
              <a:buChar char="●"/>
            </a:pPr>
            <a:r>
              <a:rPr lang="pt-BR" sz="2400">
                <a:solidFill>
                  <a:schemeClr val="dk1"/>
                </a:solidFill>
              </a:rPr>
              <a:t>Em problemas de Programação Não Convexa, o Solver do Excel encontra ótimos locais.</a:t>
            </a:r>
            <a:endParaRPr sz="2400">
              <a:solidFill>
                <a:schemeClr val="dk1"/>
              </a:solidFill>
            </a:endParaRPr>
          </a:p>
          <a:p>
            <a:pPr indent="-83820" lvl="0" marL="228600" rtl="0" algn="l">
              <a:spcBef>
                <a:spcPts val="480"/>
              </a:spcBef>
              <a:spcAft>
                <a:spcPts val="0"/>
              </a:spcAft>
              <a:buSzPts val="2280"/>
              <a:buNone/>
            </a:pPr>
            <a:r>
              <a:t/>
            </a:r>
            <a:endParaRPr sz="2400">
              <a:solidFill>
                <a:schemeClr val="dk1"/>
              </a:solidFill>
            </a:endParaRPr>
          </a:p>
          <a:p>
            <a:pPr indent="-228600" lvl="0" marL="228600" rtl="0" algn="l">
              <a:spcBef>
                <a:spcPts val="480"/>
              </a:spcBef>
              <a:spcAft>
                <a:spcPts val="0"/>
              </a:spcAft>
              <a:buSzPts val="2280"/>
              <a:buChar char="●"/>
            </a:pPr>
            <a:r>
              <a:rPr lang="pt-BR" sz="2400">
                <a:solidFill>
                  <a:schemeClr val="dk1"/>
                </a:solidFill>
              </a:rPr>
              <a:t>Basicamente, ele procura pra onde a função está subindo no gráfico (caso de maximização), e quando chega no topo, acha o valor máximo.</a:t>
            </a:r>
            <a:endParaRPr sz="2400">
              <a:solidFill>
                <a:schemeClr val="dk1"/>
              </a:solidFill>
            </a:endParaRPr>
          </a:p>
          <a:p>
            <a:pPr indent="-83820" lvl="0" marL="228600" rtl="0" algn="l">
              <a:spcBef>
                <a:spcPts val="480"/>
              </a:spcBef>
              <a:spcAft>
                <a:spcPts val="0"/>
              </a:spcAft>
              <a:buSzPts val="2280"/>
              <a:buNone/>
            </a:pPr>
            <a:r>
              <a:t/>
            </a:r>
            <a:endParaRPr sz="2400">
              <a:solidFill>
                <a:schemeClr val="dk1"/>
              </a:solidFill>
            </a:endParaRPr>
          </a:p>
          <a:p>
            <a:pPr indent="-228600" lvl="0" marL="228600" rtl="0" algn="l">
              <a:spcBef>
                <a:spcPts val="480"/>
              </a:spcBef>
              <a:spcAft>
                <a:spcPts val="0"/>
              </a:spcAft>
              <a:buSzPts val="2280"/>
              <a:buChar char="●"/>
            </a:pPr>
            <a:r>
              <a:rPr lang="pt-BR" sz="2400">
                <a:solidFill>
                  <a:schemeClr val="dk1"/>
                </a:solidFill>
              </a:rPr>
              <a:t>Não necessariamente um mínimo ou máximo local é a solução ótima.</a:t>
            </a:r>
            <a:endParaRPr sz="2400">
              <a:solidFill>
                <a:schemeClr val="dk1"/>
              </a:solidFill>
            </a:endParaRPr>
          </a:p>
          <a:p>
            <a:pPr indent="-83820" lvl="0" marL="228600" rtl="0" algn="l">
              <a:spcBef>
                <a:spcPts val="480"/>
              </a:spcBef>
              <a:spcAft>
                <a:spcPts val="1200"/>
              </a:spcAft>
              <a:buSzPts val="2280"/>
              <a:buNone/>
            </a:pPr>
            <a:r>
              <a:t/>
            </a:r>
            <a:endParaRPr/>
          </a:p>
        </p:txBody>
      </p:sp>
      <p:pic>
        <p:nvPicPr>
          <p:cNvPr descr="Ícone&#10;&#10;O conteúdo gerado por IA pode estar incorreto." id="306" name="Google Shape;306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47268" y="5385225"/>
            <a:ext cx="1590001" cy="1472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Ícone&#10;&#10;O conteúdo gerado por IA pode estar incorreto." id="307" name="Google Shape;307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184776" y="11128"/>
            <a:ext cx="952500" cy="9486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30"/>
          <p:cNvSpPr txBox="1"/>
          <p:nvPr>
            <p:ph type="title"/>
          </p:nvPr>
        </p:nvSpPr>
        <p:spPr>
          <a:xfrm>
            <a:off x="358850" y="217275"/>
            <a:ext cx="8233800" cy="1442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3C64"/>
              </a:buClr>
              <a:buSzPts val="6600"/>
              <a:buFont typeface="Aharoni"/>
              <a:buNone/>
            </a:pPr>
            <a:r>
              <a:rPr lang="pt-BR" sz="4000">
                <a:solidFill>
                  <a:srgbClr val="143C64"/>
                </a:solidFill>
                <a:latin typeface="Aharoni"/>
                <a:ea typeface="Aharoni"/>
                <a:cs typeface="Aharoni"/>
                <a:sym typeface="Aharoni"/>
              </a:rPr>
              <a:t>Exemplo – Programação Não Convexa</a:t>
            </a:r>
            <a:endParaRPr sz="4000">
              <a:solidFill>
                <a:srgbClr val="143C64"/>
              </a:solidFill>
              <a:latin typeface="Aharoni"/>
              <a:ea typeface="Aharoni"/>
              <a:cs typeface="Aharoni"/>
              <a:sym typeface="Aharoni"/>
            </a:endParaRPr>
          </a:p>
        </p:txBody>
      </p:sp>
      <p:pic>
        <p:nvPicPr>
          <p:cNvPr id="313" name="Google Shape;313;p30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15100" l="6223" r="74302" t="20607"/>
          <a:stretch/>
        </p:blipFill>
        <p:spPr>
          <a:xfrm>
            <a:off x="6445304" y="1861333"/>
            <a:ext cx="2245803" cy="395128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30"/>
          <p:cNvPicPr preferRelativeResize="0"/>
          <p:nvPr/>
        </p:nvPicPr>
        <p:blipFill rotWithShape="1">
          <a:blip r:embed="rId4">
            <a:alphaModFix/>
          </a:blip>
          <a:srcRect b="43262" l="26137" r="27957" t="35994"/>
          <a:stretch/>
        </p:blipFill>
        <p:spPr>
          <a:xfrm>
            <a:off x="464200" y="2852936"/>
            <a:ext cx="5980008" cy="144016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Ícone&#10;&#10;O conteúdo gerado por IA pode estar incorreto." id="315" name="Google Shape;315;p3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84776" y="11128"/>
            <a:ext cx="952500" cy="9486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1"/>
          <p:cNvSpPr txBox="1"/>
          <p:nvPr>
            <p:ph type="title"/>
          </p:nvPr>
        </p:nvSpPr>
        <p:spPr>
          <a:xfrm>
            <a:off x="551280" y="436563"/>
            <a:ext cx="8041440" cy="14426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3C64"/>
              </a:buClr>
              <a:buSzPts val="6600"/>
              <a:buFont typeface="Aharoni"/>
              <a:buNone/>
            </a:pPr>
            <a:r>
              <a:rPr lang="pt-BR" sz="5500">
                <a:solidFill>
                  <a:srgbClr val="143C64"/>
                </a:solidFill>
                <a:latin typeface="Aharoni"/>
                <a:ea typeface="Aharoni"/>
                <a:cs typeface="Aharoni"/>
                <a:sym typeface="Aharoni"/>
              </a:rPr>
              <a:t>Programação Não Convexa</a:t>
            </a:r>
            <a:endParaRPr sz="5500">
              <a:solidFill>
                <a:srgbClr val="143C64"/>
              </a:solidFill>
              <a:latin typeface="Aharoni"/>
              <a:ea typeface="Aharoni"/>
              <a:cs typeface="Aharoni"/>
              <a:sym typeface="Aharoni"/>
            </a:endParaRPr>
          </a:p>
        </p:txBody>
      </p:sp>
      <p:sp>
        <p:nvSpPr>
          <p:cNvPr id="321" name="Google Shape;321;p31"/>
          <p:cNvSpPr txBox="1"/>
          <p:nvPr>
            <p:ph idx="1" type="body"/>
          </p:nvPr>
        </p:nvSpPr>
        <p:spPr>
          <a:xfrm>
            <a:off x="838200" y="2038388"/>
            <a:ext cx="7467600" cy="3951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SzPts val="2280"/>
              <a:buChar char="●"/>
            </a:pPr>
            <a:r>
              <a:rPr lang="pt-BR" sz="2400">
                <a:solidFill>
                  <a:schemeClr val="dk1"/>
                </a:solidFill>
              </a:rPr>
              <a:t>Para os problemas de programação não convexa para a resolução via software propõe-se a geração de diversas soluções iniciais aleatórias. Para cada solução inicial, escolhe-se a que oferece a melhor solução encontrada.</a:t>
            </a:r>
            <a:endParaRPr sz="2400">
              <a:solidFill>
                <a:schemeClr val="dk1"/>
              </a:solidFill>
            </a:endParaRPr>
          </a:p>
          <a:p>
            <a:pPr indent="-83820" lvl="0" marL="228600" rtl="0" algn="l">
              <a:spcBef>
                <a:spcPts val="480"/>
              </a:spcBef>
              <a:spcAft>
                <a:spcPts val="0"/>
              </a:spcAft>
              <a:buSzPts val="2280"/>
              <a:buNone/>
            </a:pPr>
            <a:r>
              <a:t/>
            </a:r>
            <a:endParaRPr sz="2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480"/>
              </a:spcBef>
              <a:spcAft>
                <a:spcPts val="1200"/>
              </a:spcAft>
              <a:buSzPts val="2280"/>
              <a:buNone/>
            </a:pPr>
            <a:r>
              <a:t/>
            </a:r>
            <a:endParaRPr/>
          </a:p>
        </p:txBody>
      </p:sp>
      <p:pic>
        <p:nvPicPr>
          <p:cNvPr descr="Ícone&#10;&#10;O conteúdo gerado por IA pode estar incorreto." id="322" name="Google Shape;322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47268" y="5385225"/>
            <a:ext cx="1590001" cy="1472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Ícone&#10;&#10;O conteúdo gerado por IA pode estar incorreto." id="323" name="Google Shape;323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184776" y="11128"/>
            <a:ext cx="952500" cy="9486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/>
          <p:nvPr>
            <p:ph type="title"/>
          </p:nvPr>
        </p:nvSpPr>
        <p:spPr>
          <a:xfrm>
            <a:off x="551280" y="436563"/>
            <a:ext cx="8041440" cy="14426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3C64"/>
              </a:buClr>
              <a:buSzPts val="6600"/>
              <a:buFont typeface="Aharoni"/>
              <a:buNone/>
            </a:pPr>
            <a:r>
              <a:rPr lang="pt-BR" sz="5500">
                <a:solidFill>
                  <a:srgbClr val="143C64"/>
                </a:solidFill>
                <a:latin typeface="Aharoni"/>
                <a:ea typeface="Aharoni"/>
                <a:cs typeface="Aharoni"/>
                <a:sym typeface="Aharoni"/>
              </a:rPr>
              <a:t>Exercício</a:t>
            </a:r>
            <a:endParaRPr sz="5500">
              <a:solidFill>
                <a:srgbClr val="143C64"/>
              </a:solidFill>
              <a:latin typeface="Aharoni"/>
              <a:ea typeface="Aharoni"/>
              <a:cs typeface="Aharoni"/>
              <a:sym typeface="Aharoni"/>
            </a:endParaRPr>
          </a:p>
        </p:txBody>
      </p:sp>
      <p:sp>
        <p:nvSpPr>
          <p:cNvPr id="329" name="Google Shape;329;p32"/>
          <p:cNvSpPr txBox="1"/>
          <p:nvPr>
            <p:ph idx="1" type="body"/>
          </p:nvPr>
        </p:nvSpPr>
        <p:spPr>
          <a:xfrm>
            <a:off x="838200" y="2038388"/>
            <a:ext cx="7467600" cy="3951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SzPts val="2280"/>
              <a:buChar char="●"/>
            </a:pPr>
            <a:r>
              <a:rPr lang="pt-BR" sz="2400">
                <a:solidFill>
                  <a:schemeClr val="dk1"/>
                </a:solidFill>
              </a:rPr>
              <a:t>Testar no Solver as seguintes soluções iniciais para o exemplo de Programação não Convexa</a:t>
            </a:r>
            <a:endParaRPr sz="2400">
              <a:solidFill>
                <a:schemeClr val="dk1"/>
              </a:solidFill>
            </a:endParaRPr>
          </a:p>
          <a:p>
            <a:pPr indent="-83820" lvl="0" marL="228600" rtl="0" algn="l">
              <a:spcBef>
                <a:spcPts val="480"/>
              </a:spcBef>
              <a:spcAft>
                <a:spcPts val="0"/>
              </a:spcAft>
              <a:buSzPts val="2280"/>
              <a:buNone/>
            </a:pPr>
            <a:r>
              <a:t/>
            </a:r>
            <a:endParaRPr sz="2400">
              <a:solidFill>
                <a:schemeClr val="dk1"/>
              </a:solidFill>
            </a:endParaRPr>
          </a:p>
          <a:p>
            <a:pPr indent="-228600" lvl="0" marL="228600" rtl="0" algn="l">
              <a:spcBef>
                <a:spcPts val="480"/>
              </a:spcBef>
              <a:spcAft>
                <a:spcPts val="0"/>
              </a:spcAft>
              <a:buSzPts val="2280"/>
              <a:buChar char="●"/>
            </a:pPr>
            <a:r>
              <a:rPr lang="pt-BR" sz="2400">
                <a:solidFill>
                  <a:schemeClr val="dk1"/>
                </a:solidFill>
              </a:rPr>
              <a:t>a) x= 0</a:t>
            </a:r>
            <a:endParaRPr sz="2400">
              <a:solidFill>
                <a:schemeClr val="dk1"/>
              </a:solidFill>
            </a:endParaRPr>
          </a:p>
          <a:p>
            <a:pPr indent="-228600" lvl="0" marL="228600" rtl="0" algn="l">
              <a:spcBef>
                <a:spcPts val="480"/>
              </a:spcBef>
              <a:spcAft>
                <a:spcPts val="0"/>
              </a:spcAft>
              <a:buSzPts val="2280"/>
              <a:buChar char="●"/>
            </a:pPr>
            <a:r>
              <a:rPr lang="pt-BR" sz="2400">
                <a:solidFill>
                  <a:schemeClr val="dk1"/>
                </a:solidFill>
              </a:rPr>
              <a:t>b) x = 3</a:t>
            </a:r>
            <a:endParaRPr sz="2400">
              <a:solidFill>
                <a:schemeClr val="dk1"/>
              </a:solidFill>
            </a:endParaRPr>
          </a:p>
          <a:p>
            <a:pPr indent="-228600" lvl="0" marL="228600" rtl="0" algn="l">
              <a:spcBef>
                <a:spcPts val="480"/>
              </a:spcBef>
              <a:spcAft>
                <a:spcPts val="0"/>
              </a:spcAft>
              <a:buSzPts val="2280"/>
              <a:buChar char="●"/>
            </a:pPr>
            <a:r>
              <a:rPr lang="pt-BR" sz="2400">
                <a:solidFill>
                  <a:schemeClr val="dk1"/>
                </a:solidFill>
              </a:rPr>
              <a:t>c) x = 4,7</a:t>
            </a:r>
            <a:endParaRPr sz="2400">
              <a:solidFill>
                <a:schemeClr val="dk1"/>
              </a:solidFill>
            </a:endParaRPr>
          </a:p>
          <a:p>
            <a:pPr indent="-83820" lvl="0" marL="228600" rtl="0" algn="l">
              <a:spcBef>
                <a:spcPts val="480"/>
              </a:spcBef>
              <a:spcAft>
                <a:spcPts val="0"/>
              </a:spcAft>
              <a:buSzPts val="2280"/>
              <a:buNone/>
            </a:pPr>
            <a:r>
              <a:t/>
            </a:r>
            <a:endParaRPr sz="2400">
              <a:solidFill>
                <a:schemeClr val="dk1"/>
              </a:solidFill>
            </a:endParaRPr>
          </a:p>
          <a:p>
            <a:pPr indent="-228600" lvl="0" marL="228600" rtl="0" algn="l">
              <a:spcBef>
                <a:spcPts val="480"/>
              </a:spcBef>
              <a:spcAft>
                <a:spcPts val="1200"/>
              </a:spcAft>
              <a:buSzPts val="2280"/>
              <a:buChar char="●"/>
            </a:pPr>
            <a:r>
              <a:rPr lang="pt-BR" sz="2400">
                <a:solidFill>
                  <a:schemeClr val="dk1"/>
                </a:solidFill>
              </a:rPr>
              <a:t>Qual é a melhor solução encontrada?</a:t>
            </a:r>
            <a:endParaRPr sz="2400">
              <a:solidFill>
                <a:schemeClr val="dk1"/>
              </a:solidFill>
            </a:endParaRPr>
          </a:p>
        </p:txBody>
      </p:sp>
      <p:pic>
        <p:nvPicPr>
          <p:cNvPr descr="Ícone&#10;&#10;O conteúdo gerado por IA pode estar incorreto." id="330" name="Google Shape;330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47268" y="5385225"/>
            <a:ext cx="1590001" cy="1472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Ícone&#10;&#10;O conteúdo gerado por IA pode estar incorreto." id="331" name="Google Shape;331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184776" y="11128"/>
            <a:ext cx="952500" cy="9486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Escritório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2015-08-31T22:37:32Z</dcterms:created>
  <dc:creator>Jasmim Amaral</dc:creator>
</cp:coreProperties>
</file>