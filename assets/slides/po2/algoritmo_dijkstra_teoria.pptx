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23738" cy="6819900"/>
  <p:notesSz cx="6648450" cy="9782175"/>
  <p:embeddedFontLst>
    <p:embeddedFont>
      <p:font typeface="Aharoni" panose="02010803020104030203" pitchFamily="2" charset="-79"/>
      <p:bold r:id="rId16"/>
    </p:embeddedFont>
    <p:embeddedFont>
      <p:font typeface="Quattrocento Sans" panose="020B0502050000020003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8">
          <p15:clr>
            <a:srgbClr val="A4A3A4"/>
          </p15:clr>
        </p15:guide>
        <p15:guide id="2" pos="38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TuiPOGeS+OzIKd758U9qLHrvL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>
      <p:cViewPr varScale="1">
        <p:scale>
          <a:sx n="107" d="100"/>
          <a:sy n="107" d="100"/>
        </p:scale>
        <p:origin x="760" y="336"/>
      </p:cViewPr>
      <p:guideLst>
        <p:guide orient="horz" pos="2148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>
            <a:spLocks noGrp="1"/>
          </p:cNvSpPr>
          <p:nvPr>
            <p:ph type="sldNum" idx="12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925" tIns="0" rIns="189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0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631825"/>
            <a:ext cx="647382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" y="733425"/>
            <a:ext cx="6521450" cy="36687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275" y="733650"/>
            <a:ext cx="4432500" cy="366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sldNum" idx="12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925" tIns="0" rIns="189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631825"/>
            <a:ext cx="647382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sldNum" idx="12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925" tIns="0" rIns="189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631825"/>
            <a:ext cx="647382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sldNum" idx="12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925" tIns="0" rIns="189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1825"/>
            <a:ext cx="5289550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sldNum" idx="12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925" tIns="0" rIns="189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0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631825"/>
            <a:ext cx="6473825" cy="3641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0" name="Google Shape;270;p13:notes"/>
          <p:cNvSpPr txBox="1">
            <a:spLocks noGrp="1"/>
          </p:cNvSpPr>
          <p:nvPr>
            <p:ph type="body" idx="1"/>
          </p:nvPr>
        </p:nvSpPr>
        <p:spPr>
          <a:xfrm>
            <a:off x="664825" y="4646525"/>
            <a:ext cx="5318750" cy="4401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0d075a963_0_190"/>
          <p:cNvSpPr txBox="1">
            <a:spLocks noGrp="1"/>
          </p:cNvSpPr>
          <p:nvPr>
            <p:ph type="ctrTitle"/>
          </p:nvPr>
        </p:nvSpPr>
        <p:spPr>
          <a:xfrm>
            <a:off x="413284" y="987251"/>
            <a:ext cx="11297100" cy="27216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g3a0d075a963_0_190"/>
          <p:cNvSpPr txBox="1">
            <a:spLocks noGrp="1"/>
          </p:cNvSpPr>
          <p:nvPr>
            <p:ph type="subTitle" idx="1"/>
          </p:nvPr>
        </p:nvSpPr>
        <p:spPr>
          <a:xfrm>
            <a:off x="413273" y="3757840"/>
            <a:ext cx="11297100" cy="10509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g3a0d075a963_0_190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0d075a963_0_194"/>
          <p:cNvSpPr txBox="1">
            <a:spLocks noGrp="1"/>
          </p:cNvSpPr>
          <p:nvPr>
            <p:ph type="title"/>
          </p:nvPr>
        </p:nvSpPr>
        <p:spPr>
          <a:xfrm>
            <a:off x="413273" y="2851868"/>
            <a:ext cx="11297100" cy="11163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g3a0d075a963_0_194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a0d075a963_0_197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a0d075a963_0_197"/>
          <p:cNvSpPr txBox="1">
            <a:spLocks noGrp="1"/>
          </p:cNvSpPr>
          <p:nvPr>
            <p:ph type="body" idx="1"/>
          </p:nvPr>
        </p:nvSpPr>
        <p:spPr>
          <a:xfrm>
            <a:off x="413273" y="1528096"/>
            <a:ext cx="11297100" cy="45300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a0d075a963_0_197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0d075a963_0_201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a0d075a963_0_201"/>
          <p:cNvSpPr txBox="1">
            <a:spLocks noGrp="1"/>
          </p:cNvSpPr>
          <p:nvPr>
            <p:ph type="body" idx="1"/>
          </p:nvPr>
        </p:nvSpPr>
        <p:spPr>
          <a:xfrm>
            <a:off x="413273" y="1528096"/>
            <a:ext cx="5303400" cy="45300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g3a0d075a963_0_201"/>
          <p:cNvSpPr txBox="1">
            <a:spLocks noGrp="1"/>
          </p:cNvSpPr>
          <p:nvPr>
            <p:ph type="body" idx="2"/>
          </p:nvPr>
        </p:nvSpPr>
        <p:spPr>
          <a:xfrm>
            <a:off x="6407118" y="1528096"/>
            <a:ext cx="5303400" cy="45300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g3a0d075a963_0_201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0d075a963_0_206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a0d075a963_0_206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a0d075a963_0_209"/>
          <p:cNvSpPr txBox="1">
            <a:spLocks noGrp="1"/>
          </p:cNvSpPr>
          <p:nvPr>
            <p:ph type="title"/>
          </p:nvPr>
        </p:nvSpPr>
        <p:spPr>
          <a:xfrm>
            <a:off x="413273" y="736684"/>
            <a:ext cx="3723000" cy="10020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g3a0d075a963_0_209"/>
          <p:cNvSpPr txBox="1">
            <a:spLocks noGrp="1"/>
          </p:cNvSpPr>
          <p:nvPr>
            <p:ph type="body" idx="1"/>
          </p:nvPr>
        </p:nvSpPr>
        <p:spPr>
          <a:xfrm>
            <a:off x="413273" y="1842507"/>
            <a:ext cx="3723000" cy="42156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g3a0d075a963_0_209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0d075a963_0_213"/>
          <p:cNvSpPr txBox="1">
            <a:spLocks noGrp="1"/>
          </p:cNvSpPr>
          <p:nvPr>
            <p:ph type="title"/>
          </p:nvPr>
        </p:nvSpPr>
        <p:spPr>
          <a:xfrm>
            <a:off x="650006" y="596866"/>
            <a:ext cx="8442900" cy="5424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g3a0d075a963_0_213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0d075a963_0_216"/>
          <p:cNvSpPr/>
          <p:nvPr/>
        </p:nvSpPr>
        <p:spPr>
          <a:xfrm>
            <a:off x="6061863" y="-166"/>
            <a:ext cx="6061800" cy="681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225" tIns="121225" rIns="121225" bIns="1212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a0d075a963_0_216"/>
          <p:cNvSpPr txBox="1">
            <a:spLocks noGrp="1"/>
          </p:cNvSpPr>
          <p:nvPr>
            <p:ph type="title"/>
          </p:nvPr>
        </p:nvSpPr>
        <p:spPr>
          <a:xfrm>
            <a:off x="352018" y="1635099"/>
            <a:ext cx="5363400" cy="19653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g3a0d075a963_0_216"/>
          <p:cNvSpPr txBox="1">
            <a:spLocks noGrp="1"/>
          </p:cNvSpPr>
          <p:nvPr>
            <p:ph type="subTitle" idx="1"/>
          </p:nvPr>
        </p:nvSpPr>
        <p:spPr>
          <a:xfrm>
            <a:off x="352018" y="3716670"/>
            <a:ext cx="5363400" cy="16377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g3a0d075a963_0_216"/>
          <p:cNvSpPr txBox="1">
            <a:spLocks noGrp="1"/>
          </p:cNvSpPr>
          <p:nvPr>
            <p:ph type="body" idx="2"/>
          </p:nvPr>
        </p:nvSpPr>
        <p:spPr>
          <a:xfrm>
            <a:off x="6549119" y="960070"/>
            <a:ext cx="5087400" cy="48993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3a0d075a963_0_216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0d075a963_0_222"/>
          <p:cNvSpPr txBox="1">
            <a:spLocks noGrp="1"/>
          </p:cNvSpPr>
          <p:nvPr>
            <p:ph type="body" idx="1"/>
          </p:nvPr>
        </p:nvSpPr>
        <p:spPr>
          <a:xfrm>
            <a:off x="413273" y="5609429"/>
            <a:ext cx="7953600" cy="8022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3a0d075a963_0_222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0d075a963_0_225"/>
          <p:cNvSpPr txBox="1">
            <a:spLocks noGrp="1"/>
          </p:cNvSpPr>
          <p:nvPr>
            <p:ph type="title" hasCustomPrompt="1"/>
          </p:nvPr>
        </p:nvSpPr>
        <p:spPr>
          <a:xfrm>
            <a:off x="413273" y="1466640"/>
            <a:ext cx="11297100" cy="2603400"/>
          </a:xfrm>
          <a:prstGeom prst="rect">
            <a:avLst/>
          </a:prstGeom>
        </p:spPr>
        <p:txBody>
          <a:bodyPr spcFirstLastPara="1" wrap="square" lIns="121225" tIns="121225" rIns="121225" bIns="1212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>
            <a:r>
              <a:t>xx%</a:t>
            </a:r>
          </a:p>
        </p:txBody>
      </p:sp>
      <p:sp>
        <p:nvSpPr>
          <p:cNvPr id="46" name="Google Shape;46;g3a0d075a963_0_225"/>
          <p:cNvSpPr txBox="1">
            <a:spLocks noGrp="1"/>
          </p:cNvSpPr>
          <p:nvPr>
            <p:ph type="body" idx="1"/>
          </p:nvPr>
        </p:nvSpPr>
        <p:spPr>
          <a:xfrm>
            <a:off x="413273" y="4179617"/>
            <a:ext cx="11297100" cy="1724700"/>
          </a:xfrm>
          <a:prstGeom prst="rect">
            <a:avLst/>
          </a:prstGeom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a0d075a963_0_225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0d075a963_0_229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 1">
  <p:cSld name="Slide de títul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d075a963_0_231"/>
          <p:cNvSpPr txBox="1">
            <a:spLocks noGrp="1"/>
          </p:cNvSpPr>
          <p:nvPr>
            <p:ph type="subTitle" idx="1"/>
          </p:nvPr>
        </p:nvSpPr>
        <p:spPr>
          <a:xfrm>
            <a:off x="909280" y="3485727"/>
            <a:ext cx="84867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98"/>
              </a:spcBef>
              <a:spcAft>
                <a:spcPts val="0"/>
              </a:spcAft>
              <a:buSzPts val="1691"/>
              <a:buNone/>
              <a:defRPr sz="1989">
                <a:solidFill>
                  <a:srgbClr val="55556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SzPts val="1522"/>
              <a:buNone/>
              <a:defRPr>
                <a:solidFill>
                  <a:srgbClr val="8B8B8D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432"/>
              <a:buNone/>
              <a:defRPr>
                <a:solidFill>
                  <a:srgbClr val="8B8B8D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392"/>
              <a:buNone/>
              <a:defRPr>
                <a:solidFill>
                  <a:srgbClr val="8B8B8D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193"/>
              <a:buNone/>
              <a:defRPr>
                <a:solidFill>
                  <a:srgbClr val="8B8B8D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293"/>
              <a:buNone/>
              <a:defRPr>
                <a:solidFill>
                  <a:srgbClr val="8B8B8D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293"/>
              <a:buNone/>
              <a:defRPr>
                <a:solidFill>
                  <a:srgbClr val="8B8B8D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293"/>
              <a:buNone/>
              <a:defRPr>
                <a:solidFill>
                  <a:srgbClr val="8B8B8D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293"/>
              <a:buNone/>
              <a:defRPr>
                <a:solidFill>
                  <a:srgbClr val="8B8B8D"/>
                </a:solidFill>
              </a:defRPr>
            </a:lvl9pPr>
          </a:lstStyle>
          <a:p>
            <a:endParaRPr/>
          </a:p>
        </p:txBody>
      </p:sp>
      <p:cxnSp>
        <p:nvCxnSpPr>
          <p:cNvPr id="52" name="Google Shape;52;g3a0d075a963_0_231"/>
          <p:cNvCxnSpPr/>
          <p:nvPr/>
        </p:nvCxnSpPr>
        <p:spPr>
          <a:xfrm>
            <a:off x="909281" y="3379639"/>
            <a:ext cx="104061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g3a0d075a963_0_231"/>
          <p:cNvSpPr txBox="1">
            <a:spLocks noGrp="1"/>
          </p:cNvSpPr>
          <p:nvPr>
            <p:ph type="title"/>
          </p:nvPr>
        </p:nvSpPr>
        <p:spPr>
          <a:xfrm>
            <a:off x="887321" y="2424853"/>
            <a:ext cx="10428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75"/>
              <a:buFont typeface="Quattrocento Sans"/>
              <a:buNone/>
              <a:defRPr sz="4375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a0d075a963_0_231"/>
          <p:cNvSpPr/>
          <p:nvPr/>
        </p:nvSpPr>
        <p:spPr>
          <a:xfrm>
            <a:off x="0" y="0"/>
            <a:ext cx="12123600" cy="474000"/>
          </a:xfrm>
          <a:prstGeom prst="rect">
            <a:avLst/>
          </a:prstGeom>
          <a:solidFill>
            <a:srgbClr val="94BB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91" b="0" i="0" u="none" strike="noStrike" cap="none">
                <a:solidFill>
                  <a:srgbClr val="5757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Grafos e Algoritmos - Introdução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d075a963_0_236"/>
          <p:cNvSpPr txBox="1">
            <a:spLocks noGrp="1"/>
          </p:cNvSpPr>
          <p:nvPr>
            <p:ph type="title"/>
          </p:nvPr>
        </p:nvSpPr>
        <p:spPr>
          <a:xfrm>
            <a:off x="1622369" y="530437"/>
            <a:ext cx="9895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78"/>
              <a:buFont typeface="Quattrocento Sans"/>
              <a:buNone/>
              <a:defRPr sz="3978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a0d075a963_0_236"/>
          <p:cNvSpPr txBox="1">
            <a:spLocks noGrp="1"/>
          </p:cNvSpPr>
          <p:nvPr>
            <p:ph type="body" idx="1"/>
          </p:nvPr>
        </p:nvSpPr>
        <p:spPr>
          <a:xfrm>
            <a:off x="763111" y="1834575"/>
            <a:ext cx="10754400" cy="4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7438" algn="l">
              <a:spcBef>
                <a:spcPts val="477"/>
              </a:spcBef>
              <a:spcAft>
                <a:spcPts val="0"/>
              </a:spcAft>
              <a:buSzPts val="2029"/>
              <a:buChar char="●"/>
              <a:defRPr sz="2387"/>
            </a:lvl1pPr>
            <a:lvl2pPr marL="914400" lvl="1" indent="-335956" algn="l">
              <a:spcBef>
                <a:spcPts val="1600"/>
              </a:spcBef>
              <a:spcAft>
                <a:spcPts val="0"/>
              </a:spcAft>
              <a:buSzPts val="1691"/>
              <a:buChar char="○"/>
              <a:defRPr sz="1989"/>
            </a:lvl2pPr>
            <a:lvl3pPr marL="1371600" lvl="2" indent="-330898" algn="l">
              <a:spcBef>
                <a:spcPts val="1600"/>
              </a:spcBef>
              <a:spcAft>
                <a:spcPts val="0"/>
              </a:spcAft>
              <a:buSzPts val="1611"/>
              <a:buChar char="■"/>
              <a:defRPr sz="1790"/>
            </a:lvl3pPr>
            <a:lvl4pPr marL="1828800" lvl="3" indent="-329628" algn="l">
              <a:spcBef>
                <a:spcPts val="1600"/>
              </a:spcBef>
              <a:spcAft>
                <a:spcPts val="0"/>
              </a:spcAft>
              <a:buSzPts val="1591"/>
              <a:buChar char="●"/>
              <a:defRPr sz="1591"/>
            </a:lvl4pPr>
            <a:lvl5pPr marL="2286000" lvl="4" indent="-316992" algn="l">
              <a:spcBef>
                <a:spcPts val="1600"/>
              </a:spcBef>
              <a:spcAft>
                <a:spcPts val="0"/>
              </a:spcAft>
              <a:buSzPts val="1392"/>
              <a:buChar char="○"/>
              <a:defRPr sz="1392"/>
            </a:lvl5pPr>
            <a:lvl6pPr marL="2743200" lvl="5" indent="-342900" algn="l"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58" name="Google Shape;58;g3a0d075a963_0_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3111" y="593338"/>
            <a:ext cx="859259" cy="85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0d075a963_0_186"/>
          <p:cNvSpPr txBox="1">
            <a:spLocks noGrp="1"/>
          </p:cNvSpPr>
          <p:nvPr>
            <p:ph type="title"/>
          </p:nvPr>
        </p:nvSpPr>
        <p:spPr>
          <a:xfrm>
            <a:off x="413273" y="590070"/>
            <a:ext cx="112971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225" tIns="121225" rIns="121225" bIns="1212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3a0d075a963_0_186"/>
          <p:cNvSpPr txBox="1">
            <a:spLocks noGrp="1"/>
          </p:cNvSpPr>
          <p:nvPr>
            <p:ph type="body" idx="1"/>
          </p:nvPr>
        </p:nvSpPr>
        <p:spPr>
          <a:xfrm>
            <a:off x="413273" y="1528096"/>
            <a:ext cx="11297100" cy="45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225" tIns="121225" rIns="121225" bIns="121225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3a0d075a963_0_186"/>
          <p:cNvSpPr txBox="1">
            <a:spLocks noGrp="1"/>
          </p:cNvSpPr>
          <p:nvPr>
            <p:ph type="sldNum" idx="12"/>
          </p:nvPr>
        </p:nvSpPr>
        <p:spPr>
          <a:xfrm>
            <a:off x="11233350" y="6183080"/>
            <a:ext cx="727500" cy="5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225" tIns="121225" rIns="121225" bIns="121225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body" idx="1"/>
          </p:nvPr>
        </p:nvSpPr>
        <p:spPr>
          <a:xfrm>
            <a:off x="413275" y="5397425"/>
            <a:ext cx="39033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Profª Andréa Bonifácio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title"/>
          </p:nvPr>
        </p:nvSpPr>
        <p:spPr>
          <a:xfrm>
            <a:off x="413275" y="971225"/>
            <a:ext cx="6405900" cy="41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PT" sz="60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PROBLEMA</a:t>
            </a:r>
            <a:r>
              <a:rPr lang="pt-PT" sz="6000"/>
              <a:t> </a:t>
            </a:r>
            <a:r>
              <a:rPr lang="pt-PT" sz="60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DO CAMINHO MAIS CURTO -  ALGORITMO DE DIJKSTRA</a:t>
            </a:r>
            <a:endParaRPr sz="6000"/>
          </a:p>
        </p:txBody>
      </p:sp>
      <p:pic>
        <p:nvPicPr>
          <p:cNvPr id="65" name="Google Shape;65;p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3944" y="1570147"/>
            <a:ext cx="4087367" cy="378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>
            <a:spLocks noGrp="1"/>
          </p:cNvSpPr>
          <p:nvPr>
            <p:ph type="title" idx="4294967295"/>
          </p:nvPr>
        </p:nvSpPr>
        <p:spPr>
          <a:xfrm>
            <a:off x="763150" y="530425"/>
            <a:ext cx="10754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59090"/>
              <a:buFont typeface="Quattrocento Sans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Definição do Problema</a:t>
            </a:r>
            <a:endParaRPr/>
          </a:p>
        </p:txBody>
      </p:sp>
      <p:sp>
        <p:nvSpPr>
          <p:cNvPr id="72" name="Google Shape;72;p2"/>
          <p:cNvSpPr txBox="1">
            <a:spLocks noGrp="1"/>
          </p:cNvSpPr>
          <p:nvPr>
            <p:ph type="body" idx="4294967295"/>
          </p:nvPr>
        </p:nvSpPr>
        <p:spPr>
          <a:xfrm>
            <a:off x="599711" y="1791575"/>
            <a:ext cx="10754400" cy="42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81856" lvl="0" indent="-17052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Arial"/>
              <a:buChar char="●"/>
            </a:pPr>
            <a:r>
              <a:rPr lang="pt-PT" sz="2800">
                <a:solidFill>
                  <a:schemeClr val="dk1"/>
                </a:solidFill>
              </a:rPr>
              <a:t>O problema do caminho mais curto, consiste em encontrar o melhor caminho entre dois pontos chamados nós/vértices. </a:t>
            </a:r>
            <a:endParaRPr>
              <a:solidFill>
                <a:schemeClr val="dk1"/>
              </a:solidFill>
            </a:endParaRPr>
          </a:p>
          <a:p>
            <a:pPr marL="181856" lvl="0" indent="-30726" algn="l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Arial"/>
              <a:buNone/>
            </a:pPr>
            <a:endParaRPr sz="2800">
              <a:solidFill>
                <a:schemeClr val="dk1"/>
              </a:solidFill>
            </a:endParaRPr>
          </a:p>
          <a:p>
            <a:pPr marL="181856" lvl="0" indent="-17052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Arial"/>
              <a:buChar char="●"/>
            </a:pPr>
            <a:r>
              <a:rPr lang="pt-PT" sz="2800">
                <a:solidFill>
                  <a:schemeClr val="dk1"/>
                </a:solidFill>
              </a:rPr>
              <a:t>O objetivo pode ser o caminho com o menor custo, distância, tempo.</a:t>
            </a:r>
            <a:endParaRPr>
              <a:solidFill>
                <a:schemeClr val="dk1"/>
              </a:solidFill>
            </a:endParaRPr>
          </a:p>
          <a:p>
            <a:pPr marL="181856" lvl="0" indent="-30726" algn="l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Arial"/>
              <a:buNone/>
            </a:pPr>
            <a:endParaRPr sz="2800">
              <a:solidFill>
                <a:schemeClr val="dk1"/>
              </a:solidFill>
            </a:endParaRPr>
          </a:p>
          <a:p>
            <a:pPr marL="181856" lvl="0" indent="-17052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85000"/>
              <a:buFont typeface="Arial"/>
              <a:buChar char="●"/>
            </a:pPr>
            <a:r>
              <a:rPr lang="pt-PT" sz="2800" b="1">
                <a:solidFill>
                  <a:schemeClr val="dk1"/>
                </a:solidFill>
              </a:rPr>
              <a:t>Exemplo: </a:t>
            </a:r>
            <a:r>
              <a:rPr lang="pt-PT" sz="2800">
                <a:solidFill>
                  <a:schemeClr val="dk1"/>
                </a:solidFill>
              </a:rPr>
              <a:t>Qual o caminho mais curto da sua casa à universidade?</a:t>
            </a:r>
            <a:endParaRPr>
              <a:solidFill>
                <a:schemeClr val="dk1"/>
              </a:solidFill>
            </a:endParaRPr>
          </a:p>
          <a:p>
            <a:pPr marL="181856" lvl="0" indent="-52316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181856" lvl="0" indent="-52316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ct val="85000"/>
              <a:buFont typeface="Arial"/>
              <a:buNone/>
            </a:pPr>
            <a:endParaRPr sz="2400"/>
          </a:p>
          <a:p>
            <a:pPr marL="181856" lvl="0" indent="-53017" algn="l" rtl="0">
              <a:spcBef>
                <a:spcPts val="477"/>
              </a:spcBef>
              <a:spcAft>
                <a:spcPts val="1600"/>
              </a:spcAft>
              <a:buClr>
                <a:srgbClr val="000000"/>
              </a:buClr>
              <a:buSzPct val="84539"/>
              <a:buFont typeface="Arial"/>
              <a:buNone/>
            </a:pPr>
            <a:endParaRPr/>
          </a:p>
        </p:txBody>
      </p:sp>
      <p:pic>
        <p:nvPicPr>
          <p:cNvPr id="73" name="Google Shape;73;p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 idx="4294967295"/>
          </p:nvPr>
        </p:nvSpPr>
        <p:spPr>
          <a:xfrm>
            <a:off x="1185975" y="722325"/>
            <a:ext cx="93345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Aplicações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body" idx="4294967295"/>
          </p:nvPr>
        </p:nvSpPr>
        <p:spPr>
          <a:xfrm>
            <a:off x="1604963" y="1920875"/>
            <a:ext cx="8915400" cy="360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Planejamento de rotas e tempo de viagens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linhas de transmissão elétrica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conexão de redes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planejamento de movimentos de um robô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transmissão de mensagens em sistemas de comunicação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81" name="Google Shape;81;p3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 idx="4294967295"/>
          </p:nvPr>
        </p:nvSpPr>
        <p:spPr>
          <a:xfrm>
            <a:off x="497975" y="704850"/>
            <a:ext cx="105783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Modelagem do Problema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1842588" y="2402050"/>
            <a:ext cx="7210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" name="Google Shape;89;p4"/>
          <p:cNvSpPr txBox="1"/>
          <p:nvPr/>
        </p:nvSpPr>
        <p:spPr>
          <a:xfrm>
            <a:off x="1947363" y="1940088"/>
            <a:ext cx="241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Mundo Real</a:t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6038350" y="1940088"/>
            <a:ext cx="424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Modelagem Matemática (Grafo G)</a:t>
            </a:r>
            <a:endParaRPr/>
          </a:p>
        </p:txBody>
      </p:sp>
      <p:sp>
        <p:nvSpPr>
          <p:cNvPr id="91" name="Google Shape;91;p4"/>
          <p:cNvSpPr txBox="1"/>
          <p:nvPr/>
        </p:nvSpPr>
        <p:spPr>
          <a:xfrm>
            <a:off x="1842588" y="2679863"/>
            <a:ext cx="263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Pontos Importantes</a:t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6530475" y="2679863"/>
            <a:ext cx="222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Vértices - V(G)</a:t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1901325" y="3849850"/>
            <a:ext cx="241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Ruas</a:t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6519363" y="3806988"/>
            <a:ext cx="240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Arestas – E(G)</a:t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1947363" y="4845213"/>
            <a:ext cx="160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</a:t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6473325" y="4751550"/>
            <a:ext cx="320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Peso da aresta – c(e)</a:t>
            </a:r>
            <a:endParaRPr/>
          </a:p>
        </p:txBody>
      </p:sp>
      <p:pic>
        <p:nvPicPr>
          <p:cNvPr id="97" name="Google Shape;97;p4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>
            <a:spLocks noGrp="1"/>
          </p:cNvSpPr>
          <p:nvPr>
            <p:ph type="title" idx="4294967295"/>
          </p:nvPr>
        </p:nvSpPr>
        <p:spPr>
          <a:xfrm>
            <a:off x="607350" y="236225"/>
            <a:ext cx="11266500" cy="16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Quattrocento Sans"/>
              <a:buNone/>
            </a:pPr>
            <a:r>
              <a:rPr lang="pt-PT" sz="48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Problema do caminho mais curto – Modelagem </a:t>
            </a:r>
            <a:endParaRPr sz="4800"/>
          </a:p>
        </p:txBody>
      </p:sp>
      <p:sp>
        <p:nvSpPr>
          <p:cNvPr id="105" name="Google Shape;105;p5"/>
          <p:cNvSpPr/>
          <p:nvPr/>
        </p:nvSpPr>
        <p:spPr>
          <a:xfrm>
            <a:off x="5465763" y="2454275"/>
            <a:ext cx="457200" cy="457200"/>
          </a:xfrm>
          <a:prstGeom prst="ellipse">
            <a:avLst/>
          </a:prstGeom>
          <a:noFill/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v1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761163" y="2454275"/>
            <a:ext cx="457200" cy="4572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v2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779963" y="3216275"/>
            <a:ext cx="457200" cy="4572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v3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075363" y="3292475"/>
            <a:ext cx="457200" cy="457200"/>
          </a:xfrm>
          <a:prstGeom prst="ellipse">
            <a:avLst/>
          </a:prstGeom>
          <a:noFill/>
          <a:ln w="126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v4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446963" y="3292475"/>
            <a:ext cx="457200" cy="4572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v5</a:t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465763" y="3978275"/>
            <a:ext cx="457200" cy="457200"/>
          </a:xfrm>
          <a:prstGeom prst="ellipse">
            <a:avLst/>
          </a:prstGeom>
          <a:noFill/>
          <a:ln w="126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v6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761163" y="3978275"/>
            <a:ext cx="457200" cy="457200"/>
          </a:xfrm>
          <a:prstGeom prst="ellipse">
            <a:avLst/>
          </a:prstGeom>
          <a:noFill/>
          <a:ln w="126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v7</a:t>
            </a:r>
            <a:endParaRPr/>
          </a:p>
        </p:txBody>
      </p:sp>
      <p:cxnSp>
        <p:nvCxnSpPr>
          <p:cNvPr id="112" name="Google Shape;112;p5"/>
          <p:cNvCxnSpPr/>
          <p:nvPr/>
        </p:nvCxnSpPr>
        <p:spPr>
          <a:xfrm rot="10800000" flipH="1">
            <a:off x="5084763" y="2835275"/>
            <a:ext cx="3810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5"/>
          <p:cNvCxnSpPr/>
          <p:nvPr/>
        </p:nvCxnSpPr>
        <p:spPr>
          <a:xfrm>
            <a:off x="5921375" y="2605088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5"/>
          <p:cNvCxnSpPr/>
          <p:nvPr/>
        </p:nvCxnSpPr>
        <p:spPr>
          <a:xfrm>
            <a:off x="7142163" y="2835275"/>
            <a:ext cx="45720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5"/>
          <p:cNvCxnSpPr/>
          <p:nvPr/>
        </p:nvCxnSpPr>
        <p:spPr>
          <a:xfrm>
            <a:off x="5770563" y="2911475"/>
            <a:ext cx="457200" cy="457200"/>
          </a:xfrm>
          <a:prstGeom prst="straightConnector1">
            <a:avLst/>
          </a:prstGeom>
          <a:noFill/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5"/>
          <p:cNvCxnSpPr/>
          <p:nvPr/>
        </p:nvCxnSpPr>
        <p:spPr>
          <a:xfrm flipH="1">
            <a:off x="6456363" y="2911475"/>
            <a:ext cx="45720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5"/>
          <p:cNvCxnSpPr/>
          <p:nvPr/>
        </p:nvCxnSpPr>
        <p:spPr>
          <a:xfrm>
            <a:off x="6532563" y="3521075"/>
            <a:ext cx="91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5"/>
          <p:cNvCxnSpPr/>
          <p:nvPr/>
        </p:nvCxnSpPr>
        <p:spPr>
          <a:xfrm flipH="1">
            <a:off x="5846763" y="3673475"/>
            <a:ext cx="304800" cy="30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5"/>
          <p:cNvCxnSpPr/>
          <p:nvPr/>
        </p:nvCxnSpPr>
        <p:spPr>
          <a:xfrm>
            <a:off x="6456363" y="3673475"/>
            <a:ext cx="381000" cy="381000"/>
          </a:xfrm>
          <a:prstGeom prst="straightConnector1">
            <a:avLst/>
          </a:prstGeom>
          <a:noFill/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5"/>
          <p:cNvCxnSpPr/>
          <p:nvPr/>
        </p:nvCxnSpPr>
        <p:spPr>
          <a:xfrm>
            <a:off x="5008563" y="3673475"/>
            <a:ext cx="457200" cy="457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5"/>
          <p:cNvCxnSpPr/>
          <p:nvPr/>
        </p:nvCxnSpPr>
        <p:spPr>
          <a:xfrm rot="10800000">
            <a:off x="5922963" y="4283075"/>
            <a:ext cx="838200" cy="0"/>
          </a:xfrm>
          <a:prstGeom prst="straightConnector1">
            <a:avLst/>
          </a:prstGeom>
          <a:noFill/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5"/>
          <p:cNvCxnSpPr/>
          <p:nvPr/>
        </p:nvCxnSpPr>
        <p:spPr>
          <a:xfrm flipH="1">
            <a:off x="7218363" y="3749675"/>
            <a:ext cx="381000" cy="381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5"/>
          <p:cNvCxnSpPr/>
          <p:nvPr/>
        </p:nvCxnSpPr>
        <p:spPr>
          <a:xfrm rot="10800000">
            <a:off x="5237163" y="3521075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" name="Google Shape;124;p5"/>
          <p:cNvSpPr txBox="1"/>
          <p:nvPr/>
        </p:nvSpPr>
        <p:spPr>
          <a:xfrm>
            <a:off x="4916488" y="2644775"/>
            <a:ext cx="303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151563" y="2301875"/>
            <a:ext cx="2984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370763" y="2759075"/>
            <a:ext cx="3818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446963" y="3825875"/>
            <a:ext cx="2984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151563" y="4191000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932363" y="38258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922963" y="27590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684963" y="29876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913563" y="34448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6380163" y="37496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5694363" y="35972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5541963" y="3216275"/>
            <a:ext cx="2984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5337175" y="4302125"/>
            <a:ext cx="35718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081588" y="4947841"/>
            <a:ext cx="24799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 = (Cruzamentos, Ruas)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5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 idx="4294967295"/>
          </p:nvPr>
        </p:nvSpPr>
        <p:spPr>
          <a:xfrm>
            <a:off x="996775" y="828950"/>
            <a:ext cx="103548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Propriedade dos Caminhos Mínimos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4294967295"/>
          </p:nvPr>
        </p:nvSpPr>
        <p:spPr>
          <a:xfrm>
            <a:off x="1559725" y="4946250"/>
            <a:ext cx="92289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Se P é um caminho mínimo de v a w então P’, a parte de P que vai de v até x é um caminho mínimo de v a x. 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146" name="Google Shape;146;p6"/>
          <p:cNvCxnSpPr/>
          <p:nvPr/>
        </p:nvCxnSpPr>
        <p:spPr>
          <a:xfrm rot="10800000" flipH="1">
            <a:off x="4076711" y="3305282"/>
            <a:ext cx="3970200" cy="1093800"/>
          </a:xfrm>
          <a:prstGeom prst="curvedConnector3">
            <a:avLst>
              <a:gd name="adj1" fmla="val 50002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" name="Google Shape;147;p6"/>
          <p:cNvSpPr/>
          <p:nvPr/>
        </p:nvSpPr>
        <p:spPr>
          <a:xfrm>
            <a:off x="4052899" y="4347244"/>
            <a:ext cx="69900" cy="786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011868" y="3905730"/>
            <a:ext cx="69900" cy="786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967663" y="3267589"/>
            <a:ext cx="69900" cy="786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3763975" y="3852105"/>
            <a:ext cx="35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810500" y="2826075"/>
            <a:ext cx="45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5732469" y="3358752"/>
            <a:ext cx="40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pic>
        <p:nvPicPr>
          <p:cNvPr id="153" name="Google Shape;153;p6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2684" y="5284550"/>
            <a:ext cx="1515741" cy="140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>
            <a:spLocks noGrp="1"/>
          </p:cNvSpPr>
          <p:nvPr>
            <p:ph type="title" idx="4294967295"/>
          </p:nvPr>
        </p:nvSpPr>
        <p:spPr>
          <a:xfrm>
            <a:off x="1589088" y="1126857"/>
            <a:ext cx="9375900" cy="1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ts val="6600"/>
              <a:buFont typeface="Aharoni"/>
              <a:buNone/>
            </a:pPr>
            <a:r>
              <a:rPr lang="pt-PT" sz="55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Propriedade das Subestruturas Ótimas dos Caminhos Mínimos</a:t>
            </a:r>
            <a:endParaRPr sz="55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60" name="Google Shape;160;p7"/>
          <p:cNvSpPr txBox="1">
            <a:spLocks noGrp="1"/>
          </p:cNvSpPr>
          <p:nvPr>
            <p:ph type="body" idx="4294967295"/>
          </p:nvPr>
        </p:nvSpPr>
        <p:spPr>
          <a:xfrm>
            <a:off x="1589088" y="4580113"/>
            <a:ext cx="8915400" cy="1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181856" marR="0" lvl="0" indent="-1365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PT" sz="2800">
                <a:solidFill>
                  <a:schemeClr val="dk1"/>
                </a:solidFill>
              </a:rPr>
              <a:t>Propriedade: Se P é um caminho mínimo de v a w então a parte de P que vai de v até x é um caminho mínimo.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365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endParaRPr sz="2800">
              <a:solidFill>
                <a:schemeClr val="dk1"/>
              </a:solidFill>
            </a:endParaRPr>
          </a:p>
          <a:p>
            <a:pPr marL="181856" marR="0" lvl="0" indent="-13651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000"/>
              <a:buChar char="●"/>
            </a:pPr>
            <a:r>
              <a:rPr lang="pt-PT" sz="2800">
                <a:solidFill>
                  <a:schemeClr val="dk1"/>
                </a:solidFill>
              </a:rPr>
              <a:t>De fato, pois caso contrário, existiria Q um caminho mínimo de v a x e Q concatenado com P”, a parte de P que vai de x até w, seria um caminho de v a w menor que P (que é mínimo)...um absurdo! </a:t>
            </a:r>
            <a:endParaRPr sz="2800">
              <a:solidFill>
                <a:schemeClr val="dk1"/>
              </a:solidFill>
            </a:endParaRPr>
          </a:p>
        </p:txBody>
      </p:sp>
      <p:cxnSp>
        <p:nvCxnSpPr>
          <p:cNvPr id="161" name="Google Shape;161;p7"/>
          <p:cNvCxnSpPr/>
          <p:nvPr/>
        </p:nvCxnSpPr>
        <p:spPr>
          <a:xfrm rot="10800000" flipH="1">
            <a:off x="4076711" y="2874315"/>
            <a:ext cx="3970200" cy="1258800"/>
          </a:xfrm>
          <a:prstGeom prst="curvedConnector3">
            <a:avLst>
              <a:gd name="adj1" fmla="val 50002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2" name="Google Shape;162;p7"/>
          <p:cNvSpPr/>
          <p:nvPr/>
        </p:nvSpPr>
        <p:spPr>
          <a:xfrm>
            <a:off x="4052899" y="4073479"/>
            <a:ext cx="69900" cy="906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011868" y="3565547"/>
            <a:ext cx="69900" cy="906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967663" y="2831410"/>
            <a:ext cx="69900" cy="90600"/>
          </a:xfrm>
          <a:prstGeom prst="ellipse">
            <a:avLst/>
          </a:prstGeom>
          <a:solidFill>
            <a:schemeClr val="accent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3763975" y="3503855"/>
            <a:ext cx="35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7810500" y="2323478"/>
            <a:ext cx="45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5732469" y="2936287"/>
            <a:ext cx="40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pic>
        <p:nvPicPr>
          <p:cNvPr id="168" name="Google Shape;168;p7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3875" y="5285650"/>
            <a:ext cx="1514549" cy="140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7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 idx="4294967295"/>
          </p:nvPr>
        </p:nvSpPr>
        <p:spPr>
          <a:xfrm>
            <a:off x="1657350" y="760425"/>
            <a:ext cx="88167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Algoritmo de Dijkstra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4294967295"/>
          </p:nvPr>
        </p:nvSpPr>
        <p:spPr>
          <a:xfrm>
            <a:off x="763111" y="1834575"/>
            <a:ext cx="10754440" cy="422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Edsger Wybe Dijkstra (1930 – 2002): engenheiro de software holandês criou o algoritmo do menor caminho mais utilizado no mundo quando trabalhava como programador no Centro de Matemática de Amsterdã.</a:t>
            </a:r>
            <a:endParaRPr sz="280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Dijkstra formulou e resolveu o problema do caminho mais curto para uma demonstração na inauguração oficial do computador criado no centro, o ARMAC em 1956, mas - devido à ausência de periódicos dedicados à computação automática - não publicou o resultado até 1959.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76" name="Google Shape;176;p8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5725" y="5602300"/>
            <a:ext cx="1172700" cy="10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body" idx="4294967295"/>
          </p:nvPr>
        </p:nvSpPr>
        <p:spPr>
          <a:xfrm>
            <a:off x="763111" y="1834575"/>
            <a:ext cx="10754440" cy="4224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O algoritmo de Dijkstra é amplamente usado no mundo.</a:t>
            </a:r>
            <a:endParaRPr sz="280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Aplicação comum do algoritmo: Na determinação de caminhos em aplicativos</a:t>
            </a:r>
            <a:endParaRPr sz="280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 Estima-se que seja o algoritmo mais vezes executado por minuto no mundo.</a:t>
            </a:r>
            <a:endParaRPr sz="2800">
              <a:solidFill>
                <a:schemeClr val="dk1"/>
              </a:solidFill>
            </a:endParaRPr>
          </a:p>
          <a:p>
            <a:pPr marL="6096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  <a:p>
            <a:pPr marL="111448" lvl="0" indent="0" algn="l" rtl="0">
              <a:spcBef>
                <a:spcPts val="560"/>
              </a:spcBef>
              <a:spcAft>
                <a:spcPts val="0"/>
              </a:spcAft>
              <a:buSzPts val="2380"/>
              <a:buNone/>
            </a:pPr>
            <a:endParaRPr sz="2800"/>
          </a:p>
        </p:txBody>
      </p:sp>
      <p:pic>
        <p:nvPicPr>
          <p:cNvPr id="183" name="Google Shape;183;p9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title" idx="4294967295"/>
          </p:nvPr>
        </p:nvSpPr>
        <p:spPr>
          <a:xfrm>
            <a:off x="1366575" y="715975"/>
            <a:ext cx="92280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Definições e Notações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91" name="Google Shape;191;p10"/>
          <p:cNvSpPr txBox="1">
            <a:spLocks noGrp="1"/>
          </p:cNvSpPr>
          <p:nvPr>
            <p:ph type="body" idx="4294967295"/>
          </p:nvPr>
        </p:nvSpPr>
        <p:spPr>
          <a:xfrm>
            <a:off x="1331925" y="1768475"/>
            <a:ext cx="10208700" cy="3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Grafo G = (V, E)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V — conjunto de vértices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E — conjunto de arestas 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- cada aresta é um par de vértices (v, w), em que v, w ∈ V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- se o par for ordenado, chamamos a estrutura de digrafo, senão diz-se grafo.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- um vértice w é adjacente a um vértice v se e só se (v, w) ∈ E</a:t>
            </a:r>
            <a:endParaRPr sz="2800">
              <a:solidFill>
                <a:schemeClr val="dk1"/>
              </a:solidFill>
            </a:endParaRPr>
          </a:p>
          <a:p>
            <a:pPr marL="181856" marR="0" lvl="0" indent="-18185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●"/>
            </a:pPr>
            <a:r>
              <a:rPr lang="pt-PT" sz="2800">
                <a:solidFill>
                  <a:schemeClr val="dk1"/>
                </a:solidFill>
              </a:rPr>
              <a:t>- as arestas têm por vezes associado um custo ou peso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92" name="Google Shape;192;p10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425" y="5512174"/>
            <a:ext cx="1269999" cy="11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>
            <a:spLocks noGrp="1"/>
          </p:cNvSpPr>
          <p:nvPr>
            <p:ph type="title" idx="4294967295"/>
          </p:nvPr>
        </p:nvSpPr>
        <p:spPr>
          <a:xfrm>
            <a:off x="1720850" y="766775"/>
            <a:ext cx="8959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Exemplos 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2343574" y="373390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2956607" y="427028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259302" y="427028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259302" y="319752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956607" y="319752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948964" y="373390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646269" y="373390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3333367" y="3382706"/>
            <a:ext cx="9195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08" name="Google Shape;208;p11"/>
          <p:cNvSpPr/>
          <p:nvPr/>
        </p:nvSpPr>
        <p:spPr>
          <a:xfrm>
            <a:off x="3026850" y="3242225"/>
            <a:ext cx="2127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400"/>
          </a:p>
        </p:txBody>
      </p:sp>
      <p:sp>
        <p:nvSpPr>
          <p:cNvPr id="209" name="Google Shape;209;p11"/>
          <p:cNvSpPr/>
          <p:nvPr/>
        </p:nvSpPr>
        <p:spPr>
          <a:xfrm>
            <a:off x="4329545" y="3242225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400"/>
          </a:p>
        </p:txBody>
      </p:sp>
      <p:sp>
        <p:nvSpPr>
          <p:cNvPr id="210" name="Google Shape;210;p11"/>
          <p:cNvSpPr/>
          <p:nvPr/>
        </p:nvSpPr>
        <p:spPr>
          <a:xfrm>
            <a:off x="2413817" y="3778605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400"/>
          </a:p>
        </p:txBody>
      </p:sp>
      <p:sp>
        <p:nvSpPr>
          <p:cNvPr id="211" name="Google Shape;211;p11"/>
          <p:cNvSpPr/>
          <p:nvPr/>
        </p:nvSpPr>
        <p:spPr>
          <a:xfrm>
            <a:off x="3716512" y="3791376"/>
            <a:ext cx="2484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400"/>
          </a:p>
        </p:txBody>
      </p:sp>
      <p:sp>
        <p:nvSpPr>
          <p:cNvPr id="212" name="Google Shape;212;p11"/>
          <p:cNvSpPr/>
          <p:nvPr/>
        </p:nvSpPr>
        <p:spPr>
          <a:xfrm>
            <a:off x="5019207" y="3778605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400"/>
          </a:p>
        </p:txBody>
      </p:sp>
      <p:sp>
        <p:nvSpPr>
          <p:cNvPr id="213" name="Google Shape;213;p11"/>
          <p:cNvSpPr/>
          <p:nvPr/>
        </p:nvSpPr>
        <p:spPr>
          <a:xfrm>
            <a:off x="3026850" y="4314985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400"/>
          </a:p>
        </p:txBody>
      </p:sp>
      <p:sp>
        <p:nvSpPr>
          <p:cNvPr id="214" name="Google Shape;214;p11"/>
          <p:cNvSpPr/>
          <p:nvPr/>
        </p:nvSpPr>
        <p:spPr>
          <a:xfrm>
            <a:off x="4342317" y="4327756"/>
            <a:ext cx="240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400"/>
          </a:p>
        </p:txBody>
      </p:sp>
      <p:cxnSp>
        <p:nvCxnSpPr>
          <p:cNvPr id="215" name="Google Shape;215;p11"/>
          <p:cNvCxnSpPr/>
          <p:nvPr/>
        </p:nvCxnSpPr>
        <p:spPr>
          <a:xfrm flipH="1">
            <a:off x="2720250" y="3497644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6" name="Google Shape;216;p11"/>
          <p:cNvCxnSpPr/>
          <p:nvPr/>
        </p:nvCxnSpPr>
        <p:spPr>
          <a:xfrm flipH="1">
            <a:off x="3333283" y="4034024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7" name="Google Shape;217;p11"/>
          <p:cNvCxnSpPr/>
          <p:nvPr/>
        </p:nvCxnSpPr>
        <p:spPr>
          <a:xfrm flipH="1">
            <a:off x="3946316" y="3497644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8" name="Google Shape;218;p11"/>
          <p:cNvCxnSpPr/>
          <p:nvPr/>
        </p:nvCxnSpPr>
        <p:spPr>
          <a:xfrm flipH="1">
            <a:off x="4635978" y="4034024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19" name="Google Shape;219;p11"/>
          <p:cNvCxnSpPr/>
          <p:nvPr/>
        </p:nvCxnSpPr>
        <p:spPr>
          <a:xfrm>
            <a:off x="3333367" y="3497644"/>
            <a:ext cx="332100" cy="3321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0" name="Google Shape;220;p11"/>
          <p:cNvCxnSpPr/>
          <p:nvPr/>
        </p:nvCxnSpPr>
        <p:spPr>
          <a:xfrm>
            <a:off x="2720334" y="4034024"/>
            <a:ext cx="332100" cy="3321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1" name="Google Shape;221;p11"/>
          <p:cNvCxnSpPr/>
          <p:nvPr/>
        </p:nvCxnSpPr>
        <p:spPr>
          <a:xfrm>
            <a:off x="3946400" y="4110650"/>
            <a:ext cx="332100" cy="3321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2" name="Google Shape;222;p11"/>
          <p:cNvCxnSpPr/>
          <p:nvPr/>
        </p:nvCxnSpPr>
        <p:spPr>
          <a:xfrm>
            <a:off x="4636062" y="3497644"/>
            <a:ext cx="344700" cy="3447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3" name="Google Shape;223;p11"/>
          <p:cNvCxnSpPr/>
          <p:nvPr/>
        </p:nvCxnSpPr>
        <p:spPr>
          <a:xfrm rot="10800000">
            <a:off x="4048578" y="3944628"/>
            <a:ext cx="8940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4" name="Google Shape;224;p11"/>
          <p:cNvCxnSpPr/>
          <p:nvPr/>
        </p:nvCxnSpPr>
        <p:spPr>
          <a:xfrm rot="10800000">
            <a:off x="2733112" y="3931857"/>
            <a:ext cx="8940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25" name="Google Shape;225;p11"/>
          <p:cNvCxnSpPr/>
          <p:nvPr/>
        </p:nvCxnSpPr>
        <p:spPr>
          <a:xfrm rot="10800000">
            <a:off x="3358916" y="4481007"/>
            <a:ext cx="8940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6" name="Google Shape;226;p11"/>
          <p:cNvSpPr/>
          <p:nvPr/>
        </p:nvSpPr>
        <p:spPr>
          <a:xfrm>
            <a:off x="6847132" y="383926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460165" y="437564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762860" y="437564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8762860" y="330288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460165" y="330288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9452522" y="383926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149827" y="3839267"/>
            <a:ext cx="370500" cy="370500"/>
          </a:xfrm>
          <a:prstGeom prst="ellipse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950" tIns="45950" rIns="91950" bIns="459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233" name="Google Shape;233;p11"/>
          <p:cNvCxnSpPr/>
          <p:nvPr/>
        </p:nvCxnSpPr>
        <p:spPr>
          <a:xfrm>
            <a:off x="7836925" y="3488066"/>
            <a:ext cx="9195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4" name="Google Shape;234;p11"/>
          <p:cNvSpPr/>
          <p:nvPr/>
        </p:nvSpPr>
        <p:spPr>
          <a:xfrm>
            <a:off x="7530408" y="3347586"/>
            <a:ext cx="2127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400"/>
          </a:p>
        </p:txBody>
      </p:sp>
      <p:sp>
        <p:nvSpPr>
          <p:cNvPr id="235" name="Google Shape;235;p11"/>
          <p:cNvSpPr/>
          <p:nvPr/>
        </p:nvSpPr>
        <p:spPr>
          <a:xfrm>
            <a:off x="8833103" y="3347586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400"/>
          </a:p>
        </p:txBody>
      </p:sp>
      <p:sp>
        <p:nvSpPr>
          <p:cNvPr id="236" name="Google Shape;236;p11"/>
          <p:cNvSpPr/>
          <p:nvPr/>
        </p:nvSpPr>
        <p:spPr>
          <a:xfrm>
            <a:off x="6917375" y="3883966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400"/>
          </a:p>
        </p:txBody>
      </p:sp>
      <p:sp>
        <p:nvSpPr>
          <p:cNvPr id="237" name="Google Shape;237;p11"/>
          <p:cNvSpPr/>
          <p:nvPr/>
        </p:nvSpPr>
        <p:spPr>
          <a:xfrm>
            <a:off x="8220070" y="3896737"/>
            <a:ext cx="2484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400"/>
          </a:p>
        </p:txBody>
      </p:sp>
      <p:sp>
        <p:nvSpPr>
          <p:cNvPr id="238" name="Google Shape;238;p11"/>
          <p:cNvSpPr/>
          <p:nvPr/>
        </p:nvSpPr>
        <p:spPr>
          <a:xfrm>
            <a:off x="9522765" y="3883966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400"/>
          </a:p>
        </p:txBody>
      </p:sp>
      <p:sp>
        <p:nvSpPr>
          <p:cNvPr id="239" name="Google Shape;239;p11"/>
          <p:cNvSpPr/>
          <p:nvPr/>
        </p:nvSpPr>
        <p:spPr>
          <a:xfrm>
            <a:off x="7530408" y="4420345"/>
            <a:ext cx="243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400"/>
          </a:p>
        </p:txBody>
      </p:sp>
      <p:sp>
        <p:nvSpPr>
          <p:cNvPr id="240" name="Google Shape;240;p11"/>
          <p:cNvSpPr/>
          <p:nvPr/>
        </p:nvSpPr>
        <p:spPr>
          <a:xfrm>
            <a:off x="8845875" y="4433116"/>
            <a:ext cx="2403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400"/>
          </a:p>
        </p:txBody>
      </p:sp>
      <p:cxnSp>
        <p:nvCxnSpPr>
          <p:cNvPr id="241" name="Google Shape;241;p11"/>
          <p:cNvCxnSpPr/>
          <p:nvPr/>
        </p:nvCxnSpPr>
        <p:spPr>
          <a:xfrm flipH="1">
            <a:off x="7223808" y="3603005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p11"/>
          <p:cNvCxnSpPr/>
          <p:nvPr/>
        </p:nvCxnSpPr>
        <p:spPr>
          <a:xfrm flipH="1">
            <a:off x="7836841" y="4139385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" name="Google Shape;243;p11"/>
          <p:cNvCxnSpPr/>
          <p:nvPr/>
        </p:nvCxnSpPr>
        <p:spPr>
          <a:xfrm flipH="1">
            <a:off x="8449874" y="3603005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p11"/>
          <p:cNvCxnSpPr/>
          <p:nvPr/>
        </p:nvCxnSpPr>
        <p:spPr>
          <a:xfrm flipH="1">
            <a:off x="9139536" y="4139385"/>
            <a:ext cx="306600" cy="3066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5" name="Google Shape;245;p11"/>
          <p:cNvCxnSpPr/>
          <p:nvPr/>
        </p:nvCxnSpPr>
        <p:spPr>
          <a:xfrm>
            <a:off x="7836925" y="3603005"/>
            <a:ext cx="332100" cy="3321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6" name="Google Shape;246;p11"/>
          <p:cNvCxnSpPr/>
          <p:nvPr/>
        </p:nvCxnSpPr>
        <p:spPr>
          <a:xfrm>
            <a:off x="7223892" y="4139385"/>
            <a:ext cx="293700" cy="2811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7" name="Google Shape;247;p11"/>
          <p:cNvCxnSpPr/>
          <p:nvPr/>
        </p:nvCxnSpPr>
        <p:spPr>
          <a:xfrm>
            <a:off x="8449958" y="4216010"/>
            <a:ext cx="332100" cy="3321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8" name="Google Shape;248;p11"/>
          <p:cNvCxnSpPr/>
          <p:nvPr/>
        </p:nvCxnSpPr>
        <p:spPr>
          <a:xfrm>
            <a:off x="9139620" y="3603005"/>
            <a:ext cx="344700" cy="34470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9" name="Google Shape;249;p11"/>
          <p:cNvCxnSpPr/>
          <p:nvPr/>
        </p:nvCxnSpPr>
        <p:spPr>
          <a:xfrm rot="10800000">
            <a:off x="8552136" y="4049988"/>
            <a:ext cx="8940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0" name="Google Shape;250;p11"/>
          <p:cNvCxnSpPr/>
          <p:nvPr/>
        </p:nvCxnSpPr>
        <p:spPr>
          <a:xfrm rot="10800000">
            <a:off x="7236670" y="4037217"/>
            <a:ext cx="8940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51;p11"/>
          <p:cNvCxnSpPr/>
          <p:nvPr/>
        </p:nvCxnSpPr>
        <p:spPr>
          <a:xfrm rot="10800000">
            <a:off x="7862474" y="4586368"/>
            <a:ext cx="894000" cy="0"/>
          </a:xfrm>
          <a:prstGeom prst="straightConnector1">
            <a:avLst/>
          </a:pr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11"/>
          <p:cNvSpPr/>
          <p:nvPr/>
        </p:nvSpPr>
        <p:spPr>
          <a:xfrm>
            <a:off x="2452132" y="4736426"/>
            <a:ext cx="24744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G1= (Cruzamentos, Ruas)</a:t>
            </a:r>
            <a:endParaRPr sz="1400"/>
          </a:p>
        </p:txBody>
      </p:sp>
      <p:sp>
        <p:nvSpPr>
          <p:cNvPr id="253" name="Google Shape;253;p11"/>
          <p:cNvSpPr/>
          <p:nvPr/>
        </p:nvSpPr>
        <p:spPr>
          <a:xfrm>
            <a:off x="7198349" y="4790703"/>
            <a:ext cx="23988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850" tIns="25550" rIns="63850" bIns="25550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 = (Cidades, Estradas)</a:t>
            </a:r>
            <a:endParaRPr sz="1400"/>
          </a:p>
        </p:txBody>
      </p:sp>
      <p:sp>
        <p:nvSpPr>
          <p:cNvPr id="254" name="Google Shape;254;p11"/>
          <p:cNvSpPr txBox="1"/>
          <p:nvPr/>
        </p:nvSpPr>
        <p:spPr>
          <a:xfrm>
            <a:off x="2551082" y="2072075"/>
            <a:ext cx="24744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50" tIns="45950" rIns="91950" bIns="459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Digrafo</a:t>
            </a:r>
            <a:endParaRPr sz="2000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8108971" y="2072087"/>
            <a:ext cx="8226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50" tIns="45950" rIns="91950" bIns="459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Grafo </a:t>
            </a:r>
            <a:endParaRPr sz="1400"/>
          </a:p>
        </p:txBody>
      </p:sp>
      <p:pic>
        <p:nvPicPr>
          <p:cNvPr id="256" name="Google Shape;256;p1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1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3035" y="11128"/>
            <a:ext cx="1269999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 txBox="1">
            <a:spLocks noGrp="1"/>
          </p:cNvSpPr>
          <p:nvPr>
            <p:ph type="title" idx="4294967295"/>
          </p:nvPr>
        </p:nvSpPr>
        <p:spPr>
          <a:xfrm>
            <a:off x="712000" y="777875"/>
            <a:ext cx="106998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Problema do caminho mais curto </a:t>
            </a:r>
            <a:endParaRPr sz="660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711988" y="2572163"/>
            <a:ext cx="10699800" cy="679200"/>
          </a:xfrm>
          <a:prstGeom prst="rect">
            <a:avLst/>
          </a:prstGeom>
          <a:solidFill>
            <a:schemeClr val="lt1"/>
          </a:solidFill>
          <a:ln w="126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lt2"/>
            </a:outerShdw>
          </a:effectLst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381000" marR="0" lvl="0" indent="-3810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Dado um digrafo ponderado </a:t>
            </a:r>
            <a:r>
              <a:rPr lang="pt-PT" sz="2400" b="1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 = (V, E)</a:t>
            </a:r>
            <a:r>
              <a:rPr lang="pt-P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 um vértice </a:t>
            </a:r>
            <a:r>
              <a:rPr lang="pt-PT" sz="2400" b="1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r>
              <a:rPr lang="pt-P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obter o caminho ponderado mais curto de </a:t>
            </a:r>
            <a:r>
              <a:rPr lang="pt-PT" sz="2400" b="1" i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r>
              <a:rPr lang="pt-PT"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para cada um dos outros vértices em G</a:t>
            </a:r>
            <a:endParaRPr/>
          </a:p>
        </p:txBody>
      </p:sp>
      <p:pic>
        <p:nvPicPr>
          <p:cNvPr id="265" name="Google Shape;265;p12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6123" y="4917224"/>
            <a:ext cx="1912301" cy="177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2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0075" y="11125"/>
            <a:ext cx="1202950" cy="119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>
            <a:spLocks noGrp="1"/>
          </p:cNvSpPr>
          <p:nvPr>
            <p:ph type="title" idx="4294967295"/>
          </p:nvPr>
        </p:nvSpPr>
        <p:spPr>
          <a:xfrm>
            <a:off x="256224" y="1155651"/>
            <a:ext cx="1130531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Aharoni"/>
              <a:buNone/>
            </a:pPr>
            <a:r>
              <a:rPr lang="pt-PT" sz="6600" dirty="0">
                <a:solidFill>
                  <a:srgbClr val="143C64"/>
                </a:solidFill>
                <a:latin typeface="Aharoni"/>
                <a:ea typeface="Aharoni"/>
                <a:cs typeface="Aharoni"/>
                <a:sym typeface="Aharoni"/>
              </a:rPr>
              <a:t>Problema do caminho mais curto </a:t>
            </a:r>
            <a:endParaRPr sz="6600" dirty="0">
              <a:solidFill>
                <a:srgbClr val="143C64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799100" y="1358325"/>
            <a:ext cx="10380300" cy="13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1856" marR="0" lvl="0" indent="-156456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●"/>
            </a:pPr>
            <a:r>
              <a:rPr lang="pt-PT" sz="2400">
                <a:solidFill>
                  <a:schemeClr val="dk1"/>
                </a:solidFill>
              </a:rPr>
              <a:t>Para encontrar o caminho mais curto entre dois vértices s e t, não se conhece um algoritmo melhor do que começar por encontrar o melhor caminho entre s  e todos os outros vértices do digrafo.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199387" y="2944247"/>
            <a:ext cx="429300" cy="396600"/>
          </a:xfrm>
          <a:prstGeom prst="ellipse">
            <a:avLst/>
          </a:prstGeom>
          <a:noFill/>
          <a:ln w="89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v1</a:t>
            </a:r>
            <a:endParaRPr sz="1314"/>
          </a:p>
        </p:txBody>
      </p:sp>
      <p:sp>
        <p:nvSpPr>
          <p:cNvPr id="275" name="Google Shape;275;p13"/>
          <p:cNvSpPr/>
          <p:nvPr/>
        </p:nvSpPr>
        <p:spPr>
          <a:xfrm>
            <a:off x="6415713" y="2944247"/>
            <a:ext cx="429300" cy="396600"/>
          </a:xfrm>
          <a:prstGeom prst="ellipse">
            <a:avLst/>
          </a:prstGeom>
          <a:noFill/>
          <a:ln w="119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v2</a:t>
            </a:r>
            <a:endParaRPr sz="1314"/>
          </a:p>
        </p:txBody>
      </p:sp>
      <p:sp>
        <p:nvSpPr>
          <p:cNvPr id="276" name="Google Shape;276;p13"/>
          <p:cNvSpPr/>
          <p:nvPr/>
        </p:nvSpPr>
        <p:spPr>
          <a:xfrm>
            <a:off x="4555450" y="3604879"/>
            <a:ext cx="429300" cy="396600"/>
          </a:xfrm>
          <a:prstGeom prst="ellipse">
            <a:avLst/>
          </a:prstGeom>
          <a:noFill/>
          <a:ln w="119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v3</a:t>
            </a:r>
            <a:endParaRPr sz="1314"/>
          </a:p>
        </p:txBody>
      </p:sp>
      <p:sp>
        <p:nvSpPr>
          <p:cNvPr id="277" name="Google Shape;277;p13"/>
          <p:cNvSpPr/>
          <p:nvPr/>
        </p:nvSpPr>
        <p:spPr>
          <a:xfrm>
            <a:off x="5771776" y="3670942"/>
            <a:ext cx="429300" cy="396600"/>
          </a:xfrm>
          <a:prstGeom prst="ellipse">
            <a:avLst/>
          </a:prstGeom>
          <a:noFill/>
          <a:ln w="119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v4</a:t>
            </a:r>
            <a:endParaRPr sz="1314"/>
          </a:p>
        </p:txBody>
      </p:sp>
      <p:sp>
        <p:nvSpPr>
          <p:cNvPr id="278" name="Google Shape;278;p13"/>
          <p:cNvSpPr/>
          <p:nvPr/>
        </p:nvSpPr>
        <p:spPr>
          <a:xfrm>
            <a:off x="7059650" y="3670942"/>
            <a:ext cx="429300" cy="396600"/>
          </a:xfrm>
          <a:prstGeom prst="ellipse">
            <a:avLst/>
          </a:prstGeom>
          <a:noFill/>
          <a:ln w="119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v5</a:t>
            </a:r>
            <a:endParaRPr sz="1314"/>
          </a:p>
        </p:txBody>
      </p:sp>
      <p:sp>
        <p:nvSpPr>
          <p:cNvPr id="279" name="Google Shape;279;p13"/>
          <p:cNvSpPr/>
          <p:nvPr/>
        </p:nvSpPr>
        <p:spPr>
          <a:xfrm>
            <a:off x="5199387" y="4265511"/>
            <a:ext cx="429300" cy="396600"/>
          </a:xfrm>
          <a:prstGeom prst="ellipse">
            <a:avLst/>
          </a:prstGeom>
          <a:noFill/>
          <a:ln w="119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v6</a:t>
            </a:r>
            <a:endParaRPr sz="1314"/>
          </a:p>
        </p:txBody>
      </p:sp>
      <p:sp>
        <p:nvSpPr>
          <p:cNvPr id="280" name="Google Shape;280;p13"/>
          <p:cNvSpPr/>
          <p:nvPr/>
        </p:nvSpPr>
        <p:spPr>
          <a:xfrm>
            <a:off x="6415713" y="4265511"/>
            <a:ext cx="429300" cy="396600"/>
          </a:xfrm>
          <a:prstGeom prst="ellipse">
            <a:avLst/>
          </a:prstGeom>
          <a:noFill/>
          <a:ln w="119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850" tIns="42900" rIns="85850" bIns="4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9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v7</a:t>
            </a:r>
            <a:endParaRPr sz="1314"/>
          </a:p>
        </p:txBody>
      </p:sp>
      <p:cxnSp>
        <p:nvCxnSpPr>
          <p:cNvPr id="281" name="Google Shape;281;p13"/>
          <p:cNvCxnSpPr/>
          <p:nvPr/>
        </p:nvCxnSpPr>
        <p:spPr>
          <a:xfrm rot="10800000" flipH="1">
            <a:off x="4841644" y="3274879"/>
            <a:ext cx="357600" cy="33000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2" name="Google Shape;282;p13"/>
          <p:cNvCxnSpPr/>
          <p:nvPr/>
        </p:nvCxnSpPr>
        <p:spPr>
          <a:xfrm>
            <a:off x="5627188" y="3074998"/>
            <a:ext cx="786900" cy="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" name="Google Shape;283;p13"/>
          <p:cNvCxnSpPr/>
          <p:nvPr/>
        </p:nvCxnSpPr>
        <p:spPr>
          <a:xfrm>
            <a:off x="6773456" y="3274563"/>
            <a:ext cx="429300" cy="39660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4" name="Google Shape;284;p13"/>
          <p:cNvCxnSpPr/>
          <p:nvPr/>
        </p:nvCxnSpPr>
        <p:spPr>
          <a:xfrm>
            <a:off x="5485581" y="3340626"/>
            <a:ext cx="429300" cy="396600"/>
          </a:xfrm>
          <a:prstGeom prst="straightConnector1">
            <a:avLst/>
          </a:prstGeom>
          <a:noFill/>
          <a:ln w="11925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5" name="Google Shape;285;p13"/>
          <p:cNvCxnSpPr/>
          <p:nvPr/>
        </p:nvCxnSpPr>
        <p:spPr>
          <a:xfrm flipH="1">
            <a:off x="6129510" y="3340626"/>
            <a:ext cx="429300" cy="39660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" name="Google Shape;286;p13"/>
          <p:cNvCxnSpPr/>
          <p:nvPr/>
        </p:nvCxnSpPr>
        <p:spPr>
          <a:xfrm>
            <a:off x="6201067" y="3869132"/>
            <a:ext cx="858600" cy="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p13"/>
          <p:cNvCxnSpPr/>
          <p:nvPr/>
        </p:nvCxnSpPr>
        <p:spPr>
          <a:xfrm flipH="1">
            <a:off x="5557124" y="4001258"/>
            <a:ext cx="286200" cy="26430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8" name="Google Shape;288;p13"/>
          <p:cNvCxnSpPr/>
          <p:nvPr/>
        </p:nvCxnSpPr>
        <p:spPr>
          <a:xfrm>
            <a:off x="6129519" y="4001258"/>
            <a:ext cx="357600" cy="330000"/>
          </a:xfrm>
          <a:prstGeom prst="straightConnector1">
            <a:avLst/>
          </a:prstGeom>
          <a:noFill/>
          <a:ln w="11925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p13"/>
          <p:cNvCxnSpPr/>
          <p:nvPr/>
        </p:nvCxnSpPr>
        <p:spPr>
          <a:xfrm>
            <a:off x="4770096" y="4001258"/>
            <a:ext cx="429300" cy="39660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p13"/>
          <p:cNvCxnSpPr/>
          <p:nvPr/>
        </p:nvCxnSpPr>
        <p:spPr>
          <a:xfrm rot="10800000">
            <a:off x="5628813" y="4529764"/>
            <a:ext cx="786900" cy="0"/>
          </a:xfrm>
          <a:prstGeom prst="straightConnector1">
            <a:avLst/>
          </a:prstGeom>
          <a:noFill/>
          <a:ln w="11925" cap="flat" cmpd="sng">
            <a:solidFill>
              <a:srgbClr val="FFC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1" name="Google Shape;291;p13"/>
          <p:cNvCxnSpPr/>
          <p:nvPr/>
        </p:nvCxnSpPr>
        <p:spPr>
          <a:xfrm flipH="1">
            <a:off x="6845147" y="4067322"/>
            <a:ext cx="357600" cy="33000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2" name="Google Shape;292;p13"/>
          <p:cNvCxnSpPr/>
          <p:nvPr/>
        </p:nvCxnSpPr>
        <p:spPr>
          <a:xfrm rot="10800000">
            <a:off x="4984876" y="3869132"/>
            <a:ext cx="786900" cy="0"/>
          </a:xfrm>
          <a:prstGeom prst="straightConnector1">
            <a:avLst/>
          </a:prstGeom>
          <a:noFill/>
          <a:ln w="119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3" name="Google Shape;293;p13"/>
          <p:cNvSpPr txBox="1"/>
          <p:nvPr/>
        </p:nvSpPr>
        <p:spPr>
          <a:xfrm>
            <a:off x="4683641" y="3109405"/>
            <a:ext cx="2847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5843324" y="2812121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6988102" y="3208500"/>
            <a:ext cx="3585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7059650" y="4133385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5843324" y="4449938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4698547" y="4133385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5628679" y="3208500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6344164" y="3406690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6558810" y="3803069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6057970" y="4067322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5414033" y="3935195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5270936" y="3604879"/>
            <a:ext cx="280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2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877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4956420" y="2762573"/>
            <a:ext cx="335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7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endParaRPr sz="1314"/>
          </a:p>
        </p:txBody>
      </p:sp>
      <p:sp>
        <p:nvSpPr>
          <p:cNvPr id="306" name="Google Shape;306;p13"/>
          <p:cNvSpPr txBox="1"/>
          <p:nvPr/>
        </p:nvSpPr>
        <p:spPr>
          <a:xfrm>
            <a:off x="5078648" y="4546280"/>
            <a:ext cx="335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850" tIns="42900" rIns="85850" bIns="42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77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sz="1314"/>
          </a:p>
        </p:txBody>
      </p:sp>
      <p:sp>
        <p:nvSpPr>
          <p:cNvPr id="307" name="Google Shape;307;p13"/>
          <p:cNvSpPr txBox="1"/>
          <p:nvPr/>
        </p:nvSpPr>
        <p:spPr>
          <a:xfrm>
            <a:off x="947725" y="4900050"/>
            <a:ext cx="10380300" cy="9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1856" marR="0" lvl="0" indent="-162806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Char char="●"/>
            </a:pPr>
            <a:r>
              <a:rPr lang="pt-PT" sz="2500">
                <a:solidFill>
                  <a:schemeClr val="dk1"/>
                </a:solidFill>
              </a:rPr>
              <a:t>Um grafo simples pode ser tratado como um grafo com arestas simétricas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6508750" y="5948425"/>
            <a:ext cx="457200" cy="4572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v3</a:t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7804150" y="6008746"/>
            <a:ext cx="457200" cy="4572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v4</a:t>
            </a:r>
            <a:endParaRPr/>
          </a:p>
        </p:txBody>
      </p:sp>
      <p:cxnSp>
        <p:nvCxnSpPr>
          <p:cNvPr id="310" name="Google Shape;310;p13"/>
          <p:cNvCxnSpPr/>
          <p:nvPr/>
        </p:nvCxnSpPr>
        <p:spPr>
          <a:xfrm rot="10800000">
            <a:off x="6965950" y="6269080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1" name="Google Shape;311;p13"/>
          <p:cNvCxnSpPr/>
          <p:nvPr/>
        </p:nvCxnSpPr>
        <p:spPr>
          <a:xfrm>
            <a:off x="6954838" y="6121452"/>
            <a:ext cx="874800" cy="15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2" name="Google Shape;312;p13"/>
          <p:cNvSpPr/>
          <p:nvPr/>
        </p:nvSpPr>
        <p:spPr>
          <a:xfrm>
            <a:off x="3097225" y="5951970"/>
            <a:ext cx="457200" cy="5139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v3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392625" y="5948401"/>
            <a:ext cx="457200" cy="513900"/>
          </a:xfrm>
          <a:prstGeom prst="ellipse">
            <a:avLst/>
          </a:prstGeom>
          <a:noFill/>
          <a:ln w="126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v4</a:t>
            </a:r>
            <a:endParaRPr/>
          </a:p>
        </p:txBody>
      </p:sp>
      <p:cxnSp>
        <p:nvCxnSpPr>
          <p:cNvPr id="314" name="Google Shape;314;p13"/>
          <p:cNvCxnSpPr/>
          <p:nvPr/>
        </p:nvCxnSpPr>
        <p:spPr>
          <a:xfrm rot="10800000">
            <a:off x="3554413" y="6121953"/>
            <a:ext cx="838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8011"/>
      </a:dk2>
      <a:lt2>
        <a:srgbClr val="DD0806"/>
      </a:lt2>
      <a:accent1>
        <a:srgbClr val="0000D4"/>
      </a:accent1>
      <a:accent2>
        <a:srgbClr val="02ABEA"/>
      </a:accent2>
      <a:accent3>
        <a:srgbClr val="FFFFFF"/>
      </a:accent3>
      <a:accent4>
        <a:srgbClr val="000000"/>
      </a:accent4>
      <a:accent5>
        <a:srgbClr val="AAAAE6"/>
      </a:accent5>
      <a:accent6>
        <a:srgbClr val="029BD4"/>
      </a:accent6>
      <a:hlink>
        <a:srgbClr val="F20884"/>
      </a:hlink>
      <a:folHlink>
        <a:srgbClr val="FCF30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Macintosh PowerPoint</Application>
  <PresentationFormat>Personalizar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Aharoni</vt:lpstr>
      <vt:lpstr>Quattrocento Sans</vt:lpstr>
      <vt:lpstr>Times New Roman</vt:lpstr>
      <vt:lpstr>Simple Light</vt:lpstr>
      <vt:lpstr>PROBLEMA DO CAMINHO MAIS CURTO -  ALGORITMO DE DIJKSTRA</vt:lpstr>
      <vt:lpstr>Definição do Problema</vt:lpstr>
      <vt:lpstr>Aplicações</vt:lpstr>
      <vt:lpstr>Modelagem do Problema</vt:lpstr>
      <vt:lpstr>Problema do caminho mais curto – Modelagem </vt:lpstr>
      <vt:lpstr>Propriedade dos Caminhos Mínimos</vt:lpstr>
      <vt:lpstr>Propriedade das Subestruturas Ótimas dos Caminhos Mínimos</vt:lpstr>
      <vt:lpstr>Algoritmo de Dijkstra</vt:lpstr>
      <vt:lpstr>Apresentação do PowerPoint</vt:lpstr>
      <vt:lpstr>Definições e Notações</vt:lpstr>
      <vt:lpstr>Exemplos </vt:lpstr>
      <vt:lpstr>Problema do caminho mais curto </vt:lpstr>
      <vt:lpstr>Problema do caminho mais curto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DO CAMINHO MAIS CURTO -  ALGORITMO DE DIJKSTRA</dc:title>
  <dc:creator>Gabriel David</dc:creator>
  <cp:lastModifiedBy>Microsoft Office User</cp:lastModifiedBy>
  <cp:revision>1</cp:revision>
  <dcterms:created xsi:type="dcterms:W3CDTF">1996-09-05T15:01:52Z</dcterms:created>
  <dcterms:modified xsi:type="dcterms:W3CDTF">2026-06-22T23:08:39Z</dcterms:modified>
</cp:coreProperties>
</file>