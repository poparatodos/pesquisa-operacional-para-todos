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4" r:id="rId14"/>
    <p:sldId id="273" r:id="rId15"/>
    <p:sldId id="272" r:id="rId16"/>
    <p:sldId id="275" r:id="rId17"/>
    <p:sldId id="276" r:id="rId18"/>
    <p:sldId id="277" r:id="rId19"/>
    <p:sldId id="278" r:id="rId20"/>
    <p:sldId id="279" r:id="rId21"/>
    <p:sldId id="281" r:id="rId22"/>
    <p:sldId id="283" r:id="rId23"/>
    <p:sldId id="280" r:id="rId24"/>
    <p:sldId id="284" r:id="rId25"/>
    <p:sldId id="285" r:id="rId26"/>
    <p:sldId id="286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-898" y="-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FFBFB2A-5E1C-46F2-B9BD-783E55FDB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607D8F8-4FA2-4695-9AE5-7DC75F0CD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828D71D5-C744-4C74-9310-A5F5909D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4CC58C9-07AA-4A93-86A1-DC8F0192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9541D70-4F12-45E0-8568-7472143D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92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BCB705-EF34-4750-B1E3-75E1E526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5D2AA00-5346-44AC-A03C-7C5EBB597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378CEE84-56B7-4297-A994-789E4527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F110B2E-AB5F-4691-85C3-6467AD2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DCEE9AB-B543-446B-9728-8593B075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58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96B924D-A525-4105-9A8B-35291BEF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CD93F41-BB23-4EA5-A50A-0842FA704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8653101C-7398-4707-8ADE-FFA5DFD3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94A0B68-5830-463D-9D32-AEAD9008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DBD1C22-58A4-4CD9-9085-7A4AAA12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56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A3EF996-F8A6-4BFB-81D7-86395208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E62E99D-4C75-472E-9235-6EB5671B8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9477A2C7-CB75-41B4-85C1-05647CD2E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64D35DEE-369C-454E-A7B9-2AC1E99D8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39F8E054-6E57-42D0-9EF1-B60681BA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1A12A58F-F4F6-49AA-A952-4706672E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17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886A270-66D2-4218-889C-F6B447D9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413D3F40-2106-45DF-8AF2-4A11EBA6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75B202E-2E40-499E-90FE-E5258A301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D52D2D9B-9504-4960-ABA9-360AAD043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441703D-ADDF-42BA-81AC-DB3FB212C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8862E670-D25F-4C49-A647-BCFE37F8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BF80AEAD-A0A3-4336-A0E9-96A742E0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7E2132AC-7781-4C69-AE90-DFFDBEF4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08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866D306-F591-4C87-8F68-B4BE3F85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91DF3392-13E7-4993-9A67-5803B37B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AA464598-E4D5-4A5F-83E6-91F66B8C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B7C5BDC-14C1-4090-84F9-9DB39BAD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25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E73F96DC-D424-4479-9053-C3F8519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D119BB98-8FEB-41BC-8D0F-2C6FD1F9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E907735F-BF4D-4606-B465-91A74DB8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31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D4F057-5369-4074-8ED6-7B974D45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0139807-D5FB-4CA3-8901-6B1F71849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10E8F12A-3B5A-4D0B-A7D0-760FC88A4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63C4C279-0E5B-4F11-BA2B-6D4FAA4B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F47EE97E-2548-471C-9F46-C6088122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62B97E2D-4A4F-4A35-B1C7-584D7DCB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826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9F6CE25-67E5-4F22-AF33-48BD62EC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0E2F7B14-773D-4096-98E5-4204E3BBD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2B6DC109-37E1-45B4-BCBE-0FCCE8C10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DDE5FBB-FC74-4C75-B56D-E128C94E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8202196D-2CB0-42F4-86E9-31D7A240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28A7F8E3-A5A9-47C0-88FD-4D07A544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20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C30A70-461A-4FCC-BB55-04671C4E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6AC3DA75-06C8-4F05-88CB-F70F93D8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14CB769-D66D-4E3D-932F-58E2D8D1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DB0A30F-68C4-46AD-86A3-AD27A84B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9098091E-E679-4A12-B032-E471C65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04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9D1808D8-C2A1-410F-AA37-A02DD6351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C27BF91D-D7BE-45AB-AE53-E2AB97F5C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DACEA7C6-16EB-4FC5-9B0E-83120625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7ED73C36-6C4F-49F5-86EE-D2F0D1F6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0BA3A95-E624-4E7E-B396-5C1A6D16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13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142C7C92-9FB3-40B7-B409-2E365C7A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89D43DDE-866D-4B31-A9BF-26C4C60D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659A7B5-ECD2-4EB2-8A0D-ADFF4327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C65E-2F4D-4D63-83E6-6A067FF1CF1A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57D2F8A-C59C-4091-93BB-1B1769038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CF780D3-7D29-4216-B00A-FAF3DF80F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2910A-476F-43EB-AF08-DC6EC53679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95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mp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xmlns="" id="{E1FD2ACF-813F-41E0-B4F0-C4294B221D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-26895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299EEFC-3CF6-B4B4-537B-F78AEC15B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Tabela Simplex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06436EA4-6650-702D-7E7D-FA24DC8FD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6850"/>
            <a:ext cx="9144000" cy="1655762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Profª </a:t>
            </a:r>
            <a:r>
              <a:rPr lang="en-US" sz="2400" b="1" dirty="0" smtClean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Dra. Andréa </a:t>
            </a:r>
            <a:r>
              <a:rPr lang="en-US" sz="2400" b="1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Bonifácio</a:t>
            </a:r>
          </a:p>
          <a:p>
            <a:pPr algn="l"/>
            <a:r>
              <a:rPr lang="en-US" sz="2400" b="1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C45EB20E-219A-FEE3-7050-9CD6BE3F56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6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AD5CCC-5088-4018-2EED-07148B70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DAAE0E5-058C-7075-7C2A-EBE1B016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5EDF3-4B43-F079-6F0A-566FF3FE5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264823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Método</a:t>
            </a:r>
            <a:r>
              <a:rPr lang="pt-BR" dirty="0"/>
              <a:t> </a:t>
            </a:r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simplex em tabelas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233B42A-F23F-C932-196E-C22416C05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sz="2400" dirty="0">
                <a:latin typeface="Hagrid Text"/>
                <a:ea typeface="Hagrid Text"/>
                <a:cs typeface="Calibri" panose="020F0502020204030204" pitchFamily="34" charset="0"/>
                <a:sym typeface="Hagrid Text"/>
              </a:rPr>
              <a:t>Vamos desenvolver o método simplex para um PPL na forma: </a:t>
            </a:r>
          </a:p>
          <a:p>
            <a:pPr marL="0" indent="0" algn="ctr">
              <a:buNone/>
            </a:pPr>
            <a:r>
              <a:rPr lang="pt-BR" sz="2400" dirty="0">
                <a:latin typeface="Hagrid Text"/>
              </a:rPr>
              <a:t>Max z = </a:t>
            </a:r>
            <a:r>
              <a:rPr lang="pt-BR" sz="2400" dirty="0" err="1">
                <a:latin typeface="Hagrid Text"/>
              </a:rPr>
              <a:t>c</a:t>
            </a:r>
            <a:r>
              <a:rPr lang="pt-BR" sz="2400" baseline="30000" dirty="0" err="1">
                <a:latin typeface="Hagrid Text"/>
              </a:rPr>
              <a:t>T</a:t>
            </a:r>
            <a:r>
              <a:rPr lang="pt-BR" sz="2400" dirty="0" err="1">
                <a:latin typeface="Hagrid Text"/>
              </a:rPr>
              <a:t>x</a:t>
            </a:r>
            <a:endParaRPr lang="pt-BR" sz="2400" dirty="0">
              <a:latin typeface="Hagrid Text"/>
            </a:endParaRPr>
          </a:p>
          <a:p>
            <a:pPr marL="0" indent="0" algn="ctr">
              <a:buNone/>
            </a:pPr>
            <a:r>
              <a:rPr lang="pt-BR" sz="2400" dirty="0">
                <a:latin typeface="Hagrid Text"/>
              </a:rPr>
              <a:t>s. a.</a:t>
            </a:r>
          </a:p>
          <a:p>
            <a:pPr marL="0" indent="0" algn="ctr">
              <a:buNone/>
            </a:pPr>
            <a:r>
              <a:rPr lang="pt-BR" sz="2400" dirty="0" err="1">
                <a:latin typeface="Hagrid Text"/>
              </a:rPr>
              <a:t>Ax</a:t>
            </a:r>
            <a:r>
              <a:rPr lang="pt-BR" sz="2400" dirty="0">
                <a:latin typeface="Hagrid Text"/>
              </a:rPr>
              <a:t> </a:t>
            </a:r>
            <a:r>
              <a:rPr lang="pt-BR" sz="2400" dirty="0">
                <a:latin typeface="Hagrid Text"/>
                <a:sym typeface="Symbol"/>
              </a:rPr>
              <a:t>=</a:t>
            </a:r>
            <a:r>
              <a:rPr lang="pt-BR" sz="2400" dirty="0">
                <a:latin typeface="Hagrid Text"/>
              </a:rPr>
              <a:t> b</a:t>
            </a:r>
          </a:p>
          <a:p>
            <a:pPr marL="0" indent="0" algn="ctr">
              <a:buNone/>
            </a:pPr>
            <a:r>
              <a:rPr lang="pt-BR" sz="2400" dirty="0">
                <a:latin typeface="Hagrid Text"/>
              </a:rPr>
              <a:t>x </a:t>
            </a:r>
            <a:r>
              <a:rPr lang="pt-BR" sz="2400" dirty="0">
                <a:latin typeface="Hagrid Text"/>
                <a:sym typeface="Symbol"/>
              </a:rPr>
              <a:t> 0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B9D5058B-9A00-4E5F-69BB-49E37CC73E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5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AD5CCC-5088-4018-2EED-07148B70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DAAE0E5-058C-7075-7C2A-EBE1B016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5EDF3-4B43-F079-6F0A-566FF3FE5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Observação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233B42A-F23F-C932-196E-C22416C05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Na resolução gráfica de um PPL pudemos intuir que para encontrar uma solução ótima, podemos procurar entre os vértices </a:t>
            </a:r>
            <a:r>
              <a:rPr lang="pt-BR" b="1" dirty="0">
                <a:latin typeface="Hagrid Text"/>
              </a:rPr>
              <a:t>(soluções em pontos extremos) </a:t>
            </a:r>
            <a:r>
              <a:rPr lang="pt-BR" dirty="0">
                <a:latin typeface="Hagrid Text"/>
              </a:rPr>
              <a:t>da região de soluções viáveis.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B9D5058B-9A00-4E5F-69BB-49E37CC73E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3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AD5CCC-5088-4018-2EED-07148B70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DAAE0E5-058C-7075-7C2A-EBE1B016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9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5EDF3-4B43-F079-6F0A-566FF3FE5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9358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Estrutura do Simplex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233B42A-F23F-C932-196E-C22416C05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788910"/>
            <a:ext cx="9144000" cy="2786760"/>
          </a:xfrm>
        </p:spPr>
        <p:txBody>
          <a:bodyPr numCol="2">
            <a:normAutofit/>
          </a:bodyPr>
          <a:lstStyle/>
          <a:p>
            <a:endParaRPr lang="pt-BR" b="1" dirty="0">
              <a:latin typeface="Hagrid Text"/>
              <a:cs typeface="Segoe UI Semibold" panose="020B0702040204020203" pitchFamily="34" charset="0"/>
            </a:endParaRPr>
          </a:p>
          <a:p>
            <a:r>
              <a:rPr lang="pt-BR" b="1" dirty="0">
                <a:latin typeface="Hagrid Text"/>
                <a:cs typeface="Segoe UI Semibold" panose="020B0702040204020203" pitchFamily="34" charset="0"/>
              </a:rPr>
              <a:t>Caso negativo</a:t>
            </a:r>
          </a:p>
          <a:p>
            <a:endParaRPr lang="pt-BR" b="1" dirty="0">
              <a:latin typeface="Hagrid Text"/>
              <a:cs typeface="Segoe UI Semibold" panose="020B0702040204020203" pitchFamily="34" charset="0"/>
            </a:endParaRPr>
          </a:p>
          <a:p>
            <a:r>
              <a:rPr lang="pt-BR" b="1" dirty="0">
                <a:latin typeface="Hagrid Text"/>
                <a:cs typeface="Segoe UI Semibold" panose="020B0702040204020203" pitchFamily="34" charset="0"/>
              </a:rPr>
              <a:t>Iteração: </a:t>
            </a:r>
            <a:r>
              <a:rPr lang="pt-BR" dirty="0">
                <a:latin typeface="Hagrid Text"/>
                <a:cs typeface="Segoe UI Semibold" panose="020B0702040204020203" pitchFamily="34" charset="0"/>
              </a:rPr>
              <a:t>Execute uma iteração </a:t>
            </a:r>
          </a:p>
          <a:p>
            <a:r>
              <a:rPr lang="pt-BR" dirty="0">
                <a:latin typeface="Hagrid Text"/>
                <a:cs typeface="Segoe UI Semibold" panose="020B0702040204020203" pitchFamily="34" charset="0"/>
              </a:rPr>
              <a:t>para encontrar um vértice melhor.</a:t>
            </a:r>
            <a:endParaRPr lang="pt-BR" b="1" dirty="0">
              <a:latin typeface="Hagrid Text"/>
              <a:cs typeface="Segoe UI Semibold" panose="020B0702040204020203" pitchFamily="34" charset="0"/>
            </a:endParaRPr>
          </a:p>
          <a:p>
            <a:endParaRPr lang="pt-BR" b="1" dirty="0">
              <a:latin typeface="Hagrid Text"/>
              <a:cs typeface="Segoe UI Semibold" panose="020B0702040204020203" pitchFamily="34" charset="0"/>
            </a:endParaRPr>
          </a:p>
          <a:p>
            <a:r>
              <a:rPr lang="pt-BR" b="1" dirty="0" smtClean="0">
                <a:latin typeface="Hagrid Text"/>
                <a:cs typeface="Segoe UI Semibold" panose="020B0702040204020203" pitchFamily="34" charset="0"/>
              </a:rPr>
              <a:t>Caso </a:t>
            </a:r>
            <a:r>
              <a:rPr lang="pt-BR" b="1" dirty="0">
                <a:latin typeface="Hagrid Text"/>
                <a:cs typeface="Segoe UI Semibold" panose="020B0702040204020203" pitchFamily="34" charset="0"/>
              </a:rPr>
              <a:t>Positivo</a:t>
            </a:r>
          </a:p>
          <a:p>
            <a:endParaRPr lang="pt-BR" b="1" dirty="0">
              <a:latin typeface="Hagrid Text"/>
              <a:cs typeface="Segoe UI Semibold" panose="020B0702040204020203" pitchFamily="34" charset="0"/>
            </a:endParaRPr>
          </a:p>
          <a:p>
            <a:r>
              <a:rPr lang="pt-BR" b="1" dirty="0">
                <a:latin typeface="Hagrid Text"/>
                <a:cs typeface="Segoe UI Semibold" panose="020B0702040204020203" pitchFamily="34" charset="0"/>
              </a:rPr>
              <a:t>Pare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B9D5058B-9A00-4E5F-69BB-49E37CC73E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44" name="Subtítulo 2">
            <a:extLst>
              <a:ext uri="{FF2B5EF4-FFF2-40B4-BE49-F238E27FC236}">
                <a16:creationId xmlns:a16="http://schemas.microsoft.com/office/drawing/2014/main" xmlns="" id="{CCE571F4-4A4D-4C0F-B47D-8E87A50A93CD}"/>
              </a:ext>
            </a:extLst>
          </p:cNvPr>
          <p:cNvSpPr txBox="1">
            <a:spLocks/>
          </p:cNvSpPr>
          <p:nvPr/>
        </p:nvSpPr>
        <p:spPr>
          <a:xfrm>
            <a:off x="1921571" y="1660964"/>
            <a:ext cx="8108225" cy="2033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latin typeface="Hagrid Text"/>
                <a:cs typeface="Segoe UI Semibold" panose="020B0702040204020203" pitchFamily="34" charset="0"/>
              </a:rPr>
              <a:t>Inicialização: </a:t>
            </a:r>
            <a:r>
              <a:rPr lang="pt-BR" dirty="0">
                <a:latin typeface="Hagrid Text"/>
                <a:cs typeface="Segoe UI Semibold" panose="020B0702040204020203" pitchFamily="34" charset="0"/>
              </a:rPr>
              <a:t>Sempre que possível o método simplex opta pela origem como vértice inicial (todas as variáveis de decisão iguais a zero)</a:t>
            </a:r>
          </a:p>
          <a:p>
            <a:endParaRPr lang="pt-BR" dirty="0">
              <a:latin typeface="Hagrid Text"/>
              <a:cs typeface="Segoe UI Semibold" panose="020B0702040204020203" pitchFamily="34" charset="0"/>
            </a:endParaRPr>
          </a:p>
          <a:p>
            <a:r>
              <a:rPr lang="pt-BR" b="1" dirty="0">
                <a:latin typeface="Hagrid Text"/>
                <a:cs typeface="Segoe UI Semibold" panose="020B0702040204020203" pitchFamily="34" charset="0"/>
              </a:rPr>
              <a:t>Teste de </a:t>
            </a:r>
            <a:r>
              <a:rPr lang="pt-BR" b="1" dirty="0" err="1">
                <a:latin typeface="Hagrid Text"/>
                <a:cs typeface="Segoe UI Semibold" panose="020B0702040204020203" pitchFamily="34" charset="0"/>
              </a:rPr>
              <a:t>Otimalidade</a:t>
            </a:r>
            <a:r>
              <a:rPr lang="pt-BR" b="1" dirty="0">
                <a:latin typeface="Hagrid Text"/>
                <a:cs typeface="Segoe UI Semibold" panose="020B0702040204020203" pitchFamily="34" charset="0"/>
              </a:rPr>
              <a:t>: </a:t>
            </a:r>
            <a:r>
              <a:rPr lang="pt-BR" dirty="0">
                <a:latin typeface="Hagrid Text"/>
                <a:cs typeface="Segoe UI Semibold" panose="020B0702040204020203" pitchFamily="34" charset="0"/>
              </a:rPr>
              <a:t>O vértice atual é ótimo?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xmlns="" id="{F089DF36-612F-41ED-A079-3E773611726F}"/>
              </a:ext>
            </a:extLst>
          </p:cNvPr>
          <p:cNvCxnSpPr>
            <a:cxnSpLocks/>
          </p:cNvCxnSpPr>
          <p:nvPr/>
        </p:nvCxnSpPr>
        <p:spPr>
          <a:xfrm>
            <a:off x="6096000" y="2677607"/>
            <a:ext cx="0" cy="4024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xmlns="" id="{CDCD9ADC-98FA-4337-92F0-860F0E3B9620}"/>
              </a:ext>
            </a:extLst>
          </p:cNvPr>
          <p:cNvCxnSpPr>
            <a:cxnSpLocks/>
          </p:cNvCxnSpPr>
          <p:nvPr/>
        </p:nvCxnSpPr>
        <p:spPr>
          <a:xfrm>
            <a:off x="3721767" y="3788910"/>
            <a:ext cx="0" cy="4024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xmlns="" id="{91DF9306-718E-43E5-B741-C58A0DC9FE00}"/>
              </a:ext>
            </a:extLst>
          </p:cNvPr>
          <p:cNvCxnSpPr>
            <a:cxnSpLocks/>
          </p:cNvCxnSpPr>
          <p:nvPr/>
        </p:nvCxnSpPr>
        <p:spPr>
          <a:xfrm>
            <a:off x="8261683" y="3788910"/>
            <a:ext cx="0" cy="4024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xmlns="" id="{12F05424-8F03-40E3-9E65-0545394D2A57}"/>
              </a:ext>
            </a:extLst>
          </p:cNvPr>
          <p:cNvCxnSpPr>
            <a:cxnSpLocks/>
          </p:cNvCxnSpPr>
          <p:nvPr/>
        </p:nvCxnSpPr>
        <p:spPr>
          <a:xfrm>
            <a:off x="3705724" y="4642765"/>
            <a:ext cx="0" cy="4024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xmlns="" id="{B92E5B8C-AF9F-4ED9-AE5D-74E30E70F93B}"/>
              </a:ext>
            </a:extLst>
          </p:cNvPr>
          <p:cNvCxnSpPr>
            <a:cxnSpLocks/>
          </p:cNvCxnSpPr>
          <p:nvPr/>
        </p:nvCxnSpPr>
        <p:spPr>
          <a:xfrm>
            <a:off x="8261683" y="4642765"/>
            <a:ext cx="0" cy="4024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58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E831FB2-9830-F96C-A1D5-BF3AD74E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768AE9BE-9B05-D888-7C57-F0F2099E13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5F856EC-0E1A-CD91-F4CA-08E163C56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Ideia do Simplex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15462E52-D56C-7E33-B28C-AD086EDBA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O simplex é um algoritmo que se utiliza de um ferramental baseado na Álgebra Linear para determinar, por um método iterativo, a solução ótima de um PPL.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A9EAE9A9-0BCB-8136-1342-BE928D73BE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4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ED7194-666B-56C5-FB22-FD2232C4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2A1E4D9A-1EC1-BEE9-BE03-73AC94E820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74CE821-D110-F745-6A04-B1E314357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Definição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CEEBF43-49D9-4CAF-78D8-A2C856B89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Uma base de uma matriz A(</a:t>
            </a:r>
            <a:r>
              <a:rPr lang="pt-BR" i="1" dirty="0" err="1">
                <a:latin typeface="Hagrid Text"/>
              </a:rPr>
              <a:t>m</a:t>
            </a:r>
            <a:r>
              <a:rPr lang="pt-BR" dirty="0" err="1">
                <a:latin typeface="Hagrid Text"/>
              </a:rPr>
              <a:t>x</a:t>
            </a:r>
            <a:r>
              <a:rPr lang="pt-BR" i="1" dirty="0" err="1">
                <a:latin typeface="Hagrid Text"/>
              </a:rPr>
              <a:t>n</a:t>
            </a:r>
            <a:r>
              <a:rPr lang="pt-BR" dirty="0">
                <a:latin typeface="Hagrid Text"/>
              </a:rPr>
              <a:t>) é uma matriz quadrada de </a:t>
            </a:r>
            <a:r>
              <a:rPr lang="pt-BR" i="1" dirty="0">
                <a:latin typeface="Hagrid Text"/>
              </a:rPr>
              <a:t>m </a:t>
            </a:r>
            <a:r>
              <a:rPr lang="pt-BR" dirty="0">
                <a:latin typeface="Hagrid Text"/>
              </a:rPr>
              <a:t>vetores colunas linearmente independentes em </a:t>
            </a:r>
            <a:r>
              <a:rPr lang="pt-BR" dirty="0" err="1">
                <a:latin typeface="Hagrid Text"/>
              </a:rPr>
              <a:t>R</a:t>
            </a:r>
            <a:r>
              <a:rPr lang="pt-BR" baseline="30000" dirty="0" err="1">
                <a:latin typeface="Hagrid Text"/>
              </a:rPr>
              <a:t>m</a:t>
            </a:r>
            <a:r>
              <a:rPr lang="pt-BR" baseline="30000" dirty="0">
                <a:latin typeface="Hagrid Text"/>
              </a:rPr>
              <a:t> .</a:t>
            </a:r>
            <a:r>
              <a:rPr lang="pt-BR" dirty="0">
                <a:latin typeface="Hagrid Text"/>
              </a:rPr>
              <a:t> As variáveis associadas a essas colunas denominaremos </a:t>
            </a:r>
            <a:r>
              <a:rPr lang="pt-BR" b="1" dirty="0">
                <a:latin typeface="Hagrid Text"/>
              </a:rPr>
              <a:t>variáveis básicas (VB)</a:t>
            </a:r>
            <a:r>
              <a:rPr lang="pt-BR" dirty="0">
                <a:latin typeface="Hagrid Text"/>
              </a:rPr>
              <a:t>. As demais variáveis denominaremos </a:t>
            </a:r>
            <a:r>
              <a:rPr lang="pt-BR" b="1" dirty="0">
                <a:latin typeface="Hagrid Text"/>
              </a:rPr>
              <a:t>variáveis não básicas (VNB)</a:t>
            </a:r>
            <a:r>
              <a:rPr lang="pt-BR" dirty="0">
                <a:latin typeface="Hagrid Text"/>
              </a:rPr>
              <a:t>.</a:t>
            </a:r>
            <a:endParaRPr lang="pt-BR" i="1" dirty="0">
              <a:latin typeface="Hagrid Text"/>
            </a:endParaRPr>
          </a:p>
          <a:p>
            <a:pPr algn="just">
              <a:lnSpc>
                <a:spcPts val="5250"/>
              </a:lnSpc>
            </a:pPr>
            <a:endParaRPr lang="pt-BR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DBB97C11-C2C8-2E7F-C4FA-E5AF2BDD14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9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8B16D8-0132-319B-6170-965DBD5F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3B412B2-702E-D6B0-167E-CBACAB32C6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F5C7DDD-D3E2-1908-B390-43419A4EE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Partição Básica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D1FAFC3-F4D3-3659-DD51-1FC6F37F8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Considere uma reorganização da matriz </a:t>
            </a:r>
            <a:r>
              <a:rPr lang="pt-BR" dirty="0" err="1">
                <a:latin typeface="Hagrid Text"/>
              </a:rPr>
              <a:t>A</a:t>
            </a:r>
            <a:r>
              <a:rPr lang="pt-BR" i="1" baseline="-25000" dirty="0" err="1">
                <a:latin typeface="Hagrid Text"/>
              </a:rPr>
              <a:t>m</a:t>
            </a:r>
            <a:r>
              <a:rPr lang="pt-BR" baseline="-25000" dirty="0" err="1">
                <a:latin typeface="Hagrid Text"/>
              </a:rPr>
              <a:t>x</a:t>
            </a:r>
            <a:r>
              <a:rPr lang="pt-BR" i="1" baseline="-25000" dirty="0" err="1">
                <a:latin typeface="Hagrid Text"/>
              </a:rPr>
              <a:t>n</a:t>
            </a:r>
            <a:r>
              <a:rPr lang="pt-BR" i="1" baseline="-25000" dirty="0">
                <a:latin typeface="Hagrid Text"/>
              </a:rPr>
              <a:t> </a:t>
            </a:r>
            <a:r>
              <a:rPr lang="pt-BR" i="1" dirty="0">
                <a:latin typeface="Hagrid Text"/>
              </a:rPr>
              <a:t> </a:t>
            </a:r>
            <a:r>
              <a:rPr lang="pt-BR" dirty="0">
                <a:latin typeface="Hagrid Text"/>
              </a:rPr>
              <a:t>do PPL na forma </a:t>
            </a:r>
            <a:r>
              <a:rPr lang="pt-BR" dirty="0" err="1">
                <a:latin typeface="Hagrid Text"/>
              </a:rPr>
              <a:t>A</a:t>
            </a:r>
            <a:r>
              <a:rPr lang="pt-BR" baseline="-25000" dirty="0" err="1">
                <a:latin typeface="Hagrid Text"/>
              </a:rPr>
              <a:t>x</a:t>
            </a:r>
            <a:r>
              <a:rPr lang="pt-BR" baseline="-25000" dirty="0">
                <a:latin typeface="Hagrid Text"/>
              </a:rPr>
              <a:t> </a:t>
            </a:r>
            <a:r>
              <a:rPr lang="pt-BR" dirty="0">
                <a:latin typeface="Hagrid Text"/>
              </a:rPr>
              <a:t> = b da seguinte forma: A=[B N], na qual </a:t>
            </a:r>
            <a:r>
              <a:rPr lang="pt-BR" dirty="0" err="1">
                <a:latin typeface="Hagrid Text"/>
              </a:rPr>
              <a:t>B</a:t>
            </a:r>
            <a:r>
              <a:rPr lang="pt-BR" i="1" baseline="-25000" dirty="0" err="1">
                <a:latin typeface="Hagrid Text"/>
              </a:rPr>
              <a:t>m</a:t>
            </a:r>
            <a:r>
              <a:rPr lang="pt-BR" baseline="-25000" dirty="0" err="1">
                <a:latin typeface="Hagrid Text"/>
              </a:rPr>
              <a:t>x</a:t>
            </a:r>
            <a:r>
              <a:rPr lang="pt-BR" i="1" baseline="-25000" dirty="0" err="1">
                <a:latin typeface="Hagrid Text"/>
              </a:rPr>
              <a:t>m</a:t>
            </a:r>
            <a:r>
              <a:rPr lang="pt-BR" i="1" baseline="-25000" dirty="0">
                <a:latin typeface="Hagrid Text"/>
              </a:rPr>
              <a:t>,</a:t>
            </a:r>
            <a:r>
              <a:rPr lang="pt-BR" dirty="0">
                <a:latin typeface="Hagrid Text"/>
              </a:rPr>
              <a:t> chamada </a:t>
            </a:r>
            <a:r>
              <a:rPr lang="pt-BR" b="1" dirty="0">
                <a:latin typeface="Hagrid Text"/>
              </a:rPr>
              <a:t>matriz básica (ou base)</a:t>
            </a:r>
            <a:r>
              <a:rPr lang="pt-BR" dirty="0">
                <a:latin typeface="Hagrid Text"/>
              </a:rPr>
              <a:t>, é formada por m colunas de A e é invertível. </a:t>
            </a:r>
            <a:r>
              <a:rPr lang="pt-BR" dirty="0" err="1">
                <a:latin typeface="Hagrid Text"/>
              </a:rPr>
              <a:t>N</a:t>
            </a:r>
            <a:r>
              <a:rPr lang="pt-BR" i="1" baseline="-25000" dirty="0" err="1">
                <a:latin typeface="Hagrid Text"/>
              </a:rPr>
              <a:t>m</a:t>
            </a:r>
            <a:r>
              <a:rPr lang="pt-BR" baseline="-25000" dirty="0" err="1">
                <a:latin typeface="Hagrid Text"/>
              </a:rPr>
              <a:t>x</a:t>
            </a:r>
            <a:r>
              <a:rPr lang="pt-BR" baseline="-25000" dirty="0">
                <a:latin typeface="Hagrid Text"/>
              </a:rPr>
              <a:t>(</a:t>
            </a:r>
            <a:r>
              <a:rPr lang="pt-BR" i="1" baseline="-25000" dirty="0" err="1">
                <a:latin typeface="Hagrid Text"/>
              </a:rPr>
              <a:t>n-m</a:t>
            </a:r>
            <a:r>
              <a:rPr lang="pt-BR" i="1" baseline="-25000" dirty="0">
                <a:latin typeface="Hagrid Text"/>
              </a:rPr>
              <a:t>), </a:t>
            </a:r>
            <a:r>
              <a:rPr lang="pt-BR" dirty="0">
                <a:latin typeface="Hagrid Text"/>
              </a:rPr>
              <a:t>chamada </a:t>
            </a:r>
            <a:r>
              <a:rPr lang="pt-BR" b="1" dirty="0">
                <a:latin typeface="Hagrid Text"/>
              </a:rPr>
              <a:t>matriz não básica</a:t>
            </a:r>
            <a:r>
              <a:rPr lang="pt-BR" dirty="0">
                <a:latin typeface="Hagrid Text"/>
              </a:rPr>
              <a:t>, é formada por </a:t>
            </a:r>
            <a:r>
              <a:rPr lang="pt-BR" i="1" dirty="0" err="1">
                <a:latin typeface="Hagrid Text"/>
              </a:rPr>
              <a:t>n-m</a:t>
            </a:r>
            <a:r>
              <a:rPr lang="pt-BR" dirty="0">
                <a:latin typeface="Hagrid Text"/>
              </a:rPr>
              <a:t> colunas restantes de A.</a:t>
            </a: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E1779846-5A5A-F95D-BF5F-4A65F65BBA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9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2BBA95-3F72-FFAD-9E88-C1258342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E16058FE-3441-3A6B-1018-55E91AEED4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FF1D0C-E7AE-C146-39BB-0FC3F46C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Partição Básica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2EB404F-DC53-BBE2-C7D8-094C0DB81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Essa partição nas colunas da matriz A é chamada partição básica e introduz uma partição no vetor de soluções:</a:t>
            </a:r>
          </a:p>
          <a:p>
            <a:pPr>
              <a:lnSpc>
                <a:spcPts val="5250"/>
              </a:lnSpc>
            </a:pPr>
            <a:r>
              <a:rPr lang="pt-BR" sz="3200" dirty="0">
                <a:latin typeface="Hagrid Text"/>
              </a:rPr>
              <a:t>X = [    ]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01ECB63-D49A-FDBA-C020-DED724848E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4AD4BF5-0DB1-6D56-B3C3-73FFAED7636E}"/>
              </a:ext>
            </a:extLst>
          </p:cNvPr>
          <p:cNvSpPr txBox="1"/>
          <p:nvPr/>
        </p:nvSpPr>
        <p:spPr>
          <a:xfrm>
            <a:off x="6197599" y="3661005"/>
            <a:ext cx="725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</a:t>
            </a:r>
            <a:r>
              <a:rPr lang="pt-BR" baseline="-25000" dirty="0"/>
              <a:t>B</a:t>
            </a:r>
          </a:p>
          <a:p>
            <a:r>
              <a:rPr lang="pt-BR" dirty="0"/>
              <a:t>X</a:t>
            </a:r>
            <a:r>
              <a:rPr lang="pt-BR" baseline="-25000" dirty="0"/>
              <a:t>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6F90DE59-7E35-BA94-8B37-B3A2C6B4452A}"/>
              </a:ext>
            </a:extLst>
          </p:cNvPr>
          <p:cNvCxnSpPr/>
          <p:nvPr/>
        </p:nvCxnSpPr>
        <p:spPr>
          <a:xfrm>
            <a:off x="6693424" y="3817257"/>
            <a:ext cx="8516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0D466EF1-4D53-25B9-5BD7-568090B53CE1}"/>
              </a:ext>
            </a:extLst>
          </p:cNvPr>
          <p:cNvCxnSpPr/>
          <p:nvPr/>
        </p:nvCxnSpPr>
        <p:spPr>
          <a:xfrm>
            <a:off x="6693424" y="4104615"/>
            <a:ext cx="85166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5804ACB-AD52-0BC2-F59E-F7E8F0F76C28}"/>
              </a:ext>
            </a:extLst>
          </p:cNvPr>
          <p:cNvSpPr txBox="1"/>
          <p:nvPr/>
        </p:nvSpPr>
        <p:spPr>
          <a:xfrm rot="10800000" flipH="1" flipV="1">
            <a:off x="7501547" y="3661004"/>
            <a:ext cx="2805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Hagrid Text"/>
              </a:rPr>
              <a:t>Variáveis básicas</a:t>
            </a:r>
          </a:p>
          <a:p>
            <a:r>
              <a:rPr lang="pt-BR" b="1" dirty="0">
                <a:latin typeface="Hagrid Text"/>
              </a:rPr>
              <a:t>Variáveis não básicas</a:t>
            </a:r>
          </a:p>
        </p:txBody>
      </p:sp>
    </p:spTree>
    <p:extLst>
      <p:ext uri="{BB962C8B-B14F-4D97-AF65-F5344CB8AC3E}">
        <p14:creationId xmlns:p14="http://schemas.microsoft.com/office/powerpoint/2010/main" val="159380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D76024-8616-9B89-8983-EC7A1483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25F3FA9F-1E64-E78B-4182-0EA6D68A31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C2BC4A-7B89-94CD-905E-C858154AE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Partição Básica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CD07F7B-F2F3-2F77-6745-066F1F7D6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69144"/>
            <a:ext cx="9144000" cy="2830286"/>
          </a:xfrm>
        </p:spPr>
        <p:txBody>
          <a:bodyPr/>
          <a:lstStyle/>
          <a:p>
            <a:pPr algn="just">
              <a:lnSpc>
                <a:spcPts val="5250"/>
              </a:lnSpc>
            </a:pPr>
            <a:r>
              <a:rPr lang="pt-BR" dirty="0">
                <a:latin typeface="Hagrid Text"/>
              </a:rPr>
              <a:t>Para encontrar uma solução ótima para o sistema </a:t>
            </a:r>
            <a:r>
              <a:rPr lang="pt-BR" dirty="0" err="1" smtClean="0">
                <a:latin typeface="Hagrid Text"/>
              </a:rPr>
              <a:t>Ax</a:t>
            </a:r>
            <a:r>
              <a:rPr lang="pt-BR" i="1" baseline="-25000" dirty="0" smtClean="0">
                <a:latin typeface="Hagrid Text"/>
              </a:rPr>
              <a:t> </a:t>
            </a:r>
            <a:r>
              <a:rPr lang="pt-BR" i="1" dirty="0" smtClean="0">
                <a:latin typeface="Hagrid Text"/>
              </a:rPr>
              <a:t> </a:t>
            </a:r>
            <a:r>
              <a:rPr lang="pt-BR" i="1" dirty="0">
                <a:latin typeface="Hagrid Text"/>
              </a:rPr>
              <a:t>= b, </a:t>
            </a:r>
            <a:r>
              <a:rPr lang="pt-BR" dirty="0">
                <a:latin typeface="Hagrid Text"/>
              </a:rPr>
              <a:t>em que m &lt; n, faz-se </a:t>
            </a:r>
            <a:r>
              <a:rPr lang="pt-BR" i="1" dirty="0" err="1">
                <a:latin typeface="Hagrid Text"/>
              </a:rPr>
              <a:t>x</a:t>
            </a:r>
            <a:r>
              <a:rPr lang="pt-BR" i="1" baseline="-25000" dirty="0" err="1">
                <a:latin typeface="Hagrid Text"/>
              </a:rPr>
              <a:t>N</a:t>
            </a:r>
            <a:r>
              <a:rPr lang="pt-BR" i="1" baseline="-25000" dirty="0">
                <a:latin typeface="Hagrid Text"/>
              </a:rPr>
              <a:t> </a:t>
            </a:r>
            <a:r>
              <a:rPr lang="pt-BR" i="1" dirty="0">
                <a:latin typeface="Hagrid Text"/>
              </a:rPr>
              <a:t> </a:t>
            </a:r>
            <a:r>
              <a:rPr lang="pt-BR" dirty="0">
                <a:latin typeface="Hagrid Text"/>
              </a:rPr>
              <a:t>= 0. E então determina-se os valores das outras variáveis. Ou seja, considerando uma partição básica </a:t>
            </a:r>
            <a:r>
              <a:rPr lang="pt-BR" dirty="0" smtClean="0">
                <a:latin typeface="Hagrid Text"/>
              </a:rPr>
              <a:t>A = [</a:t>
            </a:r>
            <a:r>
              <a:rPr lang="pt-BR" dirty="0">
                <a:latin typeface="Hagrid Text"/>
              </a:rPr>
              <a:t>B N], temos:</a:t>
            </a: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CFFCCB34-6677-3F14-CAB0-88D06D4DFB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xmlns="" id="{43040F40-0A98-154D-C40C-79FFB8488B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118" y="3830523"/>
            <a:ext cx="4303139" cy="21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0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F3B8C8-F4B0-5960-FA23-8226BBD6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E14A4C33-8306-24F8-85F5-0B1723D7CB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82B290-0D3C-E8FF-4375-E9114495C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Soluções Básicas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xmlns="" id="{6CB583CA-6B39-5499-BFD9-F8AB24F6B7D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2136618"/>
                <a:ext cx="9144000" cy="393599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dirty="0"/>
                  <a:t>A solução x’ assim obtida</a:t>
                </a:r>
                <a:endParaRPr lang="pt-BR" i="1" dirty="0">
                  <a:latin typeface="Cambria Math"/>
                </a:endParaRPr>
              </a:p>
              <a:p>
                <a:r>
                  <a:rPr lang="pt-BR" dirty="0" err="1"/>
                  <a:t>x</a:t>
                </a:r>
                <a:r>
                  <a:rPr lang="pt-BR" dirty="0"/>
                  <a:t>'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t-BR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i="1" dirty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pt-BR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pt-BR" dirty="0"/>
                              <m:t>’</m:t>
                            </m:r>
                            <m:r>
                              <m:rPr>
                                <m:nor/>
                              </m:rPr>
                              <a:rPr lang="pt-BR" baseline="-25000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pt-BR" dirty="0"/>
                              <m:t> = </m:t>
                            </m:r>
                            <m:r>
                              <m:rPr>
                                <m:nor/>
                              </m:rPr>
                              <a:rPr lang="pt-BR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pt-BR" baseline="30000" dirty="0"/>
                              <m:t>−1</m:t>
                            </m:r>
                            <m:r>
                              <m:rPr>
                                <m:nor/>
                              </m:rPr>
                              <a:rPr lang="pt-BR" dirty="0"/>
                              <m:t>b</m:t>
                            </m:r>
                          </m:e>
                          <m:e>
                            <m:sSub>
                              <m:sSubPr>
                                <m:ctrlPr>
                                  <a:rPr lang="pt-BR" i="1" dirty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pt-BR" i="1" dirty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BR" i="1" dirty="0">
                                    <a:latin typeface="Cambria Math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pt-BR" i="1" dirty="0">
                                    <a:latin typeface="Cambria Math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pt-BR" i="1" dirty="0">
                                <a:latin typeface="Cambria Math"/>
                              </a:rPr>
                              <m:t>=0.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endParaRPr lang="pt-BR" dirty="0"/>
              </a:p>
              <a:p>
                <a:pPr algn="just"/>
                <a:r>
                  <a:rPr lang="pt-BR" dirty="0"/>
                  <a:t>é chamada </a:t>
                </a:r>
                <a:r>
                  <a:rPr lang="pt-BR" b="1" i="1" dirty="0"/>
                  <a:t>solução básica </a:t>
                </a:r>
                <a:r>
                  <a:rPr lang="pt-BR" dirty="0"/>
                  <a:t>(SB). </a:t>
                </a:r>
              </a:p>
              <a:p>
                <a:pPr algn="just"/>
                <a:endParaRPr lang="pt-BR" dirty="0"/>
              </a:p>
              <a:p>
                <a:pPr algn="just"/>
                <a:r>
                  <a:rPr lang="pt-BR" dirty="0"/>
                  <a:t>Se </a:t>
                </a:r>
                <a:r>
                  <a:rPr lang="pt-BR" dirty="0" err="1"/>
                  <a:t>x’</a:t>
                </a:r>
                <a:r>
                  <a:rPr lang="pt-BR" baseline="-25000" dirty="0" err="1"/>
                  <a:t>B</a:t>
                </a:r>
                <a:r>
                  <a:rPr lang="pt-BR" dirty="0"/>
                  <a:t> = B</a:t>
                </a:r>
                <a:r>
                  <a:rPr lang="pt-BR" baseline="30000" dirty="0"/>
                  <a:t>-1</a:t>
                </a:r>
                <a:r>
                  <a:rPr lang="pt-BR" dirty="0"/>
                  <a:t>b </a:t>
                </a:r>
                <a:r>
                  <a:rPr lang="pt-BR" dirty="0">
                    <a:sym typeface="Symbol"/>
                  </a:rPr>
                  <a:t> 0, dizemos que x’ é uma</a:t>
                </a:r>
                <a:r>
                  <a:rPr lang="pt-BR" i="1" dirty="0">
                    <a:sym typeface="Symbol"/>
                  </a:rPr>
                  <a:t> </a:t>
                </a:r>
                <a:r>
                  <a:rPr lang="pt-BR" b="1" i="1" dirty="0">
                    <a:sym typeface="Symbol"/>
                  </a:rPr>
                  <a:t>solução básica viável </a:t>
                </a:r>
                <a:r>
                  <a:rPr lang="pt-BR" b="1" dirty="0">
                    <a:sym typeface="Symbol"/>
                  </a:rPr>
                  <a:t>(SBV</a:t>
                </a:r>
                <a:r>
                  <a:rPr lang="pt-BR" dirty="0">
                    <a:sym typeface="Symbol"/>
                  </a:rPr>
                  <a:t>). </a:t>
                </a:r>
              </a:p>
              <a:p>
                <a:pPr algn="just"/>
                <a:endParaRPr lang="pt-BR" dirty="0">
                  <a:sym typeface="Symbol"/>
                </a:endParaRPr>
              </a:p>
              <a:p>
                <a:pPr algn="just"/>
                <a:r>
                  <a:rPr lang="pt-BR" dirty="0">
                    <a:sym typeface="Symbol"/>
                  </a:rPr>
                  <a:t>Se </a:t>
                </a:r>
                <a:r>
                  <a:rPr lang="pt-BR" dirty="0" err="1"/>
                  <a:t>x’</a:t>
                </a:r>
                <a:r>
                  <a:rPr lang="pt-BR" baseline="-25000" dirty="0" err="1"/>
                  <a:t>B</a:t>
                </a:r>
                <a:r>
                  <a:rPr lang="pt-BR" dirty="0"/>
                  <a:t> = B</a:t>
                </a:r>
                <a:r>
                  <a:rPr lang="pt-BR" baseline="30000" dirty="0"/>
                  <a:t>-1</a:t>
                </a:r>
                <a:r>
                  <a:rPr lang="pt-BR" dirty="0"/>
                  <a:t>b &gt; 0, dizemos que a solução básica viável é </a:t>
                </a:r>
                <a:r>
                  <a:rPr lang="pt-BR" b="1" dirty="0"/>
                  <a:t>não degenerada</a:t>
                </a:r>
                <a:r>
                  <a:rPr lang="pt-BR" dirty="0"/>
                  <a:t>.</a:t>
                </a:r>
              </a:p>
              <a:p>
                <a:pPr algn="just">
                  <a:lnSpc>
                    <a:spcPts val="5250"/>
                  </a:lnSpc>
                </a:pPr>
                <a:endParaRPr lang="pt-BR" b="1" baseline="-25000" dirty="0">
                  <a:latin typeface="Hagrid Text"/>
                </a:endParaRPr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6CB583CA-6B39-5499-BFD9-F8AB24F6B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2136618"/>
                <a:ext cx="9144000" cy="3935994"/>
              </a:xfrm>
              <a:blipFill>
                <a:blip r:embed="rId4"/>
                <a:stretch>
                  <a:fillRect l="-1000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AFD0CC52-0E6B-029E-7F41-40B7C79436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6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A2AF53-B1DC-5EEF-5503-717943C1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34DDE20C-1725-6040-55E8-EF56F1A41C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1B944F7-9EA3-5C9F-5FB1-CEC0F3CF5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264823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Teoria do Algoritmo Simplex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885D44C1-1262-0644-B5E1-18F5CC5BD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89" y="2701836"/>
            <a:ext cx="10523621" cy="35379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b="1" dirty="0">
                <a:latin typeface="Hagrid Text"/>
              </a:rPr>
              <a:t>Teorema 1: </a:t>
            </a:r>
            <a:r>
              <a:rPr lang="pt-BR" dirty="0">
                <a:latin typeface="Hagrid Text"/>
              </a:rPr>
              <a:t>Dado um PPL com um conjunto de soluções viáveis C, x é um vértice de C se e somente se x for uma Solução Básica Viável.</a:t>
            </a:r>
          </a:p>
          <a:p>
            <a:endParaRPr lang="pt-BR" dirty="0">
              <a:latin typeface="Hagrid Text"/>
            </a:endParaRPr>
          </a:p>
          <a:p>
            <a:pPr algn="just"/>
            <a:r>
              <a:rPr lang="pt-BR" b="1" dirty="0">
                <a:latin typeface="Hagrid Text"/>
              </a:rPr>
              <a:t>Teorema 2: </a:t>
            </a:r>
            <a:r>
              <a:rPr lang="pt-BR" dirty="0">
                <a:latin typeface="Hagrid Text"/>
              </a:rPr>
              <a:t>O conjunto de soluções básicas viáveis de um PPL é finito e limitado por ∁</a:t>
            </a:r>
            <a:r>
              <a:rPr lang="pt-BR" baseline="30000" dirty="0" err="1">
                <a:latin typeface="Hagrid Text"/>
              </a:rPr>
              <a:t>n</a:t>
            </a:r>
            <a:r>
              <a:rPr lang="pt-BR" baseline="-25000" dirty="0" err="1">
                <a:latin typeface="Hagrid Text"/>
              </a:rPr>
              <a:t>m</a:t>
            </a:r>
            <a:r>
              <a:rPr lang="pt-BR" dirty="0">
                <a:latin typeface="Hagrid Text"/>
              </a:rPr>
              <a:t>, onde m é o número de restrições e n é o número de variáveis do PPL, sendo m &lt; n.</a:t>
            </a:r>
          </a:p>
          <a:p>
            <a:pPr algn="just"/>
            <a:endParaRPr lang="pt-BR" dirty="0">
              <a:latin typeface="Hagrid Text"/>
            </a:endParaRPr>
          </a:p>
          <a:p>
            <a:pPr algn="just"/>
            <a:r>
              <a:rPr lang="pt-BR" b="1" dirty="0">
                <a:latin typeface="Hagrid Text"/>
              </a:rPr>
              <a:t>Teorema 3: </a:t>
            </a:r>
            <a:r>
              <a:rPr lang="pt-BR" dirty="0">
                <a:latin typeface="Hagrid Text"/>
              </a:rPr>
              <a:t>O máximo ou mínimo de um PPL com um conjunto de soluções viáveis C será atingido ao menos em um vértice de C. Além disso, se o máximo ou mínimo de um PPL é atingido em mais de um vértice de C, então ela toma o mesmo valor para qualquer combinação convexa desses pontos.</a:t>
            </a:r>
          </a:p>
          <a:p>
            <a:pPr algn="just"/>
            <a:endParaRPr lang="pt-BR" dirty="0">
              <a:latin typeface="Hagrid Text"/>
            </a:endParaRPr>
          </a:p>
          <a:p>
            <a:pPr algn="just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4B59C4E-8F23-6777-5409-FCBBC67373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56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2251B2-75C3-A72A-AA94-9B90A2A2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FA204D78-69A1-FD06-6499-55C0502708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F876C0B-1807-CE55-634F-FB0821E64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PPL Padrão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81CC5A70-BB15-6C4E-419A-AD666C999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935994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Hagrid Text"/>
              </a:rPr>
              <a:t>Consideramos o PPL na forma</a:t>
            </a:r>
          </a:p>
          <a:p>
            <a:r>
              <a:rPr lang="pt-BR" dirty="0">
                <a:latin typeface="Hagrid Text"/>
              </a:rPr>
              <a:t>Max z = </a:t>
            </a:r>
            <a:r>
              <a:rPr lang="pt-BR" dirty="0" err="1">
                <a:latin typeface="Hagrid Text"/>
              </a:rPr>
              <a:t>c</a:t>
            </a:r>
            <a:r>
              <a:rPr lang="pt-BR" baseline="30000" dirty="0" err="1">
                <a:latin typeface="Hagrid Text"/>
              </a:rPr>
              <a:t>T</a:t>
            </a:r>
            <a:r>
              <a:rPr lang="pt-BR" dirty="0" err="1">
                <a:latin typeface="Hagrid Text"/>
              </a:rPr>
              <a:t>x</a:t>
            </a:r>
            <a:endParaRPr lang="pt-BR" dirty="0">
              <a:latin typeface="Hagrid Text"/>
            </a:endParaRPr>
          </a:p>
          <a:p>
            <a:r>
              <a:rPr lang="pt-BR" dirty="0">
                <a:latin typeface="Hagrid Text"/>
              </a:rPr>
              <a:t>s. a.</a:t>
            </a:r>
          </a:p>
          <a:p>
            <a:r>
              <a:rPr lang="pt-BR" dirty="0" err="1">
                <a:latin typeface="Hagrid Text"/>
              </a:rPr>
              <a:t>Ax</a:t>
            </a:r>
            <a:r>
              <a:rPr lang="pt-BR" dirty="0">
                <a:latin typeface="Hagrid Text"/>
              </a:rPr>
              <a:t> </a:t>
            </a:r>
            <a:r>
              <a:rPr lang="pt-BR" dirty="0">
                <a:latin typeface="Hagrid Text"/>
                <a:sym typeface="Symbol"/>
              </a:rPr>
              <a:t>≤</a:t>
            </a:r>
            <a:r>
              <a:rPr lang="pt-BR" dirty="0">
                <a:latin typeface="Hagrid Text"/>
              </a:rPr>
              <a:t> b</a:t>
            </a:r>
          </a:p>
          <a:p>
            <a:r>
              <a:rPr lang="pt-BR" dirty="0">
                <a:latin typeface="Hagrid Text"/>
              </a:rPr>
              <a:t>x </a:t>
            </a:r>
            <a:r>
              <a:rPr lang="pt-BR" dirty="0">
                <a:latin typeface="Hagrid Text"/>
                <a:sym typeface="Symbol"/>
              </a:rPr>
              <a:t> 0</a:t>
            </a:r>
          </a:p>
          <a:p>
            <a:endParaRPr lang="pt-BR" dirty="0">
              <a:latin typeface="Hagrid Text"/>
              <a:sym typeface="Symbol"/>
            </a:endParaRPr>
          </a:p>
          <a:p>
            <a:pPr algn="just"/>
            <a:r>
              <a:rPr lang="pt-BR" dirty="0">
                <a:latin typeface="Hagrid Text"/>
                <a:sym typeface="Symbol"/>
              </a:rPr>
              <a:t>Para desenvolver o método simplex,  devemos transformar todas as restrições desse PPL em equações.</a:t>
            </a:r>
          </a:p>
          <a:p>
            <a:pPr algn="just"/>
            <a:endParaRPr lang="pt-BR" dirty="0">
              <a:latin typeface="Hagrid Text"/>
              <a:sym typeface="Symbol"/>
            </a:endParaRPr>
          </a:p>
          <a:p>
            <a:pPr algn="just"/>
            <a:r>
              <a:rPr lang="pt-BR" dirty="0">
                <a:latin typeface="Hagrid Text"/>
                <a:sym typeface="Symbol"/>
              </a:rPr>
              <a:t> Ou seja, cada restrição ganha uma </a:t>
            </a:r>
            <a:r>
              <a:rPr lang="pt-BR" b="1" dirty="0">
                <a:latin typeface="Hagrid Text"/>
                <a:sym typeface="Symbol"/>
              </a:rPr>
              <a:t>variável de folga</a:t>
            </a:r>
            <a:r>
              <a:rPr lang="pt-BR" dirty="0">
                <a:latin typeface="Hagrid Text"/>
                <a:sym typeface="Symbol"/>
              </a:rPr>
              <a:t>. Assim, na matriz A ampliada vai aparecer uma matriz muito especial. Vocês sabem qual é?</a:t>
            </a:r>
          </a:p>
          <a:p>
            <a:pPr algn="just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D3C226B1-1953-A1E5-84EE-6A7625873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5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CB1FF5-FFD0-916D-EC78-520E7B47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C33E127-8C6C-BE57-EE55-643BAF03B5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0A01956-AD97-1166-2D95-4E090E8DB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59F7701-A207-33C3-5C76-48480F3D0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4007508"/>
          </a:xfrm>
        </p:spPr>
        <p:txBody>
          <a:bodyPr numCol="1">
            <a:noAutofit/>
          </a:bodyPr>
          <a:lstStyle/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Dado o PPL: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-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0 e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0 </a:t>
            </a: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just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31BA89FE-572E-126C-102E-AD77FB8A84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2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D32E66-150C-02C4-FFBE-861B8528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22822484-5EEF-0FFC-C5FE-950D54D3F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377A3A8-7BA5-6763-DC06-541380B79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rmAutofit fontScale="90000"/>
          </a:bodyPr>
          <a:lstStyle/>
          <a:p>
            <a:r>
              <a:rPr lang="pt-BR" sz="67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F4404BB-B31E-DB94-1178-9CD56CE7B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8"/>
            <a:ext cx="9144000" cy="3012898"/>
          </a:xfrm>
        </p:spPr>
        <p:txBody>
          <a:bodyPr numCol="2">
            <a:noAutofit/>
          </a:bodyPr>
          <a:lstStyle/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Dado o PPL: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-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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0 e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0 </a:t>
            </a: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Transformamos em: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b="1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3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 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b="1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4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-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   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b="1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5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                 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                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b="1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6</a:t>
            </a:r>
            <a:r>
              <a:rPr lang="pt-BR" b="1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2 </a:t>
            </a:r>
          </a:p>
          <a:p>
            <a:r>
              <a:rPr lang="pt-BR" b="1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b="1" baseline="-25000" dirty="0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b="1" dirty="0">
                <a:latin typeface="Hagrid Text"/>
                <a:cs typeface="Times New Roman" panose="02020603050405020304" pitchFamily="18" charset="0"/>
              </a:rPr>
              <a:t> 0 , i = 1,..., 6</a:t>
            </a:r>
          </a:p>
          <a:p>
            <a:endParaRPr lang="pt-BR" dirty="0">
              <a:latin typeface="Hagrid Text"/>
              <a:sym typeface="Symbol"/>
            </a:endParaRPr>
          </a:p>
          <a:p>
            <a:pPr algn="just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A536FAE1-B840-E8E3-DD2F-A37260D597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60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18A989-ACF1-B11A-E634-355A7D5E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C1276CC-DC2A-3220-6EBF-35B7F1C762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37DF137-8AC3-24E6-3EC7-9D8AFCFCB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Coeficientes e Variáveis de um PPL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9F41B0E-2E8E-AD7F-9996-86EB08CED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6617"/>
            <a:ext cx="9144000" cy="3798961"/>
          </a:xfrm>
        </p:spPr>
        <p:txBody>
          <a:bodyPr numCol="2">
            <a:noAutofit/>
          </a:bodyPr>
          <a:lstStyle/>
          <a:p>
            <a:pPr algn="l"/>
            <a:r>
              <a:rPr lang="pt-BR" dirty="0" err="1"/>
              <a:t>x</a:t>
            </a:r>
            <a:r>
              <a:rPr lang="pt-BR" baseline="30000" dirty="0" err="1"/>
              <a:t>T</a:t>
            </a:r>
            <a:r>
              <a:rPr lang="pt-BR" dirty="0"/>
              <a:t> = [x</a:t>
            </a:r>
            <a:r>
              <a:rPr lang="pt-BR" baseline="-25000" dirty="0"/>
              <a:t>1</a:t>
            </a:r>
            <a:r>
              <a:rPr lang="pt-BR" dirty="0"/>
              <a:t>, x</a:t>
            </a:r>
            <a:r>
              <a:rPr lang="pt-BR" baseline="-25000" dirty="0"/>
              <a:t>2</a:t>
            </a:r>
            <a:r>
              <a:rPr lang="pt-BR" dirty="0"/>
              <a:t>, ..., </a:t>
            </a:r>
            <a:r>
              <a:rPr lang="pt-BR" dirty="0" err="1"/>
              <a:t>x</a:t>
            </a:r>
            <a:r>
              <a:rPr lang="pt-BR" baseline="-25000" dirty="0" err="1"/>
              <a:t>n</a:t>
            </a:r>
            <a:r>
              <a:rPr lang="pt-BR" dirty="0"/>
              <a:t>]</a:t>
            </a:r>
          </a:p>
          <a:p>
            <a:pPr algn="l"/>
            <a:endParaRPr lang="pt-BR" dirty="0"/>
          </a:p>
          <a:p>
            <a:pPr algn="l"/>
            <a:r>
              <a:rPr lang="pt-BR" dirty="0" err="1"/>
              <a:t>c</a:t>
            </a:r>
            <a:r>
              <a:rPr lang="pt-BR" baseline="30000" dirty="0" err="1"/>
              <a:t>T</a:t>
            </a:r>
            <a:r>
              <a:rPr lang="pt-BR" dirty="0"/>
              <a:t> = [c</a:t>
            </a:r>
            <a:r>
              <a:rPr lang="pt-BR" baseline="-25000" dirty="0"/>
              <a:t>1</a:t>
            </a:r>
            <a:r>
              <a:rPr lang="pt-BR" dirty="0"/>
              <a:t>, c</a:t>
            </a:r>
            <a:r>
              <a:rPr lang="pt-BR" baseline="-25000" dirty="0"/>
              <a:t>2</a:t>
            </a:r>
            <a:r>
              <a:rPr lang="pt-BR" dirty="0"/>
              <a:t>, ..., </a:t>
            </a:r>
            <a:r>
              <a:rPr lang="pt-BR" dirty="0" err="1"/>
              <a:t>c</a:t>
            </a:r>
            <a:r>
              <a:rPr lang="pt-BR" baseline="-25000" dirty="0" err="1"/>
              <a:t>n</a:t>
            </a:r>
            <a:r>
              <a:rPr lang="pt-BR" dirty="0"/>
              <a:t> ] 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a</a:t>
            </a:r>
            <a:r>
              <a:rPr lang="pt-BR" baseline="-25000" dirty="0"/>
              <a:t>1j</a:t>
            </a:r>
            <a:r>
              <a:rPr lang="pt-BR" dirty="0"/>
              <a:t>, a</a:t>
            </a:r>
            <a:r>
              <a:rPr lang="pt-BR" baseline="-25000" dirty="0"/>
              <a:t>2j</a:t>
            </a:r>
            <a:r>
              <a:rPr lang="pt-BR" dirty="0"/>
              <a:t>, ..., </a:t>
            </a:r>
            <a:r>
              <a:rPr lang="pt-BR" dirty="0" err="1"/>
              <a:t>a</a:t>
            </a:r>
            <a:r>
              <a:rPr lang="pt-BR" baseline="-25000" dirty="0" err="1"/>
              <a:t>nj</a:t>
            </a:r>
            <a:endParaRPr lang="pt-BR" baseline="-25000" dirty="0"/>
          </a:p>
          <a:p>
            <a:pPr algn="l"/>
            <a:endParaRPr lang="pt-BR" sz="3600" baseline="-25000" dirty="0"/>
          </a:p>
          <a:p>
            <a:pPr algn="l"/>
            <a:r>
              <a:rPr lang="pt-BR" dirty="0"/>
              <a:t>b =b</a:t>
            </a:r>
            <a:r>
              <a:rPr lang="pt-BR" baseline="-25000" dirty="0"/>
              <a:t>1</a:t>
            </a:r>
            <a:r>
              <a:rPr lang="pt-BR" dirty="0"/>
              <a:t>, b</a:t>
            </a:r>
            <a:r>
              <a:rPr lang="pt-BR" baseline="-25000" dirty="0"/>
              <a:t>2</a:t>
            </a:r>
            <a:r>
              <a:rPr lang="pt-BR" dirty="0"/>
              <a:t>, ...., </a:t>
            </a:r>
            <a:r>
              <a:rPr lang="pt-BR" dirty="0" err="1"/>
              <a:t>b</a:t>
            </a:r>
            <a:r>
              <a:rPr lang="pt-BR" baseline="-25000" dirty="0" err="1"/>
              <a:t>m</a:t>
            </a:r>
            <a:r>
              <a:rPr lang="pt-BR" dirty="0"/>
              <a:t>                        </a:t>
            </a: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r>
              <a:rPr lang="pt-BR" b="1" dirty="0">
                <a:latin typeface="Hagrid Text"/>
                <a:cs typeface="Times New Roman" panose="02020603050405020304" pitchFamily="18" charset="0"/>
              </a:rPr>
              <a:t>Variáveis de decisão</a:t>
            </a: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r>
              <a:rPr lang="pt-BR" b="1" dirty="0">
                <a:latin typeface="Hagrid Text"/>
                <a:cs typeface="Times New Roman" panose="02020603050405020304" pitchFamily="18" charset="0"/>
              </a:rPr>
              <a:t>Coeficientes da função objetivo</a:t>
            </a: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r>
              <a:rPr lang="pt-BR" b="1" dirty="0">
                <a:latin typeface="Hagrid Text"/>
                <a:cs typeface="Times New Roman" panose="02020603050405020304" pitchFamily="18" charset="0"/>
              </a:rPr>
              <a:t>Coeficientes das restrições</a:t>
            </a: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b="1" dirty="0">
              <a:latin typeface="Hagrid Text"/>
              <a:cs typeface="Times New Roman" panose="02020603050405020304" pitchFamily="18" charset="0"/>
            </a:endParaRPr>
          </a:p>
          <a:p>
            <a:pPr algn="l"/>
            <a:endParaRPr lang="pt-BR" dirty="0">
              <a:latin typeface="Hagrid Text"/>
              <a:sym typeface="Symbol"/>
            </a:endParaRPr>
          </a:p>
          <a:p>
            <a:pPr algn="l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66E8AB81-6A9F-D3A0-0092-3BB9BC350A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65DA3796-A86E-A09C-50F9-6ACA3E5FA0FD}"/>
              </a:ext>
            </a:extLst>
          </p:cNvPr>
          <p:cNvCxnSpPr/>
          <p:nvPr/>
        </p:nvCxnSpPr>
        <p:spPr>
          <a:xfrm>
            <a:off x="3736775" y="2356027"/>
            <a:ext cx="22090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484B4709-C1C5-4159-FA1C-AE5347A03905}"/>
              </a:ext>
            </a:extLst>
          </p:cNvPr>
          <p:cNvCxnSpPr/>
          <p:nvPr/>
        </p:nvCxnSpPr>
        <p:spPr>
          <a:xfrm>
            <a:off x="3837184" y="3246364"/>
            <a:ext cx="20081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23BDBA1E-B282-ECDD-F454-C9570935B2B7}"/>
              </a:ext>
            </a:extLst>
          </p:cNvPr>
          <p:cNvCxnSpPr>
            <a:cxnSpLocks/>
          </p:cNvCxnSpPr>
          <p:nvPr/>
        </p:nvCxnSpPr>
        <p:spPr>
          <a:xfrm>
            <a:off x="3391870" y="4305143"/>
            <a:ext cx="2453498" cy="2668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0724A653-062E-27BE-422F-89D46D6596E8}"/>
              </a:ext>
            </a:extLst>
          </p:cNvPr>
          <p:cNvCxnSpPr>
            <a:cxnSpLocks/>
          </p:cNvCxnSpPr>
          <p:nvPr/>
        </p:nvCxnSpPr>
        <p:spPr>
          <a:xfrm flipV="1">
            <a:off x="3636366" y="4700337"/>
            <a:ext cx="2209002" cy="390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3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0833B8-65A9-712F-0441-724A4B6D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A3E289C9-6B96-CC26-9646-5B5801704F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3114A5A-9BE6-D6DA-8705-F7868E399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0727"/>
            <a:ext cx="9144000" cy="1073906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Modelo geral da tabela simplex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DEF22B95-3570-A1A8-3587-1983C61777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xmlns="" id="{230B6443-CE46-3CAE-B39C-96C5DA77B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570116"/>
              </p:ext>
            </p:extLst>
          </p:nvPr>
        </p:nvGraphicFramePr>
        <p:xfrm>
          <a:off x="2037763" y="2098507"/>
          <a:ext cx="7687849" cy="3920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2722">
                  <a:extLst>
                    <a:ext uri="{9D8B030D-6E8A-4147-A177-3AD203B41FA5}">
                      <a16:colId xmlns:a16="http://schemas.microsoft.com/office/drawing/2014/main" xmlns="" val="625007831"/>
                    </a:ext>
                  </a:extLst>
                </a:gridCol>
                <a:gridCol w="1342722">
                  <a:extLst>
                    <a:ext uri="{9D8B030D-6E8A-4147-A177-3AD203B41FA5}">
                      <a16:colId xmlns:a16="http://schemas.microsoft.com/office/drawing/2014/main" xmlns="" val="3286722771"/>
                    </a:ext>
                  </a:extLst>
                </a:gridCol>
                <a:gridCol w="1342722">
                  <a:extLst>
                    <a:ext uri="{9D8B030D-6E8A-4147-A177-3AD203B41FA5}">
                      <a16:colId xmlns:a16="http://schemas.microsoft.com/office/drawing/2014/main" xmlns="" val="3820941022"/>
                    </a:ext>
                  </a:extLst>
                </a:gridCol>
                <a:gridCol w="1342722">
                  <a:extLst>
                    <a:ext uri="{9D8B030D-6E8A-4147-A177-3AD203B41FA5}">
                      <a16:colId xmlns:a16="http://schemas.microsoft.com/office/drawing/2014/main" xmlns="" val="3493875943"/>
                    </a:ext>
                  </a:extLst>
                </a:gridCol>
                <a:gridCol w="1342722">
                  <a:extLst>
                    <a:ext uri="{9D8B030D-6E8A-4147-A177-3AD203B41FA5}">
                      <a16:colId xmlns:a16="http://schemas.microsoft.com/office/drawing/2014/main" xmlns="" val="139194866"/>
                    </a:ext>
                  </a:extLst>
                </a:gridCol>
                <a:gridCol w="974239">
                  <a:extLst>
                    <a:ext uri="{9D8B030D-6E8A-4147-A177-3AD203B41FA5}">
                      <a16:colId xmlns:a16="http://schemas.microsoft.com/office/drawing/2014/main" xmlns="" val="211102337"/>
                    </a:ext>
                  </a:extLst>
                </a:gridCol>
              </a:tblGrid>
              <a:tr h="645996"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V.B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x</a:t>
                      </a:r>
                      <a:r>
                        <a:rPr lang="pt-BR" sz="2200" b="1" baseline="-25000" dirty="0"/>
                        <a:t>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x</a:t>
                      </a:r>
                      <a:r>
                        <a:rPr lang="pt-BR" sz="2200" b="1" baseline="-25000" dirty="0"/>
                        <a:t>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 err="1"/>
                        <a:t>x</a:t>
                      </a:r>
                      <a:r>
                        <a:rPr lang="pt-BR" sz="2200" baseline="-25000" dirty="0" err="1"/>
                        <a:t>n</a:t>
                      </a:r>
                      <a:endParaRPr lang="pt-BR" sz="2200" b="1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b="1" dirty="0"/>
                        <a:t>RHS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87913548"/>
                  </a:ext>
                </a:extLst>
              </a:tr>
              <a:tr h="654969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err="1"/>
                        <a:t>Z</a:t>
                      </a:r>
                      <a:endParaRPr lang="pt-BR" sz="22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-c</a:t>
                      </a:r>
                      <a:r>
                        <a:rPr lang="pt-BR" sz="2200" baseline="-25000" dirty="0"/>
                        <a:t>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-c</a:t>
                      </a:r>
                      <a:r>
                        <a:rPr lang="pt-BR" sz="2200" baseline="-25000" dirty="0"/>
                        <a:t>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-</a:t>
                      </a:r>
                      <a:r>
                        <a:rPr lang="pt-BR" sz="2200" dirty="0" err="1"/>
                        <a:t>c</a:t>
                      </a:r>
                      <a:r>
                        <a:rPr lang="pt-BR" sz="2200" baseline="-25000" dirty="0" err="1"/>
                        <a:t>n</a:t>
                      </a:r>
                      <a:endParaRPr lang="pt-BR" sz="2200" baseline="-250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0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104179"/>
                  </a:ext>
                </a:extLst>
              </a:tr>
              <a:tr h="654969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11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12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1n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b</a:t>
                      </a:r>
                      <a:r>
                        <a:rPr lang="pt-BR" sz="2200" baseline="-25000" dirty="0"/>
                        <a:t>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6797898"/>
                  </a:ext>
                </a:extLst>
              </a:tr>
              <a:tr h="654969">
                <a:tc>
                  <a:txBody>
                    <a:bodyPr/>
                    <a:lstStyle/>
                    <a:p>
                      <a:pPr algn="ctr"/>
                      <a:endParaRPr lang="pt-BR" sz="220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21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22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2n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b</a:t>
                      </a:r>
                      <a:r>
                        <a:rPr lang="pt-BR" sz="2200" baseline="-25000" dirty="0"/>
                        <a:t>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25799865"/>
                  </a:ext>
                </a:extLst>
              </a:tr>
              <a:tr h="654969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⋮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dirty="0"/>
                        <a:t>⋮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dirty="0"/>
                        <a:t>⋮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⋮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2317838"/>
                  </a:ext>
                </a:extLst>
              </a:tr>
              <a:tr h="654969">
                <a:tc>
                  <a:txBody>
                    <a:bodyPr/>
                    <a:lstStyle/>
                    <a:p>
                      <a:pPr algn="ctr"/>
                      <a:endParaRPr lang="pt-BR" sz="22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m1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</a:t>
                      </a:r>
                      <a:r>
                        <a:rPr lang="pt-BR" sz="2200" baseline="-25000" dirty="0"/>
                        <a:t>m2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...</a:t>
                      </a:r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err="1"/>
                        <a:t>a</a:t>
                      </a:r>
                      <a:r>
                        <a:rPr lang="pt-BR" sz="2200" baseline="-25000" dirty="0" err="1"/>
                        <a:t>mn</a:t>
                      </a:r>
                      <a:endParaRPr lang="pt-BR" sz="2200" baseline="-250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err="1"/>
                        <a:t>b</a:t>
                      </a:r>
                      <a:r>
                        <a:rPr lang="pt-BR" sz="2200" baseline="-25000" dirty="0" err="1"/>
                        <a:t>m</a:t>
                      </a:r>
                      <a:endParaRPr lang="pt-BR" sz="2200" baseline="-25000" dirty="0"/>
                    </a:p>
                  </a:txBody>
                  <a:tcPr marL="121706" marR="121706" marT="55321" marB="553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493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62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89730F-EAC1-BEC2-83B6-4EC7B3F9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186E09F6-4099-79E4-C889-0F72928843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20F1AFD-A9BD-11FD-25AA-926FAB0BD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Tabela simplex inicial: exemplo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5FF080C9-D4E0-9872-1F82-A527B62B91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03C69C2C-1F15-8A89-944B-31F4C39E7F38}"/>
              </a:ext>
            </a:extLst>
          </p:cNvPr>
          <p:cNvSpPr/>
          <p:nvPr/>
        </p:nvSpPr>
        <p:spPr>
          <a:xfrm>
            <a:off x="838200" y="2341061"/>
            <a:ext cx="461611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sz="2600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3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4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-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5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6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2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0 , </a:t>
            </a:r>
            <a:r>
              <a:rPr lang="pt-BR" sz="2600" dirty="0" err="1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= 1,...,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45F8202F-FC69-CF1F-B62B-E7C58BE7D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025578"/>
              </p:ext>
            </p:extLst>
          </p:nvPr>
        </p:nvGraphicFramePr>
        <p:xfrm>
          <a:off x="5137050" y="2132012"/>
          <a:ext cx="6292950" cy="3780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561">
                  <a:extLst>
                    <a:ext uri="{9D8B030D-6E8A-4147-A177-3AD203B41FA5}">
                      <a16:colId xmlns:a16="http://schemas.microsoft.com/office/drawing/2014/main" xmlns="" val="848563772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6210395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533237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3542837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10367300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10739244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845773962"/>
                    </a:ext>
                  </a:extLst>
                </a:gridCol>
                <a:gridCol w="591023">
                  <a:extLst>
                    <a:ext uri="{9D8B030D-6E8A-4147-A177-3AD203B41FA5}">
                      <a16:colId xmlns:a16="http://schemas.microsoft.com/office/drawing/2014/main" xmlns="" val="1497826101"/>
                    </a:ext>
                  </a:extLst>
                </a:gridCol>
              </a:tblGrid>
              <a:tr h="722999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V.B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6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4111632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solidFill>
                            <a:srgbClr val="FF0000"/>
                          </a:solidFill>
                        </a:rPr>
                        <a:t>Z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19467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123455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7043837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518414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828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93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E80873-D63E-E6D4-9013-E3C1A7549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20F96F42-AD07-39BC-4274-F287BC6721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610021-EBDC-FC75-446B-DD474BD6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Tabela simplex inicial: exemplo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35EDE3FC-0F13-B6B0-FEF2-B95701043C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ABCA19BC-111A-00E0-E2C7-DD1DFA6F001C}"/>
              </a:ext>
            </a:extLst>
          </p:cNvPr>
          <p:cNvSpPr/>
          <p:nvPr/>
        </p:nvSpPr>
        <p:spPr>
          <a:xfrm>
            <a:off x="1028700" y="2341061"/>
            <a:ext cx="442561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sz="2600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3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4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-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5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6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 smtClean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 smtClean="0">
                <a:latin typeface="Hagrid Text"/>
                <a:cs typeface="Times New Roman" panose="02020603050405020304" pitchFamily="18" charset="0"/>
              </a:rPr>
              <a:t> 2 </a:t>
            </a:r>
            <a:endParaRPr lang="pt-BR" sz="2600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0 , </a:t>
            </a:r>
            <a:r>
              <a:rPr lang="pt-BR" sz="2600" dirty="0" err="1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= 1,...,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DD80F04D-847C-C155-7C67-8B7A417D3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828387"/>
              </p:ext>
            </p:extLst>
          </p:nvPr>
        </p:nvGraphicFramePr>
        <p:xfrm>
          <a:off x="5137050" y="2132012"/>
          <a:ext cx="6292950" cy="3780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561">
                  <a:extLst>
                    <a:ext uri="{9D8B030D-6E8A-4147-A177-3AD203B41FA5}">
                      <a16:colId xmlns:a16="http://schemas.microsoft.com/office/drawing/2014/main" xmlns="" val="848563772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6210395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533237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3542837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10367300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10739244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845773962"/>
                    </a:ext>
                  </a:extLst>
                </a:gridCol>
                <a:gridCol w="591023">
                  <a:extLst>
                    <a:ext uri="{9D8B030D-6E8A-4147-A177-3AD203B41FA5}">
                      <a16:colId xmlns:a16="http://schemas.microsoft.com/office/drawing/2014/main" xmlns="" val="1497826101"/>
                    </a:ext>
                  </a:extLst>
                </a:gridCol>
              </a:tblGrid>
              <a:tr h="722999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V.B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6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4111632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solidFill>
                            <a:srgbClr val="FF0000"/>
                          </a:solidFill>
                        </a:rPr>
                        <a:t>Z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19467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123455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7043837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518414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baseline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828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616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38FA63-C8CE-D30D-C827-B6AD32C4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E57678CB-A8FA-FCDF-1232-1D48BE68E8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F9EFB17-9937-501D-1621-A68003649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3186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Tabela simplex inicial: exemplo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80E8F256-466F-2CAD-812B-0F3BAEA9B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20840AA9-B4B8-2927-26B2-18FFD5B01ADB}"/>
              </a:ext>
            </a:extLst>
          </p:cNvPr>
          <p:cNvSpPr/>
          <p:nvPr/>
        </p:nvSpPr>
        <p:spPr>
          <a:xfrm>
            <a:off x="723900" y="2341061"/>
            <a:ext cx="473041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Max z = 5x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endParaRPr lang="pt-BR" sz="2600" dirty="0">
              <a:latin typeface="Hagrid Text"/>
              <a:cs typeface="Times New Roman" panose="02020603050405020304" pitchFamily="18" charset="0"/>
            </a:endParaRP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Sujeito a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6x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+ 4x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3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24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+ 2x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4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6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-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1 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+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5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1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2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             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+ x</a:t>
            </a:r>
            <a:r>
              <a:rPr lang="pt-BR" sz="2600" baseline="-250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6</a:t>
            </a:r>
            <a:r>
              <a:rPr lang="pt-BR" sz="2600" dirty="0">
                <a:solidFill>
                  <a:srgbClr val="FF0000"/>
                </a:solidFill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=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2 </a:t>
            </a:r>
          </a:p>
          <a:p>
            <a:r>
              <a:rPr lang="pt-BR" sz="2600" dirty="0">
                <a:latin typeface="Hagrid Text"/>
                <a:cs typeface="Times New Roman" panose="02020603050405020304" pitchFamily="18" charset="0"/>
              </a:rPr>
              <a:t>x</a:t>
            </a:r>
            <a:r>
              <a:rPr lang="pt-BR" sz="2600" baseline="-25000" dirty="0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Hagrid Text"/>
                <a:cs typeface="Times New Roman" panose="02020603050405020304" pitchFamily="18" charset="0"/>
                <a:sym typeface="Symbol"/>
              </a:rPr>
              <a:t>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0 , </a:t>
            </a:r>
            <a:r>
              <a:rPr lang="pt-BR" sz="2600" dirty="0" err="1">
                <a:latin typeface="Hagrid Text"/>
                <a:cs typeface="Times New Roman" panose="02020603050405020304" pitchFamily="18" charset="0"/>
              </a:rPr>
              <a:t>i</a:t>
            </a:r>
            <a:r>
              <a:rPr lang="pt-BR" sz="2600" dirty="0">
                <a:latin typeface="Hagrid Text"/>
                <a:cs typeface="Times New Roman" panose="02020603050405020304" pitchFamily="18" charset="0"/>
              </a:rPr>
              <a:t> = 1,..., 6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BA959309-04B9-D368-87AD-83EA22D18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59948"/>
              </p:ext>
            </p:extLst>
          </p:nvPr>
        </p:nvGraphicFramePr>
        <p:xfrm>
          <a:off x="5137050" y="2132012"/>
          <a:ext cx="6292950" cy="3780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561">
                  <a:extLst>
                    <a:ext uri="{9D8B030D-6E8A-4147-A177-3AD203B41FA5}">
                      <a16:colId xmlns:a16="http://schemas.microsoft.com/office/drawing/2014/main" xmlns="" val="848563772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6210395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5332379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23542837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3103673001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107392445"/>
                    </a:ext>
                  </a:extLst>
                </a:gridCol>
                <a:gridCol w="814561">
                  <a:extLst>
                    <a:ext uri="{9D8B030D-6E8A-4147-A177-3AD203B41FA5}">
                      <a16:colId xmlns:a16="http://schemas.microsoft.com/office/drawing/2014/main" xmlns="" val="1845773962"/>
                    </a:ext>
                  </a:extLst>
                </a:gridCol>
                <a:gridCol w="591023">
                  <a:extLst>
                    <a:ext uri="{9D8B030D-6E8A-4147-A177-3AD203B41FA5}">
                      <a16:colId xmlns:a16="http://schemas.microsoft.com/office/drawing/2014/main" xmlns="" val="1497826101"/>
                    </a:ext>
                  </a:extLst>
                </a:gridCol>
              </a:tblGrid>
              <a:tr h="722999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V.B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6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RHS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4111632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dirty="0" err="1">
                          <a:solidFill>
                            <a:srgbClr val="FF0000"/>
                          </a:solidFill>
                        </a:rPr>
                        <a:t>Z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19467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3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123455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4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7043837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5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aseline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5184148"/>
                  </a:ext>
                </a:extLst>
              </a:tr>
              <a:tr h="611418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x</a:t>
                      </a:r>
                      <a:r>
                        <a:rPr lang="pt-BR" b="1" baseline="-25000" dirty="0"/>
                        <a:t>6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  <a:endParaRPr lang="pt-BR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828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43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F7EAB9-A2C3-379A-3EF1-4FF2A565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1C653DE-E2B5-F558-9B61-0D3B933DAE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9745A1-9639-FC7D-840B-FCDEB2DB0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Algoritmo Simplex </a:t>
            </a:r>
            <a:b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</a:br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(em tabelas)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C0CAD09-E4BA-1811-4CDA-77CD6D6E2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89" y="2701836"/>
            <a:ext cx="10523621" cy="3537959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Fase I: </a:t>
            </a:r>
            <a:r>
              <a:rPr lang="pt-BR" dirty="0"/>
              <a:t>Determine uma tabela simplex inicial, isto é, a matriz de recursos contém uma matriz identidade m </a:t>
            </a:r>
            <a:r>
              <a:rPr lang="pt-BR" dirty="0">
                <a:sym typeface="Symbol"/>
              </a:rPr>
              <a:t> m ( m é o número de equações) e na primeira linha aparecem z – c = 0.</a:t>
            </a:r>
          </a:p>
          <a:p>
            <a:pPr algn="l"/>
            <a:endParaRPr lang="pt-BR" dirty="0">
              <a:sym typeface="Symbol"/>
            </a:endParaRPr>
          </a:p>
          <a:p>
            <a:pPr algn="l"/>
            <a:r>
              <a:rPr lang="pt-BR" dirty="0">
                <a:sym typeface="Symbol"/>
              </a:rPr>
              <a:t>Faça iteração = 0.</a:t>
            </a:r>
            <a:endParaRPr lang="pt-BR" dirty="0"/>
          </a:p>
          <a:p>
            <a:pPr algn="l"/>
            <a:endParaRPr lang="pt-BR" dirty="0">
              <a:latin typeface="Hagrid Text"/>
            </a:endParaRPr>
          </a:p>
          <a:p>
            <a:pPr algn="l">
              <a:lnSpc>
                <a:spcPts val="525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3E6C51F2-5F8F-AFC9-9CB5-5D1AA39682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3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FD2969-8F4E-9AEA-ABB6-A3375A98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F9343A1E-2322-CBFE-9E03-B2123B20AB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7523A0F-4E0C-F969-C76D-5E7CAC163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5"/>
            <a:ext cx="9144000" cy="1358708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Algoritmo Simplex </a:t>
            </a:r>
            <a:b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</a:br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(em tabelas)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xmlns="" id="{305A2FF5-93F3-94AD-3FA1-918E655D26F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34189" y="1976913"/>
                <a:ext cx="10812379" cy="426288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pt-BR" b="1" dirty="0">
                    <a:latin typeface="Hagrid Text"/>
                  </a:rPr>
                  <a:t>Fase II: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pt-BR" b="1" dirty="0">
                    <a:latin typeface="Hagrid Text"/>
                  </a:rPr>
                  <a:t>Passo 1. </a:t>
                </a:r>
                <a:r>
                  <a:rPr lang="pt-BR" dirty="0">
                    <a:latin typeface="Hagrid Text"/>
                  </a:rPr>
                  <a:t>Determine o menor </a:t>
                </a:r>
                <a:r>
                  <a:rPr lang="pt-BR" dirty="0" err="1">
                    <a:latin typeface="Hagrid Text"/>
                  </a:rPr>
                  <a:t>c</a:t>
                </a:r>
                <a:r>
                  <a:rPr lang="pt-BR" baseline="-25000" dirty="0" err="1">
                    <a:latin typeface="Hagrid Text"/>
                  </a:rPr>
                  <a:t>k</a:t>
                </a:r>
                <a:r>
                  <a:rPr lang="pt-BR" dirty="0">
                    <a:latin typeface="Hagrid Text"/>
                  </a:rPr>
                  <a:t>. </a:t>
                </a:r>
                <a:endParaRPr lang="pt-BR" dirty="0">
                  <a:latin typeface="Hagrid Text"/>
                  <a:sym typeface="Symbol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pt-BR" b="1" dirty="0">
                    <a:latin typeface="Hagrid Text"/>
                    <a:sym typeface="Symbol"/>
                  </a:rPr>
                  <a:t>Passo 2. </a:t>
                </a:r>
                <a:r>
                  <a:rPr lang="pt-BR" dirty="0">
                    <a:latin typeface="Hagrid Text"/>
                    <a:sym typeface="Symbol"/>
                  </a:rPr>
                  <a:t>Se </a:t>
                </a:r>
                <a:r>
                  <a:rPr lang="pt-BR" dirty="0" err="1">
                    <a:latin typeface="Hagrid Text"/>
                    <a:sym typeface="Symbol"/>
                  </a:rPr>
                  <a:t>c</a:t>
                </a:r>
                <a:r>
                  <a:rPr lang="pt-BR" baseline="-25000" dirty="0" err="1">
                    <a:latin typeface="Hagrid Text"/>
                    <a:sym typeface="Symbol"/>
                  </a:rPr>
                  <a:t>k</a:t>
                </a:r>
                <a:r>
                  <a:rPr lang="pt-BR" dirty="0">
                    <a:latin typeface="Hagrid Text"/>
                    <a:sym typeface="Symbol"/>
                  </a:rPr>
                  <a:t>  0, então pare (a SB na iteração é ótima). Senão, a variável </a:t>
                </a:r>
                <a:r>
                  <a:rPr lang="pt-BR" dirty="0" err="1">
                    <a:latin typeface="Hagrid Text"/>
                    <a:sym typeface="Symbol"/>
                  </a:rPr>
                  <a:t>x</a:t>
                </a:r>
                <a:r>
                  <a:rPr lang="pt-BR" baseline="-25000" dirty="0" err="1">
                    <a:latin typeface="Hagrid Text"/>
                    <a:sym typeface="Symbol"/>
                  </a:rPr>
                  <a:t>k</a:t>
                </a:r>
                <a:r>
                  <a:rPr lang="pt-BR" dirty="0">
                    <a:latin typeface="Hagrid Text"/>
                    <a:sym typeface="Symbol"/>
                  </a:rPr>
                  <a:t> entra na base. Coluna k é chamada </a:t>
                </a:r>
                <a:r>
                  <a:rPr lang="pt-BR" b="1" dirty="0">
                    <a:latin typeface="Hagrid Text"/>
                    <a:sym typeface="Symbol"/>
                  </a:rPr>
                  <a:t>coluna pivô</a:t>
                </a:r>
                <a:r>
                  <a:rPr lang="pt-BR" dirty="0">
                    <a:latin typeface="Hagrid Text"/>
                    <a:sym typeface="Symbol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pt-BR" b="1" dirty="0">
                    <a:latin typeface="Hagrid Text"/>
                    <a:sym typeface="Symbol"/>
                  </a:rPr>
                  <a:t>Passo 3. </a:t>
                </a:r>
                <a:r>
                  <a:rPr lang="pt-BR" dirty="0">
                    <a:latin typeface="Hagrid Text"/>
                    <a:sym typeface="Symbol"/>
                  </a:rPr>
                  <a:t>Se </a:t>
                </a:r>
                <a:r>
                  <a:rPr lang="pt-BR" dirty="0" err="1">
                    <a:latin typeface="Hagrid Text"/>
                    <a:sym typeface="Symbol"/>
                  </a:rPr>
                  <a:t>a</a:t>
                </a:r>
                <a:r>
                  <a:rPr lang="pt-BR" baseline="-25000" dirty="0" err="1">
                    <a:latin typeface="Hagrid Text"/>
                    <a:sym typeface="Symbol"/>
                  </a:rPr>
                  <a:t>ik</a:t>
                </a:r>
                <a:r>
                  <a:rPr lang="pt-BR" dirty="0">
                    <a:latin typeface="Hagrid Text"/>
                    <a:sym typeface="Symbol"/>
                  </a:rPr>
                  <a:t>  0, i = 1, ..., m, então pare (z é ilimitado). Senão, determine 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𝑏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i="1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𝑟𝑘</m:t>
                            </m:r>
                          </m:sub>
                        </m:sSub>
                      </m:den>
                    </m:f>
                    <m:r>
                      <a:rPr lang="pt-BR" i="1">
                        <a:latin typeface="Cambria Math"/>
                        <a:sym typeface="Symbol"/>
                      </a:rPr>
                      <m:t>=</m:t>
                    </m:r>
                    <m:r>
                      <m:rPr>
                        <m:sty m:val="p"/>
                      </m:rPr>
                      <a:rPr lang="pt-BR">
                        <a:latin typeface="Cambria Math"/>
                        <a:sym typeface="Symbol"/>
                      </a:rPr>
                      <m:t>min</m:t>
                    </m:r>
                    <m:r>
                      <a:rPr lang="pt-BR" i="1">
                        <a:latin typeface="Cambria Math"/>
                        <a:sym typeface="Symbol"/>
                      </a:rPr>
                      <m:t>⁡</m:t>
                    </m:r>
                    <m:d>
                      <m:dPr>
                        <m:begChr m:val="{"/>
                        <m:endChr m:val="}"/>
                        <m:ctrlPr>
                          <a:rPr lang="pt-BR" i="1">
                            <a:latin typeface="Cambria Math"/>
                            <a:sym typeface="Symbol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>
                                <a:latin typeface="Cambria Math"/>
                                <a:sym typeface="Symbol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i="1">
                                    <a:latin typeface="Cambria Math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  <a:sym typeface="Symbol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  <a:sym typeface="Symbol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pt-BR" i="1">
                                    <a:latin typeface="Cambria Math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  <a:sym typeface="Symbol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  <a:sym typeface="Symbol"/>
                                  </a:rPr>
                                  <m:t>𝑖𝑘</m:t>
                                </m:r>
                              </m:sub>
                            </m:sSub>
                          </m:den>
                        </m:f>
                        <m:r>
                          <a:rPr lang="pt-BR" i="1">
                            <a:latin typeface="Cambria Math"/>
                            <a:sym typeface="Symbol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  <a:sym typeface="Symbol"/>
                              </a:rPr>
                              <m:t>𝑖𝑘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  <a:sym typeface="Symbol"/>
                          </a:rPr>
                          <m:t>&gt;0, </m:t>
                        </m:r>
                        <m:r>
                          <a:rPr lang="pt-BR" i="1">
                            <a:latin typeface="Cambria Math"/>
                            <a:sym typeface="Symbol"/>
                          </a:rPr>
                          <m:t>𝑖</m:t>
                        </m:r>
                        <m:r>
                          <a:rPr lang="pt-BR" i="1">
                            <a:latin typeface="Cambria Math"/>
                            <a:sym typeface="Symbol"/>
                          </a:rPr>
                          <m:t>=1,…,</m:t>
                        </m:r>
                        <m:r>
                          <a:rPr lang="pt-BR" i="1">
                            <a:latin typeface="Cambria Math"/>
                            <a:sym typeface="Symbol"/>
                          </a:rPr>
                          <m:t>𝑚</m:t>
                        </m:r>
                      </m:e>
                    </m:d>
                  </m:oMath>
                </a14:m>
                <a:r>
                  <a:rPr lang="pt-BR" dirty="0">
                    <a:latin typeface="Hagrid Text"/>
                  </a:rPr>
                  <a:t> (A VB da linha r sai da base). Linha r é chamada </a:t>
                </a:r>
                <a:r>
                  <a:rPr lang="pt-BR" b="1" dirty="0">
                    <a:latin typeface="Hagrid Text"/>
                  </a:rPr>
                  <a:t>linha pivô </a:t>
                </a:r>
                <a:r>
                  <a:rPr lang="pt-BR" dirty="0">
                    <a:latin typeface="Hagrid Text"/>
                  </a:rPr>
                  <a:t>e </a:t>
                </a:r>
                <a:r>
                  <a:rPr lang="pt-BR" dirty="0" err="1">
                    <a:latin typeface="Hagrid Text"/>
                  </a:rPr>
                  <a:t>a</a:t>
                </a:r>
                <a:r>
                  <a:rPr lang="pt-BR" baseline="-25000" dirty="0" err="1">
                    <a:latin typeface="Hagrid Text"/>
                  </a:rPr>
                  <a:t>rk</a:t>
                </a:r>
                <a:r>
                  <a:rPr lang="pt-BR" dirty="0">
                    <a:latin typeface="Hagrid Text"/>
                  </a:rPr>
                  <a:t> é chamado </a:t>
                </a:r>
                <a:r>
                  <a:rPr lang="pt-BR" b="1" dirty="0">
                    <a:latin typeface="Hagrid Text"/>
                  </a:rPr>
                  <a:t>número pivô</a:t>
                </a:r>
                <a:r>
                  <a:rPr lang="pt-BR" dirty="0">
                    <a:latin typeface="Hagrid Text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pt-BR" b="1" dirty="0">
                    <a:latin typeface="Hagrid Text"/>
                  </a:rPr>
                  <a:t>Passo 4. </a:t>
                </a:r>
                <a:r>
                  <a:rPr lang="pt-BR" dirty="0">
                    <a:latin typeface="Hagrid Text"/>
                  </a:rPr>
                  <a:t>Atualize a tabela simplex (Operações de Gauss-Jordan). A variável </a:t>
                </a:r>
                <a:r>
                  <a:rPr lang="pt-BR" dirty="0" err="1">
                    <a:latin typeface="Hagrid Text"/>
                  </a:rPr>
                  <a:t>x</a:t>
                </a:r>
                <a:r>
                  <a:rPr lang="pt-BR" baseline="-25000" dirty="0" err="1">
                    <a:latin typeface="Hagrid Text"/>
                  </a:rPr>
                  <a:t>k</a:t>
                </a:r>
                <a:r>
                  <a:rPr lang="pt-BR" dirty="0">
                    <a:latin typeface="Hagrid Text"/>
                  </a:rPr>
                  <a:t> passa a ser VB na linha r. Faça iteração = iteração + 1 e retorne ao passo 1.</a:t>
                </a:r>
              </a:p>
              <a:p>
                <a:pPr algn="l">
                  <a:lnSpc>
                    <a:spcPct val="100000"/>
                  </a:lnSpc>
                </a:pPr>
                <a:endParaRPr lang="pt-BR" b="1" baseline="-25000" dirty="0">
                  <a:latin typeface="Hagrid Text"/>
                </a:endParaRPr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305A2FF5-93F3-94AD-3FA1-918E655D2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34189" y="1976913"/>
                <a:ext cx="10812379" cy="4262883"/>
              </a:xfrm>
              <a:blipFill>
                <a:blip r:embed="rId4"/>
                <a:stretch>
                  <a:fillRect l="-902" t="-1143" r="-789" b="-2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9877A0FA-0B54-8EB6-E39F-DB2A824A62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3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24E35E-0A82-E754-BB9F-4733CF9D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12EB07D0-C824-4E0D-9395-4821EA6495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B25DEA0-1545-9797-C2F6-4001C4A49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5"/>
            <a:ext cx="9144000" cy="937306"/>
          </a:xfrm>
        </p:spPr>
        <p:txBody>
          <a:bodyPr>
            <a:noAutofit/>
          </a:bodyPr>
          <a:lstStyle/>
          <a:p>
            <a:r>
              <a:rPr lang="pt-BR" sz="5400" b="1" dirty="0" err="1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Pivoteamento</a:t>
            </a:r>
            <a:endParaRPr lang="pt-BR" sz="54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E2AC82E-48BE-3546-BE51-6F8CDCA6A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89" y="1976913"/>
            <a:ext cx="10812379" cy="4262883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latin typeface="Hagrid Text"/>
              </a:rPr>
              <a:t>Operações de </a:t>
            </a:r>
            <a:r>
              <a:rPr lang="pt-BR" b="1" dirty="0" smtClean="0">
                <a:latin typeface="Hagrid Text"/>
              </a:rPr>
              <a:t>Gauss-Jordan </a:t>
            </a:r>
            <a:r>
              <a:rPr lang="pt-BR" b="1" dirty="0">
                <a:latin typeface="Hagrid Text"/>
              </a:rPr>
              <a:t>(</a:t>
            </a:r>
            <a:r>
              <a:rPr lang="pt-BR" b="1" dirty="0" err="1">
                <a:latin typeface="Hagrid Text"/>
              </a:rPr>
              <a:t>Pivoteamento</a:t>
            </a:r>
            <a:r>
              <a:rPr lang="pt-BR" b="1" dirty="0">
                <a:latin typeface="Hagrid Text"/>
              </a:rPr>
              <a:t>)</a:t>
            </a:r>
          </a:p>
          <a:p>
            <a:pPr marL="514350" indent="-514350" algn="l">
              <a:buAutoNum type="arabicPeriod"/>
            </a:pPr>
            <a:r>
              <a:rPr lang="pt-BR" dirty="0">
                <a:latin typeface="Hagrid Text"/>
              </a:rPr>
              <a:t>Linha pivô</a:t>
            </a:r>
          </a:p>
          <a:p>
            <a:pPr marL="514350" indent="-514350" algn="l">
              <a:buAutoNum type="alphaLcParenBoth"/>
            </a:pPr>
            <a:r>
              <a:rPr lang="pt-BR" dirty="0">
                <a:latin typeface="Hagrid Text"/>
              </a:rPr>
              <a:t>Substitua a variável que sai da base pela variável que entra na base</a:t>
            </a:r>
          </a:p>
          <a:p>
            <a:pPr marL="514350" indent="-514350" algn="l">
              <a:buAutoNum type="alphaLcParenBoth"/>
            </a:pPr>
            <a:r>
              <a:rPr lang="pt-BR" dirty="0">
                <a:latin typeface="Hagrid Text"/>
              </a:rPr>
              <a:t>Nova linha pivô = linha pivô atual </a:t>
            </a:r>
            <a:r>
              <a:rPr lang="pt-BR" dirty="0">
                <a:latin typeface="Hagrid Text"/>
                <a:sym typeface="Symbol"/>
              </a:rPr>
              <a:t></a:t>
            </a:r>
            <a:r>
              <a:rPr lang="pt-BR" dirty="0">
                <a:latin typeface="Hagrid Text"/>
              </a:rPr>
              <a:t> nº pivô.</a:t>
            </a:r>
          </a:p>
          <a:p>
            <a:pPr algn="l"/>
            <a:r>
              <a:rPr lang="pt-BR" dirty="0">
                <a:latin typeface="Hagrid Text"/>
              </a:rPr>
              <a:t>2. Todas as outras linhas (inclusive a linha de z).</a:t>
            </a:r>
          </a:p>
          <a:p>
            <a:pPr algn="l"/>
            <a:r>
              <a:rPr lang="pt-BR" dirty="0">
                <a:latin typeface="Hagrid Text"/>
              </a:rPr>
              <a:t>Nova linha = (linha atual) – (coeficiente da coluna pivô na linha atual) </a:t>
            </a:r>
            <a:r>
              <a:rPr lang="pt-BR" dirty="0">
                <a:latin typeface="Hagrid Text"/>
                <a:sym typeface="Symbol"/>
              </a:rPr>
              <a:t>(nova linha pivô)</a:t>
            </a:r>
            <a:endParaRPr lang="pt-BR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A2A1ED7-96F4-8A02-E291-E10AD93AD5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8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DB0912-8ED0-EDF7-7FE2-25A0F894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xmlns="" id="{5C547C19-5CAD-26DD-920F-4C67C3F3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-26895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9C077D3-F22A-2CD6-74A6-B9CC8F934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904"/>
            <a:ext cx="9144000" cy="238760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CASOS ESPECIAIS: SIMPLEX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18119749-D11B-A3BA-AC04-DDE10AC272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7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06C107-91D4-4718-EA42-BC6C5752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A37FEBBD-E9C4-AF74-9917-47A525F9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AA6E00-1AC3-E235-654B-22B4C286D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4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Método Simplex: casos de empate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DD1367A-D607-D9B8-7E70-05FA2BD82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89" y="1976913"/>
            <a:ext cx="10812379" cy="4262883"/>
          </a:xfrm>
        </p:spPr>
        <p:txBody>
          <a:bodyPr>
            <a:noAutofit/>
          </a:bodyPr>
          <a:lstStyle/>
          <a:p>
            <a:pPr algn="l"/>
            <a:r>
              <a:rPr lang="pt-BR" dirty="0">
                <a:latin typeface="Hagrid Text"/>
              </a:rPr>
              <a:t>Em caso de empate das VNB no passo 1 do algoritmo, escolha de modo arbitrário.</a:t>
            </a:r>
          </a:p>
          <a:p>
            <a:pPr algn="l"/>
            <a:endParaRPr lang="pt-BR" dirty="0">
              <a:latin typeface="Hagrid Text"/>
            </a:endParaRPr>
          </a:p>
          <a:p>
            <a:pPr algn="l"/>
            <a:r>
              <a:rPr lang="pt-BR" b="1" dirty="0">
                <a:latin typeface="Hagrid Text"/>
              </a:rPr>
              <a:t>Em caso de empate para a VB que sai – degenerescência: </a:t>
            </a:r>
            <a:r>
              <a:rPr lang="pt-BR" dirty="0">
                <a:latin typeface="Hagrid Text"/>
              </a:rPr>
              <a:t>a VB que não foi escolhida na iteração atual torna-se degenerada. Nesse caso, o simplex pode entrar num loop, repetindo a mesma sequência de soluções.</a:t>
            </a: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E6C9DBA3-5E24-AC0B-B488-53BEB3CA70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99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E522971-E2AA-62A3-F5F0-B3532EAC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DB127F7F-9EA3-EF91-DD98-BD191AC1E3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628733F-8BCD-2074-7FAA-6A920DEA6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947" y="618204"/>
            <a:ext cx="9545053" cy="937307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Múltiplas soluções ótimas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6E579B2-1E06-91D6-69D0-9A27AD102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89" y="1976913"/>
            <a:ext cx="10812379" cy="4262883"/>
          </a:xfr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Hagrid Text"/>
              </a:rPr>
              <a:t>Toda vez que um PPL tiver mais de uma SBV ótima, pelo menos</a:t>
            </a:r>
          </a:p>
          <a:p>
            <a:pPr algn="just"/>
            <a:r>
              <a:rPr lang="pt-BR" dirty="0">
                <a:latin typeface="Hagrid Text"/>
              </a:rPr>
              <a:t> uma das VNB terá um coeficiente igual a zero na linha 0 final. </a:t>
            </a:r>
          </a:p>
          <a:p>
            <a:pPr algn="just"/>
            <a:endParaRPr lang="pt-BR" dirty="0">
              <a:latin typeface="Hagrid Text"/>
            </a:endParaRPr>
          </a:p>
          <a:p>
            <a:pPr algn="just"/>
            <a:r>
              <a:rPr lang="pt-BR" dirty="0">
                <a:latin typeface="Hagrid Text"/>
              </a:rPr>
              <a:t>As outras SBV ótimas podem ser identificadas executando-se</a:t>
            </a:r>
          </a:p>
          <a:p>
            <a:pPr algn="just"/>
            <a:r>
              <a:rPr lang="pt-BR" dirty="0">
                <a:latin typeface="Hagrid Text"/>
              </a:rPr>
              <a:t> iterações adicionais do método simplex e cada vez escolhendo-se</a:t>
            </a:r>
          </a:p>
          <a:p>
            <a:pPr algn="just"/>
            <a:r>
              <a:rPr lang="pt-BR" dirty="0">
                <a:latin typeface="Hagrid Text"/>
              </a:rPr>
              <a:t> uma VNB com um coeficiente igual a zero como VB que entra.</a:t>
            </a:r>
          </a:p>
          <a:p>
            <a:pPr algn="just"/>
            <a:endParaRPr lang="pt-BR" dirty="0">
              <a:latin typeface="Hagrid Text"/>
            </a:endParaRPr>
          </a:p>
          <a:p>
            <a:pPr algn="just"/>
            <a:r>
              <a:rPr lang="pt-BR" dirty="0">
                <a:latin typeface="Hagrid Text"/>
              </a:rPr>
              <a:t>Todas as soluções ótimas são uma combinação convexa </a:t>
            </a:r>
          </a:p>
          <a:p>
            <a:pPr algn="just"/>
            <a:r>
              <a:rPr lang="pt-BR" dirty="0">
                <a:latin typeface="Hagrid Text"/>
              </a:rPr>
              <a:t>das SBV encontradas. </a:t>
            </a: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AC96A47-EB6A-9912-6EB1-0C594CAE84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30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247694-6E7D-ED0E-D703-B95DF241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69DAB542-39A1-A62F-3A60-FC24618F3E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ECAA9FC-CCED-C008-AC6E-B6D2B0B38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4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Observação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147756F-5F25-6788-3550-89288B6FE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8484" y="2919663"/>
            <a:ext cx="8775032" cy="3320133"/>
          </a:xfrm>
        </p:spPr>
        <p:txBody>
          <a:bodyPr>
            <a:noAutofit/>
          </a:bodyPr>
          <a:lstStyle/>
          <a:p>
            <a:r>
              <a:rPr lang="pt-BR" dirty="0"/>
              <a:t>Qualquer média ponderada de dois ou mais vetores em que os pesos são não-negativos e cuja soma é 1 é chamada </a:t>
            </a:r>
            <a:r>
              <a:rPr lang="pt-BR" b="1" dirty="0"/>
              <a:t>combinação convexa </a:t>
            </a:r>
            <a:r>
              <a:rPr lang="pt-BR" dirty="0"/>
              <a:t>dessas soluções.</a:t>
            </a: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D2BA6F2-8F16-38A2-6DFD-FB1631D2B2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9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91FBD9-04B6-1F3E-1D7B-270F69BF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0D99502D-51A9-4133-EA41-25CA38FB58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2C7C7B-44B9-C461-3212-3E832D779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4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Exemplos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813F0EA-BF78-998C-52E8-92B3FD493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8484" y="2261937"/>
            <a:ext cx="8775032" cy="3977859"/>
          </a:xfrm>
        </p:spPr>
        <p:txBody>
          <a:bodyPr>
            <a:noAutofit/>
          </a:bodyPr>
          <a:lstStyle/>
          <a:p>
            <a:r>
              <a:rPr lang="pt-BR" dirty="0"/>
              <a:t>Determine as soluções ótimas para cada um dos seguintes PPL, usando a tabela simplex.</a:t>
            </a:r>
          </a:p>
          <a:p>
            <a:endParaRPr lang="pt-BR" b="1" dirty="0"/>
          </a:p>
          <a:p>
            <a:pPr marL="514350" indent="-514350">
              <a:buAutoNum type="alphaLcParenR"/>
            </a:pPr>
            <a:r>
              <a:rPr lang="pt-BR" b="1" dirty="0" err="1"/>
              <a:t>max</a:t>
            </a:r>
            <a:r>
              <a:rPr lang="pt-BR" b="1" dirty="0"/>
              <a:t> z = 2x</a:t>
            </a:r>
            <a:r>
              <a:rPr lang="pt-BR" b="1" baseline="-25000" dirty="0"/>
              <a:t>1</a:t>
            </a:r>
            <a:r>
              <a:rPr lang="pt-BR" b="1" dirty="0"/>
              <a:t> + 3x</a:t>
            </a:r>
            <a:r>
              <a:rPr lang="pt-BR" b="1" baseline="-25000" dirty="0"/>
              <a:t>2</a:t>
            </a:r>
          </a:p>
          <a:p>
            <a:r>
              <a:rPr lang="pt-BR" b="1" dirty="0"/>
              <a:t>s. a.</a:t>
            </a:r>
          </a:p>
          <a:p>
            <a:r>
              <a:rPr lang="pt-BR" b="1" dirty="0"/>
              <a:t>2x</a:t>
            </a:r>
            <a:r>
              <a:rPr lang="pt-BR" b="1" baseline="-25000" dirty="0"/>
              <a:t>1</a:t>
            </a:r>
            <a:r>
              <a:rPr lang="pt-BR" b="1" dirty="0"/>
              <a:t> + x</a:t>
            </a:r>
            <a:r>
              <a:rPr lang="pt-BR" b="1" baseline="-25000" dirty="0"/>
              <a:t>2</a:t>
            </a:r>
            <a:r>
              <a:rPr lang="pt-BR" b="1" dirty="0"/>
              <a:t> </a:t>
            </a:r>
            <a:r>
              <a:rPr lang="pt-BR" b="1" dirty="0">
                <a:sym typeface="Symbol"/>
              </a:rPr>
              <a:t> 4</a:t>
            </a:r>
          </a:p>
          <a:p>
            <a:r>
              <a:rPr lang="pt-BR" b="1" dirty="0">
                <a:sym typeface="Symbol"/>
              </a:rPr>
              <a:t>x</a:t>
            </a:r>
            <a:r>
              <a:rPr lang="pt-BR" b="1" baseline="-25000" dirty="0"/>
              <a:t>1</a:t>
            </a:r>
            <a:r>
              <a:rPr lang="pt-BR" b="1" dirty="0">
                <a:sym typeface="Symbol"/>
              </a:rPr>
              <a:t> + 2x</a:t>
            </a:r>
            <a:r>
              <a:rPr lang="pt-BR" b="1" baseline="-25000" dirty="0"/>
              <a:t>2</a:t>
            </a:r>
            <a:r>
              <a:rPr lang="pt-BR" b="1" dirty="0">
                <a:sym typeface="Symbol"/>
              </a:rPr>
              <a:t>  5</a:t>
            </a:r>
          </a:p>
          <a:p>
            <a:r>
              <a:rPr lang="pt-BR" b="1" dirty="0">
                <a:sym typeface="Symbol"/>
              </a:rPr>
              <a:t>x</a:t>
            </a:r>
            <a:r>
              <a:rPr lang="pt-BR" b="1" baseline="-25000" dirty="0"/>
              <a:t>1</a:t>
            </a:r>
            <a:r>
              <a:rPr lang="pt-BR" b="1" dirty="0">
                <a:sym typeface="Symbol"/>
              </a:rPr>
              <a:t>, x</a:t>
            </a:r>
            <a:r>
              <a:rPr lang="pt-BR" b="1" baseline="-25000" dirty="0"/>
              <a:t>2</a:t>
            </a:r>
            <a:r>
              <a:rPr lang="pt-BR" b="1" dirty="0">
                <a:sym typeface="Symbol"/>
              </a:rPr>
              <a:t>  0</a:t>
            </a:r>
            <a:endParaRPr lang="pt-BR" b="1" dirty="0"/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A05239CF-54A1-D8DD-5DDB-F6FF6660A0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482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714F7F-0CEC-0913-DD25-DAC354FE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215B8D1E-003A-CE40-AACD-6EC5F13E4C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6F4168-2194-4431-75D3-CDD4CFEF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4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Exemplos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30D8ED3-AAC3-065F-CC6D-81090B72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4172" y="2261937"/>
            <a:ext cx="8775032" cy="3977859"/>
          </a:xfrm>
        </p:spPr>
        <p:txBody>
          <a:bodyPr numCol="2">
            <a:noAutofit/>
          </a:bodyPr>
          <a:lstStyle/>
          <a:p>
            <a:r>
              <a:rPr lang="pt-BR" b="1" dirty="0">
                <a:latin typeface="Hagrid Text"/>
              </a:rPr>
              <a:t>b) </a:t>
            </a:r>
            <a:r>
              <a:rPr lang="pt-BR" b="1" dirty="0" err="1">
                <a:latin typeface="Hagrid Text"/>
              </a:rPr>
              <a:t>max</a:t>
            </a:r>
            <a:r>
              <a:rPr lang="pt-BR" b="1" dirty="0">
                <a:latin typeface="Hagrid Text"/>
              </a:rPr>
              <a:t> z = 20x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+ 10x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+ x</a:t>
            </a:r>
            <a:r>
              <a:rPr lang="pt-BR" b="1" baseline="-25000" dirty="0">
                <a:latin typeface="Hagrid Text"/>
                <a:sym typeface="Symbol"/>
              </a:rPr>
              <a:t>3</a:t>
            </a:r>
            <a:r>
              <a:rPr lang="pt-BR" b="1" baseline="-25000" dirty="0">
                <a:latin typeface="Hagrid Text"/>
              </a:rPr>
              <a:t> </a:t>
            </a:r>
          </a:p>
          <a:p>
            <a:r>
              <a:rPr lang="pt-BR" b="1" dirty="0">
                <a:latin typeface="Hagrid Text"/>
              </a:rPr>
              <a:t>s. a.</a:t>
            </a:r>
          </a:p>
          <a:p>
            <a:r>
              <a:rPr lang="pt-BR" b="1" dirty="0">
                <a:latin typeface="Hagrid Text"/>
              </a:rPr>
              <a:t>3x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- 3x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+ 5x</a:t>
            </a:r>
            <a:r>
              <a:rPr lang="pt-BR" b="1" baseline="-25000" dirty="0">
                <a:latin typeface="Hagrid Text"/>
                <a:sym typeface="Symbol"/>
              </a:rPr>
              <a:t>3 </a:t>
            </a:r>
            <a:r>
              <a:rPr lang="pt-BR" b="1" dirty="0">
                <a:latin typeface="Hagrid Text"/>
                <a:sym typeface="Symbol"/>
              </a:rPr>
              <a:t> 50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 + x</a:t>
            </a:r>
            <a:r>
              <a:rPr lang="pt-BR" b="1" baseline="-25000" dirty="0">
                <a:latin typeface="Hagrid Text"/>
              </a:rPr>
              <a:t>3</a:t>
            </a:r>
            <a:r>
              <a:rPr lang="pt-BR" b="1" dirty="0">
                <a:latin typeface="Hagrid Text"/>
                <a:sym typeface="Symbol"/>
              </a:rPr>
              <a:t>  10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 –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+ 4x</a:t>
            </a:r>
            <a:r>
              <a:rPr lang="pt-BR" b="1" baseline="-25000" dirty="0">
                <a:latin typeface="Hagrid Text"/>
                <a:sym typeface="Symbol"/>
              </a:rPr>
              <a:t>3 </a:t>
            </a:r>
            <a:r>
              <a:rPr lang="pt-BR" b="1" dirty="0">
                <a:latin typeface="Hagrid Text"/>
                <a:sym typeface="Symbol"/>
              </a:rPr>
              <a:t> 20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,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, x</a:t>
            </a:r>
            <a:r>
              <a:rPr lang="pt-BR" b="1" baseline="-25000" dirty="0">
                <a:latin typeface="Hagrid Text"/>
                <a:sym typeface="Symbol"/>
              </a:rPr>
              <a:t>3</a:t>
            </a:r>
            <a:r>
              <a:rPr lang="pt-BR" b="1" dirty="0">
                <a:latin typeface="Hagrid Text"/>
                <a:sym typeface="Symbol"/>
              </a:rPr>
              <a:t>  0</a:t>
            </a:r>
            <a:endParaRPr lang="pt-BR" b="1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r>
              <a:rPr lang="pt-BR" b="1" dirty="0">
                <a:latin typeface="Hagrid Text"/>
              </a:rPr>
              <a:t>c) </a:t>
            </a:r>
            <a:r>
              <a:rPr lang="pt-BR" b="1" dirty="0" err="1">
                <a:latin typeface="Hagrid Text"/>
              </a:rPr>
              <a:t>max</a:t>
            </a:r>
            <a:r>
              <a:rPr lang="pt-BR" b="1" dirty="0">
                <a:latin typeface="Hagrid Text"/>
              </a:rPr>
              <a:t> z = 2x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+ 4x</a:t>
            </a:r>
            <a:r>
              <a:rPr lang="pt-BR" b="1" baseline="-25000" dirty="0">
                <a:latin typeface="Hagrid Text"/>
              </a:rPr>
              <a:t>2</a:t>
            </a:r>
          </a:p>
          <a:p>
            <a:r>
              <a:rPr lang="pt-BR" b="1" dirty="0">
                <a:latin typeface="Hagrid Text"/>
              </a:rPr>
              <a:t>s. a.</a:t>
            </a:r>
          </a:p>
          <a:p>
            <a:r>
              <a:rPr lang="pt-BR" b="1" dirty="0">
                <a:latin typeface="Hagrid Text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+ 2x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</a:t>
            </a:r>
            <a:r>
              <a:rPr lang="pt-BR" b="1" dirty="0">
                <a:latin typeface="Hagrid Text"/>
                <a:sym typeface="Symbol"/>
              </a:rPr>
              <a:t> 5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 +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 4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,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 0</a:t>
            </a:r>
            <a:endParaRPr lang="pt-BR" b="1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3B08EAA2-DA03-8FF7-27B1-2EFA2435CB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27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36DF67C-E597-D404-E8C5-97812264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FA784A09-6EA5-8542-6825-2EDD27DBEF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741AB05-77F9-DA1A-FC0D-092A32686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204"/>
            <a:ext cx="9144000" cy="1264823"/>
          </a:xfrm>
        </p:spPr>
        <p:txBody>
          <a:bodyPr>
            <a:noAutofit/>
          </a:bodyPr>
          <a:lstStyle/>
          <a:p>
            <a:r>
              <a:rPr lang="pt-BR" sz="5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Exemplos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09E6F208-A218-BD6C-383E-F453B45F4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4172" y="2261937"/>
            <a:ext cx="8775032" cy="3977859"/>
          </a:xfrm>
        </p:spPr>
        <p:txBody>
          <a:bodyPr numCol="2">
            <a:noAutofit/>
          </a:bodyPr>
          <a:lstStyle/>
          <a:p>
            <a:r>
              <a:rPr lang="pt-BR" b="1" dirty="0">
                <a:latin typeface="Hagrid Text"/>
              </a:rPr>
              <a:t>d) </a:t>
            </a:r>
            <a:r>
              <a:rPr lang="pt-BR" b="1" dirty="0" err="1">
                <a:latin typeface="Hagrid Text"/>
              </a:rPr>
              <a:t>max</a:t>
            </a:r>
            <a:r>
              <a:rPr lang="pt-BR" b="1" dirty="0">
                <a:latin typeface="Hagrid Text"/>
              </a:rPr>
              <a:t> z = 3x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+ 9x</a:t>
            </a:r>
            <a:r>
              <a:rPr lang="pt-BR" b="1" baseline="-25000" dirty="0">
                <a:latin typeface="Hagrid Text"/>
              </a:rPr>
              <a:t>2 </a:t>
            </a:r>
          </a:p>
          <a:p>
            <a:r>
              <a:rPr lang="pt-BR" b="1" dirty="0">
                <a:latin typeface="Hagrid Text"/>
              </a:rPr>
              <a:t>s. a.</a:t>
            </a:r>
          </a:p>
          <a:p>
            <a:r>
              <a:rPr lang="pt-BR" b="1" dirty="0">
                <a:latin typeface="Hagrid Text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+ 4x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</a:t>
            </a:r>
            <a:r>
              <a:rPr lang="pt-BR" b="1" dirty="0">
                <a:latin typeface="Hagrid Text"/>
                <a:sym typeface="Symbol"/>
              </a:rPr>
              <a:t> 8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 + 2x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 4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,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 0</a:t>
            </a:r>
            <a:endParaRPr lang="pt-BR" b="1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  <a:p>
            <a:r>
              <a:rPr lang="pt-BR" b="1" dirty="0">
                <a:latin typeface="Hagrid Text"/>
              </a:rPr>
              <a:t>e) min z = - 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- 2x</a:t>
            </a:r>
            <a:r>
              <a:rPr lang="pt-BR" b="1" baseline="-25000" dirty="0">
                <a:latin typeface="Hagrid Text"/>
              </a:rPr>
              <a:t>2</a:t>
            </a:r>
          </a:p>
          <a:p>
            <a:r>
              <a:rPr lang="pt-BR" b="1" dirty="0">
                <a:latin typeface="Hagrid Text"/>
              </a:rPr>
              <a:t>s. a.</a:t>
            </a:r>
          </a:p>
          <a:p>
            <a:r>
              <a:rPr lang="pt-BR" b="1" dirty="0">
                <a:latin typeface="Hagrid Text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</a:t>
            </a:r>
            <a:r>
              <a:rPr lang="pt-BR" b="1" dirty="0">
                <a:latin typeface="Hagrid Text"/>
                <a:sym typeface="Symbol"/>
              </a:rPr>
              <a:t> 6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 -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 4</a:t>
            </a:r>
          </a:p>
          <a:p>
            <a:r>
              <a:rPr lang="pt-BR" b="1" dirty="0">
                <a:latin typeface="Hagrid Text"/>
              </a:rPr>
              <a:t>- 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</a:rPr>
              <a:t> +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</a:rPr>
              <a:t> </a:t>
            </a:r>
            <a:r>
              <a:rPr lang="pt-BR" b="1" dirty="0">
                <a:latin typeface="Hagrid Text"/>
                <a:sym typeface="Symbol"/>
              </a:rPr>
              <a:t> 4</a:t>
            </a:r>
          </a:p>
          <a:p>
            <a:r>
              <a:rPr lang="pt-BR" b="1" dirty="0">
                <a:latin typeface="Hagrid Text"/>
                <a:sym typeface="Symbol"/>
              </a:rPr>
              <a:t>x</a:t>
            </a:r>
            <a:r>
              <a:rPr lang="pt-BR" b="1" baseline="-25000" dirty="0">
                <a:latin typeface="Hagrid Text"/>
              </a:rPr>
              <a:t>1</a:t>
            </a:r>
            <a:r>
              <a:rPr lang="pt-BR" b="1" dirty="0">
                <a:latin typeface="Hagrid Text"/>
                <a:sym typeface="Symbol"/>
              </a:rPr>
              <a:t>, x</a:t>
            </a:r>
            <a:r>
              <a:rPr lang="pt-BR" b="1" baseline="-25000" dirty="0">
                <a:latin typeface="Hagrid Text"/>
              </a:rPr>
              <a:t>2</a:t>
            </a:r>
            <a:r>
              <a:rPr lang="pt-BR" b="1" dirty="0">
                <a:latin typeface="Hagrid Text"/>
                <a:sym typeface="Symbol"/>
              </a:rPr>
              <a:t>  0</a:t>
            </a:r>
            <a:endParaRPr lang="pt-BR" b="1" dirty="0">
              <a:latin typeface="Hagrid Text"/>
            </a:endParaRPr>
          </a:p>
          <a:p>
            <a:pPr algn="l">
              <a:lnSpc>
                <a:spcPct val="100000"/>
              </a:lnSpc>
            </a:pPr>
            <a:endParaRPr lang="pt-BR" b="1" baseline="-25000" dirty="0">
              <a:latin typeface="Hagrid Text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9A735C30-4FE1-843D-132D-3CEFD1AEDC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45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8E6A39-C617-7D75-20E5-8DC333E9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xmlns="" id="{7283B7C8-7CB2-849D-1D37-6E20C1B9FE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1" y="-26895"/>
            <a:ext cx="7191374" cy="6661198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127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134680F-F350-A8A7-9982-19405CABE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5951"/>
            <a:ext cx="9144000" cy="238760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  <a:cs typeface="Aharoni" panose="02010803020104030203" pitchFamily="2" charset="-79"/>
              </a:rPr>
              <a:t>FIM!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405CA0AF-BA15-E954-DEBD-BB40E6369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6850"/>
            <a:ext cx="9144000" cy="1655762"/>
          </a:xfrm>
        </p:spPr>
        <p:txBody>
          <a:bodyPr/>
          <a:lstStyle/>
          <a:p>
            <a:pPr algn="l"/>
            <a:r>
              <a:rPr lang="en-US" sz="240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Profª </a:t>
            </a:r>
            <a:r>
              <a:rPr lang="en-US" sz="2400" smtClean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Dra. Andréa </a:t>
            </a:r>
            <a:r>
              <a:rPr lang="en-US" sz="2400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Bonifácio</a:t>
            </a:r>
          </a:p>
          <a:p>
            <a:pPr algn="l"/>
            <a:r>
              <a:rPr lang="en-US" sz="2400" dirty="0">
                <a:solidFill>
                  <a:srgbClr val="515254"/>
                </a:solidFill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endParaRPr lang="pt-BR" dirty="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1BB4C24-3910-9E37-392C-B58A3FB6DD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0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1771</Words>
  <Application>Microsoft Office PowerPoint</Application>
  <PresentationFormat>Personalizar</PresentationFormat>
  <Paragraphs>385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Tema do Office</vt:lpstr>
      <vt:lpstr>Tabela Simplex</vt:lpstr>
      <vt:lpstr>Método simplex em tabelas</vt:lpstr>
      <vt:lpstr>Observação</vt:lpstr>
      <vt:lpstr>Estrutura do Simplex</vt:lpstr>
      <vt:lpstr>Ideia do Simplex</vt:lpstr>
      <vt:lpstr>Definição 1</vt:lpstr>
      <vt:lpstr>Partição Básica</vt:lpstr>
      <vt:lpstr>Partição Básica</vt:lpstr>
      <vt:lpstr>Partição Básica</vt:lpstr>
      <vt:lpstr>Soluções Básicas</vt:lpstr>
      <vt:lpstr>Teoria do Algoritmo Simplex</vt:lpstr>
      <vt:lpstr>PPL Padrão</vt:lpstr>
      <vt:lpstr>Exemplo</vt:lpstr>
      <vt:lpstr>Exemplo</vt:lpstr>
      <vt:lpstr>Coeficientes e Variáveis de um PPL</vt:lpstr>
      <vt:lpstr>Modelo geral da tabela simplex</vt:lpstr>
      <vt:lpstr>Tabela simplex inicial: exemplo</vt:lpstr>
      <vt:lpstr>Tabela simplex inicial: exemplo</vt:lpstr>
      <vt:lpstr>Tabela simplex inicial: exemplo</vt:lpstr>
      <vt:lpstr>Algoritmo Simplex  (em tabelas)</vt:lpstr>
      <vt:lpstr>Algoritmo Simplex  (em tabelas)</vt:lpstr>
      <vt:lpstr>Pivoteamento</vt:lpstr>
      <vt:lpstr>CASOS ESPECIAIS: SIMPLEX</vt:lpstr>
      <vt:lpstr>Método Simplex: casos de empate</vt:lpstr>
      <vt:lpstr>Múltiplas soluções ótimas</vt:lpstr>
      <vt:lpstr>Observação</vt:lpstr>
      <vt:lpstr>Exemplos</vt:lpstr>
      <vt:lpstr>Exemplos</vt:lpstr>
      <vt:lpstr>Exemplos</vt:lpstr>
      <vt:lpstr>FIM!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Tabela Simplex</dc:title>
  <dc:creator>ANA CAROLINA NEL RODRIGUES SILVA</dc:creator>
  <cp:lastModifiedBy>andrea</cp:lastModifiedBy>
  <cp:revision>7</cp:revision>
  <dcterms:created xsi:type="dcterms:W3CDTF">2025-11-03T23:02:47Z</dcterms:created>
  <dcterms:modified xsi:type="dcterms:W3CDTF">2025-11-19T13:42:54Z</dcterms:modified>
</cp:coreProperties>
</file>