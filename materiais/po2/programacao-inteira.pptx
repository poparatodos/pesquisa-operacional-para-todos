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25" r:id="rId4"/>
    <p:sldId id="315" r:id="rId5"/>
    <p:sldId id="309" r:id="rId6"/>
    <p:sldId id="316" r:id="rId7"/>
    <p:sldId id="317" r:id="rId8"/>
    <p:sldId id="318" r:id="rId9"/>
    <p:sldId id="337" r:id="rId10"/>
    <p:sldId id="338" r:id="rId11"/>
    <p:sldId id="321" r:id="rId12"/>
    <p:sldId id="320" r:id="rId13"/>
    <p:sldId id="263" r:id="rId14"/>
    <p:sldId id="261" r:id="rId15"/>
    <p:sldId id="259" r:id="rId16"/>
    <p:sldId id="326" r:id="rId17"/>
    <p:sldId id="264" r:id="rId18"/>
    <p:sldId id="266" r:id="rId19"/>
    <p:sldId id="267" r:id="rId20"/>
    <p:sldId id="268" r:id="rId21"/>
    <p:sldId id="269" r:id="rId22"/>
    <p:sldId id="272" r:id="rId23"/>
    <p:sldId id="273" r:id="rId24"/>
    <p:sldId id="274" r:id="rId25"/>
    <p:sldId id="275" r:id="rId26"/>
    <p:sldId id="276" r:id="rId27"/>
    <p:sldId id="27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6" r:id="rId36"/>
    <p:sldId id="322" r:id="rId37"/>
    <p:sldId id="323" r:id="rId38"/>
    <p:sldId id="324" r:id="rId39"/>
    <p:sldId id="327" r:id="rId40"/>
    <p:sldId id="328" r:id="rId41"/>
    <p:sldId id="330" r:id="rId42"/>
    <p:sldId id="335" r:id="rId43"/>
    <p:sldId id="329" r:id="rId44"/>
    <p:sldId id="331" r:id="rId45"/>
    <p:sldId id="336" r:id="rId46"/>
    <p:sldId id="332" r:id="rId47"/>
    <p:sldId id="333" r:id="rId48"/>
  </p:sldIdLst>
  <p:sldSz cx="9144000" cy="6858000" type="screen4x3"/>
  <p:notesSz cx="6858000" cy="100012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 autoAdjust="0"/>
    <p:restoredTop sz="94675"/>
  </p:normalViewPr>
  <p:slideViewPr>
    <p:cSldViewPr>
      <p:cViewPr varScale="1">
        <p:scale>
          <a:sx n="109" d="100"/>
          <a:sy n="109" d="100"/>
        </p:scale>
        <p:origin x="15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5099E-9C05-4EB0-BE87-C9AC336D7C56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50888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51388"/>
            <a:ext cx="5486400" cy="45005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99600"/>
            <a:ext cx="2971800" cy="500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499600"/>
            <a:ext cx="2971800" cy="500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6536E-2C8C-4E14-B1C5-327124E7AD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53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6536E-2C8C-4E14-B1C5-327124E7AD94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42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15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07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337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54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81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40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04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11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51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7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41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F3B0F-6291-4F34-ADF6-CC19778848C9}" type="datetimeFigureOut">
              <a:rPr lang="pt-BR" smtClean="0"/>
              <a:t>07/05/2021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02C5-E4BC-4AE1-8328-8D04371B1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99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Inteira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Disciplina: Pesquisa Operacional II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87C694-A53B-0B41-A4F0-A8CD93E1A6D4}"/>
              </a:ext>
            </a:extLst>
          </p:cNvPr>
          <p:cNvSpPr txBox="1"/>
          <p:nvPr/>
        </p:nvSpPr>
        <p:spPr>
          <a:xfrm>
            <a:off x="1678329" y="8565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429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Inteira (PI)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b="1" dirty="0"/>
              <a:t>Definição: </a:t>
            </a:r>
            <a:r>
              <a:rPr lang="pt-BR" dirty="0"/>
              <a:t>A PI é uma programação matemática na qual algumas ou todas as variáveis estão restritas a valores inteiros.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problema com variáveis inteiras e reais é chamado problema de </a:t>
            </a:r>
            <a:r>
              <a:rPr lang="pt-BR" b="1" dirty="0"/>
              <a:t>programação inteira mista </a:t>
            </a:r>
            <a:r>
              <a:rPr lang="pt-BR" dirty="0"/>
              <a:t>(PIM).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Caso todas as variáveis assumem valores 0 ou 1, tem-se um problema de </a:t>
            </a:r>
            <a:r>
              <a:rPr lang="pt-BR" b="1" dirty="0"/>
              <a:t>programação 0-1</a:t>
            </a:r>
            <a:r>
              <a:rPr lang="pt-BR" dirty="0"/>
              <a:t> ou </a:t>
            </a:r>
            <a:r>
              <a:rPr lang="pt-BR" b="1" dirty="0"/>
              <a:t>binária</a:t>
            </a:r>
            <a:r>
              <a:rPr lang="pt-BR" dirty="0"/>
              <a:t> (PIB).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55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grande variedade de aplicações da PI é encontrada em engenharia de produção, compreendendo planejamento e programação da produção, projeto de layout de sistemas de produção, localização de instalações e distribuição de produtos.</a:t>
            </a:r>
          </a:p>
        </p:txBody>
      </p:sp>
    </p:spTree>
    <p:extLst>
      <p:ext uri="{BB962C8B-B14F-4D97-AF65-F5344CB8AC3E}">
        <p14:creationId xmlns:p14="http://schemas.microsoft.com/office/powerpoint/2010/main" val="428091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Linear Inteira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estudar modelos de PI onde as funções envolvidas são todas funções lineares.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29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Max z = 2x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2</a:t>
            </a:r>
          </a:p>
          <a:p>
            <a:pPr marL="0" indent="0">
              <a:buNone/>
            </a:pPr>
            <a:r>
              <a:rPr lang="pt-BR" dirty="0"/>
              <a:t>Sujeito a </a:t>
            </a:r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2</a:t>
            </a:r>
            <a:r>
              <a:rPr lang="pt-BR" dirty="0"/>
              <a:t> ≤ 5</a:t>
            </a:r>
          </a:p>
          <a:p>
            <a:pPr marL="0" indent="0">
              <a:buNone/>
            </a:pPr>
            <a:r>
              <a:rPr lang="pt-BR" dirty="0"/>
              <a:t>-x</a:t>
            </a:r>
            <a:r>
              <a:rPr lang="pt-BR" baseline="-25000" dirty="0"/>
              <a:t>1</a:t>
            </a:r>
            <a:r>
              <a:rPr lang="pt-BR" dirty="0"/>
              <a:t>+x</a:t>
            </a:r>
            <a:r>
              <a:rPr lang="pt-BR" baseline="-25000" dirty="0"/>
              <a:t>2</a:t>
            </a:r>
            <a:r>
              <a:rPr lang="pt-BR" dirty="0"/>
              <a:t>  ≤ 0</a:t>
            </a:r>
          </a:p>
          <a:p>
            <a:pPr marL="0" indent="0">
              <a:buNone/>
            </a:pPr>
            <a:r>
              <a:rPr lang="pt-BR" dirty="0"/>
              <a:t>6x</a:t>
            </a:r>
            <a:r>
              <a:rPr lang="pt-BR" baseline="-25000" dirty="0"/>
              <a:t>1</a:t>
            </a:r>
            <a:r>
              <a:rPr lang="pt-BR" dirty="0"/>
              <a:t>+2x</a:t>
            </a:r>
            <a:r>
              <a:rPr lang="pt-BR" baseline="-25000" dirty="0"/>
              <a:t>2</a:t>
            </a:r>
            <a:r>
              <a:rPr lang="pt-BR" dirty="0"/>
              <a:t> ≤ 21</a:t>
            </a:r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 inteiros positivos</a:t>
            </a:r>
          </a:p>
        </p:txBody>
      </p:sp>
    </p:spTree>
    <p:extLst>
      <p:ext uri="{BB962C8B-B14F-4D97-AF65-F5344CB8AC3E}">
        <p14:creationId xmlns:p14="http://schemas.microsoft.com/office/powerpoint/2010/main" val="2708979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 de PI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pt-BR" b="1" dirty="0"/>
              <a:t>Aplicação 1: </a:t>
            </a:r>
            <a:r>
              <a:rPr lang="pt-BR" dirty="0"/>
              <a:t>Suponha que existam cinco tipos de investimento financeiro. Considere agora as seguintes situações e monte as restrições representativas:</a:t>
            </a:r>
          </a:p>
          <a:p>
            <a:pPr lvl="0"/>
            <a:r>
              <a:rPr lang="pt-BR" dirty="0"/>
              <a:t>No máximo três investimentos são selecionados.</a:t>
            </a:r>
          </a:p>
          <a:p>
            <a:pPr lvl="0"/>
            <a:r>
              <a:rPr lang="pt-BR" dirty="0"/>
              <a:t>Exatamente um investimento é selecionado.</a:t>
            </a:r>
          </a:p>
          <a:p>
            <a:pPr lvl="0"/>
            <a:r>
              <a:rPr lang="pt-BR" dirty="0"/>
              <a:t>Se o investimento 2 é selecionado, então o investimento 1 também é selecionado.</a:t>
            </a:r>
          </a:p>
          <a:p>
            <a:pPr lvl="0"/>
            <a:r>
              <a:rPr lang="pt-BR" dirty="0"/>
              <a:t>Se o investimento 2, 3 ou 4 são selecionados, então o investimento 1 é selecionado.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5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 de PI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Aplicação 2: </a:t>
            </a:r>
            <a:r>
              <a:rPr lang="pt-BR" dirty="0"/>
              <a:t>Uma empresa precisa saber qual de dois recursos usar para determinado fim, de modo que seja necessário que uma das restrições de disponibilidade dos dois recursos seja válida. </a:t>
            </a:r>
          </a:p>
          <a:p>
            <a:r>
              <a:rPr lang="pt-BR" dirty="0"/>
              <a:t>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</a:t>
            </a:r>
            <a:r>
              <a:rPr lang="pt-BR" dirty="0"/>
              <a:t> ≤ 18 (recurso 1)</a:t>
            </a:r>
          </a:p>
          <a:p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</a:t>
            </a:r>
            <a:r>
              <a:rPr lang="pt-BR" dirty="0"/>
              <a:t> ≤ 16 (recurso 2)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955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 de 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pt-BR" b="1" dirty="0"/>
                  <a:t>Aplicação 3: </a:t>
                </a:r>
                <a:r>
                  <a:rPr lang="pt-BR" dirty="0"/>
                  <a:t>Um empreendedor quer conhecer os custos de implantação de uma pequena fábrica de calçados ortopédicos. Há um encargo fixo ou custo inicial de instalação ao empreender a atividade. O custo total da atividade  é a soma do custo variável relativo ao nível da atividade e o custo de instalação necessário para iniciá-la. </a:t>
                </a:r>
              </a:p>
              <a:p>
                <a:r>
                  <a:rPr lang="pt-BR" dirty="0"/>
                  <a:t>CT(x)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i="1">
                                <a:latin typeface="Cambria Math"/>
                              </a:rPr>
                              <m:t>𝑘</m:t>
                            </m:r>
                            <m:r>
                              <a:rPr lang="pt-BR" i="1">
                                <a:latin typeface="Cambria Math"/>
                              </a:rPr>
                              <m:t>+</m:t>
                            </m:r>
                            <m:r>
                              <a:rPr lang="pt-BR" i="1">
                                <a:latin typeface="Cambria Math"/>
                              </a:rPr>
                              <m:t>𝑐𝑥</m:t>
                            </m:r>
                            <m:r>
                              <a:rPr lang="pt-BR" i="1">
                                <a:latin typeface="Cambria Math"/>
                              </a:rPr>
                              <m:t>       </m:t>
                            </m:r>
                            <m:r>
                              <a:rPr lang="pt-BR" i="1">
                                <a:latin typeface="Cambria Math"/>
                              </a:rPr>
                              <m:t>𝑠𝑒</m:t>
                            </m:r>
                            <m:r>
                              <a:rPr lang="pt-BR" i="1">
                                <a:latin typeface="Cambria Math"/>
                              </a:rPr>
                              <m:t> </m:t>
                            </m:r>
                            <m:r>
                              <a:rPr lang="pt-BR" i="1">
                                <a:latin typeface="Cambria Math"/>
                              </a:rPr>
                              <m:t>𝑥</m:t>
                            </m:r>
                            <m:r>
                              <a:rPr lang="pt-BR" i="1">
                                <a:latin typeface="Cambria Math"/>
                              </a:rPr>
                              <m:t>&gt;0</m:t>
                            </m:r>
                          </m:e>
                          <m:e>
                            <m:r>
                              <a:rPr lang="pt-BR" i="1">
                                <a:latin typeface="Cambria Math"/>
                              </a:rPr>
                              <m:t>0                </m:t>
                            </m:r>
                            <m:r>
                              <a:rPr lang="pt-BR" i="1">
                                <a:latin typeface="Cambria Math"/>
                              </a:rPr>
                              <m:t>𝑠𝑒</m:t>
                            </m:r>
                            <m:r>
                              <a:rPr lang="pt-BR" i="1">
                                <a:latin typeface="Cambria Math"/>
                              </a:rPr>
                              <m:t> </m:t>
                            </m:r>
                            <m:r>
                              <a:rPr lang="pt-BR" i="1">
                                <a:latin typeface="Cambria Math"/>
                              </a:rPr>
                              <m:t>𝑥</m:t>
                            </m:r>
                            <m:r>
                              <a:rPr lang="pt-BR" i="1">
                                <a:latin typeface="Cambria Math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pt-BR" dirty="0">
                  <a:sym typeface="Symbol"/>
                </a:endParaRPr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21" t="-1401" r="-2315" b="-733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62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07C7A-6B74-4843-B16B-7381E9A3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Modelagem com variáveis binárias – Aplicação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AF7F4A-F34C-DF40-BCA3-ECADAA61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079501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No máximo três investimentos são selecionados: x</a:t>
            </a:r>
            <a:r>
              <a:rPr lang="pt-BR" baseline="-25000" dirty="0"/>
              <a:t>1 </a:t>
            </a:r>
            <a:r>
              <a:rPr lang="pt-BR" dirty="0"/>
              <a:t>+ x</a:t>
            </a:r>
            <a:r>
              <a:rPr lang="pt-BR" baseline="-25000" dirty="0"/>
              <a:t>2 </a:t>
            </a:r>
            <a:r>
              <a:rPr lang="pt-BR" dirty="0"/>
              <a:t>+ x</a:t>
            </a:r>
            <a:r>
              <a:rPr lang="pt-BR" baseline="-25000" dirty="0"/>
              <a:t>3 </a:t>
            </a:r>
            <a:r>
              <a:rPr lang="pt-BR" dirty="0"/>
              <a:t>+ x</a:t>
            </a:r>
            <a:r>
              <a:rPr lang="pt-BR" baseline="-25000" dirty="0"/>
              <a:t>4 </a:t>
            </a:r>
            <a:r>
              <a:rPr lang="pt-BR" dirty="0"/>
              <a:t>+ x</a:t>
            </a:r>
            <a:r>
              <a:rPr lang="pt-BR" baseline="-25000" dirty="0"/>
              <a:t>5</a:t>
            </a:r>
            <a:r>
              <a:rPr lang="pt-BR" dirty="0"/>
              <a:t> ≤ 3</a:t>
            </a:r>
          </a:p>
          <a:p>
            <a:pPr marL="0" lvl="0" indent="0">
              <a:buNone/>
            </a:pPr>
            <a:endParaRPr lang="pt-BR" dirty="0"/>
          </a:p>
          <a:p>
            <a:r>
              <a:rPr lang="pt-BR" dirty="0"/>
              <a:t>Exatamente um investimento é selecionado: </a:t>
            </a:r>
          </a:p>
          <a:p>
            <a:pPr marL="0" indent="0" algn="ctr">
              <a:buNone/>
            </a:pPr>
            <a:r>
              <a:rPr lang="pt-BR" dirty="0"/>
              <a:t>x</a:t>
            </a:r>
            <a:r>
              <a:rPr lang="pt-BR" baseline="-25000" dirty="0"/>
              <a:t>1 </a:t>
            </a:r>
            <a:r>
              <a:rPr lang="pt-BR" dirty="0"/>
              <a:t>+ x</a:t>
            </a:r>
            <a:r>
              <a:rPr lang="pt-BR" baseline="-25000" dirty="0"/>
              <a:t>2 </a:t>
            </a:r>
            <a:r>
              <a:rPr lang="pt-BR" dirty="0"/>
              <a:t>+ x</a:t>
            </a:r>
            <a:r>
              <a:rPr lang="pt-BR" baseline="-25000" dirty="0"/>
              <a:t>3 </a:t>
            </a:r>
            <a:r>
              <a:rPr lang="pt-BR" dirty="0"/>
              <a:t>+ x</a:t>
            </a:r>
            <a:r>
              <a:rPr lang="pt-BR" baseline="-25000" dirty="0"/>
              <a:t>4 </a:t>
            </a:r>
            <a:r>
              <a:rPr lang="pt-BR" dirty="0"/>
              <a:t>+ x</a:t>
            </a:r>
            <a:r>
              <a:rPr lang="pt-BR" baseline="-25000" dirty="0"/>
              <a:t>5</a:t>
            </a:r>
            <a:r>
              <a:rPr lang="pt-BR" dirty="0"/>
              <a:t> = 1</a:t>
            </a:r>
          </a:p>
          <a:p>
            <a:pPr lvl="0"/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06ACF1F8-3032-D647-AB07-69BBB87FE8D7}"/>
                  </a:ext>
                </a:extLst>
              </p:cNvPr>
              <p:cNvSpPr/>
              <p:nvPr/>
            </p:nvSpPr>
            <p:spPr>
              <a:xfrm>
                <a:off x="1835696" y="1556792"/>
                <a:ext cx="6264696" cy="1037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800" dirty="0"/>
                  <a:t>x</a:t>
                </a:r>
                <a:r>
                  <a:rPr lang="pt-BR" sz="2800" baseline="-25000" dirty="0" err="1"/>
                  <a:t>j</a:t>
                </a:r>
                <a:r>
                  <a:rPr lang="pt-BR" sz="2800" dirty="0"/>
                  <a:t> </a:t>
                </a:r>
                <a:r>
                  <a:rPr lang="pt-BR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sz="320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𝑑𝑒𝑐𝑖𝑠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ã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𝑓𝑜𝑟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𝑠𝑖𝑚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,</m:t>
                            </m:r>
                          </m:e>
                          <m:e>
                            <m:r>
                              <a:rPr lang="pt-BR" sz="3200" b="0" i="1" smtClean="0">
                                <a:latin typeface="Cambria Math"/>
                              </a:rPr>
                              <m:t>0, 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𝑑𝑒𝑐𝑖𝑠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ã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𝑓𝑜𝑟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ã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sz="3200" b="0" i="1" smtClean="0">
                                <a:latin typeface="Cambria Math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pt-BR" sz="3200" dirty="0">
                  <a:sym typeface="Symbol"/>
                </a:endParaRPr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06ACF1F8-3032-D647-AB07-69BBB87FE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556792"/>
                <a:ext cx="6264696" cy="1037913"/>
              </a:xfrm>
              <a:prstGeom prst="rect">
                <a:avLst/>
              </a:prstGeom>
              <a:blipFill>
                <a:blip r:embed="rId2"/>
                <a:stretch>
                  <a:fillRect l="-24089" t="-236585" b="-3548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25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07C7A-6B74-4843-B16B-7381E9A3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Modelagem com variáveis binárias – Aplicação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AF7F4A-F34C-DF40-BCA3-ECADAA61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2198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endParaRPr lang="pt-BR" dirty="0"/>
          </a:p>
          <a:p>
            <a:pPr lvl="0"/>
            <a:r>
              <a:rPr lang="pt-BR" dirty="0"/>
              <a:t>Se o investimento 2 é selecionado, então o investimento 1 também é selecionado.</a:t>
            </a:r>
          </a:p>
          <a:p>
            <a:pPr marL="0" lvl="0" indent="0" algn="ctr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≥ x</a:t>
            </a:r>
            <a:r>
              <a:rPr lang="pt-BR" baseline="-25000" dirty="0"/>
              <a:t>2</a:t>
            </a:r>
            <a:r>
              <a:rPr lang="pt-BR" dirty="0"/>
              <a:t> </a:t>
            </a:r>
          </a:p>
          <a:p>
            <a:pPr marL="0" lvl="0" indent="0" algn="ctr">
              <a:buNone/>
            </a:pPr>
            <a:endParaRPr lang="pt-BR" dirty="0"/>
          </a:p>
          <a:p>
            <a:r>
              <a:rPr lang="pt-BR" dirty="0"/>
              <a:t>Se o investimento 2, 3 ou 4 são selecionados, então o investimento 1 é selecionado.</a:t>
            </a:r>
          </a:p>
          <a:p>
            <a:pPr marL="0" lvl="0" indent="0" algn="ctr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≥ x</a:t>
            </a:r>
            <a:r>
              <a:rPr lang="pt-BR" baseline="-25000" dirty="0"/>
              <a:t>2</a:t>
            </a:r>
            <a:r>
              <a:rPr lang="pt-BR" dirty="0"/>
              <a:t> </a:t>
            </a:r>
          </a:p>
          <a:p>
            <a:pPr marL="0" indent="0" algn="ctr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≥  x</a:t>
            </a:r>
            <a:r>
              <a:rPr lang="pt-BR" baseline="-25000" dirty="0"/>
              <a:t>3</a:t>
            </a:r>
            <a:r>
              <a:rPr lang="pt-BR" dirty="0"/>
              <a:t>  </a:t>
            </a:r>
          </a:p>
          <a:p>
            <a:pPr marL="0" indent="0" algn="ctr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≥ x</a:t>
            </a:r>
            <a:r>
              <a:rPr lang="pt-BR" baseline="-25000" dirty="0"/>
              <a:t>4</a:t>
            </a:r>
            <a:endParaRPr lang="pt-BR" dirty="0"/>
          </a:p>
          <a:p>
            <a:pPr lvl="0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763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Modelagem com variáveis binárias – Aplicação 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u="sng" dirty="0"/>
              <a:t>Restrições ou – ou </a:t>
            </a:r>
          </a:p>
          <a:p>
            <a:r>
              <a:rPr lang="pt-BR" dirty="0"/>
              <a:t>Ou 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 18</a:t>
            </a:r>
          </a:p>
          <a:p>
            <a:r>
              <a:rPr lang="pt-BR" dirty="0">
                <a:sym typeface="Symbol"/>
              </a:rPr>
              <a:t>Ou então x</a:t>
            </a:r>
            <a:r>
              <a:rPr lang="pt-BR" baseline="-25000" dirty="0"/>
              <a:t>1</a:t>
            </a:r>
            <a:r>
              <a:rPr lang="pt-BR" dirty="0">
                <a:sym typeface="Symbol"/>
              </a:rPr>
              <a:t> + 4x</a:t>
            </a:r>
            <a:r>
              <a:rPr lang="pt-BR" baseline="-25000" dirty="0"/>
              <a:t>2</a:t>
            </a:r>
            <a:r>
              <a:rPr lang="pt-BR" dirty="0">
                <a:sym typeface="Symbol"/>
              </a:rPr>
              <a:t>  16</a:t>
            </a:r>
          </a:p>
          <a:p>
            <a:endParaRPr lang="pt-BR" dirty="0">
              <a:sym typeface="Symbol"/>
            </a:endParaRPr>
          </a:p>
          <a:p>
            <a:r>
              <a:rPr lang="pt-BR" dirty="0"/>
              <a:t>3x</a:t>
            </a:r>
            <a:r>
              <a:rPr lang="pt-BR" baseline="-25000" dirty="0"/>
              <a:t>1</a:t>
            </a:r>
            <a:r>
              <a:rPr lang="pt-BR" dirty="0"/>
              <a:t> + 2x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>
                <a:sym typeface="Symbol"/>
              </a:rPr>
              <a:t> 18 + </a:t>
            </a:r>
            <a:r>
              <a:rPr lang="pt-BR" dirty="0" err="1">
                <a:sym typeface="Symbol"/>
              </a:rPr>
              <a:t>My</a:t>
            </a:r>
            <a:endParaRPr lang="pt-BR" dirty="0">
              <a:sym typeface="Symbol"/>
            </a:endParaRPr>
          </a:p>
          <a:p>
            <a:r>
              <a:rPr lang="pt-BR" dirty="0">
                <a:sym typeface="Symbol"/>
              </a:rPr>
              <a:t>x</a:t>
            </a:r>
            <a:r>
              <a:rPr lang="pt-BR" baseline="-25000" dirty="0"/>
              <a:t>1</a:t>
            </a:r>
            <a:r>
              <a:rPr lang="pt-BR" dirty="0">
                <a:sym typeface="Symbol"/>
              </a:rPr>
              <a:t> + 4x</a:t>
            </a:r>
            <a:r>
              <a:rPr lang="pt-BR" baseline="-25000" dirty="0"/>
              <a:t>2</a:t>
            </a:r>
            <a:r>
              <a:rPr lang="pt-BR" dirty="0">
                <a:sym typeface="Symbol"/>
              </a:rPr>
              <a:t>  16 + M(1 – y) </a:t>
            </a:r>
          </a:p>
          <a:p>
            <a:r>
              <a:rPr lang="pt-BR" dirty="0">
                <a:sym typeface="Symbol"/>
              </a:rPr>
              <a:t>Onde M é um nº positivo grande e y = 0 ou 1.</a:t>
            </a:r>
          </a:p>
          <a:p>
            <a:endParaRPr lang="pt-BR" dirty="0">
              <a:sym typeface="Symbol"/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Seta para cima e para baixo 3"/>
          <p:cNvSpPr/>
          <p:nvPr/>
        </p:nvSpPr>
        <p:spPr>
          <a:xfrm>
            <a:off x="2843808" y="3284984"/>
            <a:ext cx="432048" cy="792088"/>
          </a:xfrm>
          <a:prstGeom prst="upDown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63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Modelagem com variáveis binárias – Aplicação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 algn="just">
                  <a:buNone/>
                </a:pPr>
                <a:r>
                  <a:rPr lang="pt-BR" b="1" u="sng" dirty="0"/>
                  <a:t>Problema da carga fixa: </a:t>
                </a:r>
                <a:r>
                  <a:rPr lang="pt-BR" dirty="0"/>
                  <a:t>trata de situações para as quais a atividade econômica incorre em dois tipos de custos: uma taxa inicial fixa, que deve ser incorrida no início da atividade ; e um custo variável que é diretamente proporcional ao nível da atividade.</a:t>
                </a:r>
              </a:p>
              <a:p>
                <a:pPr marL="0" indent="0">
                  <a:buNone/>
                </a:pPr>
                <a:endParaRPr lang="pt-BR" b="1" u="sng" dirty="0"/>
              </a:p>
              <a:p>
                <a:r>
                  <a:rPr lang="pt-BR" dirty="0"/>
                  <a:t>CT(x)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𝑐𝑥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&gt;0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pt-BR" dirty="0">
                  <a:sym typeface="Symbol"/>
                </a:endParaRPr>
              </a:p>
              <a:p>
                <a:endParaRPr lang="pt-BR" dirty="0">
                  <a:sym typeface="Symbol"/>
                </a:endParaRPr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CT(x) = </a:t>
                </a:r>
                <a:r>
                  <a:rPr lang="pt-BR" dirty="0" err="1"/>
                  <a:t>ky</a:t>
                </a:r>
                <a:r>
                  <a:rPr lang="pt-BR" dirty="0"/>
                  <a:t> + </a:t>
                </a:r>
                <a:r>
                  <a:rPr lang="pt-BR" dirty="0" err="1"/>
                  <a:t>cx</a:t>
                </a:r>
                <a:r>
                  <a:rPr lang="pt-BR" dirty="0"/>
                  <a:t>  </a:t>
                </a:r>
              </a:p>
              <a:p>
                <a:pPr marL="0" indent="0">
                  <a:buNone/>
                </a:pPr>
                <a:r>
                  <a:rPr lang="pt-BR" dirty="0"/>
                  <a:t>Sujeito a </a:t>
                </a:r>
              </a:p>
              <a:p>
                <a:pPr marL="0" indent="0">
                  <a:buNone/>
                </a:pPr>
                <a:r>
                  <a:rPr lang="pt-BR" dirty="0"/>
                  <a:t>           </a:t>
                </a:r>
                <a:r>
                  <a:rPr lang="pt-BR" dirty="0" err="1"/>
                  <a:t>x</a:t>
                </a:r>
                <a:r>
                  <a:rPr lang="pt-BR" dirty="0"/>
                  <a:t> </a:t>
                </a:r>
                <a:r>
                  <a:rPr lang="pt-BR" dirty="0">
                    <a:sym typeface="Symbol"/>
                  </a:rPr>
                  <a:t> </a:t>
                </a:r>
                <a:r>
                  <a:rPr lang="pt-BR" dirty="0" err="1">
                    <a:sym typeface="Symbol"/>
                  </a:rPr>
                  <a:t>My</a:t>
                </a:r>
                <a:endParaRPr lang="pt-BR" dirty="0">
                  <a:sym typeface="Symbol"/>
                </a:endParaRPr>
              </a:p>
              <a:p>
                <a:endParaRPr lang="pt-BR" dirty="0">
                  <a:sym typeface="Symbol"/>
                </a:endParaRPr>
              </a:p>
              <a:p>
                <a:r>
                  <a:rPr lang="pt-BR" dirty="0">
                    <a:sym typeface="Symbol"/>
                  </a:rPr>
                  <a:t>Onde M é um limitante superior da produção do item e y é uma variável binária, y = 1, se x &gt; 0 ou y = 0, se x = 0.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244" r="-4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ta para cima e para baixo 3"/>
          <p:cNvSpPr/>
          <p:nvPr/>
        </p:nvSpPr>
        <p:spPr>
          <a:xfrm>
            <a:off x="1835696" y="3284984"/>
            <a:ext cx="432048" cy="720080"/>
          </a:xfrm>
          <a:prstGeom prst="upDown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10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Formulações de Problemas Clássicos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Problema da Mochila: </a:t>
            </a:r>
            <a:r>
              <a:rPr lang="pt-BR" dirty="0"/>
              <a:t>envolve a escolha de itens a serem colocados em uma ou mais mochilas de forma a maximizar uma função utilidade.</a:t>
            </a:r>
          </a:p>
          <a:p>
            <a:endParaRPr lang="pt-BR" dirty="0"/>
          </a:p>
          <a:p>
            <a:r>
              <a:rPr lang="pt-BR" b="1" dirty="0"/>
              <a:t>Mochila 0-1: </a:t>
            </a:r>
            <a:r>
              <a:rPr lang="pt-BR" dirty="0"/>
              <a:t>Considere n projetos e um capital b para investimento. O projeto j tem um custo </a:t>
            </a:r>
            <a:r>
              <a:rPr lang="pt-BR" dirty="0" err="1"/>
              <a:t>a</a:t>
            </a:r>
            <a:r>
              <a:rPr lang="pt-BR" baseline="-25000" dirty="0" err="1"/>
              <a:t>j</a:t>
            </a:r>
            <a:r>
              <a:rPr lang="pt-BR" dirty="0"/>
              <a:t> e um retorno esperado </a:t>
            </a:r>
            <a:r>
              <a:rPr lang="pt-BR" dirty="0" err="1"/>
              <a:t>p</a:t>
            </a:r>
            <a:r>
              <a:rPr lang="pt-BR" baseline="-25000" dirty="0" err="1"/>
              <a:t>j</a:t>
            </a:r>
            <a:r>
              <a:rPr lang="pt-BR" dirty="0"/>
              <a:t>. O objetivo é selecionar os projetos que maximizam o retorno esperado sem ultrapassar o limite de capital. </a:t>
            </a:r>
          </a:p>
        </p:txBody>
      </p:sp>
    </p:spTree>
    <p:extLst>
      <p:ext uri="{BB962C8B-B14F-4D97-AF65-F5344CB8AC3E}">
        <p14:creationId xmlns:p14="http://schemas.microsoft.com/office/powerpoint/2010/main" val="166075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76672"/>
                <a:ext cx="8229600" cy="56494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1,  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𝑝𝑟𝑜𝑗𝑒𝑡𝑜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𝑠𝑒𝑙𝑒𝑐𝑖𝑜𝑛𝑎𝑑𝑜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0,                             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𝑐𝑜𝑛𝑡𝑟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á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𝑚𝑎𝑥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pt-BR" dirty="0" err="1"/>
                  <a:t>x</a:t>
                </a:r>
                <a:r>
                  <a:rPr lang="pt-BR" b="0" baseline="-25000" dirty="0" err="1"/>
                  <a:t>j</a:t>
                </a:r>
                <a:r>
                  <a:rPr lang="pt-BR" b="0" dirty="0"/>
                  <a:t> é binária, j = 1,...,n.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76672"/>
                <a:ext cx="8229600" cy="5649491"/>
              </a:xfrm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57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Múltiplas Mochilas: </a:t>
            </a:r>
            <a:r>
              <a:rPr lang="pt-BR" dirty="0"/>
              <a:t>Considere n itens que devem ser colocados em m mochilas de capacidades distintas, b</a:t>
            </a:r>
            <a:r>
              <a:rPr lang="pt-BR" baseline="-25000" dirty="0"/>
              <a:t>i</a:t>
            </a:r>
            <a:r>
              <a:rPr lang="pt-BR" dirty="0"/>
              <a:t>, i = 1,..., m. Cada item j tem uma lucratividade </a:t>
            </a:r>
            <a:r>
              <a:rPr lang="pt-BR" dirty="0" err="1"/>
              <a:t>p</a:t>
            </a:r>
            <a:r>
              <a:rPr lang="pt-BR" baseline="-25000" dirty="0" err="1"/>
              <a:t>j</a:t>
            </a:r>
            <a:r>
              <a:rPr lang="pt-BR" dirty="0"/>
              <a:t> e um peso </a:t>
            </a:r>
            <a:r>
              <a:rPr lang="pt-BR" dirty="0" err="1"/>
              <a:t>w</a:t>
            </a:r>
            <a:r>
              <a:rPr lang="pt-BR" baseline="-25000" dirty="0" err="1"/>
              <a:t>j</a:t>
            </a:r>
            <a:r>
              <a:rPr lang="pt-BR" dirty="0"/>
              <a:t>. O objetivo é selecionar m subconjuntos distintos de itens, tal que cada subconjunto ocupe uma capacidade de no máximo b</a:t>
            </a:r>
            <a:r>
              <a:rPr lang="pt-BR" baseline="-25000" dirty="0"/>
              <a:t>i</a:t>
            </a:r>
            <a:r>
              <a:rPr lang="pt-BR" dirty="0"/>
              <a:t> e o lucro total seja maximizado.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Formulações de Problemas Clássicos</a:t>
            </a:r>
          </a:p>
        </p:txBody>
      </p:sp>
    </p:spTree>
    <p:extLst>
      <p:ext uri="{BB962C8B-B14F-4D97-AF65-F5344CB8AC3E}">
        <p14:creationId xmlns:p14="http://schemas.microsoft.com/office/powerpoint/2010/main" val="273885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Aplicações das múltiplas mochilas</a:t>
            </a:r>
            <a:r>
              <a:rPr lang="pt-BR" dirty="0"/>
              <a:t>: carregamento de contêineres e em situações de corte nas indústrias de papel e aço.</a:t>
            </a:r>
          </a:p>
        </p:txBody>
      </p:sp>
    </p:spTree>
    <p:extLst>
      <p:ext uri="{BB962C8B-B14F-4D97-AF65-F5344CB8AC3E}">
        <p14:creationId xmlns:p14="http://schemas.microsoft.com/office/powerpoint/2010/main" val="2487126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1,  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𝑖𝑡𝑒𝑚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𝑐𝑜𝑙𝑜𝑐𝑎𝑑𝑜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𝑛𝑎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𝑚𝑜𝑐h𝑖𝑙𝑎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0,                                         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𝑐𝑜𝑛𝑡𝑟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á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𝑚𝑎𝑥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≤1,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é binária.</a:t>
                </a:r>
              </a:p>
            </p:txBody>
          </p:sp>
        </mc:Choice>
        <mc:Fallback xmlns=""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90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Empacotamento em Mochilas: </a:t>
            </a:r>
            <a:r>
              <a:rPr lang="pt-BR" dirty="0"/>
              <a:t>deseja-se determinar o número mínimo de mochilas de mesma capacidade b que empacotem n itens de peso </a:t>
            </a:r>
            <a:r>
              <a:rPr lang="pt-BR" dirty="0" err="1"/>
              <a:t>w</a:t>
            </a:r>
            <a:r>
              <a:rPr lang="pt-BR" baseline="-25000" dirty="0" err="1"/>
              <a:t>j</a:t>
            </a:r>
            <a:r>
              <a:rPr lang="pt-BR" dirty="0"/>
              <a:t>. 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Formulações de Problemas Clássicos</a:t>
            </a:r>
          </a:p>
        </p:txBody>
      </p:sp>
    </p:spTree>
    <p:extLst>
      <p:ext uri="{BB962C8B-B14F-4D97-AF65-F5344CB8AC3E}">
        <p14:creationId xmlns:p14="http://schemas.microsoft.com/office/powerpoint/2010/main" val="151688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1,  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𝑖𝑡𝑒𝑚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𝑐𝑜𝑙𝑜𝑐𝑎𝑑𝑜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𝑛𝑎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𝑚𝑜𝑐h𝑖𝑙𝑎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0,                                         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𝑐𝑜𝑛𝑡𝑟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á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1,  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𝑚𝑜𝑐h𝑖𝑙𝑎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é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𝑢𝑠𝑎𝑑𝑎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0,                  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𝑐𝑎𝑠𝑜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𝑐𝑜𝑛𝑡𝑟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á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𝑟𝑖𝑜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=1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𝑏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e y são binários.</a:t>
                </a:r>
              </a:p>
            </p:txBody>
          </p:sp>
        </mc:Choice>
        <mc:Fallback xmlns=""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550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Formulações de Problemas Clássicos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Problemas de corte unidimensional: </a:t>
            </a:r>
            <a:r>
              <a:rPr lang="pt-BR" dirty="0"/>
              <a:t>consiste em cortar barras disponíveis de tamanho único L, para a produção de m tipos de itens com tamanhos l</a:t>
            </a:r>
            <a:r>
              <a:rPr lang="pt-BR" baseline="-25000" dirty="0"/>
              <a:t>1</a:t>
            </a:r>
            <a:r>
              <a:rPr lang="pt-BR" dirty="0"/>
              <a:t>, l</a:t>
            </a:r>
            <a:r>
              <a:rPr lang="pt-BR" baseline="-25000" dirty="0"/>
              <a:t>2</a:t>
            </a:r>
            <a:r>
              <a:rPr lang="pt-BR" dirty="0"/>
              <a:t>, ..., </a:t>
            </a:r>
            <a:r>
              <a:rPr lang="pt-BR" dirty="0" err="1"/>
              <a:t>l</a:t>
            </a:r>
            <a:r>
              <a:rPr lang="pt-BR" baseline="-25000" dirty="0" err="1"/>
              <a:t>m</a:t>
            </a:r>
            <a:r>
              <a:rPr lang="pt-BR" dirty="0"/>
              <a:t>, e demandas, b</a:t>
            </a:r>
            <a:r>
              <a:rPr lang="pt-BR" baseline="-25000" dirty="0"/>
              <a:t>1</a:t>
            </a:r>
            <a:r>
              <a:rPr lang="pt-BR" dirty="0"/>
              <a:t>, b</a:t>
            </a:r>
            <a:r>
              <a:rPr lang="pt-BR" baseline="-25000" dirty="0"/>
              <a:t>2</a:t>
            </a:r>
            <a:r>
              <a:rPr lang="pt-BR" dirty="0"/>
              <a:t>,..., </a:t>
            </a:r>
            <a:r>
              <a:rPr lang="pt-BR" dirty="0" err="1"/>
              <a:t>b</a:t>
            </a:r>
            <a:r>
              <a:rPr lang="pt-BR" baseline="-25000" dirty="0" err="1"/>
              <a:t>m</a:t>
            </a:r>
            <a:r>
              <a:rPr lang="pt-BR" dirty="0"/>
              <a:t>, respectivamente. O objetivo é minimizar o número de barras usadas, dado um limite superior de barras disponíveis n.</a:t>
            </a:r>
          </a:p>
        </p:txBody>
      </p:sp>
    </p:spTree>
    <p:extLst>
      <p:ext uri="{BB962C8B-B14F-4D97-AF65-F5344CB8AC3E}">
        <p14:creationId xmlns:p14="http://schemas.microsoft.com/office/powerpoint/2010/main" val="329466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n</m:t>
                    </m:r>
                    <m:r>
                      <a:rPr lang="pt-BR" b="0" i="0" smtClean="0">
                        <a:latin typeface="Cambria Math"/>
                      </a:rPr>
                      <m:t>ú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mero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de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vezes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que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o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item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j</m:t>
                    </m:r>
                    <m:r>
                      <a:rPr lang="pt-BR" b="0" i="0" smtClean="0">
                        <a:latin typeface="Cambria Math"/>
                      </a:rPr>
                      <m:t> é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cortado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na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barra</m:t>
                    </m:r>
                    <m:r>
                      <a:rPr lang="pt-BR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i</m:t>
                    </m:r>
                    <m:r>
                      <a:rPr lang="pt-BR" b="0" i="0" smtClean="0">
                        <a:latin typeface="Cambria Math"/>
                      </a:rPr>
                      <m:t>.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1,  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𝑏𝑎𝑟𝑟𝑎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é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𝑢𝑠𝑎𝑑𝑎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0,                  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𝑐𝑎𝑠𝑜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𝑐𝑜𝑛𝑡𝑟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á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𝑟𝑖𝑜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/>
                          <a:sym typeface="Symbol"/>
                        </a:rPr>
                        <m:t>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sym typeface="Symbol"/>
                            </a:rPr>
                            <m:t> </m:t>
                          </m:r>
                          <m:r>
                            <a:rPr lang="pt-BR" i="1">
                              <a:latin typeface="Cambria Math"/>
                              <a:sym typeface="Symbol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𝐿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é um inteiro positivo e y é binário.</a:t>
                </a:r>
              </a:p>
            </p:txBody>
          </p:sp>
        </mc:Choice>
        <mc:Fallback xmlns=""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  <a:blipFill>
                <a:blip r:embed="rId2"/>
                <a:stretch>
                  <a:fillRect l="-889" t="-17257" b="-37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365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Formulações de Problemas Clássicos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Problemas de caixeiro viajante: </a:t>
            </a:r>
            <a:r>
              <a:rPr lang="pt-BR" dirty="0"/>
              <a:t>envolve um conjunto de cidades, em que o caixeiro sai de uma cidade base, visita todas as cidades ou um subconjunto delas somente uma vez, e retorna à cidade base de modo a otimizar um ou mais objetivos.</a:t>
            </a:r>
          </a:p>
        </p:txBody>
      </p:sp>
    </p:spTree>
    <p:extLst>
      <p:ext uri="{BB962C8B-B14F-4D97-AF65-F5344CB8AC3E}">
        <p14:creationId xmlns:p14="http://schemas.microsoft.com/office/powerpoint/2010/main" val="373365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Caixeiro-viajante -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 (V, E) um grafo completo ponderado não orientado com n vértices. Suponha que G é completo. O problema consiste em determinar o ciclo hamiltoniano ou rota, de distância mínima.</a:t>
            </a:r>
          </a:p>
          <a:p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/>
              <a:t>= distância entre as cidades i e j.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7012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1,  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𝑐𝑎𝑖𝑥𝑒𝑖𝑟𝑜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𝑣𝑎𝑖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𝑑𝑖𝑟𝑒𝑡𝑎𝑚𝑒𝑛𝑡𝑒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𝑑𝑎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𝑐𝑖𝑑𝑎𝑑𝑒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𝑐𝑖𝑑𝑎𝑑𝑒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≠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0,                                         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𝑐𝑜𝑛𝑡𝑟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á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&gt;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&gt;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2, 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𝑆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&gt;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−1, 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 ⊂ 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, 3≤|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|≤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/>
                                          <a:ea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é binária e S é uma </a:t>
                </a:r>
                <a:r>
                  <a:rPr lang="pt-BR" dirty="0" err="1"/>
                  <a:t>sub-rota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  <a:blipFill>
                <a:blip r:embed="rId2"/>
                <a:stretch>
                  <a:fillRect l="-2815" t="-26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712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Caixeiro-viajante -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 (V, E) um grafo completo ponderado orientado com n vértices,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>
                <a:sym typeface="Symbol"/>
              </a:rPr>
              <a:t> </a:t>
            </a:r>
            <a:r>
              <a:rPr lang="pt-BR" dirty="0" err="1">
                <a:sym typeface="Symbol"/>
              </a:rPr>
              <a:t>c</a:t>
            </a:r>
            <a:r>
              <a:rPr lang="pt-BR" baseline="-25000" dirty="0" err="1">
                <a:sym typeface="Symbol"/>
              </a:rPr>
              <a:t>ji</a:t>
            </a:r>
            <a:r>
              <a:rPr lang="pt-BR" dirty="0">
                <a:sym typeface="Symbol"/>
              </a:rPr>
              <a:t>.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2890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𝑚𝑖𝑛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pt-BR" b="0" i="1" smtClean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≠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1, 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1,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𝑆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&gt;</m:t>
                                  </m:r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−1, 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 ⊂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, 2≤|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|≤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>
                                          <a:latin typeface="Cambria Math"/>
                                          <a:ea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t-BR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pt-BR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é binária e S é uma </a:t>
                </a:r>
                <a:r>
                  <a:rPr lang="pt-BR" dirty="0" err="1"/>
                  <a:t>sub-rota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404664"/>
                <a:ext cx="8562109" cy="5721499"/>
              </a:xfrm>
              <a:blipFill rotWithShape="1">
                <a:blip r:embed="rId2"/>
                <a:stretch>
                  <a:fillRect b="-3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249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de logística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Roteamento de Veículos</a:t>
            </a:r>
          </a:p>
          <a:p>
            <a:r>
              <a:rPr lang="pt-BR" b="1" dirty="0"/>
              <a:t>Localização de facilidades</a:t>
            </a:r>
          </a:p>
        </p:txBody>
      </p:sp>
    </p:spTree>
    <p:extLst>
      <p:ext uri="{BB962C8B-B14F-4D97-AF65-F5344CB8AC3E}">
        <p14:creationId xmlns:p14="http://schemas.microsoft.com/office/powerpoint/2010/main" val="398856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de Roteamento de Veículos (PRV)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PRV envolvem o projeto de rotas de entrega e/ou coleta de custo mínimo de um ou mais depósitos para um nº de clientes, sujeito a restrições adicionais.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2076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PRV clássico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G(N, E) é um grafo orientado onde N = C </a:t>
            </a:r>
            <a:r>
              <a:rPr lang="pt-BR" dirty="0">
                <a:sym typeface="Symbol"/>
              </a:rPr>
              <a:t> {0, n+1}, C = {1, ..., n} é o conjunto de nós que representam os clientes, e 0, n + 1 são os nós que representam o depósito. E = {(i, j): i, j  N, i  j, i  n + 1, j  0} corresponde aos arcos associados às conexões entre nós.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748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PRV clássico - observações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925144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Nenhum arco termina no nó 0 e nenhum começa no nó n + 1.</a:t>
            </a:r>
          </a:p>
          <a:p>
            <a:r>
              <a:rPr lang="pt-BR" dirty="0"/>
              <a:t>Todas as rotas começam em 0 e terminam em n + 1.</a:t>
            </a:r>
          </a:p>
          <a:p>
            <a:r>
              <a:rPr lang="pt-BR" dirty="0"/>
              <a:t>Um custo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/>
              <a:t>e um tempo de viagem </a:t>
            </a:r>
            <a:r>
              <a:rPr lang="pt-BR" dirty="0" err="1"/>
              <a:t>t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/>
              <a:t>estão associados a cada arco (i, j) </a:t>
            </a:r>
            <a:r>
              <a:rPr lang="pt-BR" dirty="0">
                <a:sym typeface="Symbol"/>
              </a:rPr>
              <a:t> E.</a:t>
            </a:r>
          </a:p>
          <a:p>
            <a:r>
              <a:rPr lang="pt-BR" dirty="0">
                <a:sym typeface="Symbol"/>
              </a:rPr>
              <a:t>O tempo de viagem </a:t>
            </a:r>
            <a:r>
              <a:rPr lang="pt-BR" dirty="0" err="1">
                <a:sym typeface="Symbol"/>
              </a:rPr>
              <a:t>t</a:t>
            </a:r>
            <a:r>
              <a:rPr lang="pt-BR" baseline="-25000" dirty="0" err="1"/>
              <a:t>ij</a:t>
            </a:r>
            <a:r>
              <a:rPr lang="pt-BR" baseline="-25000" dirty="0"/>
              <a:t> </a:t>
            </a:r>
            <a:r>
              <a:rPr lang="pt-BR" dirty="0">
                <a:sym typeface="Symbol"/>
              </a:rPr>
              <a:t>inclui o tempo de serviço do cliente i.</a:t>
            </a:r>
          </a:p>
          <a:p>
            <a:r>
              <a:rPr lang="pt-BR" dirty="0">
                <a:sym typeface="Symbol"/>
              </a:rPr>
              <a:t>Cada cliente i tem uma demanda </a:t>
            </a:r>
            <a:r>
              <a:rPr lang="pt-BR" dirty="0" err="1">
                <a:sym typeface="Symbol"/>
              </a:rPr>
              <a:t>d</a:t>
            </a:r>
            <a:r>
              <a:rPr lang="pt-BR" baseline="-25000" dirty="0" err="1"/>
              <a:t>i</a:t>
            </a:r>
            <a:r>
              <a:rPr lang="pt-BR" dirty="0">
                <a:sym typeface="Symbol"/>
              </a:rPr>
              <a:t>.</a:t>
            </a:r>
          </a:p>
          <a:p>
            <a:r>
              <a:rPr lang="pt-BR" dirty="0">
                <a:sym typeface="Symbol"/>
              </a:rPr>
              <a:t>Um conjunto K de veículos idênticos, cada veículo k  K com capacidade Q, está situado no depósito.</a:t>
            </a:r>
          </a:p>
          <a:p>
            <a:r>
              <a:rPr lang="pt-BR" dirty="0">
                <a:sym typeface="Symbol"/>
              </a:rPr>
              <a:t>O objetivo é minimizar o custo total de viagens.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1814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PRV clássico - restrições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rota inicia e termina no depósito.</a:t>
            </a:r>
          </a:p>
          <a:p>
            <a:r>
              <a:rPr lang="pt-BR" dirty="0"/>
              <a:t>Cada cliente pertence somente a uma rota.</a:t>
            </a:r>
          </a:p>
          <a:p>
            <a:r>
              <a:rPr lang="pt-BR" dirty="0"/>
              <a:t>A demanda total de uma rota não pode exceder a capacidade Q do veículo.</a:t>
            </a:r>
          </a:p>
          <a:p>
            <a:r>
              <a:rPr lang="pt-BR" dirty="0"/>
              <a:t>O tempo de viagem de uma rota não pode exceder o limite D.</a:t>
            </a:r>
          </a:p>
        </p:txBody>
      </p:sp>
    </p:spTree>
    <p:extLst>
      <p:ext uri="{BB962C8B-B14F-4D97-AF65-F5344CB8AC3E}">
        <p14:creationId xmlns:p14="http://schemas.microsoft.com/office/powerpoint/2010/main" val="1078795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79513" y="188640"/>
                <a:ext cx="8839796" cy="6669360"/>
              </a:xfrm>
            </p:spPr>
            <p:txBody>
              <a:bodyPr>
                <a:normAutofit fontScale="4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𝑖𝑗𝑘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1,  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𝑣𝑒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í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𝑐𝑢𝑙𝑜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𝑝𝑒𝑟𝑐𝑜𝑟𝑟𝑒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𝑎𝑟𝑐𝑜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pt-BR" b="0" i="1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pt-BR" b="0" i="1" smtClean="0">
                                <a:latin typeface="Cambria Math"/>
                              </a:rPr>
                              <m:t>,  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∀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𝐾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, ∀</m:t>
                            </m:r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  <m:r>
                                  <a:rPr lang="pt-BR" b="0" i="1" smtClean="0">
                                    <a:latin typeface="Cambria Math"/>
                                    <a:ea typeface="Cambria Math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𝐸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0,                                         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𝑐𝑎𝑠𝑜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𝑐𝑜𝑛𝑡𝑟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á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𝑚𝑖𝑛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𝐾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)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𝑖𝑗𝑘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𝑘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𝐾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𝑁</m:t>
                                  </m:r>
                                </m:e>
                                <m:e/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𝑖𝑗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=1, ∀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𝑄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 ∀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𝐾</m:t>
                      </m:r>
                    </m:oMath>
                  </m:oMathPara>
                </a14:m>
                <a:endParaRPr lang="pt-BR" b="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𝑁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𝑖𝑗𝑘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i="1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𝐷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,  ∀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𝐾</m:t>
                      </m:r>
                    </m:oMath>
                  </m:oMathPara>
                </a14:m>
                <a:endParaRPr lang="pt-BR" b="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1,             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𝐾</m:t>
                      </m:r>
                    </m:oMath>
                  </m:oMathPara>
                </a14:m>
                <a:endParaRPr lang="pt-BR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𝑖h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0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    ∀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h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𝐶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∀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𝐾</m:t>
                      </m:r>
                    </m:oMath>
                  </m:oMathPara>
                </a14:m>
                <a:endParaRPr lang="pt-BR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pt-BR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𝑆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e/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−1, 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𝑆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 ⊂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,2≤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/>
                                          <a:ea typeface="Cambria Math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t-BR" b="0" i="1" smtClean="0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∀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𝐾</m:t>
                              </m:r>
                              <m:r>
                                <m:rPr>
                                  <m:nor/>
                                </m:rPr>
                                <a:rPr lang="pt-BR" i="1" dirty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>
                  <a:buNone/>
                </a:pPr>
                <a:endParaRPr lang="pt-BR" b="0" dirty="0">
                  <a:ea typeface="Cambria Math"/>
                </a:endParaRPr>
              </a:p>
              <a:p>
                <a:pPr marL="0" indent="0" algn="ctr">
                  <a:buNone/>
                </a:pPr>
                <a:r>
                  <a:rPr lang="pt-BR" dirty="0"/>
                  <a:t>x é binária.</a:t>
                </a:r>
              </a:p>
            </p:txBody>
          </p:sp>
        </mc:Choice>
        <mc:Fallback xmlns="">
          <p:sp>
            <p:nvSpPr>
              <p:cNvPr id="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3" y="188640"/>
                <a:ext cx="8839796" cy="6669360"/>
              </a:xfrm>
              <a:blipFill>
                <a:blip r:embed="rId2"/>
                <a:stretch>
                  <a:fillRect l="-143" t="-167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058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de Cobertura ou Problema da Localização de facilidades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P-medianas</a:t>
            </a:r>
          </a:p>
          <a:p>
            <a:r>
              <a:rPr lang="pt-BR" dirty="0"/>
              <a:t>P-centros</a:t>
            </a:r>
          </a:p>
          <a:p>
            <a:r>
              <a:rPr lang="pt-BR" dirty="0"/>
              <a:t>P-medianas e P-centros com capacidade limitada</a:t>
            </a:r>
          </a:p>
          <a:p>
            <a:r>
              <a:rPr lang="pt-BR" dirty="0"/>
              <a:t>P-medianas e P-centros com capacidade ilimitada</a:t>
            </a:r>
          </a:p>
          <a:p>
            <a:r>
              <a:rPr lang="pt-BR" dirty="0"/>
              <a:t>Localização de instalações com capacidade limitada</a:t>
            </a:r>
          </a:p>
          <a:p>
            <a:r>
              <a:rPr lang="pt-BR" dirty="0"/>
              <a:t>Localização de facilidades com capacidade limitada e fonte única.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3156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da Localização de facilidades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8784976" cy="492514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pt-BR" dirty="0"/>
                  <a:t>J = conjunto de nós j que representam os consumidores, j = 1, ..., n</a:t>
                </a:r>
              </a:p>
              <a:p>
                <a:r>
                  <a:rPr lang="pt-BR" dirty="0"/>
                  <a:t>I = conjunto de locais i candidatos à localização de facilidades, i = 1, ..., m</a:t>
                </a:r>
              </a:p>
              <a:p>
                <a:r>
                  <a:rPr lang="pt-BR" dirty="0" err="1"/>
                  <a:t>f</a:t>
                </a:r>
                <a:r>
                  <a:rPr lang="pt-BR" baseline="-25000" dirty="0" err="1"/>
                  <a:t>i</a:t>
                </a:r>
                <a:r>
                  <a:rPr lang="pt-BR" dirty="0"/>
                  <a:t> = custo fixo de manter a facilidade aberta na localidade i.</a:t>
                </a:r>
              </a:p>
              <a:p>
                <a:r>
                  <a:rPr lang="pt-BR" dirty="0" err="1"/>
                  <a:t>c</a:t>
                </a:r>
                <a:r>
                  <a:rPr lang="pt-BR" baseline="-25000" dirty="0" err="1"/>
                  <a:t>ij</a:t>
                </a:r>
                <a:r>
                  <a:rPr lang="pt-BR" dirty="0"/>
                  <a:t> = custo de transporte da localidade </a:t>
                </a:r>
                <a:r>
                  <a:rPr lang="pt-BR" dirty="0" err="1"/>
                  <a:t>i</a:t>
                </a:r>
                <a:r>
                  <a:rPr lang="pt-BR" dirty="0"/>
                  <a:t> para o consumidor </a:t>
                </a:r>
                <a:r>
                  <a:rPr lang="pt-BR" dirty="0" err="1"/>
                  <a:t>j</a:t>
                </a:r>
                <a:endParaRPr lang="pt-BR" dirty="0"/>
              </a:p>
              <a:p>
                <a:r>
                  <a:rPr lang="pt-BR" dirty="0" err="1">
                    <a:latin typeface="Cambria Math"/>
                  </a:rPr>
                  <a:t>D</a:t>
                </a:r>
                <a:r>
                  <a:rPr lang="pt-BR" baseline="-25000" dirty="0" err="1">
                    <a:latin typeface="Cambria Math"/>
                  </a:rPr>
                  <a:t>j</a:t>
                </a:r>
                <a:r>
                  <a:rPr lang="pt-BR" dirty="0">
                    <a:latin typeface="Cambria Math"/>
                  </a:rPr>
                  <a:t> = demanda do consumidor </a:t>
                </a:r>
                <a:r>
                  <a:rPr lang="pt-BR" dirty="0" err="1">
                    <a:latin typeface="Cambria Math"/>
                  </a:rPr>
                  <a:t>j</a:t>
                </a:r>
                <a:endParaRPr lang="pt-BR" dirty="0">
                  <a:latin typeface="Cambria Math"/>
                </a:endParaRPr>
              </a:p>
              <a:p>
                <a:r>
                  <a:rPr lang="pt-BR" dirty="0" err="1">
                    <a:latin typeface="Cambria Math"/>
                  </a:rPr>
                  <a:t>C</a:t>
                </a:r>
                <a:r>
                  <a:rPr lang="pt-BR" baseline="-25000" dirty="0" err="1">
                    <a:latin typeface="Cambria Math"/>
                  </a:rPr>
                  <a:t>max</a:t>
                </a:r>
                <a:r>
                  <a:rPr lang="pt-BR" baseline="-25000" dirty="0">
                    <a:latin typeface="Cambria Math"/>
                  </a:rPr>
                  <a:t>, </a:t>
                </a:r>
                <a:r>
                  <a:rPr lang="pt-BR" baseline="-25000" dirty="0" err="1">
                    <a:latin typeface="Cambria Math"/>
                  </a:rPr>
                  <a:t>i</a:t>
                </a:r>
                <a:r>
                  <a:rPr lang="pt-BR" baseline="-25000" dirty="0">
                    <a:latin typeface="Cambria Math"/>
                  </a:rPr>
                  <a:t> </a:t>
                </a:r>
                <a:r>
                  <a:rPr lang="pt-BR" dirty="0">
                    <a:latin typeface="Cambria Math"/>
                  </a:rPr>
                  <a:t>= capacidade máxima da localidade </a:t>
                </a:r>
                <a:r>
                  <a:rPr lang="pt-BR" dirty="0" err="1">
                    <a:latin typeface="Cambria Math"/>
                  </a:rPr>
                  <a:t>i</a:t>
                </a:r>
                <a:endParaRPr lang="pt-BR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pt-BR" dirty="0">
                    <a:latin typeface="Cambria Math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1,  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𝑠𝑒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𝑓𝑎𝑐𝑖𝑙𝑖𝑑𝑎𝑑𝑒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é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𝑎𝑏𝑒𝑟𝑡𝑎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𝑛𝑜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𝑙𝑜𝑐𝑎𝑙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pt-BR" i="1">
                                  <a:latin typeface="Cambria Math"/>
                                </a:rPr>
                                <m:t>0,  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         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                         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𝑐𝑎𝑠𝑜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𝑐𝑜𝑛𝑡𝑟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á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𝑟𝑖𝑜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𝑞𝑢𝑎𝑛𝑡𝑖𝑑𝑎𝑑𝑒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𝑡𝑟𝑎𝑛𝑠𝑝𝑜𝑟𝑡𝑎𝑑𝑎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𝑙𝑜𝑐𝑎𝑙𝑖𝑑𝑎𝑑𝑒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𝑐𝑜𝑛𝑠𝑢𝑚𝑖𝑑𝑜𝑟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8784976" cy="4925144"/>
              </a:xfrm>
              <a:blipFill>
                <a:blip r:embed="rId2"/>
                <a:stretch>
                  <a:fillRect l="-722" t="-1799" r="-144" b="-128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005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P-medianas - Formulação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556792"/>
                <a:ext cx="5004048" cy="518457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/>
                      </a:rPr>
                      <m:t>𝑚𝑖𝑛</m:t>
                    </m:r>
                    <m:nary>
                      <m:naryPr>
                        <m:chr m:val="∑"/>
                        <m:sup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1">
                                <a:latin typeface="Cambria Math"/>
                              </a:rPr>
                              <m:t>𝑗</m:t>
                            </m:r>
                            <m:r>
                              <a:rPr lang="pt-BR" i="1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𝐽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pt-BR" dirty="0"/>
                  <a:t>	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    (1)</a:t>
                </a:r>
              </a:p>
              <a:p>
                <a:pPr marL="0" indent="0">
                  <a:buNone/>
                </a:pPr>
                <a:r>
                  <a:rPr lang="pt-BR" dirty="0" err="1"/>
                  <a:t>s.a</a:t>
                </a:r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pt-B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𝑗</m:t>
                            </m:r>
                            <m:r>
                              <a:rPr lang="pt-BR" i="1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r>
                              <a:rPr lang="pt-BR" i="1">
                                <a:latin typeface="Cambria Math"/>
                                <a:ea typeface="Cambria Math"/>
                              </a:rPr>
                              <m:t>𝐽</m:t>
                            </m:r>
                          </m:e>
                          <m:e/>
                        </m:eqArr>
                      </m:sub>
                      <m:sup/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  <a:ea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  <a:ea typeface="Cambria Math"/>
                          </a:rPr>
                          <m:t>≤</m:t>
                        </m:r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𝑚𝑎𝑥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  <a:ea typeface="Cambria Math"/>
                          </a:rPr>
                          <m:t>, ∀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</m:nary>
                    <m:r>
                      <a:rPr lang="pt-BR" b="0" i="0" smtClean="0">
                        <a:latin typeface="Cambria Math" panose="02040503050406030204" pitchFamily="18" charset="0"/>
                        <a:ea typeface="Cambria Math"/>
                      </a:rPr>
                      <m:t> (2)</m:t>
                    </m:r>
                  </m:oMath>
                </a14:m>
                <a:r>
                  <a:rPr lang="pt-BR" i="1" dirty="0">
                    <a:latin typeface="Cambria Math"/>
                    <a:ea typeface="Cambria Math"/>
                  </a:rPr>
                  <a:t>	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pt-BR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/>
                      </a:rPr>
                      <m:t>𝑗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/>
                      </a:rPr>
                      <m:t>𝐽</m:t>
                    </m:r>
                  </m:oMath>
                </a14:m>
                <a:r>
                  <a:rPr lang="pt-BR" b="0" i="1" dirty="0">
                    <a:latin typeface="Cambria Math"/>
                  </a:rPr>
                  <a:t>	</a:t>
                </a:r>
                <a:r>
                  <a:rPr lang="pt-BR" dirty="0">
                    <a:latin typeface="Cambria Math"/>
                    <a:ea typeface="Cambria Math"/>
                  </a:rPr>
                  <a:t>(3)</a:t>
                </a:r>
              </a:p>
              <a:p>
                <a:pPr marL="0" indent="0" algn="ctr">
                  <a:buNone/>
                </a:pPr>
                <a:r>
                  <a:rPr lang="pt-BR" i="1" dirty="0" err="1">
                    <a:latin typeface="Cambria Math"/>
                    <a:ea typeface="Cambria Math"/>
                  </a:rPr>
                  <a:t>X</a:t>
                </a:r>
                <a:r>
                  <a:rPr lang="pt-BR" i="1" baseline="-25000" dirty="0" err="1">
                    <a:latin typeface="Cambria Math"/>
                    <a:ea typeface="Cambria Math"/>
                  </a:rPr>
                  <a:t>ij</a:t>
                </a:r>
                <a:r>
                  <a:rPr lang="pt-BR" i="1" baseline="-25000" dirty="0">
                    <a:latin typeface="Cambria Math"/>
                    <a:ea typeface="Cambria Math"/>
                  </a:rPr>
                  <a:t> </a:t>
                </a:r>
                <a:r>
                  <a:rPr lang="pt-BR" i="1" dirty="0">
                    <a:latin typeface="Cambria Math"/>
                    <a:ea typeface="Cambria Math"/>
                  </a:rPr>
                  <a:t>≥ 0</a:t>
                </a:r>
              </a:p>
              <a:p>
                <a:pPr marL="0" indent="0" algn="ctr">
                  <a:buNone/>
                </a:pPr>
                <a:r>
                  <a:rPr lang="pt-BR" i="1" dirty="0" err="1">
                    <a:latin typeface="Cambria Math"/>
                    <a:ea typeface="Cambria Math"/>
                  </a:rPr>
                  <a:t>y</a:t>
                </a:r>
                <a:r>
                  <a:rPr lang="pt-BR" i="1" baseline="-25000" dirty="0" err="1">
                    <a:latin typeface="Cambria Math"/>
                    <a:ea typeface="Cambria Math"/>
                  </a:rPr>
                  <a:t>i</a:t>
                </a:r>
                <a:r>
                  <a:rPr lang="pt-BR" i="1" dirty="0">
                    <a:latin typeface="Cambria Math"/>
                    <a:ea typeface="Cambria Math"/>
                  </a:rPr>
                  <a:t> é  binárias</a:t>
                </a:r>
                <a:endParaRPr lang="pt-BR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556792"/>
                <a:ext cx="5004048" cy="5184576"/>
              </a:xfrm>
              <a:blipFill>
                <a:blip r:embed="rId2"/>
                <a:stretch>
                  <a:fillRect l="-9137" t="-122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88024" y="1600200"/>
            <a:ext cx="4355976" cy="4925144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 </a:t>
            </a:r>
            <a:r>
              <a:rPr lang="pt-BR" dirty="0" err="1"/>
              <a:t>f.o</a:t>
            </a:r>
            <a:r>
              <a:rPr lang="pt-BR" dirty="0"/>
              <a:t> (1) minimiza a soma dos custos fixos de manutenção e dos custos de transportes das localidades para os consumidores finais. A restrição (2) garante que a capacidade máxima de cada localidade </a:t>
            </a:r>
            <a:r>
              <a:rPr lang="pt-BR" dirty="0" err="1"/>
              <a:t>i</a:t>
            </a:r>
            <a:r>
              <a:rPr lang="pt-BR" dirty="0"/>
              <a:t> não será excedida. A restrição (3) asseguram que cada consumidor terá sua demanda atendida</a:t>
            </a:r>
            <a:r>
              <a:rPr lang="pt-BR"/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1862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dos problemas de PI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Problemas de PI puro limitado tem um número finito de soluções viáveis.</a:t>
            </a:r>
          </a:p>
          <a:p>
            <a:r>
              <a:rPr lang="pt-BR" dirty="0"/>
              <a:t>Os problemas de PI são muito mais difíceis de serem resolvidos do que os PPL.</a:t>
            </a:r>
          </a:p>
          <a:p>
            <a:r>
              <a:rPr lang="pt-BR" dirty="0"/>
              <a:t>Atualmente, nenhum algoritmo de PI possui eficiência computacional que chegue próxima ao método simplex. Porém, há avanços. </a:t>
            </a:r>
          </a:p>
        </p:txBody>
      </p:sp>
    </p:spTree>
    <p:extLst>
      <p:ext uri="{BB962C8B-B14F-4D97-AF65-F5344CB8AC3E}">
        <p14:creationId xmlns:p14="http://schemas.microsoft.com/office/powerpoint/2010/main" val="1482363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Técnicas para solucionar Problemas de PI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branch-and-bound</a:t>
            </a:r>
            <a:r>
              <a:rPr lang="pt-BR" dirty="0"/>
              <a:t>: técnica da ramificação (Construção da árvore B&amp;B) e avaliação progressiva.</a:t>
            </a:r>
          </a:p>
          <a:p>
            <a:r>
              <a:rPr lang="pt-BR" dirty="0"/>
              <a:t>Algoritmos de plano de corte.</a:t>
            </a:r>
          </a:p>
          <a:p>
            <a:r>
              <a:rPr lang="pt-BR" dirty="0"/>
              <a:t>Método </a:t>
            </a:r>
            <a:r>
              <a:rPr lang="pt-BR" dirty="0" err="1"/>
              <a:t>branch</a:t>
            </a:r>
            <a:r>
              <a:rPr lang="pt-BR" dirty="0"/>
              <a:t>-</a:t>
            </a:r>
            <a:r>
              <a:rPr lang="pt-BR" dirty="0" err="1"/>
              <a:t>and</a:t>
            </a:r>
            <a:r>
              <a:rPr lang="pt-BR" dirty="0"/>
              <a:t>-cut. </a:t>
            </a:r>
          </a:p>
        </p:txBody>
      </p:sp>
    </p:spTree>
    <p:extLst>
      <p:ext uri="{BB962C8B-B14F-4D97-AF65-F5344CB8AC3E}">
        <p14:creationId xmlns:p14="http://schemas.microsoft.com/office/powerpoint/2010/main" val="1752635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Sejam X</a:t>
                </a:r>
                <a:r>
                  <a:rPr lang="pt-BR" baseline="-25000" dirty="0"/>
                  <a:t>PI</a:t>
                </a:r>
                <a:r>
                  <a:rPr lang="pt-BR" dirty="0"/>
                  <a:t>, X</a:t>
                </a:r>
                <a:r>
                  <a:rPr lang="pt-BR" baseline="-25000" dirty="0"/>
                  <a:t>PIM</a:t>
                </a:r>
                <a:r>
                  <a:rPr lang="pt-BR" dirty="0"/>
                  <a:t>,X</a:t>
                </a:r>
                <a:r>
                  <a:rPr lang="pt-BR" baseline="-25000" dirty="0"/>
                  <a:t>PL</a:t>
                </a:r>
                <a:r>
                  <a:rPr lang="pt-BR" dirty="0"/>
                  <a:t> os conjuntos de soluções factíveis de PI, PIM e PL, respectivamente. Como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+</m:t>
                        </m:r>
                      </m:sub>
                      <m:sup/>
                    </m:sSubSup>
                    <m:r>
                      <a:rPr lang="pt-BR" i="1" smtClean="0">
                        <a:latin typeface="Cambria Math"/>
                        <a:ea typeface="Cambria Math"/>
                      </a:rPr>
                      <m:t>⊂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pt-BR" dirty="0"/>
                  <a:t>, segue-se que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𝑃𝐼</m:t>
                        </m:r>
                      </m:sub>
                      <m:sup/>
                    </m:sSubSup>
                    <m:r>
                      <a:rPr lang="pt-BR" i="1">
                        <a:latin typeface="Cambria Math"/>
                        <a:ea typeface="Cambria Math"/>
                      </a:rPr>
                      <m:t>⊂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𝑃𝐿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𝑃𝐼𝑀</m:t>
                        </m:r>
                      </m:sub>
                      <m:sup/>
                    </m:sSubSup>
                    <m:r>
                      <a:rPr lang="pt-BR" i="1">
                        <a:latin typeface="Cambria Math"/>
                        <a:ea typeface="Cambria Math"/>
                      </a:rPr>
                      <m:t>⊂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𝑃𝐿</m:t>
                        </m:r>
                      </m:sub>
                    </m:sSub>
                  </m:oMath>
                </a14:m>
                <a:r>
                  <a:rPr lang="pt-BR" dirty="0"/>
                  <a:t>, portanto o valor de z da solução ótima de PL é um limitante superior para o valor de z da solução ótima de PI e PIM. (Problema de maximização).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492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1B7F6-DD5E-8F42-8635-1B4ECF5EC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9EBFB-C72A-2740-A652-DD37A53F7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algoritmo cria uma </a:t>
            </a:r>
            <a:r>
              <a:rPr lang="pt-BR" dirty="0" err="1"/>
              <a:t>árvore</a:t>
            </a:r>
            <a:r>
              <a:rPr lang="pt-BR" dirty="0"/>
              <a:t> de </a:t>
            </a:r>
            <a:r>
              <a:rPr lang="pt-BR" dirty="0" err="1"/>
              <a:t>enumeração</a:t>
            </a:r>
            <a:r>
              <a:rPr lang="pt-BR" dirty="0"/>
              <a:t> para explorar as </a:t>
            </a:r>
            <a:r>
              <a:rPr lang="pt-BR" dirty="0" err="1"/>
              <a:t>soluções</a:t>
            </a:r>
            <a:r>
              <a:rPr lang="pt-BR" dirty="0"/>
              <a:t> </a:t>
            </a:r>
            <a:r>
              <a:rPr lang="pt-BR" dirty="0" err="1"/>
              <a:t>possíveis</a:t>
            </a:r>
            <a:r>
              <a:rPr lang="pt-BR" dirty="0"/>
              <a:t>; </a:t>
            </a:r>
          </a:p>
          <a:p>
            <a:endParaRPr lang="pt-BR" dirty="0"/>
          </a:p>
          <a:p>
            <a:r>
              <a:rPr lang="pt-BR" dirty="0"/>
              <a:t>No pior caso, todas as </a:t>
            </a:r>
            <a:r>
              <a:rPr lang="pt-BR" dirty="0" err="1"/>
              <a:t>soluções</a:t>
            </a:r>
            <a:r>
              <a:rPr lang="pt-BR" dirty="0"/>
              <a:t> </a:t>
            </a:r>
            <a:r>
              <a:rPr lang="pt-BR" dirty="0" err="1"/>
              <a:t>serão</a:t>
            </a:r>
            <a:r>
              <a:rPr lang="pt-BR" dirty="0"/>
              <a:t> exploradas.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Na </a:t>
            </a:r>
            <a:r>
              <a:rPr lang="pt-BR" dirty="0" err="1"/>
              <a:t>prática</a:t>
            </a:r>
            <a:r>
              <a:rPr lang="pt-BR" dirty="0"/>
              <a:t>, frequentemente </a:t>
            </a:r>
            <a:r>
              <a:rPr lang="pt-BR" dirty="0" err="1"/>
              <a:t>vários</a:t>
            </a:r>
            <a:r>
              <a:rPr lang="pt-BR" dirty="0"/>
              <a:t> ramos da </a:t>
            </a:r>
            <a:r>
              <a:rPr lang="pt-BR" dirty="0" err="1"/>
              <a:t>árvore</a:t>
            </a:r>
            <a:r>
              <a:rPr lang="pt-BR" dirty="0"/>
              <a:t> </a:t>
            </a:r>
            <a:r>
              <a:rPr lang="pt-BR" dirty="0" err="1"/>
              <a:t>são</a:t>
            </a:r>
            <a:r>
              <a:rPr lang="pt-BR" dirty="0"/>
              <a:t> </a:t>
            </a:r>
            <a:r>
              <a:rPr lang="pt-BR" i="1" dirty="0"/>
              <a:t>podados </a:t>
            </a:r>
            <a:r>
              <a:rPr lang="pt-BR" dirty="0"/>
              <a:t>com o uso de limites (</a:t>
            </a:r>
            <a:r>
              <a:rPr lang="pt-BR" i="1" dirty="0" err="1"/>
              <a:t>bounds</a:t>
            </a:r>
            <a:r>
              <a:rPr lang="pt-BR" dirty="0"/>
              <a:t>).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580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3C59-D301-C148-8340-4B7397BA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36515-0844-C947-BC29-54EBBFD5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Branch</a:t>
            </a:r>
            <a:r>
              <a:rPr lang="pt-BR" b="1" dirty="0"/>
              <a:t> (ramificar) </a:t>
            </a:r>
            <a:endParaRPr lang="pt-BR" dirty="0"/>
          </a:p>
          <a:p>
            <a:r>
              <a:rPr lang="pt-BR" dirty="0"/>
              <a:t>Consiste em dividir o problema dado </a:t>
            </a:r>
            <a:r>
              <a:rPr lang="pt-BR" dirty="0" err="1"/>
              <a:t>P</a:t>
            </a:r>
            <a:r>
              <a:rPr lang="pt-BR" dirty="0"/>
              <a:t> em problemas menores P</a:t>
            </a:r>
            <a:r>
              <a:rPr lang="pt-BR" baseline="-25000" dirty="0"/>
              <a:t>1</a:t>
            </a:r>
            <a:r>
              <a:rPr lang="pt-BR" dirty="0"/>
              <a:t>, P</a:t>
            </a:r>
            <a:r>
              <a:rPr lang="pt-BR" baseline="-25000" dirty="0"/>
              <a:t>2</a:t>
            </a:r>
            <a:r>
              <a:rPr lang="pt-BR" dirty="0"/>
              <a:t>, ...</a:t>
            </a:r>
            <a:r>
              <a:rPr lang="pt-BR" dirty="0" err="1"/>
              <a:t>P</a:t>
            </a:r>
            <a:r>
              <a:rPr lang="pt-BR" baseline="-25000" dirty="0" err="1"/>
              <a:t>m</a:t>
            </a:r>
            <a:r>
              <a:rPr lang="pt-BR" dirty="0"/>
              <a:t> , tais que: </a:t>
            </a:r>
          </a:p>
          <a:p>
            <a:pPr marL="0" indent="0">
              <a:buNone/>
            </a:pPr>
            <a:r>
              <a:rPr lang="pt-BR" dirty="0"/>
              <a:t>		P</a:t>
            </a:r>
            <a:r>
              <a:rPr lang="pt-BR" baseline="-25000" dirty="0"/>
              <a:t>1</a:t>
            </a:r>
            <a:r>
              <a:rPr lang="pt-BR" dirty="0"/>
              <a:t> ∪ P</a:t>
            </a:r>
            <a:r>
              <a:rPr lang="pt-BR" baseline="-25000" dirty="0"/>
              <a:t>2</a:t>
            </a:r>
            <a:r>
              <a:rPr lang="pt-BR" dirty="0"/>
              <a:t>, . . . , ∪ </a:t>
            </a:r>
            <a:r>
              <a:rPr lang="pt-BR" dirty="0" err="1"/>
              <a:t>P</a:t>
            </a:r>
            <a:r>
              <a:rPr lang="pt-BR" baseline="-25000" dirty="0" err="1"/>
              <a:t>m</a:t>
            </a:r>
            <a:r>
              <a:rPr lang="pt-BR" dirty="0"/>
              <a:t> = </a:t>
            </a:r>
            <a:r>
              <a:rPr lang="pt-BR" dirty="0" err="1"/>
              <a:t>P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Geralmente divide-se o problema em 2 subproblemas em cada passo.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51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3C59-D301-C148-8340-4B7397BA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36515-0844-C947-BC29-54EBBFD5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</a:t>
            </a:r>
            <a:r>
              <a:rPr lang="pt-BR" dirty="0" err="1"/>
              <a:t>branch</a:t>
            </a:r>
            <a:r>
              <a:rPr lang="pt-BR" dirty="0"/>
              <a:t> resulta em um algoritmo exato que encontra a </a:t>
            </a:r>
            <a:r>
              <a:rPr lang="pt-BR" dirty="0" err="1"/>
              <a:t>solução</a:t>
            </a:r>
            <a:r>
              <a:rPr lang="pt-BR" dirty="0"/>
              <a:t> </a:t>
            </a:r>
            <a:r>
              <a:rPr lang="pt-BR" dirty="0" err="1"/>
              <a:t>ótima</a:t>
            </a:r>
            <a:r>
              <a:rPr lang="pt-BR" dirty="0"/>
              <a:t> em um </a:t>
            </a:r>
            <a:r>
              <a:rPr lang="pt-BR" dirty="0" err="1"/>
              <a:t>número</a:t>
            </a:r>
            <a:r>
              <a:rPr lang="pt-BR" dirty="0"/>
              <a:t> </a:t>
            </a:r>
            <a:r>
              <a:rPr lang="pt-BR" i="1" dirty="0"/>
              <a:t>finito </a:t>
            </a:r>
            <a:r>
              <a:rPr lang="pt-BR" dirty="0"/>
              <a:t>de passos, mas... </a:t>
            </a:r>
          </a:p>
          <a:p>
            <a:endParaRPr lang="pt-BR" dirty="0"/>
          </a:p>
          <a:p>
            <a:r>
              <a:rPr lang="pt-BR" dirty="0"/>
              <a:t>É extremamente ineficiente!</a:t>
            </a:r>
            <a:br>
              <a:rPr lang="pt-BR" dirty="0"/>
            </a:br>
            <a:r>
              <a:rPr lang="pt-BR" dirty="0"/>
              <a:t>Para </a:t>
            </a:r>
            <a:r>
              <a:rPr lang="pt-BR" dirty="0" err="1"/>
              <a:t>n</a:t>
            </a:r>
            <a:r>
              <a:rPr lang="pt-BR" dirty="0"/>
              <a:t> </a:t>
            </a:r>
            <a:r>
              <a:rPr lang="pt-BR" dirty="0" err="1"/>
              <a:t>variáveis</a:t>
            </a:r>
            <a:r>
              <a:rPr lang="pt-BR" dirty="0"/>
              <a:t> </a:t>
            </a:r>
            <a:r>
              <a:rPr lang="pt-BR" dirty="0" err="1"/>
              <a:t>binárias</a:t>
            </a:r>
            <a:r>
              <a:rPr lang="pt-BR" dirty="0"/>
              <a:t> teremos 2</a:t>
            </a:r>
            <a:r>
              <a:rPr lang="pt-BR" baseline="30000" dirty="0"/>
              <a:t>n</a:t>
            </a:r>
            <a:r>
              <a:rPr lang="pt-BR" dirty="0"/>
              <a:t> </a:t>
            </a:r>
            <a:r>
              <a:rPr lang="pt-BR" dirty="0" err="1"/>
              <a:t>nós</a:t>
            </a:r>
            <a:r>
              <a:rPr lang="pt-BR" dirty="0"/>
              <a:t> a serem explorados.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chave para melhorar a </a:t>
            </a:r>
            <a:r>
              <a:rPr lang="pt-BR" dirty="0" err="1"/>
              <a:t>eficiência</a:t>
            </a:r>
            <a:r>
              <a:rPr lang="pt-BR" dirty="0"/>
              <a:t> do algoritmo é a poda de </a:t>
            </a:r>
            <a:r>
              <a:rPr lang="pt-BR" dirty="0" err="1"/>
              <a:t>sub-árvores</a:t>
            </a:r>
            <a:r>
              <a:rPr lang="pt-BR" dirty="0"/>
              <a:t> </a:t>
            </a:r>
            <a:r>
              <a:rPr lang="pt-BR" dirty="0" err="1"/>
              <a:t>através</a:t>
            </a:r>
            <a:r>
              <a:rPr lang="pt-BR" dirty="0"/>
              <a:t> do uso de limites.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Por isso, para resolver muitos problemas de PO recorremos ao uso de algoritmos heurísticos.</a:t>
            </a:r>
          </a:p>
        </p:txBody>
      </p:sp>
    </p:spTree>
    <p:extLst>
      <p:ext uri="{BB962C8B-B14F-4D97-AF65-F5344CB8AC3E}">
        <p14:creationId xmlns:p14="http://schemas.microsoft.com/office/powerpoint/2010/main" val="150180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3C59-D301-C148-8340-4B7397BA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36515-0844-C947-BC29-54EBBFD5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Bound</a:t>
            </a:r>
            <a:r>
              <a:rPr lang="pt-BR" b="1" dirty="0"/>
              <a:t> (limitar)</a:t>
            </a:r>
            <a:r>
              <a:rPr lang="pt-BR" dirty="0"/>
              <a:t>: é o processo de </a:t>
            </a:r>
            <a:r>
              <a:rPr lang="pt-BR" dirty="0" err="1"/>
              <a:t>cálculo</a:t>
            </a:r>
            <a:r>
              <a:rPr lang="pt-BR" dirty="0"/>
              <a:t> de limitantes objetivando a </a:t>
            </a:r>
            <a:r>
              <a:rPr lang="pt-BR" dirty="0" err="1"/>
              <a:t>eliminação</a:t>
            </a:r>
            <a:r>
              <a:rPr lang="pt-BR" dirty="0"/>
              <a:t> de um </a:t>
            </a:r>
            <a:r>
              <a:rPr lang="pt-BR" dirty="0" err="1"/>
              <a:t>espaço</a:t>
            </a:r>
            <a:r>
              <a:rPr lang="pt-BR" dirty="0"/>
              <a:t> de busca em que a </a:t>
            </a:r>
            <a:r>
              <a:rPr lang="pt-BR" dirty="0" err="1"/>
              <a:t>solução</a:t>
            </a:r>
            <a:r>
              <a:rPr lang="pt-BR" dirty="0"/>
              <a:t> </a:t>
            </a:r>
            <a:r>
              <a:rPr lang="pt-BR" dirty="0" err="1"/>
              <a:t>ótima</a:t>
            </a:r>
            <a:r>
              <a:rPr lang="pt-BR" dirty="0"/>
              <a:t> </a:t>
            </a:r>
            <a:r>
              <a:rPr lang="pt-BR" dirty="0" err="1"/>
              <a:t>não</a:t>
            </a:r>
            <a:r>
              <a:rPr lang="pt-BR" dirty="0"/>
              <a:t> se encontra.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2636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D3C59-D301-C148-8340-4B7397BA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041818-F390-F944-AB94-C821099413EC}"/>
              </a:ext>
            </a:extLst>
          </p:cNvPr>
          <p:cNvSpPr/>
          <p:nvPr/>
        </p:nvSpPr>
        <p:spPr>
          <a:xfrm>
            <a:off x="4211960" y="1592592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0494D-2E05-CF45-88B0-3B8966349C6D}"/>
              </a:ext>
            </a:extLst>
          </p:cNvPr>
          <p:cNvSpPr/>
          <p:nvPr/>
        </p:nvSpPr>
        <p:spPr>
          <a:xfrm>
            <a:off x="1259632" y="5013176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EBCF94-BBDD-5E47-8671-F244C7D9FC4C}"/>
              </a:ext>
            </a:extLst>
          </p:cNvPr>
          <p:cNvSpPr/>
          <p:nvPr/>
        </p:nvSpPr>
        <p:spPr>
          <a:xfrm>
            <a:off x="5004048" y="5013176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A95F3D-B85A-D047-BD0F-D9C989470941}"/>
              </a:ext>
            </a:extLst>
          </p:cNvPr>
          <p:cNvSpPr/>
          <p:nvPr/>
        </p:nvSpPr>
        <p:spPr>
          <a:xfrm>
            <a:off x="7164288" y="5013176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589D06-B048-A349-B36E-64494E526382}"/>
              </a:ext>
            </a:extLst>
          </p:cNvPr>
          <p:cNvSpPr/>
          <p:nvPr/>
        </p:nvSpPr>
        <p:spPr>
          <a:xfrm>
            <a:off x="5940152" y="3263280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B8EDAE-4CAE-6F4B-8D16-3DC84F54808B}"/>
              </a:ext>
            </a:extLst>
          </p:cNvPr>
          <p:cNvSpPr/>
          <p:nvPr/>
        </p:nvSpPr>
        <p:spPr>
          <a:xfrm>
            <a:off x="2555776" y="3263280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8AD6DC-D72A-FF48-BD4D-B7A67DBA73A2}"/>
              </a:ext>
            </a:extLst>
          </p:cNvPr>
          <p:cNvSpPr/>
          <p:nvPr/>
        </p:nvSpPr>
        <p:spPr>
          <a:xfrm>
            <a:off x="3491880" y="5031209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840A2C09-6527-334E-B4A8-F26628163B20}"/>
              </a:ext>
            </a:extLst>
          </p:cNvPr>
          <p:cNvCxnSpPr>
            <a:stCxn id="4" idx="3"/>
            <a:endCxn id="9" idx="7"/>
          </p:cNvCxnSpPr>
          <p:nvPr/>
        </p:nvCxnSpPr>
        <p:spPr>
          <a:xfrm flipH="1">
            <a:off x="3047477" y="2084293"/>
            <a:ext cx="1248846" cy="1263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0440849-D7BD-3648-B41A-BD4944917FBF}"/>
              </a:ext>
            </a:extLst>
          </p:cNvPr>
          <p:cNvCxnSpPr>
            <a:stCxn id="4" idx="5"/>
            <a:endCxn id="8" idx="1"/>
          </p:cNvCxnSpPr>
          <p:nvPr/>
        </p:nvCxnSpPr>
        <p:spPr>
          <a:xfrm>
            <a:off x="4703661" y="2084293"/>
            <a:ext cx="1320854" cy="1263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D8CD3B8-0BAC-BD40-8D85-F0D1D5368089}"/>
              </a:ext>
            </a:extLst>
          </p:cNvPr>
          <p:cNvCxnSpPr>
            <a:stCxn id="9" idx="3"/>
            <a:endCxn id="5" idx="0"/>
          </p:cNvCxnSpPr>
          <p:nvPr/>
        </p:nvCxnSpPr>
        <p:spPr>
          <a:xfrm flipH="1">
            <a:off x="1547664" y="3754981"/>
            <a:ext cx="1092475" cy="12581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6CB4309-9332-184A-8D40-4BE4A95EEDD3}"/>
              </a:ext>
            </a:extLst>
          </p:cNvPr>
          <p:cNvCxnSpPr>
            <a:stCxn id="9" idx="5"/>
            <a:endCxn id="11" idx="0"/>
          </p:cNvCxnSpPr>
          <p:nvPr/>
        </p:nvCxnSpPr>
        <p:spPr>
          <a:xfrm>
            <a:off x="3047477" y="3754981"/>
            <a:ext cx="732435" cy="1276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5D455FE-821C-1543-8E2D-487CBB26C0F6}"/>
              </a:ext>
            </a:extLst>
          </p:cNvPr>
          <p:cNvCxnSpPr>
            <a:stCxn id="8" idx="3"/>
            <a:endCxn id="6" idx="0"/>
          </p:cNvCxnSpPr>
          <p:nvPr/>
        </p:nvCxnSpPr>
        <p:spPr>
          <a:xfrm flipH="1">
            <a:off x="5292080" y="3754981"/>
            <a:ext cx="732435" cy="12581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809B170-EA67-7E4A-BE11-1DA7E9BD0A5A}"/>
              </a:ext>
            </a:extLst>
          </p:cNvPr>
          <p:cNvCxnSpPr>
            <a:stCxn id="8" idx="5"/>
            <a:endCxn id="7" idx="0"/>
          </p:cNvCxnSpPr>
          <p:nvPr/>
        </p:nvCxnSpPr>
        <p:spPr>
          <a:xfrm>
            <a:off x="6431853" y="3754981"/>
            <a:ext cx="1020467" cy="12581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82EA9DA-4FFA-CB4B-B334-A24929217BD5}"/>
              </a:ext>
            </a:extLst>
          </p:cNvPr>
          <p:cNvSpPr txBox="1"/>
          <p:nvPr/>
        </p:nvSpPr>
        <p:spPr>
          <a:xfrm>
            <a:off x="4296323" y="1592592"/>
            <a:ext cx="40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AB71459-F221-D44A-B0F6-F7EF2DA5A5D9}"/>
              </a:ext>
            </a:extLst>
          </p:cNvPr>
          <p:cNvSpPr txBox="1"/>
          <p:nvPr/>
        </p:nvSpPr>
        <p:spPr>
          <a:xfrm>
            <a:off x="2640138" y="3366646"/>
            <a:ext cx="49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1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C7334BB-8803-AA4A-894C-2564741527B6}"/>
              </a:ext>
            </a:extLst>
          </p:cNvPr>
          <p:cNvSpPr txBox="1"/>
          <p:nvPr/>
        </p:nvSpPr>
        <p:spPr>
          <a:xfrm>
            <a:off x="5991570" y="3380561"/>
            <a:ext cx="49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2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3AD47EB-7A6A-6F42-8369-F69931BFB8AB}"/>
              </a:ext>
            </a:extLst>
          </p:cNvPr>
          <p:cNvSpPr txBox="1"/>
          <p:nvPr/>
        </p:nvSpPr>
        <p:spPr>
          <a:xfrm flipH="1">
            <a:off x="1282388" y="5116542"/>
            <a:ext cx="80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11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AC0141B-ABAA-9E44-9995-A5E97CEE14A7}"/>
              </a:ext>
            </a:extLst>
          </p:cNvPr>
          <p:cNvSpPr txBox="1"/>
          <p:nvPr/>
        </p:nvSpPr>
        <p:spPr>
          <a:xfrm flipH="1">
            <a:off x="3495851" y="5134575"/>
            <a:ext cx="80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12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D6B6E7F-1DDF-AA46-A2DD-B6D39B99E6FE}"/>
              </a:ext>
            </a:extLst>
          </p:cNvPr>
          <p:cNvSpPr txBox="1"/>
          <p:nvPr/>
        </p:nvSpPr>
        <p:spPr>
          <a:xfrm flipH="1">
            <a:off x="5004048" y="5085184"/>
            <a:ext cx="80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21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9B9E4E0-947B-8740-A697-D722D4D8A23A}"/>
              </a:ext>
            </a:extLst>
          </p:cNvPr>
          <p:cNvSpPr txBox="1"/>
          <p:nvPr/>
        </p:nvSpPr>
        <p:spPr>
          <a:xfrm flipH="1">
            <a:off x="7164288" y="5085184"/>
            <a:ext cx="80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</a:t>
            </a:r>
            <a:r>
              <a:rPr lang="pt-BR" baseline="-25000" dirty="0"/>
              <a:t>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6B7FCE97-397B-9F43-80A1-8B4E6011EE5F}"/>
                  </a:ext>
                </a:extLst>
              </p:cNvPr>
              <p:cNvSpPr txBox="1"/>
              <p:nvPr/>
            </p:nvSpPr>
            <p:spPr>
              <a:xfrm>
                <a:off x="2956852" y="2103848"/>
                <a:ext cx="1320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6B7FCE97-397B-9F43-80A1-8B4E6011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852" y="2103848"/>
                <a:ext cx="1320854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F7CA484-D941-434D-8110-65A6C56F72EF}"/>
                  </a:ext>
                </a:extLst>
              </p:cNvPr>
              <p:cNvSpPr txBox="1"/>
              <p:nvPr/>
            </p:nvSpPr>
            <p:spPr>
              <a:xfrm>
                <a:off x="5195362" y="2084293"/>
                <a:ext cx="1236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F7CA484-D941-434D-8110-65A6C56F7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362" y="2084293"/>
                <a:ext cx="123649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CF09BB8-09B2-C743-9A32-3F91A5A786DE}"/>
                  </a:ext>
                </a:extLst>
              </p:cNvPr>
              <p:cNvSpPr txBox="1"/>
              <p:nvPr/>
            </p:nvSpPr>
            <p:spPr>
              <a:xfrm>
                <a:off x="1247277" y="3830081"/>
                <a:ext cx="1392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CF09BB8-09B2-C743-9A32-3F91A5A78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277" y="3830081"/>
                <a:ext cx="139286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52343413-B1C4-A748-A23B-2F48C82400F7}"/>
                  </a:ext>
                </a:extLst>
              </p:cNvPr>
              <p:cNvSpPr txBox="1"/>
              <p:nvPr/>
            </p:nvSpPr>
            <p:spPr>
              <a:xfrm>
                <a:off x="3138102" y="3760193"/>
                <a:ext cx="1236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52343413-B1C4-A748-A23B-2F48C8240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102" y="3760193"/>
                <a:ext cx="12364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0DB5AFF8-ED92-894F-AA31-285F91B1AAE3}"/>
                  </a:ext>
                </a:extLst>
              </p:cNvPr>
              <p:cNvSpPr txBox="1"/>
              <p:nvPr/>
            </p:nvSpPr>
            <p:spPr>
              <a:xfrm>
                <a:off x="4800378" y="3787899"/>
                <a:ext cx="1236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0DB5AFF8-ED92-894F-AA31-285F91B1A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378" y="3787899"/>
                <a:ext cx="12364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6E10A78-AD92-1145-BEFC-884BA37FD51A}"/>
                  </a:ext>
                </a:extLst>
              </p:cNvPr>
              <p:cNvSpPr txBox="1"/>
              <p:nvPr/>
            </p:nvSpPr>
            <p:spPr>
              <a:xfrm>
                <a:off x="7223941" y="3760193"/>
                <a:ext cx="1236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6E10A78-AD92-1145-BEFC-884BA37FD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941" y="3760193"/>
                <a:ext cx="123649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140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6FA4B-AF6F-4E4A-8513-DDC7E3F2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E443C-4EA2-C542-B7DD-F8D9F0C4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b="1" dirty="0"/>
              <a:t>Poda </a:t>
            </a:r>
            <a:endParaRPr lang="pt-BR" dirty="0"/>
          </a:p>
          <a:p>
            <a:r>
              <a:rPr lang="pt-BR" b="1" dirty="0"/>
              <a:t>Quando podemos podar uma </a:t>
            </a:r>
            <a:r>
              <a:rPr lang="pt-BR" b="1" dirty="0" err="1"/>
              <a:t>subárvore</a:t>
            </a:r>
            <a:r>
              <a:rPr lang="pt-BR" b="1" dirty="0"/>
              <a:t>? </a:t>
            </a:r>
          </a:p>
          <a:p>
            <a:endParaRPr lang="pt-BR" dirty="0"/>
          </a:p>
          <a:p>
            <a:r>
              <a:rPr lang="pt-BR" dirty="0"/>
              <a:t>1. Quando os limites (</a:t>
            </a:r>
            <a:r>
              <a:rPr lang="pt-BR" dirty="0" err="1"/>
              <a:t>bounds</a:t>
            </a:r>
            <a:r>
              <a:rPr lang="pt-BR" dirty="0"/>
              <a:t>) permitem </a:t>
            </a:r>
          </a:p>
          <a:p>
            <a:r>
              <a:rPr lang="pt-BR" dirty="0"/>
              <a:t>Quando a </a:t>
            </a:r>
            <a:r>
              <a:rPr lang="pt-BR" dirty="0" err="1"/>
              <a:t>relaxação</a:t>
            </a:r>
            <a:r>
              <a:rPr lang="pt-BR" dirty="0"/>
              <a:t> indica que </a:t>
            </a:r>
            <a:r>
              <a:rPr lang="pt-BR" dirty="0" err="1"/>
              <a:t>não</a:t>
            </a:r>
            <a:r>
              <a:rPr lang="pt-BR" dirty="0"/>
              <a:t> há possibilidade de se melhorar a </a:t>
            </a:r>
            <a:r>
              <a:rPr lang="pt-BR" dirty="0" err="1"/>
              <a:t>solução</a:t>
            </a:r>
            <a:r>
              <a:rPr lang="pt-BR" dirty="0"/>
              <a:t> inteira atual. </a:t>
            </a:r>
          </a:p>
          <a:p>
            <a:endParaRPr lang="pt-BR" dirty="0"/>
          </a:p>
          <a:p>
            <a:r>
              <a:rPr lang="pt-BR" dirty="0"/>
              <a:t>2. Quando o nó é </a:t>
            </a:r>
            <a:r>
              <a:rPr lang="pt-BR" dirty="0" err="1"/>
              <a:t>infactível</a:t>
            </a:r>
            <a:r>
              <a:rPr lang="pt-BR" dirty="0"/>
              <a:t>/</a:t>
            </a:r>
            <a:r>
              <a:rPr lang="pt-BR" dirty="0" err="1"/>
              <a:t>inviável</a:t>
            </a:r>
            <a:r>
              <a:rPr lang="pt-BR" dirty="0"/>
              <a:t> </a:t>
            </a:r>
          </a:p>
          <a:p>
            <a:r>
              <a:rPr lang="pt-BR" dirty="0"/>
              <a:t>Quando as </a:t>
            </a:r>
            <a:r>
              <a:rPr lang="pt-BR" dirty="0" err="1"/>
              <a:t>fixações</a:t>
            </a:r>
            <a:r>
              <a:rPr lang="pt-BR" dirty="0"/>
              <a:t> </a:t>
            </a:r>
            <a:r>
              <a:rPr lang="pt-BR" dirty="0" err="1"/>
              <a:t>ja</a:t>
            </a:r>
            <a:r>
              <a:rPr lang="pt-BR" dirty="0"/>
              <a:t>́ feitas induzem a </a:t>
            </a:r>
            <a:r>
              <a:rPr lang="pt-BR" dirty="0" err="1"/>
              <a:t>soluções</a:t>
            </a:r>
            <a:r>
              <a:rPr lang="pt-BR" dirty="0"/>
              <a:t> </a:t>
            </a:r>
            <a:r>
              <a:rPr lang="pt-BR" dirty="0" err="1"/>
              <a:t>inviáveis</a:t>
            </a:r>
            <a:r>
              <a:rPr lang="pt-BR" dirty="0"/>
              <a:t>;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551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6FA4B-AF6F-4E4A-8513-DDC7E3F2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E443C-4EA2-C542-B7DD-F8D9F0C4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Esse </a:t>
            </a:r>
            <a:r>
              <a:rPr lang="pt-BR" dirty="0" err="1"/>
              <a:t>método</a:t>
            </a:r>
            <a:r>
              <a:rPr lang="pt-BR" dirty="0"/>
              <a:t> subdivide um problema quando </a:t>
            </a:r>
            <a:r>
              <a:rPr lang="pt-BR" dirty="0" err="1"/>
              <a:t>necessário</a:t>
            </a:r>
            <a:r>
              <a:rPr lang="pt-BR" dirty="0"/>
              <a:t> e descarta um ou mais ramos da </a:t>
            </a:r>
            <a:r>
              <a:rPr lang="pt-BR" dirty="0" err="1"/>
              <a:t>árvore</a:t>
            </a:r>
            <a:r>
              <a:rPr lang="pt-BR" dirty="0"/>
              <a:t> (diminuindo o </a:t>
            </a:r>
            <a:r>
              <a:rPr lang="pt-BR" dirty="0" err="1"/>
              <a:t>espaço</a:t>
            </a:r>
            <a:r>
              <a:rPr lang="pt-BR" dirty="0"/>
              <a:t> de busca) ao perceber que nenhuma </a:t>
            </a:r>
            <a:r>
              <a:rPr lang="pt-BR" dirty="0" err="1"/>
              <a:t>solução</a:t>
            </a:r>
            <a:r>
              <a:rPr lang="pt-BR" dirty="0"/>
              <a:t> neles pode ser a </a:t>
            </a:r>
            <a:r>
              <a:rPr lang="pt-BR" dirty="0" err="1"/>
              <a:t>ótima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2403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77A9A-0C31-034A-A96D-EFF4354D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E2D91-457A-F54A-B61B-9E29FFE5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Dado o Problema de programação inteira abaixo, resolva a relaxação linear desse PI:</a:t>
            </a:r>
          </a:p>
          <a:p>
            <a:endParaRPr lang="pt-BR" dirty="0"/>
          </a:p>
          <a:p>
            <a:r>
              <a:rPr lang="pt-BR" dirty="0"/>
              <a:t>Max </a:t>
            </a:r>
            <a:r>
              <a:rPr lang="pt-BR" dirty="0" err="1"/>
              <a:t>z</a:t>
            </a:r>
            <a:r>
              <a:rPr lang="pt-BR" dirty="0"/>
              <a:t> = 5x</a:t>
            </a:r>
            <a:r>
              <a:rPr lang="pt-BR" baseline="-25000" dirty="0"/>
              <a:t>1</a:t>
            </a:r>
            <a:r>
              <a:rPr lang="pt-BR" dirty="0"/>
              <a:t> + 4x</a:t>
            </a:r>
            <a:r>
              <a:rPr lang="pt-BR" baseline="-25000" dirty="0"/>
              <a:t>2</a:t>
            </a:r>
          </a:p>
          <a:p>
            <a:pPr marL="0" indent="0">
              <a:buNone/>
            </a:pPr>
            <a:r>
              <a:rPr lang="pt-BR" dirty="0"/>
              <a:t>Sujeito a </a:t>
            </a:r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2</a:t>
            </a:r>
            <a:r>
              <a:rPr lang="pt-BR" dirty="0"/>
              <a:t> ≤ 5</a:t>
            </a:r>
          </a:p>
          <a:p>
            <a:pPr marL="0" indent="0">
              <a:buNone/>
            </a:pPr>
            <a:r>
              <a:rPr lang="pt-BR"/>
              <a:t>10x</a:t>
            </a:r>
            <a:r>
              <a:rPr lang="pt-BR" baseline="-25000"/>
              <a:t>1</a:t>
            </a:r>
            <a:r>
              <a:rPr lang="pt-BR"/>
              <a:t>+ 6x</a:t>
            </a:r>
            <a:r>
              <a:rPr lang="pt-BR" baseline="-25000"/>
              <a:t>2</a:t>
            </a:r>
            <a:r>
              <a:rPr lang="pt-BR"/>
              <a:t>  </a:t>
            </a:r>
            <a:r>
              <a:rPr lang="pt-BR" dirty="0"/>
              <a:t>≤ 45</a:t>
            </a:r>
          </a:p>
          <a:p>
            <a:pPr marL="0" indent="0">
              <a:buNone/>
            </a:pP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 inteiros positivos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81922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39426-CF6D-0047-B49B-3932B05D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0B1B0D4-D5B2-5744-A1C2-056D93BE9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3" t="3358" r="13576" b="1060"/>
          <a:stretch/>
        </p:blipFill>
        <p:spPr>
          <a:xfrm>
            <a:off x="755576" y="819207"/>
            <a:ext cx="7432479" cy="51125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574135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38495</TotalTime>
  <Words>2293</Words>
  <Application>Microsoft Macintosh PowerPoint</Application>
  <PresentationFormat>Apresentação na tela (4:3)</PresentationFormat>
  <Paragraphs>259</Paragraphs>
  <Slides>47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 Math</vt:lpstr>
      <vt:lpstr>Tema do Office</vt:lpstr>
      <vt:lpstr>Programação Inteira</vt:lpstr>
      <vt:lpstr>Programação Inteira (PI)</vt:lpstr>
      <vt:lpstr>Apresentação do PowerPoint</vt:lpstr>
      <vt:lpstr>Programação Linear Inteira</vt:lpstr>
      <vt:lpstr>Exemplo</vt:lpstr>
      <vt:lpstr>Aplicações de PI</vt:lpstr>
      <vt:lpstr>Aplicações de PI</vt:lpstr>
      <vt:lpstr>Aplicações de PI</vt:lpstr>
      <vt:lpstr>Modelagem com variáveis binárias – Aplicação 1</vt:lpstr>
      <vt:lpstr>Modelagem com variáveis binárias – Aplicação 1</vt:lpstr>
      <vt:lpstr>Modelagem com variáveis binárias – Aplicação 2</vt:lpstr>
      <vt:lpstr>Modelagem com variáveis binárias – Aplicação 3</vt:lpstr>
      <vt:lpstr>Formulações de Problemas Clássicos</vt:lpstr>
      <vt:lpstr>Apresentação do PowerPoint</vt:lpstr>
      <vt:lpstr>Formulações de Problemas Clássicos</vt:lpstr>
      <vt:lpstr>Apresentação do PowerPoint</vt:lpstr>
      <vt:lpstr>Apresentação do PowerPoint</vt:lpstr>
      <vt:lpstr>Formulações de Problemas Clássicos</vt:lpstr>
      <vt:lpstr>Apresentação do PowerPoint</vt:lpstr>
      <vt:lpstr>Formulações de Problemas Clássicos</vt:lpstr>
      <vt:lpstr>Apresentação do PowerPoint</vt:lpstr>
      <vt:lpstr>Formulações de Problemas Clássicos</vt:lpstr>
      <vt:lpstr>Caixeiro-viajante - distância</vt:lpstr>
      <vt:lpstr>Apresentação do PowerPoint</vt:lpstr>
      <vt:lpstr>Caixeiro-viajante - distância</vt:lpstr>
      <vt:lpstr>Apresentação do PowerPoint</vt:lpstr>
      <vt:lpstr>Problemas de logística</vt:lpstr>
      <vt:lpstr>Problema de Roteamento de Veículos (PRV)</vt:lpstr>
      <vt:lpstr>PRV clássico</vt:lpstr>
      <vt:lpstr>PRV clássico - observações</vt:lpstr>
      <vt:lpstr>PRV clássico - restrições</vt:lpstr>
      <vt:lpstr>Apresentação do PowerPoint</vt:lpstr>
      <vt:lpstr>Problema de Cobertura ou Problema da Localização de facilidades</vt:lpstr>
      <vt:lpstr>Problema da Localização de facilidades</vt:lpstr>
      <vt:lpstr>P-medianas - Formulação</vt:lpstr>
      <vt:lpstr>Características dos problemas de PI</vt:lpstr>
      <vt:lpstr>Técnicas para solucionar Problemas de PI</vt:lpstr>
      <vt:lpstr>Observação</vt:lpstr>
      <vt:lpstr>Algoritmo Branch-and-Bound</vt:lpstr>
      <vt:lpstr>Algoritmo Branch-and-Bound</vt:lpstr>
      <vt:lpstr>Algoritmo Branch-and-Bound</vt:lpstr>
      <vt:lpstr>Algoritmo Branch-and-Bound</vt:lpstr>
      <vt:lpstr>Algoritmo Branch-and-Bound</vt:lpstr>
      <vt:lpstr>Algoritmo Branch-and-Bound</vt:lpstr>
      <vt:lpstr>Algoritmo Branch-and-Bound</vt:lpstr>
      <vt:lpstr>Exemplo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Inteira</dc:title>
  <dc:creator>Andrea</dc:creator>
  <cp:lastModifiedBy>Andréa Bonifácio</cp:lastModifiedBy>
  <cp:revision>159</cp:revision>
  <cp:lastPrinted>2012-05-01T18:04:13Z</cp:lastPrinted>
  <dcterms:created xsi:type="dcterms:W3CDTF">2012-02-14T22:35:24Z</dcterms:created>
  <dcterms:modified xsi:type="dcterms:W3CDTF">2021-05-11T21:12:52Z</dcterms:modified>
</cp:coreProperties>
</file>